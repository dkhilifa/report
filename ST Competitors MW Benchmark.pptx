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7FFFF80B_F54988DA.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9"/>
  </p:notesMasterIdLst>
  <p:sldIdLst>
    <p:sldId id="2145705684" r:id="rId5"/>
    <p:sldId id="2147481626" r:id="rId6"/>
    <p:sldId id="2147481627" r:id="rId7"/>
    <p:sldId id="2147481588" r:id="rId8"/>
    <p:sldId id="2147481628" r:id="rId9"/>
    <p:sldId id="2147481598" r:id="rId10"/>
    <p:sldId id="2147481600" r:id="rId11"/>
    <p:sldId id="2147481625" r:id="rId12"/>
    <p:sldId id="2147481603" r:id="rId13"/>
    <p:sldId id="2147481596" r:id="rId14"/>
    <p:sldId id="2147481597" r:id="rId15"/>
    <p:sldId id="2147481607" r:id="rId16"/>
    <p:sldId id="2147481575" r:id="rId17"/>
    <p:sldId id="2147481577" r:id="rId18"/>
    <p:sldId id="2147481579" r:id="rId19"/>
    <p:sldId id="2147481601" r:id="rId20"/>
    <p:sldId id="2147481608" r:id="rId21"/>
    <p:sldId id="2147481589" r:id="rId22"/>
    <p:sldId id="2147481618" r:id="rId23"/>
    <p:sldId id="2147481619" r:id="rId24"/>
    <p:sldId id="2147481624" r:id="rId25"/>
    <p:sldId id="2147481592" r:id="rId26"/>
    <p:sldId id="2147481594" r:id="rId27"/>
    <p:sldId id="2147481595" r:id="rId28"/>
    <p:sldId id="2147481623" r:id="rId29"/>
    <p:sldId id="2147481629" r:id="rId30"/>
    <p:sldId id="2147481622" r:id="rId31"/>
    <p:sldId id="2147481617" r:id="rId32"/>
    <p:sldId id="2147481621" r:id="rId33"/>
    <p:sldId id="2147481606" r:id="rId34"/>
    <p:sldId id="292" r:id="rId35"/>
    <p:sldId id="265" r:id="rId36"/>
    <p:sldId id="2147481610" r:id="rId37"/>
    <p:sldId id="214748161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C9DB1F-F246-422E-9D69-5E2B0FB7BEA5}">
          <p14:sldIdLst>
            <p14:sldId id="2145705684"/>
            <p14:sldId id="2147481626"/>
            <p14:sldId id="2147481627"/>
            <p14:sldId id="2147481588"/>
            <p14:sldId id="2147481628"/>
            <p14:sldId id="2147481598"/>
            <p14:sldId id="2147481600"/>
            <p14:sldId id="2147481625"/>
          </p14:sldIdLst>
        </p14:section>
        <p14:section name="RTOS middleware" id="{6D298393-4CAA-4016-A9B4-C961F9036F6B}">
          <p14:sldIdLst>
            <p14:sldId id="2147481603"/>
            <p14:sldId id="2147481596"/>
            <p14:sldId id="2147481597"/>
          </p14:sldIdLst>
        </p14:section>
        <p14:section name="File System Middleware" id="{57B83464-394E-4F3E-B6DA-2739F2E45FEE}">
          <p14:sldIdLst>
            <p14:sldId id="2147481607"/>
            <p14:sldId id="2147481575"/>
            <p14:sldId id="2147481577"/>
            <p14:sldId id="2147481579"/>
            <p14:sldId id="2147481601"/>
          </p14:sldIdLst>
        </p14:section>
        <p14:section name="USB middleware" id="{CAF1236C-2037-4056-9D23-9821BFE6D0AF}">
          <p14:sldIdLst>
            <p14:sldId id="2147481608"/>
            <p14:sldId id="2147481589"/>
            <p14:sldId id="2147481618"/>
            <p14:sldId id="2147481619"/>
            <p14:sldId id="2147481624"/>
            <p14:sldId id="2147481592"/>
            <p14:sldId id="2147481594"/>
            <p14:sldId id="2147481595"/>
            <p14:sldId id="2147481623"/>
          </p14:sldIdLst>
        </p14:section>
        <p14:section name="Continuation Plan Proposal" id="{85A8E118-BB25-439D-98E1-B1976EB925C9}">
          <p14:sldIdLst>
            <p14:sldId id="2147481629"/>
            <p14:sldId id="2147481622"/>
            <p14:sldId id="2147481617"/>
            <p14:sldId id="2147481621"/>
          </p14:sldIdLst>
        </p14:section>
        <p14:section name="Annex" id="{005E6DB0-6527-4367-BEC7-B7D1EABCD8D8}">
          <p14:sldIdLst>
            <p14:sldId id="2147481606"/>
            <p14:sldId id="292"/>
            <p14:sldId id="265"/>
            <p14:sldId id="2147481610"/>
            <p14:sldId id="214748161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3D349A-9E2E-5372-E583-106838A73938}" name="Sirine EL JAZI" initials="SE" userId="S::sirine.eljazi01@st.com::8943c3d6-8728-4024-8bc6-c15855a5efd5" providerId="AD"/>
  <p188:author id="{F97FF2F7-A712-63C3-4B1F-77919935ECAC}" name="Aymen BOUATTAY" initials="AB" userId="S::aymen.bouattay@st.com::81c97f29-ee39-430b-bbed-7d85cff7215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F1E"/>
    <a:srgbClr val="3CB4E6"/>
    <a:srgbClr val="002060"/>
    <a:srgbClr val="D5E7FD"/>
    <a:srgbClr val="BFBFBF"/>
    <a:srgbClr val="CEEBFF"/>
    <a:srgbClr val="D4D6DB"/>
    <a:srgbClr val="DAE9F8"/>
    <a:srgbClr val="E6007E"/>
    <a:srgbClr val="CBCC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DA4D08-3B94-4374-8EAA-8B527D7FD783}" v="11" dt="2026-04-27T10:38:30.29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10" d="100"/>
          <a:sy n="110"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viewProps" Target="viewProps.xml"/></Relationships>
</file>

<file path=ppt/comments/modernComment_7FFFF80B_F54988DA.xml><?xml version="1.0" encoding="utf-8"?>
<p188:cmLst xmlns:a="http://schemas.openxmlformats.org/drawingml/2006/main" xmlns:r="http://schemas.openxmlformats.org/officeDocument/2006/relationships" xmlns:p188="http://schemas.microsoft.com/office/powerpoint/2018/8/main">
  <p188:cm id="{9D0BF2E6-5A1D-44FA-B74C-53450741700C}" authorId="{F97FF2F7-A712-63C3-4B1F-77919935ECAC}" created="2025-11-25T14:17:57.288">
    <ac:txMkLst xmlns:ac="http://schemas.microsoft.com/office/drawing/2013/main/command">
      <pc:docMk xmlns:pc="http://schemas.microsoft.com/office/powerpoint/2013/main/command"/>
      <pc:sldMk xmlns:pc="http://schemas.microsoft.com/office/powerpoint/2013/main/command" cId="4115237082" sldId="2147481611"/>
      <ac:graphicFrameMk id="134" creationId="{59F797B1-6DA1-D753-CB10-1F11A36A59F4}"/>
      <ac:tblMk/>
      <ac:tcMk rowId="3217506885" colId="4162598800"/>
      <ac:txMk cp="0">
        <ac:context len="5" hash="66137722"/>
      </ac:txMk>
    </ac:txMkLst>
    <p188:pos x="1401215" y="1099762"/>
    <p188:replyLst>
      <p188:reply id="{D5A91883-0A30-4322-879D-65C82E2E9F6C}" authorId="{213D349A-9E2E-5372-E583-106838A73938}" created="2025-12-08T09:45:35.702">
        <p188:txBody>
          <a:bodyPr/>
          <a:lstStyle/>
          <a:p>
            <a:r>
              <a:rPr lang="en-US"/>
              <a:t>ST app_azure_rtos.c file RW data size is 78 936 bytes (73% of total RW data) due to ux_host_byte_pool_buffer (70 KB): could be optimized to 2 KB (like Renesas), so app_azure_rtos.c RW data size become  9'304</a:t>
            </a:r>
          </a:p>
        </p188:txBody>
      </p188:reply>
    </p188:replyLst>
    <p188:txBody>
      <a:bodyPr/>
      <a:lstStyle/>
      <a:p>
        <a:r>
          <a:rPr lang="en-US"/>
          <a:t>USBX code can be optimized to get better footprint result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243B43-F286-48C1-BBED-D571E17C6AE3}"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37A20C-0A41-4975-BF38-102D39C80972}" type="slidenum">
              <a:rPr lang="en-US" smtClean="0"/>
              <a:t>‹#›</a:t>
            </a:fld>
            <a:endParaRPr lang="en-US"/>
          </a:p>
        </p:txBody>
      </p:sp>
    </p:spTree>
    <p:extLst>
      <p:ext uri="{BB962C8B-B14F-4D97-AF65-F5344CB8AC3E}">
        <p14:creationId xmlns:p14="http://schemas.microsoft.com/office/powerpoint/2010/main" val="2864226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58E59B-3326-4FD4-8806-9EAC0DB7D607}" type="slidenum">
              <a:rPr lang="en-US" smtClean="0"/>
              <a:t>1</a:t>
            </a:fld>
            <a:endParaRPr lang="en-US"/>
          </a:p>
        </p:txBody>
      </p:sp>
    </p:spTree>
    <p:extLst>
      <p:ext uri="{BB962C8B-B14F-4D97-AF65-F5344CB8AC3E}">
        <p14:creationId xmlns:p14="http://schemas.microsoft.com/office/powerpoint/2010/main" val="1724441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37A20C-0A41-4975-BF38-102D39C80972}" type="slidenum">
              <a:rPr lang="en-US" smtClean="0"/>
              <a:t>8</a:t>
            </a:fld>
            <a:endParaRPr lang="en-US"/>
          </a:p>
        </p:txBody>
      </p:sp>
    </p:spTree>
    <p:extLst>
      <p:ext uri="{BB962C8B-B14F-4D97-AF65-F5344CB8AC3E}">
        <p14:creationId xmlns:p14="http://schemas.microsoft.com/office/powerpoint/2010/main" val="4037911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37A20C-0A41-4975-BF38-102D39C80972}" type="slidenum">
              <a:rPr lang="en-US" smtClean="0"/>
              <a:t>16</a:t>
            </a:fld>
            <a:endParaRPr lang="en-US"/>
          </a:p>
        </p:txBody>
      </p:sp>
    </p:spTree>
    <p:extLst>
      <p:ext uri="{BB962C8B-B14F-4D97-AF65-F5344CB8AC3E}">
        <p14:creationId xmlns:p14="http://schemas.microsoft.com/office/powerpoint/2010/main" val="1369554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37A20C-0A41-4975-BF38-102D39C80972}" type="slidenum">
              <a:rPr lang="en-US" smtClean="0"/>
              <a:t>17</a:t>
            </a:fld>
            <a:endParaRPr lang="en-US"/>
          </a:p>
        </p:txBody>
      </p:sp>
    </p:spTree>
    <p:extLst>
      <p:ext uri="{BB962C8B-B14F-4D97-AF65-F5344CB8AC3E}">
        <p14:creationId xmlns:p14="http://schemas.microsoft.com/office/powerpoint/2010/main" val="2757727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0C4DA-B727-3132-A29C-45CD1D900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C3A71-C961-F172-BA13-9FD869C0C4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AC0D3E-8ECC-CD61-0F19-1B8F9DCBEA44}"/>
              </a:ext>
            </a:extLst>
          </p:cNvPr>
          <p:cNvSpPr>
            <a:spLocks noGrp="1"/>
          </p:cNvSpPr>
          <p:nvPr>
            <p:ph type="body" idx="1"/>
          </p:nvPr>
        </p:nvSpPr>
        <p:spPr/>
        <p:txBody>
          <a:bodyPr/>
          <a:lstStyle/>
          <a:p>
            <a:pPr>
              <a:buClr>
                <a:schemeClr val="bg1"/>
              </a:buClr>
            </a:pPr>
            <a:r>
              <a:rPr lang="en-US" sz="1200" b="1">
                <a:solidFill>
                  <a:srgbClr val="002060"/>
                </a:solidFill>
              </a:rPr>
              <a:t>Project Description:</a:t>
            </a:r>
          </a:p>
          <a:p>
            <a:pPr>
              <a:buClr>
                <a:schemeClr val="bg1"/>
              </a:buClr>
            </a:pPr>
            <a:endParaRPr lang="en-US" sz="1200" b="1">
              <a:solidFill>
                <a:srgbClr val="002060"/>
              </a:solidFill>
            </a:endParaRPr>
          </a:p>
          <a:p>
            <a:pPr>
              <a:buClr>
                <a:schemeClr val="bg1"/>
              </a:buClr>
            </a:pPr>
            <a:r>
              <a:rPr lang="en-US" sz="1200">
                <a:solidFill>
                  <a:srgbClr val="002060"/>
                </a:solidFill>
              </a:rPr>
              <a:t>This project demonstrates the use of the USB Device HID class by configuring the microcontroller to function as a mouse. It sets communication between the host (PC) and the microcontroller (mouse) enabling cursor movement along the X-axis.</a:t>
            </a:r>
          </a:p>
          <a:p>
            <a:endParaRPr lang="en-US"/>
          </a:p>
        </p:txBody>
      </p:sp>
      <p:sp>
        <p:nvSpPr>
          <p:cNvPr id="4" name="Slide Number Placeholder 3">
            <a:extLst>
              <a:ext uri="{FF2B5EF4-FFF2-40B4-BE49-F238E27FC236}">
                <a16:creationId xmlns:a16="http://schemas.microsoft.com/office/drawing/2014/main" id="{8B6664A0-D04B-9125-A900-D73BDAFE0B0A}"/>
              </a:ext>
            </a:extLst>
          </p:cNvPr>
          <p:cNvSpPr>
            <a:spLocks noGrp="1"/>
          </p:cNvSpPr>
          <p:nvPr>
            <p:ph type="sldNum" sz="quarter" idx="5"/>
          </p:nvPr>
        </p:nvSpPr>
        <p:spPr/>
        <p:txBody>
          <a:bodyPr/>
          <a:lstStyle/>
          <a:p>
            <a:fld id="{C437A20C-0A41-4975-BF38-102D39C80972}" type="slidenum">
              <a:rPr lang="en-US" smtClean="0"/>
              <a:t>22</a:t>
            </a:fld>
            <a:endParaRPr lang="en-US"/>
          </a:p>
        </p:txBody>
      </p:sp>
    </p:spTree>
    <p:extLst>
      <p:ext uri="{BB962C8B-B14F-4D97-AF65-F5344CB8AC3E}">
        <p14:creationId xmlns:p14="http://schemas.microsoft.com/office/powerpoint/2010/main" val="3229781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437A20C-0A41-4975-BF38-102D39C80972}" type="slidenum">
              <a:rPr lang="en-US" smtClean="0"/>
              <a:t>23</a:t>
            </a:fld>
            <a:endParaRPr lang="en-US"/>
          </a:p>
        </p:txBody>
      </p:sp>
    </p:spTree>
    <p:extLst>
      <p:ext uri="{BB962C8B-B14F-4D97-AF65-F5344CB8AC3E}">
        <p14:creationId xmlns:p14="http://schemas.microsoft.com/office/powerpoint/2010/main" val="3493564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37A20C-0A41-4975-BF38-102D39C80972}" type="slidenum">
              <a:rPr lang="en-US" smtClean="0"/>
              <a:t>24</a:t>
            </a:fld>
            <a:endParaRPr lang="en-US"/>
          </a:p>
        </p:txBody>
      </p:sp>
    </p:spTree>
    <p:extLst>
      <p:ext uri="{BB962C8B-B14F-4D97-AF65-F5344CB8AC3E}">
        <p14:creationId xmlns:p14="http://schemas.microsoft.com/office/powerpoint/2010/main" val="3478437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4A1A4-4062-6432-237C-DE0C25058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45A1E-5300-CC5B-5FB8-DDBC999AE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BE605-D5F2-760A-9934-E5EAE42379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77F766-BBA7-3728-9171-8FC1A4200844}"/>
              </a:ext>
            </a:extLst>
          </p:cNvPr>
          <p:cNvSpPr>
            <a:spLocks noGrp="1"/>
          </p:cNvSpPr>
          <p:nvPr>
            <p:ph type="sldNum" sz="quarter" idx="5"/>
          </p:nvPr>
        </p:nvSpPr>
        <p:spPr/>
        <p:txBody>
          <a:bodyPr/>
          <a:lstStyle/>
          <a:p>
            <a:fld id="{C437A20C-0A41-4975-BF38-102D39C80972}" type="slidenum">
              <a:rPr lang="en-US" smtClean="0"/>
              <a:t>25</a:t>
            </a:fld>
            <a:endParaRPr lang="en-US"/>
          </a:p>
        </p:txBody>
      </p:sp>
    </p:spTree>
    <p:extLst>
      <p:ext uri="{BB962C8B-B14F-4D97-AF65-F5344CB8AC3E}">
        <p14:creationId xmlns:p14="http://schemas.microsoft.com/office/powerpoint/2010/main" val="2390036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FED51-8228-AAC8-049F-18725853E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0029C-2BD4-4D58-9A78-9E5E3CD7D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17DEE-14C9-2D3D-85A0-78BFF84095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A75FF6-5D06-1DF5-F929-D8B989EB960C}"/>
              </a:ext>
            </a:extLst>
          </p:cNvPr>
          <p:cNvSpPr>
            <a:spLocks noGrp="1"/>
          </p:cNvSpPr>
          <p:nvPr>
            <p:ph type="sldNum" sz="quarter" idx="5"/>
          </p:nvPr>
        </p:nvSpPr>
        <p:spPr/>
        <p:txBody>
          <a:bodyPr/>
          <a:lstStyle/>
          <a:p>
            <a:fld id="{C437A20C-0A41-4975-BF38-102D39C80972}" type="slidenum">
              <a:rPr lang="en-US" smtClean="0"/>
              <a:t>27</a:t>
            </a:fld>
            <a:endParaRPr lang="en-US"/>
          </a:p>
        </p:txBody>
      </p:sp>
    </p:spTree>
    <p:extLst>
      <p:ext uri="{BB962C8B-B14F-4D97-AF65-F5344CB8AC3E}">
        <p14:creationId xmlns:p14="http://schemas.microsoft.com/office/powerpoint/2010/main" val="3464822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94227-7F21-9CBF-FCCD-AB822C76B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FF10F-50F4-7FA7-0899-D3C180C0D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FAC0CC-8FDE-2A13-FF43-80BA9F8F9D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DC892E-70C8-61D6-8498-6DBAEB915DA3}"/>
              </a:ext>
            </a:extLst>
          </p:cNvPr>
          <p:cNvSpPr>
            <a:spLocks noGrp="1"/>
          </p:cNvSpPr>
          <p:nvPr>
            <p:ph type="sldNum" sz="quarter" idx="5"/>
          </p:nvPr>
        </p:nvSpPr>
        <p:spPr/>
        <p:txBody>
          <a:bodyPr/>
          <a:lstStyle/>
          <a:p>
            <a:fld id="{C437A20C-0A41-4975-BF38-102D39C80972}" type="slidenum">
              <a:rPr lang="en-US" smtClean="0"/>
              <a:t>28</a:t>
            </a:fld>
            <a:endParaRPr lang="en-US"/>
          </a:p>
        </p:txBody>
      </p:sp>
    </p:spTree>
    <p:extLst>
      <p:ext uri="{BB962C8B-B14F-4D97-AF65-F5344CB8AC3E}">
        <p14:creationId xmlns:p14="http://schemas.microsoft.com/office/powerpoint/2010/main" val="994300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83B91-75F8-C3AD-D71A-4EE05395E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03504-CA0E-94BE-C6FF-7511CAA40E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664F4-740D-D703-8509-4D9462BD6E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7770405-DF2F-3DB6-A4A8-59AA8FBD400A}"/>
              </a:ext>
            </a:extLst>
          </p:cNvPr>
          <p:cNvSpPr>
            <a:spLocks noGrp="1"/>
          </p:cNvSpPr>
          <p:nvPr>
            <p:ph type="sldNum" sz="quarter" idx="5"/>
          </p:nvPr>
        </p:nvSpPr>
        <p:spPr/>
        <p:txBody>
          <a:bodyPr/>
          <a:lstStyle/>
          <a:p>
            <a:fld id="{C437A20C-0A41-4975-BF38-102D39C80972}" type="slidenum">
              <a:rPr lang="en-US" smtClean="0"/>
              <a:t>29</a:t>
            </a:fld>
            <a:endParaRPr lang="en-US"/>
          </a:p>
        </p:txBody>
      </p:sp>
    </p:spTree>
    <p:extLst>
      <p:ext uri="{BB962C8B-B14F-4D97-AF65-F5344CB8AC3E}">
        <p14:creationId xmlns:p14="http://schemas.microsoft.com/office/powerpoint/2010/main" val="2245745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C6283-DAFD-4B58-A531-2FD075CBAC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3F43F-B2D3-0C3C-1B36-A9D363977E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6FF51-24B2-1B27-A771-BEE5500A58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E987BE-92E0-7E29-0AAB-7E258A5D2261}"/>
              </a:ext>
            </a:extLst>
          </p:cNvPr>
          <p:cNvSpPr>
            <a:spLocks noGrp="1"/>
          </p:cNvSpPr>
          <p:nvPr>
            <p:ph type="sldNum" sz="quarter" idx="5"/>
          </p:nvPr>
        </p:nvSpPr>
        <p:spPr/>
        <p:txBody>
          <a:bodyPr/>
          <a:lstStyle/>
          <a:p>
            <a:fld id="{C437A20C-0A41-4975-BF38-102D39C80972}" type="slidenum">
              <a:rPr lang="en-US" smtClean="0"/>
              <a:t>30</a:t>
            </a:fld>
            <a:endParaRPr lang="en-US"/>
          </a:p>
        </p:txBody>
      </p:sp>
    </p:spTree>
    <p:extLst>
      <p:ext uri="{BB962C8B-B14F-4D97-AF65-F5344CB8AC3E}">
        <p14:creationId xmlns:p14="http://schemas.microsoft.com/office/powerpoint/2010/main" val="1511522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58E59B-3326-4FD4-8806-9EAC0DB7D607}" type="slidenum">
              <a:rPr lang="en-US" smtClean="0"/>
              <a:t>32</a:t>
            </a:fld>
            <a:endParaRPr lang="en-US"/>
          </a:p>
        </p:txBody>
      </p:sp>
    </p:spTree>
    <p:extLst>
      <p:ext uri="{BB962C8B-B14F-4D97-AF65-F5344CB8AC3E}">
        <p14:creationId xmlns:p14="http://schemas.microsoft.com/office/powerpoint/2010/main" val="41825012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www.st.com/trademarks" TargetMode="External"/><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Main titl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6095999" y="2077965"/>
            <a:ext cx="5795963" cy="2702071"/>
          </a:xfrm>
        </p:spPr>
        <p:txBody>
          <a:bodyPr anchor="ctr"/>
          <a:lstStyle>
            <a:lvl1pPr algn="l">
              <a:defRPr sz="3600" b="1">
                <a:solidFill>
                  <a:schemeClr val="bg1"/>
                </a:solidFill>
              </a:defRPr>
            </a:lvl1pPr>
          </a:lstStyle>
          <a:p>
            <a:r>
              <a:rPr lang="en-US"/>
              <a:t>Presentation title</a:t>
            </a:r>
            <a:endParaRPr lang="fr-FR"/>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6095999" y="5015060"/>
            <a:ext cx="5795963"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a:t>
            </a:r>
            <a:endParaRPr lang="fr-FR"/>
          </a:p>
        </p:txBody>
      </p:sp>
      <p:sp>
        <p:nvSpPr>
          <p:cNvPr id="9" name="Rectangle 8">
            <a:extLst>
              <a:ext uri="{FF2B5EF4-FFF2-40B4-BE49-F238E27FC236}">
                <a16:creationId xmlns:a16="http://schemas.microsoft.com/office/drawing/2014/main" id="{B564B28F-A25E-4825-B94D-B2AD0EA2A9F6}"/>
              </a:ext>
            </a:extLst>
          </p:cNvPr>
          <p:cNvSpPr/>
          <p:nvPr/>
        </p:nvSpPr>
        <p:spPr>
          <a:xfrm>
            <a:off x="-228" y="0"/>
            <a:ext cx="43905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FA767B04-DB20-575B-553B-88ACD76553EF}"/>
              </a:ext>
            </a:extLst>
          </p:cNvPr>
          <p:cNvSpPr>
            <a:spLocks noGrp="1"/>
          </p:cNvSpPr>
          <p:nvPr>
            <p:ph type="pic" sz="quarter" idx="12" hasCustomPrompt="1"/>
          </p:nvPr>
        </p:nvSpPr>
        <p:spPr>
          <a:xfrm>
            <a:off x="300038" y="0"/>
            <a:ext cx="5495544" cy="6858000"/>
          </a:xfrm>
          <a:custGeom>
            <a:avLst/>
            <a:gdLst>
              <a:gd name="connsiteX0" fmla="*/ 0 w 5495544"/>
              <a:gd name="connsiteY0" fmla="*/ 0 h 6858000"/>
              <a:gd name="connsiteX1" fmla="*/ 5495544 w 5495544"/>
              <a:gd name="connsiteY1" fmla="*/ 0 h 6858000"/>
              <a:gd name="connsiteX2" fmla="*/ 5495544 w 5495544"/>
              <a:gd name="connsiteY2" fmla="*/ 6858000 h 6858000"/>
              <a:gd name="connsiteX3" fmla="*/ 0 w 549554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95544" h="6858000">
                <a:moveTo>
                  <a:pt x="0" y="0"/>
                </a:moveTo>
                <a:lnTo>
                  <a:pt x="5495544" y="0"/>
                </a:lnTo>
                <a:lnTo>
                  <a:pt x="5495544" y="6858000"/>
                </a:lnTo>
                <a:lnTo>
                  <a:pt x="0" y="6858000"/>
                </a:lnTo>
                <a:close/>
              </a:path>
            </a:pathLst>
          </a:custGeom>
          <a:solidFill>
            <a:schemeClr val="bg2"/>
          </a:solidFill>
        </p:spPr>
        <p:txBody>
          <a:bodyPr wrap="square" anchor="ctr">
            <a:noAutofit/>
          </a:bodyPr>
          <a:lstStyle>
            <a:lvl1pPr marL="0" indent="0" algn="ctr">
              <a:buFontTx/>
              <a:buNone/>
              <a:defRPr baseline="0">
                <a:solidFill>
                  <a:schemeClr val="tx1"/>
                </a:solidFill>
              </a:defRPr>
            </a:lvl1pPr>
          </a:lstStyle>
          <a:p>
            <a:r>
              <a:rPr lang="en-US"/>
              <a:t>Drag and drop </a:t>
            </a:r>
            <a:br>
              <a:rPr lang="en-US"/>
            </a:br>
            <a:r>
              <a:rPr lang="en-US"/>
              <a:t>a picture here</a:t>
            </a:r>
          </a:p>
        </p:txBody>
      </p:sp>
      <p:pic>
        <p:nvPicPr>
          <p:cNvPr id="6" name="Graphic 7">
            <a:extLst>
              <a:ext uri="{FF2B5EF4-FFF2-40B4-BE49-F238E27FC236}">
                <a16:creationId xmlns:a16="http://schemas.microsoft.com/office/drawing/2014/main" id="{0A935D2C-8C8E-184B-D8FC-8FF74926C0C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6242" y="47623"/>
            <a:ext cx="1857226" cy="1280160"/>
          </a:xfrm>
          <a:prstGeom prst="rect">
            <a:avLst/>
          </a:prstGeom>
        </p:spPr>
      </p:pic>
    </p:spTree>
    <p:extLst>
      <p:ext uri="{BB962C8B-B14F-4D97-AF65-F5344CB8AC3E}">
        <p14:creationId xmlns:p14="http://schemas.microsoft.com/office/powerpoint/2010/main" val="361179049"/>
      </p:ext>
    </p:extLst>
  </p:cSld>
  <p:clrMapOvr>
    <a:masterClrMapping/>
  </p:clrMapOvr>
  <p:extLst>
    <p:ext uri="{DCECCB84-F9BA-43D5-87BE-67443E8EF086}">
      <p15:sldGuideLst xmlns:p15="http://schemas.microsoft.com/office/powerpoint/2012/main">
        <p15:guide id="1" pos="6516">
          <p15:clr>
            <a:srgbClr val="FBAE40"/>
          </p15:clr>
        </p15:guide>
        <p15:guide id="2" pos="7387">
          <p15:clr>
            <a:srgbClr val="FBAE40"/>
          </p15:clr>
        </p15:guide>
        <p15:guide id="3" orient="horz" pos="3067">
          <p15:clr>
            <a:srgbClr val="FBAE40"/>
          </p15:clr>
        </p15:guide>
        <p15:guide id="4" orient="horz" pos="393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without picture">
    <p:bg>
      <p:bgPr>
        <a:solidFill>
          <a:srgbClr val="0023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BBC7E-853C-4EAC-941C-F7D4C872CEDA}"/>
              </a:ext>
            </a:extLst>
          </p:cNvPr>
          <p:cNvSpPr>
            <a:spLocks noGrp="1"/>
          </p:cNvSpPr>
          <p:nvPr>
            <p:ph type="ctrTitle" hasCustomPrompt="1"/>
          </p:nvPr>
        </p:nvSpPr>
        <p:spPr>
          <a:xfrm>
            <a:off x="911470" y="1964458"/>
            <a:ext cx="7807324" cy="2929084"/>
          </a:xfrm>
        </p:spPr>
        <p:txBody>
          <a:bodyPr anchor="ctr"/>
          <a:lstStyle>
            <a:lvl1pPr algn="l">
              <a:defRPr sz="3600" b="1">
                <a:solidFill>
                  <a:schemeClr val="bg1"/>
                </a:solidFill>
              </a:defRPr>
            </a:lvl1pPr>
          </a:lstStyle>
          <a:p>
            <a:r>
              <a:rPr lang="en-US"/>
              <a:t>Presentation title</a:t>
            </a:r>
            <a:endParaRPr lang="fr-FR"/>
          </a:p>
        </p:txBody>
      </p:sp>
      <p:sp>
        <p:nvSpPr>
          <p:cNvPr id="3" name="Subtitle 2">
            <a:extLst>
              <a:ext uri="{FF2B5EF4-FFF2-40B4-BE49-F238E27FC236}">
                <a16:creationId xmlns:a16="http://schemas.microsoft.com/office/drawing/2014/main" id="{F38F8A67-080E-4CD5-8528-5627C41B2D72}"/>
              </a:ext>
            </a:extLst>
          </p:cNvPr>
          <p:cNvSpPr>
            <a:spLocks noGrp="1"/>
          </p:cNvSpPr>
          <p:nvPr>
            <p:ph type="subTitle" idx="1" hasCustomPrompt="1"/>
          </p:nvPr>
        </p:nvSpPr>
        <p:spPr>
          <a:xfrm>
            <a:off x="911470" y="5015060"/>
            <a:ext cx="7807324" cy="1077764"/>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a:t>
            </a:r>
            <a:endParaRPr lang="fr-FR"/>
          </a:p>
        </p:txBody>
      </p:sp>
      <p:pic>
        <p:nvPicPr>
          <p:cNvPr id="4" name="Graphic 14">
            <a:extLst>
              <a:ext uri="{FF2B5EF4-FFF2-40B4-BE49-F238E27FC236}">
                <a16:creationId xmlns:a16="http://schemas.microsoft.com/office/drawing/2014/main" id="{70CC30A6-5943-4618-79CD-9E122FDCAE6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6242" y="47623"/>
            <a:ext cx="1857226" cy="1280160"/>
          </a:xfrm>
          <a:prstGeom prst="rect">
            <a:avLst/>
          </a:prstGeom>
        </p:spPr>
      </p:pic>
      <p:sp>
        <p:nvSpPr>
          <p:cNvPr id="7" name="Rectangle 6">
            <a:extLst>
              <a:ext uri="{FF2B5EF4-FFF2-40B4-BE49-F238E27FC236}">
                <a16:creationId xmlns:a16="http://schemas.microsoft.com/office/drawing/2014/main" id="{E09F09FF-C8AF-EE46-958B-11187A34AAE5}"/>
              </a:ext>
            </a:extLst>
          </p:cNvPr>
          <p:cNvSpPr/>
          <p:nvPr userDrawn="1"/>
        </p:nvSpPr>
        <p:spPr>
          <a:xfrm>
            <a:off x="-228" y="0"/>
            <a:ext cx="30026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950517"/>
      </p:ext>
    </p:extLst>
  </p:cSld>
  <p:clrMapOvr>
    <a:masterClrMapping/>
  </p:clrMapOvr>
  <p:extLst>
    <p:ext uri="{DCECCB84-F9BA-43D5-87BE-67443E8EF086}">
      <p15:sldGuideLst xmlns:p15="http://schemas.microsoft.com/office/powerpoint/2012/main">
        <p15:guide id="1" orient="horz" pos="1709">
          <p15:clr>
            <a:srgbClr val="FBAE40"/>
          </p15:clr>
        </p15:guide>
        <p15:guide id="2" orient="horz" pos="2615">
          <p15:clr>
            <a:srgbClr val="FBAE40"/>
          </p15:clr>
        </p15:guide>
        <p15:guide id="3" pos="5196">
          <p15:clr>
            <a:srgbClr val="FBAE40"/>
          </p15:clr>
        </p15:guide>
        <p15:guide id="4" pos="610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spcBef>
                <a:spcPts val="1200"/>
              </a:spcBef>
              <a:defRPr/>
            </a:lvl1pPr>
          </a:lstStyle>
          <a:p>
            <a:pPr lvl="0"/>
            <a:r>
              <a:rPr lang="en-US"/>
              <a:t>First level text</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lvl1pPr>
              <a:defRPr/>
            </a:lvl1pPr>
          </a:lstStyle>
          <a:p>
            <a:r>
              <a:rPr lang="en-US"/>
              <a:t>Slide title</a:t>
            </a:r>
          </a:p>
        </p:txBody>
      </p:sp>
      <p:sp>
        <p:nvSpPr>
          <p:cNvPr id="4" name="Date Placeholder 3">
            <a:extLst>
              <a:ext uri="{FF2B5EF4-FFF2-40B4-BE49-F238E27FC236}">
                <a16:creationId xmlns:a16="http://schemas.microsoft.com/office/drawing/2014/main" id="{706EF7C4-3513-40DF-91A6-018C8E9ACF4C}"/>
              </a:ext>
            </a:extLst>
          </p:cNvPr>
          <p:cNvSpPr>
            <a:spLocks noGrp="1"/>
          </p:cNvSpPr>
          <p:nvPr>
            <p:ph type="dt" sz="half" idx="10"/>
          </p:nvPr>
        </p:nvSpPr>
        <p:spPr/>
        <p:txBody>
          <a:bodyPr/>
          <a:lstStyle/>
          <a:p>
            <a:fld id="{B3DD5E87-0EC8-4D59-96FF-6A8B1E3FD660}" type="datetime1">
              <a:rPr lang="en-US" smtClean="0"/>
              <a:t>4/21/2026</a:t>
            </a:fld>
            <a:endParaRPr lang="en-US"/>
          </a:p>
        </p:txBody>
      </p:sp>
      <p:sp>
        <p:nvSpPr>
          <p:cNvPr id="5" name="Footer Placeholder 4">
            <a:extLst>
              <a:ext uri="{FF2B5EF4-FFF2-40B4-BE49-F238E27FC236}">
                <a16:creationId xmlns:a16="http://schemas.microsoft.com/office/drawing/2014/main" id="{4D2B796A-0B1E-46FA-AC86-9A7803DF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8E223-380C-4295-85FF-7B9C2423BBBE}"/>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3897428650"/>
      </p:ext>
    </p:extLst>
  </p:cSld>
  <p:clrMapOvr>
    <a:masterClrMapping/>
  </p:clrMapOvr>
  <p:extLst>
    <p:ext uri="{DCECCB84-F9BA-43D5-87BE-67443E8EF086}">
      <p15:sldGuideLst xmlns:p15="http://schemas.microsoft.com/office/powerpoint/2012/main">
        <p15:guide id="1" pos="5654">
          <p15:clr>
            <a:srgbClr val="FBAE40"/>
          </p15:clr>
        </p15:guide>
        <p15:guide id="2" pos="726">
          <p15:clr>
            <a:srgbClr val="FBAE40"/>
          </p15:clr>
        </p15:guide>
        <p15:guide id="3" orient="horz" pos="137">
          <p15:clr>
            <a:srgbClr val="FBAE40"/>
          </p15:clr>
        </p15:guide>
        <p15:guide id="4" orient="horz" pos="6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19399" y="419894"/>
            <a:ext cx="9372601" cy="1484312"/>
          </a:xfrm>
          <a:solidFill>
            <a:schemeClr val="accent4"/>
          </a:solidFill>
        </p:spPr>
        <p:txBody>
          <a:bodyPr vert="horz" lIns="91440" tIns="45720" rIns="288000" bIns="45720" rtlCol="0" anchor="ctr">
            <a:noAutofit/>
          </a:bodyPr>
          <a:lstStyle>
            <a:lvl1pPr marL="263525" indent="0" algn="l">
              <a:defRPr lang="en-US" sz="3600" b="1" dirty="0">
                <a:solidFill>
                  <a:schemeClr val="tx1"/>
                </a:solidFill>
              </a:defRPr>
            </a:lvl1pPr>
          </a:lstStyle>
          <a:p>
            <a:pPr lvl="0"/>
            <a:r>
              <a:rPr lang="en-US"/>
              <a:t>Section title</a:t>
            </a:r>
          </a:p>
        </p:txBody>
      </p:sp>
      <p:pic>
        <p:nvPicPr>
          <p:cNvPr id="3" name="Graphic 5">
            <a:extLst>
              <a:ext uri="{FF2B5EF4-FFF2-40B4-BE49-F238E27FC236}">
                <a16:creationId xmlns:a16="http://schemas.microsoft.com/office/drawing/2014/main" id="{7B0BAF98-BF01-8628-815D-6C637563DA9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1974" y="6155372"/>
            <a:ext cx="928614" cy="640080"/>
          </a:xfrm>
          <a:prstGeom prst="rect">
            <a:avLst/>
          </a:prstGeom>
        </p:spPr>
      </p:pic>
      <p:sp>
        <p:nvSpPr>
          <p:cNvPr id="5" name="Picture Placeholder 6">
            <a:extLst>
              <a:ext uri="{FF2B5EF4-FFF2-40B4-BE49-F238E27FC236}">
                <a16:creationId xmlns:a16="http://schemas.microsoft.com/office/drawing/2014/main" id="{C4CE3442-CD9D-76CA-881D-CEA1B2E3BE72}"/>
              </a:ext>
            </a:extLst>
          </p:cNvPr>
          <p:cNvSpPr>
            <a:spLocks noGrp="1"/>
          </p:cNvSpPr>
          <p:nvPr>
            <p:ph type="pic" sz="quarter" idx="10" hasCustomPrompt="1"/>
          </p:nvPr>
        </p:nvSpPr>
        <p:spPr>
          <a:xfrm>
            <a:off x="0" y="1304925"/>
            <a:ext cx="12192000" cy="4787900"/>
          </a:xfrm>
          <a:custGeom>
            <a:avLst/>
            <a:gdLst>
              <a:gd name="connsiteX0" fmla="*/ 0 w 12192000"/>
              <a:gd name="connsiteY0" fmla="*/ 0 h 4787900"/>
              <a:gd name="connsiteX1" fmla="*/ 2819399 w 12192000"/>
              <a:gd name="connsiteY1" fmla="*/ 0 h 4787900"/>
              <a:gd name="connsiteX2" fmla="*/ 2819399 w 12192000"/>
              <a:gd name="connsiteY2" fmla="*/ 599281 h 4787900"/>
              <a:gd name="connsiteX3" fmla="*/ 12192000 w 12192000"/>
              <a:gd name="connsiteY3" fmla="*/ 599281 h 4787900"/>
              <a:gd name="connsiteX4" fmla="*/ 12192000 w 12192000"/>
              <a:gd name="connsiteY4" fmla="*/ 4787900 h 4787900"/>
              <a:gd name="connsiteX5" fmla="*/ 0 w 12192000"/>
              <a:gd name="connsiteY5" fmla="*/ 478790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787900">
                <a:moveTo>
                  <a:pt x="0" y="0"/>
                </a:moveTo>
                <a:lnTo>
                  <a:pt x="2819399" y="0"/>
                </a:lnTo>
                <a:lnTo>
                  <a:pt x="2819399" y="599281"/>
                </a:lnTo>
                <a:lnTo>
                  <a:pt x="12192000" y="599281"/>
                </a:lnTo>
                <a:lnTo>
                  <a:pt x="12192000" y="4787900"/>
                </a:lnTo>
                <a:lnTo>
                  <a:pt x="0" y="4787900"/>
                </a:lnTo>
                <a:close/>
              </a:path>
            </a:pathLst>
          </a:custGeom>
          <a:noFill/>
        </p:spPr>
        <p:txBody>
          <a:bodyPr wrap="square" anchor="ctr">
            <a:noAutofit/>
          </a:bodyPr>
          <a:lstStyle>
            <a:lvl1pPr marL="0" indent="0" algn="ctr">
              <a:buNone/>
              <a:defRPr>
                <a:solidFill>
                  <a:srgbClr val="C0C8D2"/>
                </a:solidFill>
              </a:defRPr>
            </a:lvl1pPr>
          </a:lstStyle>
          <a:p>
            <a:r>
              <a:rPr lang="en-US"/>
              <a:t>Drag and drop a picture here (optional)</a:t>
            </a:r>
          </a:p>
        </p:txBody>
      </p:sp>
    </p:spTree>
    <p:extLst>
      <p:ext uri="{BB962C8B-B14F-4D97-AF65-F5344CB8AC3E}">
        <p14:creationId xmlns:p14="http://schemas.microsoft.com/office/powerpoint/2010/main" val="686472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00037" y="1484313"/>
            <a:ext cx="5719763" cy="4608512"/>
          </a:xfrm>
        </p:spPr>
        <p:txBody>
          <a:bodyPr/>
          <a:lstStyle>
            <a:lvl1pPr marL="261938" indent="-261938">
              <a:buFont typeface="Arial" panose="020B0604020202020204" pitchFamily="34" charset="0"/>
              <a:buChar char="•"/>
              <a:defRPr/>
            </a:lvl1pPr>
            <a:lvl2pPr marL="536575" indent="-266700">
              <a:buFont typeface="Arial" panose="020B0604020202020204" pitchFamily="34" charset="0"/>
              <a:buChar char="•"/>
              <a:defRPr/>
            </a:lvl2pPr>
            <a:lvl3pPr marL="812800" indent="-273050">
              <a:buFont typeface="Arial" panose="020B0604020202020204" pitchFamily="34" charset="0"/>
              <a:buChar char="•"/>
              <a:defRPr/>
            </a:lvl3pPr>
            <a:lvl4pPr marL="987425" indent="-268288">
              <a:buFont typeface="Arial" panose="020B0604020202020204" pitchFamily="34" charset="0"/>
              <a:buChar char="•"/>
              <a:defRPr/>
            </a:lvl4pPr>
          </a:lstStyle>
          <a:p>
            <a:pPr lvl="0"/>
            <a:r>
              <a:rPr lang="en-US"/>
              <a:t>First level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096000" y="1484313"/>
            <a:ext cx="5720400" cy="4608512"/>
          </a:xfrm>
        </p:spPr>
        <p:txBody>
          <a:bodyPr/>
          <a:lstStyle>
            <a:lvl1pPr>
              <a:defRPr/>
            </a:lvl1pPr>
          </a:lstStyle>
          <a:p>
            <a:pPr lvl="0"/>
            <a:r>
              <a:rPr lang="en-US"/>
              <a:t>First level text</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hasCustomPrompt="1"/>
          </p:nvPr>
        </p:nvSpPr>
        <p:spPr/>
        <p:txBody>
          <a:bodyPr/>
          <a:lstStyle>
            <a:lvl1pPr>
              <a:defRPr/>
            </a:lvl1pPr>
          </a:lstStyle>
          <a:p>
            <a:r>
              <a:rPr lang="en-US"/>
              <a:t>Slide title</a:t>
            </a:r>
          </a:p>
        </p:txBody>
      </p:sp>
      <p:sp>
        <p:nvSpPr>
          <p:cNvPr id="2" name="Date Placeholder 1">
            <a:extLst>
              <a:ext uri="{FF2B5EF4-FFF2-40B4-BE49-F238E27FC236}">
                <a16:creationId xmlns:a16="http://schemas.microsoft.com/office/drawing/2014/main" id="{53788507-3E03-4FB3-A132-78A9397820B6}"/>
              </a:ext>
            </a:extLst>
          </p:cNvPr>
          <p:cNvSpPr>
            <a:spLocks noGrp="1"/>
          </p:cNvSpPr>
          <p:nvPr>
            <p:ph type="dt" sz="half" idx="10"/>
          </p:nvPr>
        </p:nvSpPr>
        <p:spPr/>
        <p:txBody>
          <a:bodyPr/>
          <a:lstStyle/>
          <a:p>
            <a:fld id="{B8B61A2D-2737-4E06-A239-88CE7EE28975}" type="datetime1">
              <a:rPr lang="en-US" smtClean="0"/>
              <a:t>4/21/2026</a:t>
            </a:fld>
            <a:endParaRPr lang="en-US"/>
          </a:p>
        </p:txBody>
      </p:sp>
      <p:sp>
        <p:nvSpPr>
          <p:cNvPr id="7" name="Footer Placeholder 6">
            <a:extLst>
              <a:ext uri="{FF2B5EF4-FFF2-40B4-BE49-F238E27FC236}">
                <a16:creationId xmlns:a16="http://schemas.microsoft.com/office/drawing/2014/main" id="{49E28F68-9BF2-4E8D-9900-2B961920C10C}"/>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2468ACE-19CE-4D11-BE8C-BF854FA85EA3}"/>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4156552837"/>
      </p:ext>
    </p:extLst>
  </p:cSld>
  <p:clrMapOvr>
    <a:masterClrMapping/>
  </p:clrMapOvr>
  <p:extLst>
    <p:ext uri="{DCECCB84-F9BA-43D5-87BE-67443E8EF086}">
      <p15:sldGuideLst xmlns:p15="http://schemas.microsoft.com/office/powerpoint/2012/main">
        <p15:guide id="1" orient="horz" pos="674">
          <p15:clr>
            <a:srgbClr val="FBAE40"/>
          </p15:clr>
        </p15:guide>
        <p15:guide id="2" orient="horz" pos="137">
          <p15:clr>
            <a:srgbClr val="FBAE40"/>
          </p15:clr>
        </p15:guide>
        <p15:guide id="3" pos="726">
          <p15:clr>
            <a:srgbClr val="FBAE40"/>
          </p15:clr>
        </p15:guide>
        <p15:guide id="4" pos="565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3"/>
          <p:cNvSpPr>
            <a:spLocks noGrp="1"/>
          </p:cNvSpPr>
          <p:nvPr>
            <p:ph type="title" hasCustomPrompt="1"/>
          </p:nvPr>
        </p:nvSpPr>
        <p:spPr/>
        <p:txBody>
          <a:bodyPr/>
          <a:lstStyle>
            <a:lvl1pPr>
              <a:defRPr/>
            </a:lvl1pPr>
          </a:lstStyle>
          <a:p>
            <a:r>
              <a:rPr lang="en-US"/>
              <a:t>Slide title</a:t>
            </a:r>
          </a:p>
        </p:txBody>
      </p:sp>
      <p:sp>
        <p:nvSpPr>
          <p:cNvPr id="2" name="Date Placeholder 1">
            <a:extLst>
              <a:ext uri="{FF2B5EF4-FFF2-40B4-BE49-F238E27FC236}">
                <a16:creationId xmlns:a16="http://schemas.microsoft.com/office/drawing/2014/main" id="{69297BAC-5561-499E-BBCB-6D6E1FD7DF7B}"/>
              </a:ext>
            </a:extLst>
          </p:cNvPr>
          <p:cNvSpPr>
            <a:spLocks noGrp="1"/>
          </p:cNvSpPr>
          <p:nvPr>
            <p:ph type="dt" sz="half" idx="10"/>
          </p:nvPr>
        </p:nvSpPr>
        <p:spPr/>
        <p:txBody>
          <a:bodyPr/>
          <a:lstStyle/>
          <a:p>
            <a:fld id="{F59ADB37-D2F3-4CB1-83B3-868637EB2B02}" type="datetime1">
              <a:rPr lang="en-US" smtClean="0"/>
              <a:t>4/21/2026</a:t>
            </a:fld>
            <a:endParaRPr lang="en-US"/>
          </a:p>
        </p:txBody>
      </p:sp>
      <p:sp>
        <p:nvSpPr>
          <p:cNvPr id="5" name="Footer Placeholder 4">
            <a:extLst>
              <a:ext uri="{FF2B5EF4-FFF2-40B4-BE49-F238E27FC236}">
                <a16:creationId xmlns:a16="http://schemas.microsoft.com/office/drawing/2014/main" id="{01525733-58EA-4C07-864D-B4CB76D0D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875373-7992-498D-9AB1-3D8254424717}"/>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1050055051"/>
      </p:ext>
    </p:extLst>
  </p:cSld>
  <p:clrMapOvr>
    <a:masterClrMapping/>
  </p:clrMapOvr>
  <p:extLst>
    <p:ext uri="{DCECCB84-F9BA-43D5-87BE-67443E8EF086}">
      <p15:sldGuideLst xmlns:p15="http://schemas.microsoft.com/office/powerpoint/2012/main">
        <p15:guide id="1" pos="5654">
          <p15:clr>
            <a:srgbClr val="FBAE40"/>
          </p15:clr>
        </p15:guide>
        <p15:guide id="2" orient="horz" pos="2160">
          <p15:clr>
            <a:srgbClr val="FBAE40"/>
          </p15:clr>
        </p15:guide>
        <p15:guide id="3" orient="horz" pos="674">
          <p15:clr>
            <a:srgbClr val="FBAE40"/>
          </p15:clr>
        </p15:guide>
        <p15:guide id="4" orient="horz" pos="137">
          <p15:clr>
            <a:srgbClr val="FBAE40"/>
          </p15:clr>
        </p15:guide>
        <p15:guide id="5" pos="72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125953C-BDCE-466C-B5D1-10A5597F7220}"/>
              </a:ext>
            </a:extLst>
          </p:cNvPr>
          <p:cNvSpPr>
            <a:spLocks noGrp="1"/>
          </p:cNvSpPr>
          <p:nvPr>
            <p:ph type="dt" sz="half" idx="10"/>
          </p:nvPr>
        </p:nvSpPr>
        <p:spPr/>
        <p:txBody>
          <a:bodyPr/>
          <a:lstStyle/>
          <a:p>
            <a:fld id="{55225B76-2D76-4AF9-AE0C-78394B8232A0}" type="datetime1">
              <a:rPr lang="en-US" smtClean="0"/>
              <a:t>4/21/2026</a:t>
            </a:fld>
            <a:endParaRPr lang="en-US"/>
          </a:p>
        </p:txBody>
      </p:sp>
      <p:sp>
        <p:nvSpPr>
          <p:cNvPr id="4" name="Footer Placeholder 3">
            <a:extLst>
              <a:ext uri="{FF2B5EF4-FFF2-40B4-BE49-F238E27FC236}">
                <a16:creationId xmlns:a16="http://schemas.microsoft.com/office/drawing/2014/main" id="{35093A61-3D0C-4D22-A38C-FED809C56B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CFF57E-942B-4161-B1AA-AAC9C60FE343}"/>
              </a:ext>
            </a:extLst>
          </p:cNvPr>
          <p:cNvSpPr>
            <a:spLocks noGrp="1"/>
          </p:cNvSpPr>
          <p:nvPr>
            <p:ph type="sldNum" sz="quarter" idx="12"/>
          </p:nvPr>
        </p:nvSpPr>
        <p:spPr/>
        <p:txBody>
          <a:bodyPr/>
          <a:lstStyle/>
          <a:p>
            <a:fld id="{40A7B169-58CE-4E65-B1F9-ACF9E46440C2}" type="slidenum">
              <a:rPr lang="en-US" smtClean="0"/>
              <a:t>‹#›</a:t>
            </a:fld>
            <a:endParaRPr lang="en-US"/>
          </a:p>
        </p:txBody>
      </p:sp>
    </p:spTree>
    <p:extLst>
      <p:ext uri="{BB962C8B-B14F-4D97-AF65-F5344CB8AC3E}">
        <p14:creationId xmlns:p14="http://schemas.microsoft.com/office/powerpoint/2010/main" val="12296206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674">
          <p15:clr>
            <a:srgbClr val="FBAE40"/>
          </p15:clr>
        </p15:guide>
        <p15:guide id="3" orient="horz" pos="137">
          <p15:clr>
            <a:srgbClr val="FBAE40"/>
          </p15:clr>
        </p15:guide>
        <p15:guide id="4" pos="72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4" name="Text Placeholder 22">
            <a:extLst>
              <a:ext uri="{FF2B5EF4-FFF2-40B4-BE49-F238E27FC236}">
                <a16:creationId xmlns:a16="http://schemas.microsoft.com/office/drawing/2014/main" id="{D15AA452-2F5A-B772-945B-B0CFC5F3FD90}"/>
              </a:ext>
            </a:extLst>
          </p:cNvPr>
          <p:cNvSpPr>
            <a:spLocks noGrp="1"/>
          </p:cNvSpPr>
          <p:nvPr>
            <p:ph type="body" sz="quarter" idx="14" hasCustomPrompt="1"/>
          </p:nvPr>
        </p:nvSpPr>
        <p:spPr>
          <a:xfrm>
            <a:off x="300038" y="1487433"/>
            <a:ext cx="731520" cy="731520"/>
          </a:xfrm>
          <a:solidFill>
            <a:schemeClr val="accent4"/>
          </a:solidFill>
        </p:spPr>
        <p:txBody>
          <a:bodyPr anchor="ctr"/>
          <a:lstStyle>
            <a:lvl1pPr marL="0" indent="0" algn="ctr">
              <a:buNone/>
              <a:defRPr sz="2800"/>
            </a:lvl1pPr>
          </a:lstStyle>
          <a:p>
            <a:pPr lvl="0"/>
            <a:r>
              <a:rPr lang="en-US"/>
              <a:t>#</a:t>
            </a:r>
          </a:p>
        </p:txBody>
      </p:sp>
      <p:sp>
        <p:nvSpPr>
          <p:cNvPr id="2" name="Title 1">
            <a:extLst>
              <a:ext uri="{FF2B5EF4-FFF2-40B4-BE49-F238E27FC236}">
                <a16:creationId xmlns:a16="http://schemas.microsoft.com/office/drawing/2014/main" id="{B389467D-4E3E-2E79-F1E3-71984118B362}"/>
              </a:ext>
            </a:extLst>
          </p:cNvPr>
          <p:cNvSpPr>
            <a:spLocks noGrp="1"/>
          </p:cNvSpPr>
          <p:nvPr>
            <p:ph type="title" hasCustomPrompt="1"/>
          </p:nvPr>
        </p:nvSpPr>
        <p:spPr/>
        <p:txBody>
          <a:bodyPr/>
          <a:lstStyle>
            <a:lvl1pPr>
              <a:defRPr/>
            </a:lvl1pPr>
          </a:lstStyle>
          <a:p>
            <a:r>
              <a:rPr lang="en-US"/>
              <a:t>Slide title</a:t>
            </a:r>
          </a:p>
        </p:txBody>
      </p:sp>
      <p:sp>
        <p:nvSpPr>
          <p:cNvPr id="3" name="Footer Placeholder 2">
            <a:extLst>
              <a:ext uri="{FF2B5EF4-FFF2-40B4-BE49-F238E27FC236}">
                <a16:creationId xmlns:a16="http://schemas.microsoft.com/office/drawing/2014/main" id="{B130C536-79BA-88B1-166F-BD74971E5AE6}"/>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BC20DF25-812A-35DC-2783-1BC33FB9C8AC}"/>
              </a:ext>
            </a:extLst>
          </p:cNvPr>
          <p:cNvSpPr>
            <a:spLocks noGrp="1"/>
          </p:cNvSpPr>
          <p:nvPr>
            <p:ph type="sldNum" sz="quarter" idx="11"/>
          </p:nvPr>
        </p:nvSpPr>
        <p:spPr/>
        <p:txBody>
          <a:bodyPr/>
          <a:lstStyle/>
          <a:p>
            <a:fld id="{40A7B169-58CE-4E65-B1F9-ACF9E46440C2}" type="slidenum">
              <a:rPr lang="en-US" smtClean="0"/>
              <a:t>‹#›</a:t>
            </a:fld>
            <a:endParaRPr lang="en-US"/>
          </a:p>
        </p:txBody>
      </p:sp>
      <p:sp>
        <p:nvSpPr>
          <p:cNvPr id="5" name="Date Placeholder 4">
            <a:extLst>
              <a:ext uri="{FF2B5EF4-FFF2-40B4-BE49-F238E27FC236}">
                <a16:creationId xmlns:a16="http://schemas.microsoft.com/office/drawing/2014/main" id="{FE15D2CF-A487-DE9E-414F-462D62049E40}"/>
              </a:ext>
            </a:extLst>
          </p:cNvPr>
          <p:cNvSpPr>
            <a:spLocks noGrp="1"/>
          </p:cNvSpPr>
          <p:nvPr>
            <p:ph type="dt" sz="half" idx="12"/>
          </p:nvPr>
        </p:nvSpPr>
        <p:spPr/>
        <p:txBody>
          <a:bodyPr/>
          <a:lstStyle/>
          <a:p>
            <a:fld id="{B3C57E91-E245-4863-AF80-0320E6F3C471}" type="datetime1">
              <a:rPr lang="en-US" smtClean="0"/>
              <a:t>4/21/2026</a:t>
            </a:fld>
            <a:endParaRPr lang="en-US"/>
          </a:p>
        </p:txBody>
      </p:sp>
      <p:sp>
        <p:nvSpPr>
          <p:cNvPr id="23" name="Text Placeholder 22">
            <a:extLst>
              <a:ext uri="{FF2B5EF4-FFF2-40B4-BE49-F238E27FC236}">
                <a16:creationId xmlns:a16="http://schemas.microsoft.com/office/drawing/2014/main" id="{229F6FE6-9902-64DD-A000-F3C8D011E5A1}"/>
              </a:ext>
            </a:extLst>
          </p:cNvPr>
          <p:cNvSpPr>
            <a:spLocks noGrp="1"/>
          </p:cNvSpPr>
          <p:nvPr>
            <p:ph type="body" sz="quarter" idx="13" hasCustomPrompt="1"/>
          </p:nvPr>
        </p:nvSpPr>
        <p:spPr>
          <a:xfrm>
            <a:off x="1091649" y="1487433"/>
            <a:ext cx="4754880" cy="731520"/>
          </a:xfrm>
        </p:spPr>
        <p:txBody>
          <a:bodyPr anchor="ctr"/>
          <a:lstStyle>
            <a:lvl1pPr marL="0" indent="0">
              <a:buNone/>
              <a:defRPr sz="2800"/>
            </a:lvl1pPr>
          </a:lstStyle>
          <a:p>
            <a:pPr lvl="0"/>
            <a:r>
              <a:rPr lang="en-US"/>
              <a:t>Topic</a:t>
            </a:r>
          </a:p>
        </p:txBody>
      </p:sp>
      <p:sp>
        <p:nvSpPr>
          <p:cNvPr id="25" name="Text Placeholder 22">
            <a:extLst>
              <a:ext uri="{FF2B5EF4-FFF2-40B4-BE49-F238E27FC236}">
                <a16:creationId xmlns:a16="http://schemas.microsoft.com/office/drawing/2014/main" id="{6E4D8103-4194-5038-5BB3-B27BD01622E3}"/>
              </a:ext>
            </a:extLst>
          </p:cNvPr>
          <p:cNvSpPr>
            <a:spLocks noGrp="1"/>
          </p:cNvSpPr>
          <p:nvPr>
            <p:ph type="body" sz="quarter" idx="15" hasCustomPrompt="1"/>
          </p:nvPr>
        </p:nvSpPr>
        <p:spPr>
          <a:xfrm>
            <a:off x="300038" y="2624425"/>
            <a:ext cx="731520" cy="731520"/>
          </a:xfrm>
          <a:solidFill>
            <a:schemeClr val="accent4"/>
          </a:solidFill>
        </p:spPr>
        <p:txBody>
          <a:bodyPr anchor="ctr"/>
          <a:lstStyle>
            <a:lvl1pPr marL="0" indent="0" algn="ctr">
              <a:buNone/>
              <a:defRPr sz="2800"/>
            </a:lvl1pPr>
          </a:lstStyle>
          <a:p>
            <a:pPr lvl="0"/>
            <a:r>
              <a:rPr lang="en-US"/>
              <a:t>#</a:t>
            </a:r>
          </a:p>
        </p:txBody>
      </p:sp>
      <p:sp>
        <p:nvSpPr>
          <p:cNvPr id="26" name="Text Placeholder 22">
            <a:extLst>
              <a:ext uri="{FF2B5EF4-FFF2-40B4-BE49-F238E27FC236}">
                <a16:creationId xmlns:a16="http://schemas.microsoft.com/office/drawing/2014/main" id="{B333E01B-74F4-BD5A-C789-5CB514934AA4}"/>
              </a:ext>
            </a:extLst>
          </p:cNvPr>
          <p:cNvSpPr>
            <a:spLocks noGrp="1"/>
          </p:cNvSpPr>
          <p:nvPr>
            <p:ph type="body" sz="quarter" idx="16" hasCustomPrompt="1"/>
          </p:nvPr>
        </p:nvSpPr>
        <p:spPr>
          <a:xfrm>
            <a:off x="1091649" y="2624425"/>
            <a:ext cx="4754880" cy="731520"/>
          </a:xfrm>
        </p:spPr>
        <p:txBody>
          <a:bodyPr anchor="ctr"/>
          <a:lstStyle>
            <a:lvl1pPr marL="0" indent="0">
              <a:buNone/>
              <a:defRPr sz="2800"/>
            </a:lvl1pPr>
          </a:lstStyle>
          <a:p>
            <a:pPr lvl="0"/>
            <a:r>
              <a:rPr lang="en-US"/>
              <a:t>Topic</a:t>
            </a:r>
          </a:p>
        </p:txBody>
      </p:sp>
      <p:sp>
        <p:nvSpPr>
          <p:cNvPr id="27" name="Text Placeholder 22">
            <a:extLst>
              <a:ext uri="{FF2B5EF4-FFF2-40B4-BE49-F238E27FC236}">
                <a16:creationId xmlns:a16="http://schemas.microsoft.com/office/drawing/2014/main" id="{09017772-3244-6F37-2086-3BFA0683EAB0}"/>
              </a:ext>
            </a:extLst>
          </p:cNvPr>
          <p:cNvSpPr>
            <a:spLocks noGrp="1"/>
          </p:cNvSpPr>
          <p:nvPr>
            <p:ph type="body" sz="quarter" idx="17" hasCustomPrompt="1"/>
          </p:nvPr>
        </p:nvSpPr>
        <p:spPr>
          <a:xfrm>
            <a:off x="300038" y="3761417"/>
            <a:ext cx="731520" cy="731520"/>
          </a:xfrm>
          <a:solidFill>
            <a:schemeClr val="accent4"/>
          </a:solidFill>
        </p:spPr>
        <p:txBody>
          <a:bodyPr anchor="ctr"/>
          <a:lstStyle>
            <a:lvl1pPr marL="0" indent="0" algn="ctr">
              <a:buNone/>
              <a:defRPr sz="2800"/>
            </a:lvl1pPr>
          </a:lstStyle>
          <a:p>
            <a:pPr lvl="0"/>
            <a:r>
              <a:rPr lang="en-US"/>
              <a:t>#</a:t>
            </a:r>
          </a:p>
        </p:txBody>
      </p:sp>
      <p:sp>
        <p:nvSpPr>
          <p:cNvPr id="28" name="Text Placeholder 22">
            <a:extLst>
              <a:ext uri="{FF2B5EF4-FFF2-40B4-BE49-F238E27FC236}">
                <a16:creationId xmlns:a16="http://schemas.microsoft.com/office/drawing/2014/main" id="{0A08BA30-CC2E-1C99-57CB-92CBBB68B610}"/>
              </a:ext>
            </a:extLst>
          </p:cNvPr>
          <p:cNvSpPr>
            <a:spLocks noGrp="1"/>
          </p:cNvSpPr>
          <p:nvPr>
            <p:ph type="body" sz="quarter" idx="18" hasCustomPrompt="1"/>
          </p:nvPr>
        </p:nvSpPr>
        <p:spPr>
          <a:xfrm>
            <a:off x="1091649" y="3761417"/>
            <a:ext cx="4754880" cy="731520"/>
          </a:xfrm>
        </p:spPr>
        <p:txBody>
          <a:bodyPr anchor="ctr"/>
          <a:lstStyle>
            <a:lvl1pPr marL="0" indent="0">
              <a:buNone/>
              <a:defRPr sz="2800"/>
            </a:lvl1pPr>
          </a:lstStyle>
          <a:p>
            <a:pPr lvl="0"/>
            <a:r>
              <a:rPr lang="en-US"/>
              <a:t>Topic</a:t>
            </a:r>
          </a:p>
        </p:txBody>
      </p:sp>
      <p:sp>
        <p:nvSpPr>
          <p:cNvPr id="29" name="Text Placeholder 22">
            <a:extLst>
              <a:ext uri="{FF2B5EF4-FFF2-40B4-BE49-F238E27FC236}">
                <a16:creationId xmlns:a16="http://schemas.microsoft.com/office/drawing/2014/main" id="{E74361AC-E7BF-9BB0-D531-28E15A7ED06C}"/>
              </a:ext>
            </a:extLst>
          </p:cNvPr>
          <p:cNvSpPr>
            <a:spLocks noGrp="1"/>
          </p:cNvSpPr>
          <p:nvPr>
            <p:ph type="body" sz="quarter" idx="19" hasCustomPrompt="1"/>
          </p:nvPr>
        </p:nvSpPr>
        <p:spPr>
          <a:xfrm>
            <a:off x="300038" y="4898408"/>
            <a:ext cx="731520" cy="731520"/>
          </a:xfrm>
          <a:solidFill>
            <a:schemeClr val="accent4"/>
          </a:solidFill>
        </p:spPr>
        <p:txBody>
          <a:bodyPr anchor="ctr"/>
          <a:lstStyle>
            <a:lvl1pPr marL="0" indent="0" algn="ctr">
              <a:buNone/>
              <a:defRPr sz="2800"/>
            </a:lvl1pPr>
          </a:lstStyle>
          <a:p>
            <a:pPr lvl="0"/>
            <a:r>
              <a:rPr lang="en-US"/>
              <a:t>#</a:t>
            </a:r>
          </a:p>
        </p:txBody>
      </p:sp>
      <p:sp>
        <p:nvSpPr>
          <p:cNvPr id="30" name="Text Placeholder 22">
            <a:extLst>
              <a:ext uri="{FF2B5EF4-FFF2-40B4-BE49-F238E27FC236}">
                <a16:creationId xmlns:a16="http://schemas.microsoft.com/office/drawing/2014/main" id="{A2A63932-A9F1-75DE-B4ED-0D62394486DB}"/>
              </a:ext>
            </a:extLst>
          </p:cNvPr>
          <p:cNvSpPr>
            <a:spLocks noGrp="1"/>
          </p:cNvSpPr>
          <p:nvPr>
            <p:ph type="body" sz="quarter" idx="20" hasCustomPrompt="1"/>
          </p:nvPr>
        </p:nvSpPr>
        <p:spPr>
          <a:xfrm>
            <a:off x="1091649" y="4898408"/>
            <a:ext cx="4754880" cy="731520"/>
          </a:xfrm>
        </p:spPr>
        <p:txBody>
          <a:bodyPr anchor="ctr"/>
          <a:lstStyle>
            <a:lvl1pPr marL="0" indent="0">
              <a:buNone/>
              <a:defRPr sz="2800"/>
            </a:lvl1pPr>
          </a:lstStyle>
          <a:p>
            <a:pPr lvl="0"/>
            <a:r>
              <a:rPr lang="en-US"/>
              <a:t>Topic</a:t>
            </a:r>
          </a:p>
        </p:txBody>
      </p:sp>
      <p:sp>
        <p:nvSpPr>
          <p:cNvPr id="31" name="Text Placeholder 22">
            <a:extLst>
              <a:ext uri="{FF2B5EF4-FFF2-40B4-BE49-F238E27FC236}">
                <a16:creationId xmlns:a16="http://schemas.microsoft.com/office/drawing/2014/main" id="{B2E5A9C1-A2AB-4259-82F1-2AE3DFFDBA6C}"/>
              </a:ext>
            </a:extLst>
          </p:cNvPr>
          <p:cNvSpPr>
            <a:spLocks noGrp="1"/>
          </p:cNvSpPr>
          <p:nvPr>
            <p:ph type="body" sz="quarter" idx="21" hasCustomPrompt="1"/>
          </p:nvPr>
        </p:nvSpPr>
        <p:spPr>
          <a:xfrm>
            <a:off x="6096000" y="1487433"/>
            <a:ext cx="731520" cy="731520"/>
          </a:xfrm>
          <a:solidFill>
            <a:schemeClr val="accent4"/>
          </a:solidFill>
        </p:spPr>
        <p:txBody>
          <a:bodyPr anchor="ctr"/>
          <a:lstStyle>
            <a:lvl1pPr marL="0" indent="0" algn="ctr">
              <a:buNone/>
              <a:defRPr sz="2800"/>
            </a:lvl1pPr>
          </a:lstStyle>
          <a:p>
            <a:pPr lvl="0"/>
            <a:r>
              <a:rPr lang="en-US"/>
              <a:t>#</a:t>
            </a:r>
          </a:p>
        </p:txBody>
      </p:sp>
      <p:sp>
        <p:nvSpPr>
          <p:cNvPr id="32" name="Text Placeholder 22">
            <a:extLst>
              <a:ext uri="{FF2B5EF4-FFF2-40B4-BE49-F238E27FC236}">
                <a16:creationId xmlns:a16="http://schemas.microsoft.com/office/drawing/2014/main" id="{461B435B-C211-8417-11B1-5F46A1AC5953}"/>
              </a:ext>
            </a:extLst>
          </p:cNvPr>
          <p:cNvSpPr>
            <a:spLocks noGrp="1"/>
          </p:cNvSpPr>
          <p:nvPr>
            <p:ph type="body" sz="quarter" idx="22" hasCustomPrompt="1"/>
          </p:nvPr>
        </p:nvSpPr>
        <p:spPr>
          <a:xfrm>
            <a:off x="6887611" y="1487433"/>
            <a:ext cx="4754880" cy="731520"/>
          </a:xfrm>
        </p:spPr>
        <p:txBody>
          <a:bodyPr anchor="ctr"/>
          <a:lstStyle>
            <a:lvl1pPr marL="0" indent="0">
              <a:buNone/>
              <a:defRPr sz="2800"/>
            </a:lvl1pPr>
          </a:lstStyle>
          <a:p>
            <a:pPr lvl="0"/>
            <a:r>
              <a:rPr lang="en-US"/>
              <a:t>Topic</a:t>
            </a:r>
          </a:p>
        </p:txBody>
      </p:sp>
      <p:sp>
        <p:nvSpPr>
          <p:cNvPr id="33" name="Text Placeholder 22">
            <a:extLst>
              <a:ext uri="{FF2B5EF4-FFF2-40B4-BE49-F238E27FC236}">
                <a16:creationId xmlns:a16="http://schemas.microsoft.com/office/drawing/2014/main" id="{23E32E66-08FD-72CE-DA85-9B3671D6D2E1}"/>
              </a:ext>
            </a:extLst>
          </p:cNvPr>
          <p:cNvSpPr>
            <a:spLocks noGrp="1"/>
          </p:cNvSpPr>
          <p:nvPr>
            <p:ph type="body" sz="quarter" idx="23" hasCustomPrompt="1"/>
          </p:nvPr>
        </p:nvSpPr>
        <p:spPr>
          <a:xfrm>
            <a:off x="6096000" y="2624425"/>
            <a:ext cx="731520" cy="731520"/>
          </a:xfrm>
          <a:solidFill>
            <a:schemeClr val="accent4"/>
          </a:solidFill>
        </p:spPr>
        <p:txBody>
          <a:bodyPr anchor="ctr"/>
          <a:lstStyle>
            <a:lvl1pPr marL="0" indent="0" algn="ctr">
              <a:buNone/>
              <a:defRPr sz="2800"/>
            </a:lvl1pPr>
          </a:lstStyle>
          <a:p>
            <a:pPr lvl="0"/>
            <a:r>
              <a:rPr lang="en-US"/>
              <a:t>#</a:t>
            </a:r>
          </a:p>
        </p:txBody>
      </p:sp>
      <p:sp>
        <p:nvSpPr>
          <p:cNvPr id="34" name="Text Placeholder 22">
            <a:extLst>
              <a:ext uri="{FF2B5EF4-FFF2-40B4-BE49-F238E27FC236}">
                <a16:creationId xmlns:a16="http://schemas.microsoft.com/office/drawing/2014/main" id="{E0F050B4-6ECE-8FF8-A1AA-3F4C2FBA89D6}"/>
              </a:ext>
            </a:extLst>
          </p:cNvPr>
          <p:cNvSpPr>
            <a:spLocks noGrp="1"/>
          </p:cNvSpPr>
          <p:nvPr>
            <p:ph type="body" sz="quarter" idx="24" hasCustomPrompt="1"/>
          </p:nvPr>
        </p:nvSpPr>
        <p:spPr>
          <a:xfrm>
            <a:off x="6887611" y="2624425"/>
            <a:ext cx="4754880" cy="731520"/>
          </a:xfrm>
        </p:spPr>
        <p:txBody>
          <a:bodyPr anchor="ctr"/>
          <a:lstStyle>
            <a:lvl1pPr marL="0" indent="0">
              <a:buNone/>
              <a:defRPr sz="2800"/>
            </a:lvl1pPr>
          </a:lstStyle>
          <a:p>
            <a:pPr lvl="0"/>
            <a:r>
              <a:rPr lang="en-US"/>
              <a:t>Topic</a:t>
            </a:r>
          </a:p>
        </p:txBody>
      </p:sp>
      <p:sp>
        <p:nvSpPr>
          <p:cNvPr id="35" name="Text Placeholder 22">
            <a:extLst>
              <a:ext uri="{FF2B5EF4-FFF2-40B4-BE49-F238E27FC236}">
                <a16:creationId xmlns:a16="http://schemas.microsoft.com/office/drawing/2014/main" id="{C57D1331-E3D7-C1FD-541B-C64045C74224}"/>
              </a:ext>
            </a:extLst>
          </p:cNvPr>
          <p:cNvSpPr>
            <a:spLocks noGrp="1"/>
          </p:cNvSpPr>
          <p:nvPr>
            <p:ph type="body" sz="quarter" idx="25" hasCustomPrompt="1"/>
          </p:nvPr>
        </p:nvSpPr>
        <p:spPr>
          <a:xfrm>
            <a:off x="6096000" y="3761417"/>
            <a:ext cx="731520" cy="731520"/>
          </a:xfrm>
          <a:solidFill>
            <a:schemeClr val="accent4"/>
          </a:solidFill>
        </p:spPr>
        <p:txBody>
          <a:bodyPr anchor="ctr"/>
          <a:lstStyle>
            <a:lvl1pPr marL="0" indent="0" algn="ctr">
              <a:buNone/>
              <a:defRPr sz="2800"/>
            </a:lvl1pPr>
          </a:lstStyle>
          <a:p>
            <a:pPr lvl="0"/>
            <a:r>
              <a:rPr lang="en-US"/>
              <a:t>#</a:t>
            </a:r>
          </a:p>
        </p:txBody>
      </p:sp>
      <p:sp>
        <p:nvSpPr>
          <p:cNvPr id="36" name="Text Placeholder 22">
            <a:extLst>
              <a:ext uri="{FF2B5EF4-FFF2-40B4-BE49-F238E27FC236}">
                <a16:creationId xmlns:a16="http://schemas.microsoft.com/office/drawing/2014/main" id="{FCBB95E6-B6D9-2B1A-115E-09D087D4660E}"/>
              </a:ext>
            </a:extLst>
          </p:cNvPr>
          <p:cNvSpPr>
            <a:spLocks noGrp="1"/>
          </p:cNvSpPr>
          <p:nvPr>
            <p:ph type="body" sz="quarter" idx="26" hasCustomPrompt="1"/>
          </p:nvPr>
        </p:nvSpPr>
        <p:spPr>
          <a:xfrm>
            <a:off x="6887611" y="3761417"/>
            <a:ext cx="4754880" cy="731520"/>
          </a:xfrm>
        </p:spPr>
        <p:txBody>
          <a:bodyPr anchor="ctr"/>
          <a:lstStyle>
            <a:lvl1pPr marL="0" indent="0">
              <a:buNone/>
              <a:defRPr sz="2800"/>
            </a:lvl1pPr>
          </a:lstStyle>
          <a:p>
            <a:pPr lvl="0"/>
            <a:r>
              <a:rPr lang="en-US"/>
              <a:t>Topic</a:t>
            </a:r>
          </a:p>
        </p:txBody>
      </p:sp>
      <p:sp>
        <p:nvSpPr>
          <p:cNvPr id="37" name="Text Placeholder 22">
            <a:extLst>
              <a:ext uri="{FF2B5EF4-FFF2-40B4-BE49-F238E27FC236}">
                <a16:creationId xmlns:a16="http://schemas.microsoft.com/office/drawing/2014/main" id="{1AED3D0D-2221-0F28-6404-8DE7BBE38091}"/>
              </a:ext>
            </a:extLst>
          </p:cNvPr>
          <p:cNvSpPr>
            <a:spLocks noGrp="1"/>
          </p:cNvSpPr>
          <p:nvPr>
            <p:ph type="body" sz="quarter" idx="27" hasCustomPrompt="1"/>
          </p:nvPr>
        </p:nvSpPr>
        <p:spPr>
          <a:xfrm>
            <a:off x="6096000" y="4898408"/>
            <a:ext cx="731520" cy="731520"/>
          </a:xfrm>
          <a:solidFill>
            <a:schemeClr val="accent4"/>
          </a:solidFill>
        </p:spPr>
        <p:txBody>
          <a:bodyPr anchor="ctr"/>
          <a:lstStyle>
            <a:lvl1pPr marL="0" indent="0" algn="ctr">
              <a:buNone/>
              <a:defRPr sz="2800"/>
            </a:lvl1pPr>
          </a:lstStyle>
          <a:p>
            <a:pPr lvl="0"/>
            <a:r>
              <a:rPr lang="en-US"/>
              <a:t>#</a:t>
            </a:r>
          </a:p>
        </p:txBody>
      </p:sp>
      <p:sp>
        <p:nvSpPr>
          <p:cNvPr id="38" name="Text Placeholder 22">
            <a:extLst>
              <a:ext uri="{FF2B5EF4-FFF2-40B4-BE49-F238E27FC236}">
                <a16:creationId xmlns:a16="http://schemas.microsoft.com/office/drawing/2014/main" id="{A72B0B48-D3AF-3DBD-FB54-005779ED399C}"/>
              </a:ext>
            </a:extLst>
          </p:cNvPr>
          <p:cNvSpPr>
            <a:spLocks noGrp="1"/>
          </p:cNvSpPr>
          <p:nvPr>
            <p:ph type="body" sz="quarter" idx="28" hasCustomPrompt="1"/>
          </p:nvPr>
        </p:nvSpPr>
        <p:spPr>
          <a:xfrm>
            <a:off x="6887611" y="4898408"/>
            <a:ext cx="4754880" cy="731520"/>
          </a:xfrm>
        </p:spPr>
        <p:txBody>
          <a:bodyPr anchor="ctr"/>
          <a:lstStyle>
            <a:lvl1pPr marL="0" indent="0">
              <a:buNone/>
              <a:defRPr sz="2800"/>
            </a:lvl1pPr>
          </a:lstStyle>
          <a:p>
            <a:pPr lvl="0"/>
            <a:r>
              <a:rPr lang="en-US"/>
              <a:t>Topic</a:t>
            </a:r>
          </a:p>
        </p:txBody>
      </p:sp>
    </p:spTree>
    <p:extLst>
      <p:ext uri="{BB962C8B-B14F-4D97-AF65-F5344CB8AC3E}">
        <p14:creationId xmlns:p14="http://schemas.microsoft.com/office/powerpoint/2010/main" val="3661350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5F8E72F1-E261-A4D3-03FD-FCC351987924}"/>
              </a:ext>
            </a:extLst>
          </p:cNvPr>
          <p:cNvGrpSpPr/>
          <p:nvPr userDrawn="1"/>
        </p:nvGrpSpPr>
        <p:grpSpPr>
          <a:xfrm>
            <a:off x="0" y="0"/>
            <a:ext cx="12192000" cy="6858000"/>
            <a:chOff x="0" y="0"/>
            <a:chExt cx="12192000" cy="6858000"/>
          </a:xfrm>
        </p:grpSpPr>
        <p:sp>
          <p:nvSpPr>
            <p:cNvPr id="12" name="Rectangle 11">
              <a:extLst>
                <a:ext uri="{FF2B5EF4-FFF2-40B4-BE49-F238E27FC236}">
                  <a16:creationId xmlns:a16="http://schemas.microsoft.com/office/drawing/2014/main" id="{2A1E53E3-FC79-490F-927D-EDA5C06E6818}"/>
                </a:ext>
              </a:extLst>
            </p:cNvPr>
            <p:cNvSpPr/>
            <p:nvPr userDrawn="1"/>
          </p:nvSpPr>
          <p:spPr>
            <a:xfrm>
              <a:off x="0" y="0"/>
              <a:ext cx="12192000" cy="6854862"/>
            </a:xfrm>
            <a:prstGeom prst="rect">
              <a:avLst/>
            </a:prstGeom>
            <a:solidFill>
              <a:srgbClr val="002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7C8CE8D-FE25-40F5-A966-5717F85ACF9F}"/>
                </a:ext>
              </a:extLst>
            </p:cNvPr>
            <p:cNvPicPr>
              <a:picLocks noChangeAspect="1"/>
            </p:cNvPicPr>
            <p:nvPr userDrawn="1"/>
          </p:nvPicPr>
          <p:blipFill>
            <a:blip r:embed="rId2"/>
            <a:stretch>
              <a:fillRect/>
            </a:stretch>
          </p:blipFill>
          <p:spPr>
            <a:xfrm>
              <a:off x="2959336" y="1565049"/>
              <a:ext cx="6273328" cy="2280102"/>
            </a:xfrm>
            <a:prstGeom prst="rect">
              <a:avLst/>
            </a:prstGeom>
          </p:spPr>
        </p:pic>
        <p:sp>
          <p:nvSpPr>
            <p:cNvPr id="4" name="Rectangle 3">
              <a:extLst>
                <a:ext uri="{FF2B5EF4-FFF2-40B4-BE49-F238E27FC236}">
                  <a16:creationId xmlns:a16="http://schemas.microsoft.com/office/drawing/2014/main" id="{D994F7AD-3707-136B-D04F-5BE5160AF4A4}"/>
                </a:ext>
              </a:extLst>
            </p:cNvPr>
            <p:cNvSpPr/>
            <p:nvPr userDrawn="1"/>
          </p:nvSpPr>
          <p:spPr>
            <a:xfrm>
              <a:off x="0" y="5580993"/>
              <a:ext cx="12192000" cy="12770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6" name="Rectangle 5">
              <a:extLst>
                <a:ext uri="{FF2B5EF4-FFF2-40B4-BE49-F238E27FC236}">
                  <a16:creationId xmlns:a16="http://schemas.microsoft.com/office/drawing/2014/main" id="{A970C644-A64B-B0FF-7271-99A256079D04}"/>
                </a:ext>
              </a:extLst>
            </p:cNvPr>
            <p:cNvSpPr/>
            <p:nvPr userDrawn="1"/>
          </p:nvSpPr>
          <p:spPr>
            <a:xfrm>
              <a:off x="219558" y="5822714"/>
              <a:ext cx="9395219" cy="830997"/>
            </a:xfrm>
            <a:prstGeom prst="rect">
              <a:avLst/>
            </a:prstGeom>
          </p:spPr>
          <p:txBody>
            <a:bodyPr wrap="square">
              <a:spAutoFit/>
            </a:bodyPr>
            <a:lstStyle/>
            <a:p>
              <a:r>
                <a:rPr lang="en-US" sz="1200">
                  <a:solidFill>
                    <a:srgbClr val="00234B"/>
                  </a:solidFill>
                  <a:latin typeface="Arial" panose="020B0604020202020204" pitchFamily="34" charset="0"/>
                </a:rPr>
                <a:t>© STMicroelectronics - All rights reserved.</a:t>
              </a:r>
              <a:br>
                <a:rPr lang="en-US" sz="1200">
                  <a:solidFill>
                    <a:srgbClr val="00234B"/>
                  </a:solidFill>
                  <a:latin typeface="Arial" panose="020B0604020202020204" pitchFamily="34" charset="0"/>
                </a:rPr>
              </a:br>
              <a:r>
                <a:rPr lang="en-US" sz="1200" kern="1200">
                  <a:solidFill>
                    <a:srgbClr val="00234B"/>
                  </a:solidFill>
                  <a:latin typeface="Arial" panose="020B0604020202020204" pitchFamily="34" charset="0"/>
                  <a:ea typeface="+mn-ea"/>
                  <a:cs typeface="+mn-cs"/>
                </a:rPr>
                <a:t>ST logo is a trademark or a registered trademark of STMicroelectronics International NV or its affiliates in the EU and/or other countries. For additional information about ST trademarks, please refer to </a:t>
              </a:r>
              <a:r>
                <a:rPr lang="en-US" sz="1200" kern="1200">
                  <a:solidFill>
                    <a:srgbClr val="00234B"/>
                  </a:solidFill>
                  <a:latin typeface="Arial" panose="020B0604020202020204" pitchFamily="34" charset="0"/>
                  <a:ea typeface="+mn-ea"/>
                  <a:cs typeface="+mn-cs"/>
                  <a:hlinkClick r:id="rId3">
                    <a:extLst>
                      <a:ext uri="{A12FA001-AC4F-418D-AE19-62706E023703}">
                        <ahyp:hlinkClr xmlns:ahyp="http://schemas.microsoft.com/office/drawing/2018/hyperlinkcolor" val="tx"/>
                      </a:ext>
                    </a:extLst>
                  </a:hlinkClick>
                </a:rPr>
                <a:t>www.st.com/trademarks</a:t>
              </a:r>
              <a:r>
                <a:rPr lang="en-US" sz="1200" kern="1200">
                  <a:solidFill>
                    <a:srgbClr val="00234B"/>
                  </a:solidFill>
                  <a:latin typeface="Arial" panose="020B0604020202020204" pitchFamily="34" charset="0"/>
                  <a:ea typeface="+mn-ea"/>
                  <a:cs typeface="+mn-cs"/>
                </a:rPr>
                <a:t>. </a:t>
              </a:r>
              <a:br>
                <a:rPr lang="en-US" sz="1200" kern="1200">
                  <a:solidFill>
                    <a:srgbClr val="00234B"/>
                  </a:solidFill>
                  <a:latin typeface="Arial" panose="020B0604020202020204" pitchFamily="34" charset="0"/>
                  <a:ea typeface="+mn-ea"/>
                  <a:cs typeface="+mn-cs"/>
                </a:rPr>
              </a:br>
              <a:r>
                <a:rPr lang="en-US" sz="1200" kern="1200">
                  <a:solidFill>
                    <a:srgbClr val="00234B"/>
                  </a:solidFill>
                  <a:latin typeface="Arial" panose="020B0604020202020204" pitchFamily="34" charset="0"/>
                  <a:ea typeface="+mn-ea"/>
                  <a:cs typeface="+mn-cs"/>
                </a:rPr>
                <a:t>All other product or service names are the property of their respective owners.</a:t>
              </a:r>
            </a:p>
          </p:txBody>
        </p:sp>
        <p:pic>
          <p:nvPicPr>
            <p:cNvPr id="7" name="Graphic 6">
              <a:extLst>
                <a:ext uri="{FF2B5EF4-FFF2-40B4-BE49-F238E27FC236}">
                  <a16:creationId xmlns:a16="http://schemas.microsoft.com/office/drawing/2014/main" id="{DF6297DC-F8E9-1EA8-8CF6-587BC0B48C5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66753" y="5668010"/>
              <a:ext cx="1591910" cy="1097280"/>
            </a:xfrm>
            <a:prstGeom prst="rect">
              <a:avLst/>
            </a:prstGeom>
          </p:spPr>
        </p:pic>
      </p:grpSp>
    </p:spTree>
    <p:extLst>
      <p:ext uri="{BB962C8B-B14F-4D97-AF65-F5344CB8AC3E}">
        <p14:creationId xmlns:p14="http://schemas.microsoft.com/office/powerpoint/2010/main" val="630001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0037" y="-1"/>
            <a:ext cx="11609159" cy="1304925"/>
          </a:xfrm>
          <a:prstGeom prst="rect">
            <a:avLst/>
          </a:prstGeom>
        </p:spPr>
        <p:txBody>
          <a:bodyPr vert="horz" lIns="91440" tIns="45720" rIns="90000" bIns="45720" rtlCol="0" anchor="ctr">
            <a:noAutofit/>
          </a:bodyPr>
          <a:lstStyle/>
          <a:p>
            <a:pPr lvl="0" algn="r"/>
            <a:r>
              <a:rPr lang="en-US"/>
              <a:t>Slide title</a:t>
            </a:r>
          </a:p>
        </p:txBody>
      </p:sp>
      <p:sp>
        <p:nvSpPr>
          <p:cNvPr id="3" name="Text Placeholder 2"/>
          <p:cNvSpPr>
            <a:spLocks noGrp="1"/>
          </p:cNvSpPr>
          <p:nvPr>
            <p:ph type="body" idx="1"/>
          </p:nvPr>
        </p:nvSpPr>
        <p:spPr>
          <a:xfrm>
            <a:off x="300038" y="1484313"/>
            <a:ext cx="11591925" cy="4608512"/>
          </a:xfrm>
          <a:prstGeom prst="rect">
            <a:avLst/>
          </a:prstGeom>
        </p:spPr>
        <p:txBody>
          <a:bodyPr vert="horz" lIns="91440" tIns="45720" rIns="90000" bIns="45720" rtlCol="0">
            <a:noAutofit/>
          </a:bodyPr>
          <a:lstStyle/>
          <a:p>
            <a:pPr lvl="0"/>
            <a:r>
              <a:rPr lang="en-US"/>
              <a:t>First level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070600" y="6330968"/>
            <a:ext cx="5483314" cy="292554"/>
          </a:xfrm>
          <a:prstGeom prst="rect">
            <a:avLst/>
          </a:prstGeom>
        </p:spPr>
        <p:txBody>
          <a:bodyPr vert="horz" lIns="90000" tIns="45720" rIns="90000" bIns="45720" rtlCol="0" anchor="b"/>
          <a:lstStyle>
            <a:lvl1pPr algn="r">
              <a:defRPr lang="en-US" sz="1100" b="0">
                <a:solidFill>
                  <a:schemeClr val="tx2"/>
                </a:solidFill>
              </a:defRPr>
            </a:lvl1pPr>
          </a:lstStyle>
          <a:p>
            <a:endParaRPr lang="en-US"/>
          </a:p>
        </p:txBody>
      </p:sp>
      <p:sp>
        <p:nvSpPr>
          <p:cNvPr id="6" name="Slide Number Placeholder 5"/>
          <p:cNvSpPr>
            <a:spLocks noGrp="1"/>
          </p:cNvSpPr>
          <p:nvPr>
            <p:ph type="sldNum" sz="quarter" idx="4"/>
          </p:nvPr>
        </p:nvSpPr>
        <p:spPr>
          <a:xfrm>
            <a:off x="11610261" y="6330968"/>
            <a:ext cx="411004" cy="292554"/>
          </a:xfrm>
          <a:prstGeom prst="rect">
            <a:avLst/>
          </a:prstGeom>
        </p:spPr>
        <p:txBody>
          <a:bodyPr vert="horz" lIns="0" tIns="46800" rIns="0" bIns="46800" rtlCol="0" anchor="b"/>
          <a:lstStyle>
            <a:lvl1pPr algn="r">
              <a:defRPr lang="en-US" sz="1100" b="0" smtClean="0">
                <a:solidFill>
                  <a:schemeClr val="tx2"/>
                </a:solidFill>
              </a:defRPr>
            </a:lvl1pPr>
          </a:lstStyle>
          <a:p>
            <a:fld id="{40A7B169-58CE-4E65-B1F9-ACF9E46440C2}" type="slidenum">
              <a:rPr lang="en-US" smtClean="0"/>
              <a:t>‹#›</a:t>
            </a:fld>
            <a:endParaRPr lang="en-US"/>
          </a:p>
        </p:txBody>
      </p:sp>
      <p:sp>
        <p:nvSpPr>
          <p:cNvPr id="4" name="Date Placeholder 3"/>
          <p:cNvSpPr>
            <a:spLocks noGrp="1"/>
          </p:cNvSpPr>
          <p:nvPr>
            <p:ph type="dt" sz="half" idx="2"/>
          </p:nvPr>
        </p:nvSpPr>
        <p:spPr>
          <a:xfrm>
            <a:off x="4857517" y="6330968"/>
            <a:ext cx="1184909" cy="292554"/>
          </a:xfrm>
          <a:prstGeom prst="rect">
            <a:avLst/>
          </a:prstGeom>
        </p:spPr>
        <p:txBody>
          <a:bodyPr vert="horz" lIns="91440" tIns="45720" rIns="91440" bIns="45720" rtlCol="0" anchor="b"/>
          <a:lstStyle>
            <a:lvl1pPr algn="r">
              <a:defRPr sz="1100" b="0">
                <a:solidFill>
                  <a:schemeClr val="tx2"/>
                </a:solidFill>
              </a:defRPr>
            </a:lvl1pPr>
          </a:lstStyle>
          <a:p>
            <a:fld id="{8F8A32BA-1CE5-4ED3-806F-614AB0CC00FB}" type="datetime1">
              <a:rPr lang="en-US" smtClean="0"/>
              <a:t>4/21/2026</a:t>
            </a:fld>
            <a:endParaRPr lang="en-US"/>
          </a:p>
        </p:txBody>
      </p:sp>
      <p:sp>
        <p:nvSpPr>
          <p:cNvPr id="9" name="Rectangle 8">
            <a:extLst>
              <a:ext uri="{FF2B5EF4-FFF2-40B4-BE49-F238E27FC236}">
                <a16:creationId xmlns:a16="http://schemas.microsoft.com/office/drawing/2014/main" id="{57CD4E90-0AD7-41F7-BEF4-B339EC998E49}"/>
              </a:ext>
            </a:extLst>
          </p:cNvPr>
          <p:cNvSpPr/>
          <p:nvPr/>
        </p:nvSpPr>
        <p:spPr>
          <a:xfrm>
            <a:off x="12004894" y="0"/>
            <a:ext cx="187105" cy="1143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DC1749DD-5CB4-BAFF-5C24-97F0F00F15F6}"/>
              </a:ext>
            </a:extLst>
          </p:cNvPr>
          <p:cNvGrpSpPr/>
          <p:nvPr userDrawn="1"/>
        </p:nvGrpSpPr>
        <p:grpSpPr>
          <a:xfrm>
            <a:off x="-350520" y="4319928"/>
            <a:ext cx="317500" cy="952500"/>
            <a:chOff x="-342900" y="4319928"/>
            <a:chExt cx="317500" cy="952500"/>
          </a:xfrm>
        </p:grpSpPr>
        <p:sp>
          <p:nvSpPr>
            <p:cNvPr id="43" name="ColorPatch">
              <a:extLst>
                <a:ext uri="{FF2B5EF4-FFF2-40B4-BE49-F238E27FC236}">
                  <a16:creationId xmlns:a16="http://schemas.microsoft.com/office/drawing/2014/main" id="{A2E2F886-C330-51CE-B5C9-AB46F1404BB1}"/>
                </a:ext>
              </a:extLst>
            </p:cNvPr>
            <p:cNvSpPr/>
            <p:nvPr userDrawn="1"/>
          </p:nvSpPr>
          <p:spPr>
            <a:xfrm>
              <a:off x="-342900" y="4954928"/>
              <a:ext cx="317500" cy="317500"/>
            </a:xfrm>
            <a:prstGeom prst="rect">
              <a:avLst/>
            </a:prstGeom>
            <a:solidFill>
              <a:srgbClr val="EEEFF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44" name="ColorPatch">
              <a:extLst>
                <a:ext uri="{FF2B5EF4-FFF2-40B4-BE49-F238E27FC236}">
                  <a16:creationId xmlns:a16="http://schemas.microsoft.com/office/drawing/2014/main" id="{FDB36328-023C-D8C1-7E6B-A648091D0ED0}"/>
                </a:ext>
              </a:extLst>
            </p:cNvPr>
            <p:cNvSpPr/>
            <p:nvPr userDrawn="1"/>
          </p:nvSpPr>
          <p:spPr>
            <a:xfrm>
              <a:off x="-342900" y="4637428"/>
              <a:ext cx="317500" cy="317500"/>
            </a:xfrm>
            <a:prstGeom prst="rect">
              <a:avLst/>
            </a:prstGeom>
            <a:solidFill>
              <a:srgbClr val="A6ADB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45" name="ColorPatch">
              <a:extLst>
                <a:ext uri="{FF2B5EF4-FFF2-40B4-BE49-F238E27FC236}">
                  <a16:creationId xmlns:a16="http://schemas.microsoft.com/office/drawing/2014/main" id="{9F8E65A1-0412-05F6-3F82-8EB79873A102}"/>
                </a:ext>
              </a:extLst>
            </p:cNvPr>
            <p:cNvSpPr/>
            <p:nvPr userDrawn="1"/>
          </p:nvSpPr>
          <p:spPr>
            <a:xfrm>
              <a:off x="-342900" y="4319928"/>
              <a:ext cx="317500" cy="317500"/>
            </a:xfrm>
            <a:prstGeom prst="rect">
              <a:avLst/>
            </a:prstGeom>
            <a:solidFill>
              <a:srgbClr val="525A63"/>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grpSp>
      <p:grpSp>
        <p:nvGrpSpPr>
          <p:cNvPr id="49" name="Group 48">
            <a:extLst>
              <a:ext uri="{FF2B5EF4-FFF2-40B4-BE49-F238E27FC236}">
                <a16:creationId xmlns:a16="http://schemas.microsoft.com/office/drawing/2014/main" id="{7732C244-0C14-30D0-0478-36AA2A9F0B44}"/>
              </a:ext>
            </a:extLst>
          </p:cNvPr>
          <p:cNvGrpSpPr/>
          <p:nvPr userDrawn="1"/>
        </p:nvGrpSpPr>
        <p:grpSpPr>
          <a:xfrm>
            <a:off x="-350520" y="2879952"/>
            <a:ext cx="317500" cy="1270000"/>
            <a:chOff x="-342900" y="2879952"/>
            <a:chExt cx="317500" cy="1270000"/>
          </a:xfrm>
        </p:grpSpPr>
        <p:sp>
          <p:nvSpPr>
            <p:cNvPr id="50" name="ColorPatch">
              <a:extLst>
                <a:ext uri="{FF2B5EF4-FFF2-40B4-BE49-F238E27FC236}">
                  <a16:creationId xmlns:a16="http://schemas.microsoft.com/office/drawing/2014/main" id="{31E1361B-325C-EE46-1B21-F5A3ABF1D2F3}"/>
                </a:ext>
              </a:extLst>
            </p:cNvPr>
            <p:cNvSpPr/>
            <p:nvPr userDrawn="1"/>
          </p:nvSpPr>
          <p:spPr>
            <a:xfrm>
              <a:off x="-342900" y="3832452"/>
              <a:ext cx="317500" cy="317500"/>
            </a:xfrm>
            <a:prstGeom prst="rect">
              <a:avLst/>
            </a:prstGeom>
            <a:solidFill>
              <a:srgbClr val="FFF4B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51" name="ColorPatch">
              <a:extLst>
                <a:ext uri="{FF2B5EF4-FFF2-40B4-BE49-F238E27FC236}">
                  <a16:creationId xmlns:a16="http://schemas.microsoft.com/office/drawing/2014/main" id="{721D0BC2-53DB-3884-688A-247574811D85}"/>
                </a:ext>
              </a:extLst>
            </p:cNvPr>
            <p:cNvSpPr/>
            <p:nvPr userDrawn="1"/>
          </p:nvSpPr>
          <p:spPr>
            <a:xfrm>
              <a:off x="-342900" y="3515520"/>
              <a:ext cx="317500" cy="317500"/>
            </a:xfrm>
            <a:prstGeom prst="rect">
              <a:avLst/>
            </a:prstGeom>
            <a:solidFill>
              <a:srgbClr val="FFE87F"/>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52" name="ColorPatch">
              <a:extLst>
                <a:ext uri="{FF2B5EF4-FFF2-40B4-BE49-F238E27FC236}">
                  <a16:creationId xmlns:a16="http://schemas.microsoft.com/office/drawing/2014/main" id="{3D10437D-D613-EB33-523B-3A294D6295FE}"/>
                </a:ext>
              </a:extLst>
            </p:cNvPr>
            <p:cNvSpPr/>
            <p:nvPr userDrawn="1"/>
          </p:nvSpPr>
          <p:spPr>
            <a:xfrm>
              <a:off x="-342900" y="3197452"/>
              <a:ext cx="317500" cy="317500"/>
            </a:xfrm>
            <a:prstGeom prst="rect">
              <a:avLst/>
            </a:prstGeom>
            <a:solidFill>
              <a:srgbClr val="FFDD4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53" name="ColorPatch">
              <a:extLst>
                <a:ext uri="{FF2B5EF4-FFF2-40B4-BE49-F238E27FC236}">
                  <a16:creationId xmlns:a16="http://schemas.microsoft.com/office/drawing/2014/main" id="{7605F83F-A2B9-B477-973E-B28376961D98}"/>
                </a:ext>
              </a:extLst>
            </p:cNvPr>
            <p:cNvSpPr/>
            <p:nvPr userDrawn="1"/>
          </p:nvSpPr>
          <p:spPr>
            <a:xfrm>
              <a:off x="-342900" y="2879952"/>
              <a:ext cx="317500" cy="317500"/>
            </a:xfrm>
            <a:prstGeom prst="rect">
              <a:avLst/>
            </a:prstGeom>
            <a:solidFill>
              <a:srgbClr val="FFD200"/>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grpSp>
      <p:grpSp>
        <p:nvGrpSpPr>
          <p:cNvPr id="54" name="Group 53">
            <a:extLst>
              <a:ext uri="{FF2B5EF4-FFF2-40B4-BE49-F238E27FC236}">
                <a16:creationId xmlns:a16="http://schemas.microsoft.com/office/drawing/2014/main" id="{F75168C8-3C72-052F-C7C0-7CD4B023E7F9}"/>
              </a:ext>
            </a:extLst>
          </p:cNvPr>
          <p:cNvGrpSpPr/>
          <p:nvPr userDrawn="1"/>
        </p:nvGrpSpPr>
        <p:grpSpPr>
          <a:xfrm>
            <a:off x="-350520" y="1439976"/>
            <a:ext cx="317500" cy="1270000"/>
            <a:chOff x="-342900" y="1439976"/>
            <a:chExt cx="317500" cy="1270000"/>
          </a:xfrm>
        </p:grpSpPr>
        <p:sp>
          <p:nvSpPr>
            <p:cNvPr id="55" name="ColorPatch">
              <a:extLst>
                <a:ext uri="{FF2B5EF4-FFF2-40B4-BE49-F238E27FC236}">
                  <a16:creationId xmlns:a16="http://schemas.microsoft.com/office/drawing/2014/main" id="{4A6E12F2-EF64-A2CC-1E25-B6F6B23289F8}"/>
                </a:ext>
              </a:extLst>
            </p:cNvPr>
            <p:cNvSpPr/>
            <p:nvPr userDrawn="1"/>
          </p:nvSpPr>
          <p:spPr>
            <a:xfrm>
              <a:off x="-342900" y="2392476"/>
              <a:ext cx="317500" cy="317500"/>
            </a:xfrm>
            <a:prstGeom prst="rect">
              <a:avLst/>
            </a:prstGeom>
            <a:solidFill>
              <a:srgbClr val="CEECF9"/>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56" name="ColorPatch">
              <a:extLst>
                <a:ext uri="{FF2B5EF4-FFF2-40B4-BE49-F238E27FC236}">
                  <a16:creationId xmlns:a16="http://schemas.microsoft.com/office/drawing/2014/main" id="{DF4090A9-80E3-4F93-64FD-1A4F5C9704A1}"/>
                </a:ext>
              </a:extLst>
            </p:cNvPr>
            <p:cNvSpPr/>
            <p:nvPr userDrawn="1"/>
          </p:nvSpPr>
          <p:spPr>
            <a:xfrm>
              <a:off x="-342900" y="2074976"/>
              <a:ext cx="317500" cy="317500"/>
            </a:xfrm>
            <a:prstGeom prst="rect">
              <a:avLst/>
            </a:prstGeom>
            <a:solidFill>
              <a:srgbClr val="9DD9F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57" name="ColorPatch">
              <a:extLst>
                <a:ext uri="{FF2B5EF4-FFF2-40B4-BE49-F238E27FC236}">
                  <a16:creationId xmlns:a16="http://schemas.microsoft.com/office/drawing/2014/main" id="{383C7A3C-7DEE-3289-0A64-6DC893E895F6}"/>
                </a:ext>
              </a:extLst>
            </p:cNvPr>
            <p:cNvSpPr/>
            <p:nvPr userDrawn="1"/>
          </p:nvSpPr>
          <p:spPr>
            <a:xfrm>
              <a:off x="-342900" y="1757476"/>
              <a:ext cx="317500" cy="317500"/>
            </a:xfrm>
            <a:prstGeom prst="rect">
              <a:avLst/>
            </a:prstGeom>
            <a:solidFill>
              <a:srgbClr val="6DC7EC"/>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58" name="ColorPatch">
              <a:extLst>
                <a:ext uri="{FF2B5EF4-FFF2-40B4-BE49-F238E27FC236}">
                  <a16:creationId xmlns:a16="http://schemas.microsoft.com/office/drawing/2014/main" id="{199B6E69-48B5-574D-A56E-8532B8036346}"/>
                </a:ext>
              </a:extLst>
            </p:cNvPr>
            <p:cNvSpPr/>
            <p:nvPr userDrawn="1"/>
          </p:nvSpPr>
          <p:spPr>
            <a:xfrm>
              <a:off x="-342900" y="1439976"/>
              <a:ext cx="317500" cy="317500"/>
            </a:xfrm>
            <a:prstGeom prst="rect">
              <a:avLst/>
            </a:prstGeom>
            <a:solidFill>
              <a:srgbClr val="3CB4E6"/>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grpSp>
      <p:grpSp>
        <p:nvGrpSpPr>
          <p:cNvPr id="59" name="Group 58">
            <a:extLst>
              <a:ext uri="{FF2B5EF4-FFF2-40B4-BE49-F238E27FC236}">
                <a16:creationId xmlns:a16="http://schemas.microsoft.com/office/drawing/2014/main" id="{776E4B5F-4E90-DA3A-7C84-81947655F1ED}"/>
              </a:ext>
            </a:extLst>
          </p:cNvPr>
          <p:cNvGrpSpPr/>
          <p:nvPr userDrawn="1"/>
        </p:nvGrpSpPr>
        <p:grpSpPr>
          <a:xfrm>
            <a:off x="-350520" y="0"/>
            <a:ext cx="317500" cy="1271047"/>
            <a:chOff x="-342900" y="0"/>
            <a:chExt cx="317500" cy="1271047"/>
          </a:xfrm>
        </p:grpSpPr>
        <p:sp>
          <p:nvSpPr>
            <p:cNvPr id="60" name="ColorPatch">
              <a:extLst>
                <a:ext uri="{FF2B5EF4-FFF2-40B4-BE49-F238E27FC236}">
                  <a16:creationId xmlns:a16="http://schemas.microsoft.com/office/drawing/2014/main" id="{E8CC3E9E-61E4-65A9-2FB7-B210351E32AB}"/>
                </a:ext>
              </a:extLst>
            </p:cNvPr>
            <p:cNvSpPr/>
            <p:nvPr userDrawn="1"/>
          </p:nvSpPr>
          <p:spPr>
            <a:xfrm>
              <a:off x="-342900" y="953547"/>
              <a:ext cx="317500" cy="317500"/>
            </a:xfrm>
            <a:prstGeom prst="rect">
              <a:avLst/>
            </a:prstGeom>
            <a:solidFill>
              <a:srgbClr val="C0C8D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61" name="ColorPatch">
              <a:extLst>
                <a:ext uri="{FF2B5EF4-FFF2-40B4-BE49-F238E27FC236}">
                  <a16:creationId xmlns:a16="http://schemas.microsoft.com/office/drawing/2014/main" id="{52979BF7-37B7-C9E0-012F-AF2421299EA0}"/>
                </a:ext>
              </a:extLst>
            </p:cNvPr>
            <p:cNvSpPr/>
            <p:nvPr userDrawn="1"/>
          </p:nvSpPr>
          <p:spPr>
            <a:xfrm>
              <a:off x="-342900" y="635000"/>
              <a:ext cx="317500" cy="317500"/>
            </a:xfrm>
            <a:prstGeom prst="rect">
              <a:avLst/>
            </a:prstGeom>
            <a:solidFill>
              <a:srgbClr val="8191A5"/>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62" name="ColorPatch">
              <a:extLst>
                <a:ext uri="{FF2B5EF4-FFF2-40B4-BE49-F238E27FC236}">
                  <a16:creationId xmlns:a16="http://schemas.microsoft.com/office/drawing/2014/main" id="{4F93A17E-06C6-9F0F-291B-C51A93E99B57}"/>
                </a:ext>
              </a:extLst>
            </p:cNvPr>
            <p:cNvSpPr/>
            <p:nvPr userDrawn="1"/>
          </p:nvSpPr>
          <p:spPr>
            <a:xfrm>
              <a:off x="-342900" y="317500"/>
              <a:ext cx="317500" cy="317500"/>
            </a:xfrm>
            <a:prstGeom prst="rect">
              <a:avLst/>
            </a:prstGeom>
            <a:solidFill>
              <a:srgbClr val="425A7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63" name="ColorPatch">
              <a:extLst>
                <a:ext uri="{FF2B5EF4-FFF2-40B4-BE49-F238E27FC236}">
                  <a16:creationId xmlns:a16="http://schemas.microsoft.com/office/drawing/2014/main" id="{435540DC-615B-FEFF-859B-65830CAC8FD4}"/>
                </a:ext>
              </a:extLst>
            </p:cNvPr>
            <p:cNvSpPr/>
            <p:nvPr userDrawn="1"/>
          </p:nvSpPr>
          <p:spPr>
            <a:xfrm>
              <a:off x="-342900" y="0"/>
              <a:ext cx="317500" cy="317500"/>
            </a:xfrm>
            <a:prstGeom prst="rect">
              <a:avLst/>
            </a:prstGeom>
            <a:solidFill>
              <a:srgbClr val="03234B"/>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grpSp>
      <p:pic>
        <p:nvPicPr>
          <p:cNvPr id="7" name="Graphic 6">
            <a:extLst>
              <a:ext uri="{FF2B5EF4-FFF2-40B4-BE49-F238E27FC236}">
                <a16:creationId xmlns:a16="http://schemas.microsoft.com/office/drawing/2014/main" id="{1B25AE6E-5128-CFAA-FFCC-CE0BB6C80924}"/>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61974" y="6155372"/>
            <a:ext cx="928614" cy="640080"/>
          </a:xfrm>
          <a:prstGeom prst="rect">
            <a:avLst/>
          </a:prstGeom>
        </p:spPr>
      </p:pic>
      <p:sp>
        <p:nvSpPr>
          <p:cNvPr id="10" name="TextBox 9">
            <a:extLst>
              <a:ext uri="{FF2B5EF4-FFF2-40B4-BE49-F238E27FC236}">
                <a16:creationId xmlns:a16="http://schemas.microsoft.com/office/drawing/2014/main" id="{EAD69CD9-47E6-1E2E-C51B-23E3BD4C7910}"/>
              </a:ext>
            </a:extLst>
          </p:cNvPr>
          <p:cNvSpPr txBox="1"/>
          <p:nvPr userDrawn="1">
            <p:extLst>
              <p:ext uri="{1162E1C5-73C7-4A58-AE30-91384D911F3F}">
                <p184:classification xmlns:p184="http://schemas.microsoft.com/office/powerpoint/2018/4/main" val="ftr"/>
              </p:ext>
            </p:extLst>
          </p:nvPr>
        </p:nvSpPr>
        <p:spPr>
          <a:xfrm>
            <a:off x="11206163" y="6611620"/>
            <a:ext cx="965200" cy="182880"/>
          </a:xfrm>
          <a:prstGeom prst="rect">
            <a:avLst/>
          </a:prstGeom>
        </p:spPr>
        <p:txBody>
          <a:bodyPr horzOverflow="overflow" lIns="0" tIns="0" rIns="0" bIns="0">
            <a:spAutoFit/>
          </a:bodyPr>
          <a:lstStyle/>
          <a:p>
            <a:pPr algn="l"/>
            <a:r>
              <a:rPr lang="en-US" sz="1200">
                <a:solidFill>
                  <a:srgbClr val="FF0000">
                    <a:alpha val="50000"/>
                  </a:srgbClr>
                </a:solidFill>
                <a:latin typeface="Arial" panose="020B0604020202020204" pitchFamily="34" charset="0"/>
                <a:cs typeface="Arial" panose="020B0604020202020204" pitchFamily="34" charset="0"/>
              </a:rPr>
              <a:t>ST Restricted</a:t>
            </a:r>
          </a:p>
        </p:txBody>
      </p:sp>
    </p:spTree>
    <p:extLst>
      <p:ext uri="{BB962C8B-B14F-4D97-AF65-F5344CB8AC3E}">
        <p14:creationId xmlns:p14="http://schemas.microsoft.com/office/powerpoint/2010/main" val="1712531357"/>
      </p:ext>
    </p:extLst>
  </p:cSld>
  <p:clrMap bg1="lt1" tx1="dk1" bg2="lt2" tx2="dk2" accent1="accent1" accent2="accent2" accent3="accent3" accent4="accent4" accent5="accent5" accent6="accent6" hlink="hlink" folHlink="folHlink"/>
  <p:sldLayoutIdLst>
    <p:sldLayoutId id="2147483670" r:id="rId1"/>
    <p:sldLayoutId id="2147483662" r:id="rId2"/>
    <p:sldLayoutId id="2147483663" r:id="rId3"/>
    <p:sldLayoutId id="2147483664" r:id="rId4"/>
    <p:sldLayoutId id="2147483665" r:id="rId5"/>
    <p:sldLayoutId id="2147483666" r:id="rId6"/>
    <p:sldLayoutId id="2147483667" r:id="rId7"/>
    <p:sldLayoutId id="2147483669" r:id="rId8"/>
    <p:sldLayoutId id="2147483671" r:id="rId9"/>
  </p:sldLayoutIdLst>
  <p:hf hdr="0" ftr="0" dt="0"/>
  <p:txStyles>
    <p:title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p:titleStyle>
    <p:bodyStyle>
      <a:lvl1pPr marL="261938" indent="-261938" algn="l" defTabSz="914400" rtl="0" eaLnBrk="1" latinLnBrk="0" hangingPunct="1">
        <a:lnSpc>
          <a:spcPct val="100000"/>
        </a:lnSpc>
        <a:spcBef>
          <a:spcPts val="1000"/>
        </a:spcBef>
        <a:buClr>
          <a:schemeClr val="tx1"/>
        </a:buClr>
        <a:buFont typeface="Arial" panose="020B0604020202020204" pitchFamily="34" charset="0"/>
        <a:buChar char="•"/>
        <a:defRPr lang="en-US" sz="2400" kern="1200" smtClean="0">
          <a:solidFill>
            <a:schemeClr val="tx1"/>
          </a:solidFill>
          <a:latin typeface="+mn-lt"/>
          <a:ea typeface="+mn-ea"/>
          <a:cs typeface="+mn-cs"/>
        </a:defRPr>
      </a:lvl1pPr>
      <a:lvl2pPr marL="536575" indent="-266700" algn="l" defTabSz="914400" rtl="0" eaLnBrk="1" latinLnBrk="0" hangingPunct="1">
        <a:lnSpc>
          <a:spcPct val="100000"/>
        </a:lnSpc>
        <a:spcBef>
          <a:spcPts val="600"/>
        </a:spcBef>
        <a:buClr>
          <a:schemeClr val="tx1"/>
        </a:buClr>
        <a:buFont typeface="Arial" panose="020B0604020202020204" pitchFamily="34" charset="0"/>
        <a:buChar char="•"/>
        <a:defRPr lang="en-US" sz="2000" kern="1200" smtClean="0">
          <a:solidFill>
            <a:schemeClr val="tx1"/>
          </a:solidFill>
          <a:latin typeface="+mn-lt"/>
          <a:ea typeface="+mn-ea"/>
          <a:cs typeface="+mn-cs"/>
        </a:defRPr>
      </a:lvl2pPr>
      <a:lvl3pPr marL="812800" indent="-273050" algn="l" defTabSz="914400" rtl="0" eaLnBrk="1" latinLnBrk="0" hangingPunct="1">
        <a:lnSpc>
          <a:spcPct val="100000"/>
        </a:lnSpc>
        <a:spcBef>
          <a:spcPts val="600"/>
        </a:spcBef>
        <a:buClr>
          <a:schemeClr val="tx1"/>
        </a:buClr>
        <a:buFont typeface="Arial" panose="020B0604020202020204" pitchFamily="34" charset="0"/>
        <a:buChar char="•"/>
        <a:defRPr lang="en-US" sz="1800" kern="1200" smtClean="0">
          <a:solidFill>
            <a:schemeClr val="tx1"/>
          </a:solidFill>
          <a:latin typeface="+mn-lt"/>
          <a:ea typeface="+mn-ea"/>
          <a:cs typeface="+mn-cs"/>
        </a:defRPr>
      </a:lvl3pPr>
      <a:lvl4pPr marL="987425" indent="-268288" algn="l" defTabSz="914400" rtl="0" eaLnBrk="1" latinLnBrk="0" hangingPunct="1">
        <a:lnSpc>
          <a:spcPct val="100000"/>
        </a:lnSpc>
        <a:spcBef>
          <a:spcPts val="400"/>
        </a:spcBef>
        <a:buClr>
          <a:schemeClr val="tx2"/>
        </a:buClr>
        <a:buFont typeface="Arial" panose="020B0604020202020204" pitchFamily="34" charset="0"/>
        <a:buChar char="•"/>
        <a:defRPr lang="en-US" sz="1600" kern="1200" smtClean="0">
          <a:solidFill>
            <a:schemeClr val="tx2"/>
          </a:solidFill>
          <a:latin typeface="+mn-lt"/>
          <a:ea typeface="+mn-ea"/>
          <a:cs typeface="+mn-cs"/>
        </a:defRPr>
      </a:lvl4pPr>
      <a:lvl5pPr marL="1160463" indent="-261938" algn="l" defTabSz="914400" rtl="0" eaLnBrk="1" latinLnBrk="0" hangingPunct="1">
        <a:lnSpc>
          <a:spcPct val="100000"/>
        </a:lnSpc>
        <a:spcBef>
          <a:spcPts val="400"/>
        </a:spcBef>
        <a:buClr>
          <a:schemeClr val="tx2"/>
        </a:buClr>
        <a:buFont typeface="Arial" panose="020B0604020202020204" pitchFamily="34" charset="0"/>
        <a:buChar char="•"/>
        <a:defRPr lang="en-US"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pos="7491">
          <p15:clr>
            <a:srgbClr val="F26B43"/>
          </p15:clr>
        </p15:guide>
        <p15:guide id="3" orient="horz" pos="2160">
          <p15:clr>
            <a:srgbClr val="F26B43"/>
          </p15:clr>
        </p15:guide>
        <p15:guide id="4" orient="horz" pos="935">
          <p15:clr>
            <a:srgbClr val="F26B43"/>
          </p15:clr>
        </p15:guide>
        <p15:guide id="5" orient="horz" pos="3838">
          <p15:clr>
            <a:srgbClr val="F26B43"/>
          </p15:clr>
        </p15:guide>
        <p15:guide id="6" orient="horz" pos="822">
          <p15:clr>
            <a:srgbClr val="F26B43"/>
          </p15:clr>
        </p15:guide>
        <p15:guide id="7" pos="3840">
          <p15:clr>
            <a:srgbClr val="F26B43"/>
          </p15:clr>
        </p15:guide>
        <p15:guide id="8" orient="horz" pos="131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community.st.com/t5/stm32-mcus-embedded-software/stm32u5-usbx-baremetal-example/td-p/668408" TargetMode="External"/><Relationship Id="rId1" Type="http://schemas.openxmlformats.org/officeDocument/2006/relationships/slideLayout" Target="../slideLayouts/slideLayout6.xml"/><Relationship Id="rId4" Type="http://schemas.openxmlformats.org/officeDocument/2006/relationships/hyperlink" Target="https://intbugzilla.st.com/show_bug.cgi?id=217913"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mailchi.mp/beningo/rtos_white_paper" TargetMode="External"/><Relationship Id="rId2" Type="http://schemas.openxmlformats.org/officeDocument/2006/relationships/hyperlink" Target="https://github.com/eclipse-threadx/threadx/tree/master/utility/benchmarks/thread_metric"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renesas/ra-fsp-examples/tree/master/example_projects/ek_ra6m5" TargetMode="External"/><Relationship Id="rId2" Type="http://schemas.openxmlformats.org/officeDocument/2006/relationships/hyperlink" Target="https://github.com/renesas/ra-fsp-examples/tree/master/example_projects/ek_ra8m1" TargetMode="External"/><Relationship Id="rId1" Type="http://schemas.openxmlformats.org/officeDocument/2006/relationships/slideLayout" Target="../slideLayouts/slideLayout3.xml"/><Relationship Id="rId4" Type="http://schemas.openxmlformats.org/officeDocument/2006/relationships/hyperlink" Target="https://github.com/STMicroelectronics/STM32CubeF4/tree/master/Projects/STM32469I_EVAL/Applications/FatF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renesas/ra-fsp-examples/tree/master/example_projects/ek_ra6m5"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github.com/STMicroelectronics/stm32u5-classic-coremw-apps/tree/main/Projects/NUCLEO-U575ZI-Q/Applications/USB_Host/MSC_Standalone" TargetMode="External"/><Relationship Id="rId5" Type="http://schemas.openxmlformats.org/officeDocument/2006/relationships/hyperlink" Target="https://github.com/STMicroelectronics/stm32u5-classic-coremw-apps/tree/main/Projects/NUCLEO-U575ZI-Q/Applications/USB_Device/HID_Standalone" TargetMode="External"/><Relationship Id="rId4" Type="http://schemas.openxmlformats.org/officeDocument/2006/relationships/hyperlink" Target="https://github.com/STMicroelectronics/stm32u5-classic-coremw-apps/tree/main/Projects/NUCLEO-U575ZI-Q/Applications/USB_Device/CDC_Standalon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intbugzilla.st.com/show_bug.cgi?id=217913" TargetMode="External"/><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www.ti.com/product/MSPM33C321A"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www.st.com/en/microcontrollers-microprocessors/stm32c5a3zg.html"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8" Type="http://schemas.openxmlformats.org/officeDocument/2006/relationships/hyperlink" Target="https://www.st.com/en/embedded-software/stm32cubec0.html" TargetMode="External"/><Relationship Id="rId13" Type="http://schemas.openxmlformats.org/officeDocument/2006/relationships/hyperlink" Target="https://www.nxp.com/" TargetMode="External"/><Relationship Id="rId3" Type="http://schemas.openxmlformats.org/officeDocument/2006/relationships/hyperlink" Target="https://mailchi.mp/beningo/rtos_white_paper" TargetMode="External"/><Relationship Id="rId7" Type="http://schemas.openxmlformats.org/officeDocument/2006/relationships/hyperlink" Target="https://www.st.com/en/embedded-software/stm32cubeh7.html" TargetMode="External"/><Relationship Id="rId12" Type="http://schemas.openxmlformats.org/officeDocument/2006/relationships/hyperlink" Target="https://github.com/renesas/ra-fsp-examples/tree/master/example_projects/ek_ra8m1" TargetMode="External"/><Relationship Id="rId2" Type="http://schemas.openxmlformats.org/officeDocument/2006/relationships/notesSlide" Target="../notesSlides/notesSlide12.xml"/><Relationship Id="rId16" Type="http://schemas.openxmlformats.org/officeDocument/2006/relationships/hyperlink" Target="https://www.ti.com/tool/MSPM0-SDK" TargetMode="External"/><Relationship Id="rId1" Type="http://schemas.openxmlformats.org/officeDocument/2006/relationships/slideLayout" Target="../slideLayouts/slideLayout3.xml"/><Relationship Id="rId6" Type="http://schemas.openxmlformats.org/officeDocument/2006/relationships/hyperlink" Target="https://www.st.com/en/embedded-software/stm32cubeh5.html" TargetMode="External"/><Relationship Id="rId11" Type="http://schemas.openxmlformats.org/officeDocument/2006/relationships/hyperlink" Target="https://github.com/renesas/ra-fsp-examples/tree/master/example_projects/ek_ra6m5" TargetMode="External"/><Relationship Id="rId5" Type="http://schemas.openxmlformats.org/officeDocument/2006/relationships/hyperlink" Target="https://www.st.com/en/embedded-software/stm32cubeu5.html" TargetMode="External"/><Relationship Id="rId15" Type="http://schemas.openxmlformats.org/officeDocument/2006/relationships/hyperlink" Target="https://www.ti.com/" TargetMode="External"/><Relationship Id="rId10" Type="http://schemas.openxmlformats.org/officeDocument/2006/relationships/hyperlink" Target="https://www.renesas.com/en" TargetMode="External"/><Relationship Id="rId4" Type="http://schemas.openxmlformats.org/officeDocument/2006/relationships/hyperlink" Target="https://www.st.com/content/st_com/en.html" TargetMode="External"/><Relationship Id="rId9" Type="http://schemas.openxmlformats.org/officeDocument/2006/relationships/hyperlink" Target="https://github.com/STMicroelectronics/stm32u5-classic-coremw-apps" TargetMode="External"/><Relationship Id="rId14" Type="http://schemas.openxmlformats.org/officeDocument/2006/relationships/hyperlink" Target="https://mcuxpresso.nxp.com/"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st.com/" TargetMode="External"/><Relationship Id="rId1" Type="http://schemas.openxmlformats.org/officeDocument/2006/relationships/slideLayout" Target="../slideLayouts/slideLayout9.xml"/><Relationship Id="rId4" Type="http://schemas.openxmlformats.org/officeDocument/2006/relationships/image" Target="../media/image15.svg"/></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hyperlink" Target="https://brandportal.st.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7FFFF80B_F54988DA.xml"/><Relationship Id="rId1" Type="http://schemas.openxmlformats.org/officeDocument/2006/relationships/slideLayout" Target="../slideLayouts/slideLayout3.xml"/><Relationship Id="rId4" Type="http://schemas.openxmlformats.org/officeDocument/2006/relationships/hyperlink" Target="https://intbugzilla.st.com/show_bug.cgi?id=21791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FB49D3ED-12A5-44AC-B654-9458A5FBEC88}"/>
              </a:ext>
            </a:extLst>
          </p:cNvPr>
          <p:cNvSpPr>
            <a:spLocks noGrp="1"/>
          </p:cNvSpPr>
          <p:nvPr>
            <p:ph type="ctrTitle"/>
          </p:nvPr>
        </p:nvSpPr>
        <p:spPr/>
        <p:txBody>
          <a:bodyPr/>
          <a:lstStyle/>
          <a:p>
            <a:r>
              <a:rPr lang="en-US" sz="2800" dirty="0">
                <a:latin typeface="Open_Sans"/>
              </a:rPr>
              <a:t>ST Competitors Benchmark STEP2</a:t>
            </a:r>
            <a:br>
              <a:rPr lang="en-US" dirty="0"/>
            </a:br>
            <a:r>
              <a:rPr lang="en-US" sz="2800" dirty="0">
                <a:solidFill>
                  <a:srgbClr val="FFC000"/>
                </a:solidFill>
              </a:rPr>
              <a:t>MW stacks performance</a:t>
            </a:r>
            <a:endParaRPr lang="en-US" sz="2800" b="0" noProof="0" dirty="0">
              <a:solidFill>
                <a:schemeClr val="accent4"/>
              </a:solidFill>
            </a:endParaRPr>
          </a:p>
        </p:txBody>
      </p:sp>
      <p:sp>
        <p:nvSpPr>
          <p:cNvPr id="16" name="Subtitle 15">
            <a:extLst>
              <a:ext uri="{FF2B5EF4-FFF2-40B4-BE49-F238E27FC236}">
                <a16:creationId xmlns:a16="http://schemas.microsoft.com/office/drawing/2014/main" id="{12613E07-DCF2-4461-AFF5-7A705127F66B}"/>
              </a:ext>
            </a:extLst>
          </p:cNvPr>
          <p:cNvSpPr>
            <a:spLocks noGrp="1"/>
          </p:cNvSpPr>
          <p:nvPr>
            <p:ph type="subTitle" idx="1"/>
          </p:nvPr>
        </p:nvSpPr>
        <p:spPr/>
        <p:txBody>
          <a:bodyPr/>
          <a:lstStyle/>
          <a:p>
            <a:r>
              <a:rPr lang="en-US" dirty="0"/>
              <a:t>April</a:t>
            </a:r>
            <a:r>
              <a:rPr lang="en-US" noProof="0" dirty="0"/>
              <a:t> </a:t>
            </a:r>
            <a:r>
              <a:rPr lang="en-US" dirty="0"/>
              <a:t>22</a:t>
            </a:r>
            <a:r>
              <a:rPr lang="en-US" baseline="30000" dirty="0"/>
              <a:t>nd</a:t>
            </a:r>
            <a:r>
              <a:rPr lang="en-US" noProof="0" dirty="0"/>
              <a:t>, 2026</a:t>
            </a:r>
          </a:p>
          <a:p>
            <a:r>
              <a:rPr lang="en-US" dirty="0"/>
              <a:t>STM32Cube Support &amp; Maintenance Team (</a:t>
            </a:r>
            <a:r>
              <a:rPr lang="en-US" noProof="0" dirty="0"/>
              <a:t>Tunis)</a:t>
            </a:r>
            <a:endParaRPr lang="en-US" i="1" noProof="0" dirty="0"/>
          </a:p>
        </p:txBody>
      </p:sp>
      <p:pic>
        <p:nvPicPr>
          <p:cNvPr id="11266" name="Picture 2" descr="Vecteur Stock candle icon template color editable. candle symbol vector  sign isolated on white background. Simple logo vector illustration for  graphic and web design. | Adobe Stock">
            <a:extLst>
              <a:ext uri="{FF2B5EF4-FFF2-40B4-BE49-F238E27FC236}">
                <a16:creationId xmlns:a16="http://schemas.microsoft.com/office/drawing/2014/main" id="{112A7A40-FE57-C7ED-3261-D98AD531F4EA}"/>
              </a:ext>
            </a:extLst>
          </p:cNvPr>
          <p:cNvPicPr>
            <a:picLocks noChangeAspect="1" noChangeArrowheads="1"/>
          </p:cNvPicPr>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p:blipFill>
        <p:spPr bwMode="auto">
          <a:xfrm>
            <a:off x="2927472" y="4630993"/>
            <a:ext cx="611823" cy="187886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56034F2-4B01-B4DA-CFBB-FE1AC942A18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12572" y="163980"/>
            <a:ext cx="1616856" cy="1556447"/>
          </a:xfrm>
          <a:prstGeom prst="rect">
            <a:avLst/>
          </a:prstGeom>
        </p:spPr>
      </p:pic>
      <p:sp>
        <p:nvSpPr>
          <p:cNvPr id="5" name="Picture Placeholder 4">
            <a:extLst>
              <a:ext uri="{FF2B5EF4-FFF2-40B4-BE49-F238E27FC236}">
                <a16:creationId xmlns:a16="http://schemas.microsoft.com/office/drawing/2014/main" id="{F1327EF5-61A2-7BEA-1948-FC9B1B29063C}"/>
              </a:ext>
            </a:extLst>
          </p:cNvPr>
          <p:cNvSpPr>
            <a:spLocks noGrp="1"/>
          </p:cNvSpPr>
          <p:nvPr>
            <p:ph type="pic" sz="quarter" idx="12"/>
          </p:nvPr>
        </p:nvSpPr>
        <p:spPr/>
        <p:txBody>
          <a:bodyPr/>
          <a:lstStyle/>
          <a:p>
            <a:endParaRPr lang="en-US"/>
          </a:p>
        </p:txBody>
      </p:sp>
      <p:pic>
        <p:nvPicPr>
          <p:cNvPr id="3" name="Picture Placeholder 4" descr="A person sitting at a desk with a computer&#10;&#10;AI-generated content may be incorrect.">
            <a:extLst>
              <a:ext uri="{FF2B5EF4-FFF2-40B4-BE49-F238E27FC236}">
                <a16:creationId xmlns:a16="http://schemas.microsoft.com/office/drawing/2014/main" id="{B07A8D71-7F1D-6265-5F76-6E9ABC9EF2C0}"/>
              </a:ext>
            </a:extLst>
          </p:cNvPr>
          <p:cNvPicPr>
            <a:picLocks noChangeAspect="1"/>
          </p:cNvPicPr>
          <p:nvPr/>
        </p:nvPicPr>
        <p:blipFill>
          <a:blip r:embed="rId5">
            <a:extLst>
              <a:ext uri="{28A0092B-C50C-407E-A947-70E740481C1C}">
                <a14:useLocalDpi xmlns:a14="http://schemas.microsoft.com/office/drawing/2010/main" val="0"/>
              </a:ext>
            </a:extLst>
          </a:blip>
          <a:srcRect l="12357" r="12357"/>
          <a:stretch>
            <a:fillRect/>
          </a:stretch>
        </p:blipFill>
        <p:spPr>
          <a:xfrm>
            <a:off x="438828" y="0"/>
            <a:ext cx="6280432" cy="6858000"/>
          </a:xfrm>
          <a:custGeom>
            <a:avLst/>
            <a:gdLst>
              <a:gd name="connsiteX0" fmla="*/ 0 w 6280432"/>
              <a:gd name="connsiteY0" fmla="*/ 0 h 6858000"/>
              <a:gd name="connsiteX1" fmla="*/ 6280432 w 6280432"/>
              <a:gd name="connsiteY1" fmla="*/ 0 h 6858000"/>
              <a:gd name="connsiteX2" fmla="*/ 6280432 w 6280432"/>
              <a:gd name="connsiteY2" fmla="*/ 2281561 h 6858000"/>
              <a:gd name="connsiteX3" fmla="*/ 5466285 w 6280432"/>
              <a:gd name="connsiteY3" fmla="*/ 2281561 h 6858000"/>
              <a:gd name="connsiteX4" fmla="*/ 5466285 w 6280432"/>
              <a:gd name="connsiteY4" fmla="*/ 6858000 h 6858000"/>
              <a:gd name="connsiteX5" fmla="*/ 0 w 628043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80432" h="6858000">
                <a:moveTo>
                  <a:pt x="0" y="0"/>
                </a:moveTo>
                <a:lnTo>
                  <a:pt x="6280432" y="0"/>
                </a:lnTo>
                <a:lnTo>
                  <a:pt x="6280432" y="2281561"/>
                </a:lnTo>
                <a:lnTo>
                  <a:pt x="5466285" y="2281561"/>
                </a:lnTo>
                <a:lnTo>
                  <a:pt x="5466285" y="6858000"/>
                </a:lnTo>
                <a:lnTo>
                  <a:pt x="0" y="6858000"/>
                </a:lnTo>
                <a:close/>
              </a:path>
            </a:pathLst>
          </a:custGeom>
          <a:solidFill>
            <a:schemeClr val="bg2"/>
          </a:solidFill>
        </p:spPr>
      </p:pic>
    </p:spTree>
    <p:extLst>
      <p:ext uri="{BB962C8B-B14F-4D97-AF65-F5344CB8AC3E}">
        <p14:creationId xmlns:p14="http://schemas.microsoft.com/office/powerpoint/2010/main" val="1529062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E268B1-1FDE-FF6B-E8DD-51B712F356D6}"/>
              </a:ext>
            </a:extLst>
          </p:cNvPr>
          <p:cNvSpPr>
            <a:spLocks noGrp="1"/>
          </p:cNvSpPr>
          <p:nvPr>
            <p:ph type="body" sz="quarter" idx="14"/>
          </p:nvPr>
        </p:nvSpPr>
        <p:spPr/>
        <p:txBody>
          <a:bodyPr/>
          <a:lstStyle/>
          <a:p>
            <a:r>
              <a:rPr lang="en-US" dirty="0"/>
              <a:t>1</a:t>
            </a:r>
          </a:p>
        </p:txBody>
      </p:sp>
      <p:sp>
        <p:nvSpPr>
          <p:cNvPr id="3" name="Title 2">
            <a:extLst>
              <a:ext uri="{FF2B5EF4-FFF2-40B4-BE49-F238E27FC236}">
                <a16:creationId xmlns:a16="http://schemas.microsoft.com/office/drawing/2014/main" id="{8A0CADC2-19B7-539C-43CA-C60BFDDE92A0}"/>
              </a:ext>
            </a:extLst>
          </p:cNvPr>
          <p:cNvSpPr>
            <a:spLocks noGrp="1"/>
          </p:cNvSpPr>
          <p:nvPr>
            <p:ph type="title"/>
          </p:nvPr>
        </p:nvSpPr>
        <p:spPr/>
        <p:txBody>
          <a:bodyPr/>
          <a:lstStyle/>
          <a:p>
            <a:r>
              <a:rPr lang="en-US" dirty="0"/>
              <a:t>Agenda</a:t>
            </a:r>
          </a:p>
        </p:txBody>
      </p:sp>
      <p:sp>
        <p:nvSpPr>
          <p:cNvPr id="4" name="Slide Number Placeholder 3">
            <a:extLst>
              <a:ext uri="{FF2B5EF4-FFF2-40B4-BE49-F238E27FC236}">
                <a16:creationId xmlns:a16="http://schemas.microsoft.com/office/drawing/2014/main" id="{8AA8FB7B-340D-5D65-8D68-C8BCFA3FB726}"/>
              </a:ext>
            </a:extLst>
          </p:cNvPr>
          <p:cNvSpPr>
            <a:spLocks noGrp="1"/>
          </p:cNvSpPr>
          <p:nvPr>
            <p:ph type="sldNum" sz="quarter" idx="11"/>
          </p:nvPr>
        </p:nvSpPr>
        <p:spPr/>
        <p:txBody>
          <a:bodyPr/>
          <a:lstStyle/>
          <a:p>
            <a:fld id="{40A7B169-58CE-4E65-B1F9-ACF9E46440C2}" type="slidenum">
              <a:rPr lang="en-US" smtClean="0"/>
              <a:t>2</a:t>
            </a:fld>
            <a:endParaRPr lang="en-US"/>
          </a:p>
        </p:txBody>
      </p:sp>
      <p:sp>
        <p:nvSpPr>
          <p:cNvPr id="5" name="Text Placeholder 4">
            <a:extLst>
              <a:ext uri="{FF2B5EF4-FFF2-40B4-BE49-F238E27FC236}">
                <a16:creationId xmlns:a16="http://schemas.microsoft.com/office/drawing/2014/main" id="{4DF782C6-60F9-E235-EB0B-3EA24ABA67F2}"/>
              </a:ext>
            </a:extLst>
          </p:cNvPr>
          <p:cNvSpPr>
            <a:spLocks noGrp="1"/>
          </p:cNvSpPr>
          <p:nvPr>
            <p:ph type="body" sz="quarter" idx="13"/>
          </p:nvPr>
        </p:nvSpPr>
        <p:spPr/>
        <p:txBody>
          <a:bodyPr/>
          <a:lstStyle/>
          <a:p>
            <a:r>
              <a:rPr lang="en-US" dirty="0"/>
              <a:t>Tests plan</a:t>
            </a:r>
          </a:p>
        </p:txBody>
      </p:sp>
      <p:sp>
        <p:nvSpPr>
          <p:cNvPr id="6" name="Text Placeholder 5">
            <a:extLst>
              <a:ext uri="{FF2B5EF4-FFF2-40B4-BE49-F238E27FC236}">
                <a16:creationId xmlns:a16="http://schemas.microsoft.com/office/drawing/2014/main" id="{FB1D7882-C22A-16A5-2A19-B6A1A73EA469}"/>
              </a:ext>
            </a:extLst>
          </p:cNvPr>
          <p:cNvSpPr>
            <a:spLocks noGrp="1"/>
          </p:cNvSpPr>
          <p:nvPr>
            <p:ph type="body" sz="quarter" idx="15"/>
          </p:nvPr>
        </p:nvSpPr>
        <p:spPr/>
        <p:txBody>
          <a:bodyPr/>
          <a:lstStyle/>
          <a:p>
            <a:r>
              <a:rPr lang="en-US" dirty="0"/>
              <a:t>2</a:t>
            </a:r>
          </a:p>
        </p:txBody>
      </p:sp>
      <p:sp>
        <p:nvSpPr>
          <p:cNvPr id="7" name="Text Placeholder 6">
            <a:extLst>
              <a:ext uri="{FF2B5EF4-FFF2-40B4-BE49-F238E27FC236}">
                <a16:creationId xmlns:a16="http://schemas.microsoft.com/office/drawing/2014/main" id="{B5D90D07-F9B5-AAFB-CE74-EBB9B1C06AE5}"/>
              </a:ext>
            </a:extLst>
          </p:cNvPr>
          <p:cNvSpPr>
            <a:spLocks noGrp="1"/>
          </p:cNvSpPr>
          <p:nvPr>
            <p:ph type="body" sz="quarter" idx="16"/>
          </p:nvPr>
        </p:nvSpPr>
        <p:spPr/>
        <p:txBody>
          <a:bodyPr/>
          <a:lstStyle/>
          <a:p>
            <a:r>
              <a:rPr lang="en-US" dirty="0"/>
              <a:t>Summary &amp; Next steps</a:t>
            </a:r>
          </a:p>
        </p:txBody>
      </p:sp>
      <p:sp>
        <p:nvSpPr>
          <p:cNvPr id="8" name="Text Placeholder 7">
            <a:extLst>
              <a:ext uri="{FF2B5EF4-FFF2-40B4-BE49-F238E27FC236}">
                <a16:creationId xmlns:a16="http://schemas.microsoft.com/office/drawing/2014/main" id="{10EA16F9-56E3-8D09-66B6-1CBADD547876}"/>
              </a:ext>
            </a:extLst>
          </p:cNvPr>
          <p:cNvSpPr>
            <a:spLocks noGrp="1"/>
          </p:cNvSpPr>
          <p:nvPr>
            <p:ph type="body" sz="quarter" idx="17"/>
          </p:nvPr>
        </p:nvSpPr>
        <p:spPr/>
        <p:txBody>
          <a:bodyPr/>
          <a:lstStyle/>
          <a:p>
            <a:r>
              <a:rPr lang="en-US" dirty="0"/>
              <a:t>3</a:t>
            </a:r>
          </a:p>
        </p:txBody>
      </p:sp>
      <p:sp>
        <p:nvSpPr>
          <p:cNvPr id="9" name="Text Placeholder 8">
            <a:extLst>
              <a:ext uri="{FF2B5EF4-FFF2-40B4-BE49-F238E27FC236}">
                <a16:creationId xmlns:a16="http://schemas.microsoft.com/office/drawing/2014/main" id="{6C074A42-A949-ABFE-C79C-AC0EF9D1D8FD}"/>
              </a:ext>
            </a:extLst>
          </p:cNvPr>
          <p:cNvSpPr>
            <a:spLocks noGrp="1"/>
          </p:cNvSpPr>
          <p:nvPr>
            <p:ph type="body" sz="quarter" idx="18"/>
          </p:nvPr>
        </p:nvSpPr>
        <p:spPr/>
        <p:txBody>
          <a:bodyPr/>
          <a:lstStyle/>
          <a:p>
            <a:r>
              <a:rPr lang="en-US" dirty="0"/>
              <a:t>RTOS Middleware</a:t>
            </a:r>
          </a:p>
        </p:txBody>
      </p:sp>
      <p:sp>
        <p:nvSpPr>
          <p:cNvPr id="10" name="Text Placeholder 9">
            <a:extLst>
              <a:ext uri="{FF2B5EF4-FFF2-40B4-BE49-F238E27FC236}">
                <a16:creationId xmlns:a16="http://schemas.microsoft.com/office/drawing/2014/main" id="{DF0DE0A1-EB66-0066-918C-C2234FFA2845}"/>
              </a:ext>
            </a:extLst>
          </p:cNvPr>
          <p:cNvSpPr>
            <a:spLocks noGrp="1"/>
          </p:cNvSpPr>
          <p:nvPr>
            <p:ph type="body" sz="quarter" idx="19"/>
          </p:nvPr>
        </p:nvSpPr>
        <p:spPr>
          <a:xfrm>
            <a:off x="6063770" y="1487433"/>
            <a:ext cx="731520" cy="731520"/>
          </a:xfrm>
        </p:spPr>
        <p:txBody>
          <a:bodyPr/>
          <a:lstStyle/>
          <a:p>
            <a:r>
              <a:rPr lang="en-US" dirty="0"/>
              <a:t>4</a:t>
            </a:r>
          </a:p>
        </p:txBody>
      </p:sp>
      <p:sp>
        <p:nvSpPr>
          <p:cNvPr id="11" name="Text Placeholder 10">
            <a:extLst>
              <a:ext uri="{FF2B5EF4-FFF2-40B4-BE49-F238E27FC236}">
                <a16:creationId xmlns:a16="http://schemas.microsoft.com/office/drawing/2014/main" id="{38EB8031-293E-BD13-9936-915364F52F45}"/>
              </a:ext>
            </a:extLst>
          </p:cNvPr>
          <p:cNvSpPr>
            <a:spLocks noGrp="1"/>
          </p:cNvSpPr>
          <p:nvPr>
            <p:ph type="body" sz="quarter" idx="20"/>
          </p:nvPr>
        </p:nvSpPr>
        <p:spPr>
          <a:xfrm>
            <a:off x="6855381" y="1487433"/>
            <a:ext cx="4754880" cy="731520"/>
          </a:xfrm>
        </p:spPr>
        <p:txBody>
          <a:bodyPr/>
          <a:lstStyle/>
          <a:p>
            <a:r>
              <a:rPr lang="en-US" dirty="0"/>
              <a:t>File System Middleware</a:t>
            </a:r>
          </a:p>
        </p:txBody>
      </p:sp>
      <p:sp>
        <p:nvSpPr>
          <p:cNvPr id="12" name="Text Placeholder 11">
            <a:extLst>
              <a:ext uri="{FF2B5EF4-FFF2-40B4-BE49-F238E27FC236}">
                <a16:creationId xmlns:a16="http://schemas.microsoft.com/office/drawing/2014/main" id="{09ADC9A7-D257-5329-DDDD-EC7C40F8F642}"/>
              </a:ext>
            </a:extLst>
          </p:cNvPr>
          <p:cNvSpPr>
            <a:spLocks noGrp="1"/>
          </p:cNvSpPr>
          <p:nvPr>
            <p:ph type="body" sz="quarter" idx="21"/>
          </p:nvPr>
        </p:nvSpPr>
        <p:spPr>
          <a:xfrm>
            <a:off x="6063770" y="2624425"/>
            <a:ext cx="731520" cy="731520"/>
          </a:xfrm>
        </p:spPr>
        <p:txBody>
          <a:bodyPr/>
          <a:lstStyle/>
          <a:p>
            <a:r>
              <a:rPr lang="en-US" dirty="0"/>
              <a:t>5</a:t>
            </a:r>
          </a:p>
        </p:txBody>
      </p:sp>
      <p:sp>
        <p:nvSpPr>
          <p:cNvPr id="13" name="Text Placeholder 12">
            <a:extLst>
              <a:ext uri="{FF2B5EF4-FFF2-40B4-BE49-F238E27FC236}">
                <a16:creationId xmlns:a16="http://schemas.microsoft.com/office/drawing/2014/main" id="{6800703A-5606-B8C9-CB02-07C4A74ABA50}"/>
              </a:ext>
            </a:extLst>
          </p:cNvPr>
          <p:cNvSpPr>
            <a:spLocks noGrp="1"/>
          </p:cNvSpPr>
          <p:nvPr>
            <p:ph type="body" sz="quarter" idx="22"/>
          </p:nvPr>
        </p:nvSpPr>
        <p:spPr>
          <a:xfrm>
            <a:off x="6855381" y="2624425"/>
            <a:ext cx="4754880" cy="731520"/>
          </a:xfrm>
        </p:spPr>
        <p:txBody>
          <a:bodyPr/>
          <a:lstStyle/>
          <a:p>
            <a:r>
              <a:rPr lang="en-US" dirty="0"/>
              <a:t>USB Middleware</a:t>
            </a:r>
          </a:p>
        </p:txBody>
      </p:sp>
      <p:sp>
        <p:nvSpPr>
          <p:cNvPr id="14" name="Text Placeholder 13">
            <a:extLst>
              <a:ext uri="{FF2B5EF4-FFF2-40B4-BE49-F238E27FC236}">
                <a16:creationId xmlns:a16="http://schemas.microsoft.com/office/drawing/2014/main" id="{4C7B6FDD-20AC-26B5-340A-DE0B171E6B6E}"/>
              </a:ext>
            </a:extLst>
          </p:cNvPr>
          <p:cNvSpPr>
            <a:spLocks noGrp="1"/>
          </p:cNvSpPr>
          <p:nvPr>
            <p:ph type="body" sz="quarter" idx="23"/>
          </p:nvPr>
        </p:nvSpPr>
        <p:spPr>
          <a:xfrm>
            <a:off x="6063770" y="3761417"/>
            <a:ext cx="731520" cy="731520"/>
          </a:xfrm>
        </p:spPr>
        <p:txBody>
          <a:bodyPr/>
          <a:lstStyle/>
          <a:p>
            <a:r>
              <a:rPr lang="en-US" dirty="0"/>
              <a:t>6</a:t>
            </a:r>
          </a:p>
        </p:txBody>
      </p:sp>
      <p:sp>
        <p:nvSpPr>
          <p:cNvPr id="15" name="Text Placeholder 14">
            <a:extLst>
              <a:ext uri="{FF2B5EF4-FFF2-40B4-BE49-F238E27FC236}">
                <a16:creationId xmlns:a16="http://schemas.microsoft.com/office/drawing/2014/main" id="{FE872881-40D0-7401-D7EF-88D88AB62410}"/>
              </a:ext>
            </a:extLst>
          </p:cNvPr>
          <p:cNvSpPr>
            <a:spLocks noGrp="1"/>
          </p:cNvSpPr>
          <p:nvPr>
            <p:ph type="body" sz="quarter" idx="24"/>
          </p:nvPr>
        </p:nvSpPr>
        <p:spPr>
          <a:xfrm>
            <a:off x="6855381" y="3761417"/>
            <a:ext cx="4754880" cy="731520"/>
          </a:xfrm>
        </p:spPr>
        <p:txBody>
          <a:bodyPr/>
          <a:lstStyle/>
          <a:p>
            <a:r>
              <a:rPr lang="en-US" dirty="0"/>
              <a:t>Continuation Plan Proposal</a:t>
            </a:r>
          </a:p>
        </p:txBody>
      </p:sp>
    </p:spTree>
    <p:extLst>
      <p:ext uri="{BB962C8B-B14F-4D97-AF65-F5344CB8AC3E}">
        <p14:creationId xmlns:p14="http://schemas.microsoft.com/office/powerpoint/2010/main" val="449955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F3D6F-F4BE-88B0-12AE-A2154389230D}"/>
              </a:ext>
            </a:extLst>
          </p:cNvPr>
          <p:cNvSpPr>
            <a:spLocks noGrp="1"/>
          </p:cNvSpPr>
          <p:nvPr>
            <p:ph type="title"/>
          </p:nvPr>
        </p:nvSpPr>
        <p:spPr/>
        <p:txBody>
          <a:bodyPr/>
          <a:lstStyle/>
          <a:p>
            <a:r>
              <a:rPr lang="en-US" dirty="0"/>
              <a:t>ST vs Competitors MW Benchmark: Tests Plan</a:t>
            </a:r>
          </a:p>
        </p:txBody>
      </p:sp>
      <p:sp>
        <p:nvSpPr>
          <p:cNvPr id="3" name="Picture Placeholder 2">
            <a:extLst>
              <a:ext uri="{FF2B5EF4-FFF2-40B4-BE49-F238E27FC236}">
                <a16:creationId xmlns:a16="http://schemas.microsoft.com/office/drawing/2014/main" id="{21E24BF9-1AE1-5055-BDB0-2A1CBF07DF77}"/>
              </a:ext>
            </a:extLst>
          </p:cNvPr>
          <p:cNvSpPr>
            <a:spLocks noGrp="1"/>
          </p:cNvSpPr>
          <p:nvPr>
            <p:ph type="pic" sz="quarter" idx="10"/>
          </p:nvPr>
        </p:nvSpPr>
        <p:spPr/>
        <p:txBody>
          <a:bodyPr/>
          <a:lstStyle/>
          <a:p>
            <a:endParaRPr lang="en-US" dirty="0"/>
          </a:p>
        </p:txBody>
      </p:sp>
    </p:spTree>
    <p:extLst>
      <p:ext uri="{BB962C8B-B14F-4D97-AF65-F5344CB8AC3E}">
        <p14:creationId xmlns:p14="http://schemas.microsoft.com/office/powerpoint/2010/main" val="3817984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64CD-4749-2A6E-2FB7-227555D5EDF5}"/>
              </a:ext>
            </a:extLst>
          </p:cNvPr>
          <p:cNvSpPr>
            <a:spLocks noGrp="1"/>
          </p:cNvSpPr>
          <p:nvPr>
            <p:ph type="title"/>
          </p:nvPr>
        </p:nvSpPr>
        <p:spPr/>
        <p:txBody>
          <a:bodyPr/>
          <a:lstStyle/>
          <a:p>
            <a:r>
              <a:rPr lang="en-US" dirty="0"/>
              <a:t>ST vs Competitors MW Benchmark: Tests Plan</a:t>
            </a:r>
          </a:p>
        </p:txBody>
      </p:sp>
      <p:graphicFrame>
        <p:nvGraphicFramePr>
          <p:cNvPr id="3" name="Table 2">
            <a:extLst>
              <a:ext uri="{FF2B5EF4-FFF2-40B4-BE49-F238E27FC236}">
                <a16:creationId xmlns:a16="http://schemas.microsoft.com/office/drawing/2014/main" id="{53BFB0B7-77CA-F8DC-F0E9-72A89E04CF5F}"/>
              </a:ext>
            </a:extLst>
          </p:cNvPr>
          <p:cNvGraphicFramePr>
            <a:graphicFrameLocks noGrp="1"/>
          </p:cNvGraphicFramePr>
          <p:nvPr>
            <p:extLst>
              <p:ext uri="{D42A27DB-BD31-4B8C-83A1-F6EECF244321}">
                <p14:modId xmlns:p14="http://schemas.microsoft.com/office/powerpoint/2010/main" val="3126084235"/>
              </p:ext>
            </p:extLst>
          </p:nvPr>
        </p:nvGraphicFramePr>
        <p:xfrm>
          <a:off x="282804" y="1188169"/>
          <a:ext cx="11609159" cy="4891534"/>
        </p:xfrm>
        <a:graphic>
          <a:graphicData uri="http://schemas.openxmlformats.org/drawingml/2006/table">
            <a:tbl>
              <a:tblPr firstRow="1" bandRow="1">
                <a:tableStyleId>{7E9639D4-E3E2-4D34-9284-5A2195B3D0D7}</a:tableStyleId>
              </a:tblPr>
              <a:tblGrid>
                <a:gridCol w="1254443">
                  <a:extLst>
                    <a:ext uri="{9D8B030D-6E8A-4147-A177-3AD203B41FA5}">
                      <a16:colId xmlns:a16="http://schemas.microsoft.com/office/drawing/2014/main" val="4020098301"/>
                    </a:ext>
                  </a:extLst>
                </a:gridCol>
                <a:gridCol w="3456432">
                  <a:extLst>
                    <a:ext uri="{9D8B030D-6E8A-4147-A177-3AD203B41FA5}">
                      <a16:colId xmlns:a16="http://schemas.microsoft.com/office/drawing/2014/main" val="2689503242"/>
                    </a:ext>
                  </a:extLst>
                </a:gridCol>
                <a:gridCol w="3429000">
                  <a:extLst>
                    <a:ext uri="{9D8B030D-6E8A-4147-A177-3AD203B41FA5}">
                      <a16:colId xmlns:a16="http://schemas.microsoft.com/office/drawing/2014/main" val="4195830169"/>
                    </a:ext>
                  </a:extLst>
                </a:gridCol>
                <a:gridCol w="3469284">
                  <a:extLst>
                    <a:ext uri="{9D8B030D-6E8A-4147-A177-3AD203B41FA5}">
                      <a16:colId xmlns:a16="http://schemas.microsoft.com/office/drawing/2014/main" val="62574015"/>
                    </a:ext>
                  </a:extLst>
                </a:gridCol>
              </a:tblGrid>
              <a:tr h="533062">
                <a:tc>
                  <a:txBody>
                    <a:bodyPr/>
                    <a:lstStyle/>
                    <a:p>
                      <a:endParaRPr lang="en-US"/>
                    </a:p>
                  </a:txBody>
                  <a:tcPr/>
                </a:tc>
                <a:tc>
                  <a:txBody>
                    <a:bodyPr/>
                    <a:lstStyle/>
                    <a:p>
                      <a:pPr algn="ctr"/>
                      <a:r>
                        <a:rPr lang="en-US" dirty="0"/>
                        <a:t>TI</a:t>
                      </a:r>
                    </a:p>
                  </a:txBody>
                  <a:tcPr/>
                </a:tc>
                <a:tc>
                  <a:txBody>
                    <a:bodyPr/>
                    <a:lstStyle/>
                    <a:p>
                      <a:pPr algn="ctr"/>
                      <a:r>
                        <a:rPr lang="en-US" dirty="0"/>
                        <a:t>Renesas</a:t>
                      </a:r>
                    </a:p>
                  </a:txBody>
                  <a:tcPr/>
                </a:tc>
                <a:tc>
                  <a:txBody>
                    <a:bodyPr/>
                    <a:lstStyle/>
                    <a:p>
                      <a:pPr algn="ctr"/>
                      <a:r>
                        <a:rPr lang="en-US" dirty="0"/>
                        <a:t>NXP</a:t>
                      </a:r>
                    </a:p>
                  </a:txBody>
                  <a:tcPr/>
                </a:tc>
                <a:extLst>
                  <a:ext uri="{0D108BD9-81ED-4DB2-BD59-A6C34878D82A}">
                    <a16:rowId xmlns:a16="http://schemas.microsoft.com/office/drawing/2014/main" val="1057681102"/>
                  </a:ext>
                </a:extLst>
              </a:tr>
              <a:tr h="1196256">
                <a:tc>
                  <a:txBody>
                    <a:bodyPr/>
                    <a:lstStyle/>
                    <a:p>
                      <a:pPr algn="ctr"/>
                      <a:r>
                        <a:rPr lang="en-US" dirty="0"/>
                        <a:t>USB</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lumMod val="75000"/>
                            </a:schemeClr>
                          </a:solidFill>
                          <a:effectLst/>
                        </a:rPr>
                        <a:t>NA due to STM32C0 and MSPM0 (low end products) hardware limitations</a:t>
                      </a:r>
                      <a:endParaRPr lang="en-US" sz="900" dirty="0">
                        <a:solidFill>
                          <a:schemeClr val="bg2">
                            <a:lumMod val="75000"/>
                          </a:schemeClr>
                        </a:solidFill>
                      </a:endParaRPr>
                    </a:p>
                    <a:p>
                      <a:endParaRPr lang="en-US" sz="900" dirty="0">
                        <a:solidFill>
                          <a:schemeClr val="bg2">
                            <a:lumMod val="75000"/>
                          </a:schemeClr>
                        </a:solidFill>
                      </a:endParaRPr>
                    </a:p>
                  </a:txBody>
                  <a:tcPr/>
                </a:tc>
                <a:tc>
                  <a:txBody>
                    <a:bodyPr/>
                    <a:lstStyle/>
                    <a:p>
                      <a:r>
                        <a:rPr lang="en-US" sz="900" b="1" kern="1200" dirty="0">
                          <a:solidFill>
                            <a:schemeClr val="dk1"/>
                          </a:solidFill>
                          <a:effectLst/>
                        </a:rPr>
                        <a:t>MW stack</a:t>
                      </a:r>
                      <a:r>
                        <a:rPr lang="en-US" sz="900" kern="1200" dirty="0">
                          <a:solidFill>
                            <a:schemeClr val="dk1"/>
                          </a:solidFill>
                          <a:effectLst/>
                        </a:rPr>
                        <a:t>: </a:t>
                      </a:r>
                      <a:r>
                        <a:rPr lang="en-US" sz="900" kern="1200" dirty="0" err="1">
                          <a:solidFill>
                            <a:schemeClr val="dk1"/>
                          </a:solidFill>
                          <a:effectLst/>
                        </a:rPr>
                        <a:t>AzureRTOS</a:t>
                      </a:r>
                      <a:r>
                        <a:rPr lang="en-US" sz="900" kern="1200" dirty="0">
                          <a:solidFill>
                            <a:schemeClr val="dk1"/>
                          </a:solidFill>
                          <a:effectLst/>
                        </a:rPr>
                        <a:t> USBX 6.4.0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t>MCUs</a:t>
                      </a:r>
                      <a:r>
                        <a:rPr lang="en-US" sz="900" dirty="0"/>
                        <a:t>: </a:t>
                      </a:r>
                      <a:r>
                        <a:rPr lang="en-US" sz="900" kern="1200" dirty="0">
                          <a:solidFill>
                            <a:schemeClr val="dk1"/>
                          </a:solidFill>
                        </a:rPr>
                        <a:t>STM32H573I-DK vs EK-RA6M5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dirty="0">
                          <a:solidFill>
                            <a:schemeClr val="dk1"/>
                          </a:solidFill>
                        </a:rPr>
                        <a:t>Use Cases: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1- </a:t>
                      </a:r>
                      <a:r>
                        <a:rPr lang="en-US" sz="900" b="0" dirty="0"/>
                        <a:t>RTOS mode: </a:t>
                      </a:r>
                      <a:r>
                        <a:rPr lang="en-US" sz="900" b="0" kern="1200" dirty="0">
                          <a:solidFill>
                            <a:schemeClr val="dk1"/>
                          </a:solidFill>
                          <a:effectLst/>
                        </a:rPr>
                        <a:t>HID host class</a:t>
                      </a:r>
                      <a:endParaRPr lang="en-US" sz="900" b="0" kern="1200"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2- </a:t>
                      </a:r>
                      <a:r>
                        <a:rPr lang="en-US" sz="900" b="0" dirty="0"/>
                        <a:t>RTOS mode: </a:t>
                      </a:r>
                      <a:r>
                        <a:rPr lang="en-US" sz="900" b="0" kern="1200" dirty="0">
                          <a:solidFill>
                            <a:schemeClr val="dk1"/>
                          </a:solidFill>
                          <a:effectLst/>
                        </a:rPr>
                        <a:t>CDC device class </a:t>
                      </a:r>
                      <a:endParaRPr lang="en-US" sz="900" b="0" kern="1200"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3- </a:t>
                      </a:r>
                      <a:r>
                        <a:rPr lang="en-US" sz="900" b="0" dirty="0"/>
                        <a:t>RTOS mode: </a:t>
                      </a:r>
                      <a:r>
                        <a:rPr lang="en-US" sz="900" b="0" kern="1200" dirty="0">
                          <a:solidFill>
                            <a:schemeClr val="dk1"/>
                          </a:solidFill>
                          <a:effectLst/>
                        </a:rPr>
                        <a:t>MSC host class </a:t>
                      </a:r>
                      <a:endParaRPr lang="en-US" sz="900" b="0" kern="1200" dirty="0">
                        <a:solidFill>
                          <a:schemeClr val="dk1"/>
                        </a:solidFill>
                        <a:latin typeface="+mn-lt"/>
                        <a:ea typeface="+mn-ea"/>
                        <a:cs typeface="+mn-cs"/>
                      </a:endParaRPr>
                    </a:p>
                  </a:txBody>
                  <a:tcPr/>
                </a:tc>
                <a:tc>
                  <a:txBody>
                    <a:bodyPr/>
                    <a:lstStyle/>
                    <a:p>
                      <a:r>
                        <a:rPr lang="en-US" sz="900" b="1" dirty="0"/>
                        <a:t>MW stack</a:t>
                      </a:r>
                      <a:r>
                        <a:rPr lang="en-US" sz="900" dirty="0"/>
                        <a:t>: STM32/NXP native USB Library</a:t>
                      </a:r>
                    </a:p>
                    <a:p>
                      <a:r>
                        <a:rPr lang="en-US" sz="900" dirty="0">
                          <a:solidFill>
                            <a:srgbClr val="FF0000"/>
                          </a:solidFill>
                        </a:rPr>
                        <a:t>Due to Microsoft discontinuation of Azure RTOS, the NXP SDK package supports no more Azure RTOS after version 2.15.</a:t>
                      </a:r>
                    </a:p>
                    <a:p>
                      <a:r>
                        <a:rPr lang="en-US" sz="900" b="1" dirty="0"/>
                        <a:t>MCUs</a:t>
                      </a:r>
                      <a:r>
                        <a:rPr lang="en-US" sz="900" dirty="0"/>
                        <a:t>: </a:t>
                      </a:r>
                      <a:r>
                        <a:rPr lang="en-US" sz="900" b="0" kern="1200" dirty="0">
                          <a:solidFill>
                            <a:schemeClr val="dk1"/>
                          </a:solidFill>
                          <a:effectLst/>
                        </a:rPr>
                        <a:t>STM32U575xx vs MCX-N9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dirty="0">
                          <a:solidFill>
                            <a:schemeClr val="dk1"/>
                          </a:solidFill>
                        </a:rPr>
                        <a:t>Use Cases: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1- </a:t>
                      </a:r>
                      <a:r>
                        <a:rPr lang="en-US" sz="900" b="0" dirty="0"/>
                        <a:t>BareMetal mode: </a:t>
                      </a:r>
                      <a:r>
                        <a:rPr lang="en-US" sz="900" b="0" kern="1200" dirty="0">
                          <a:solidFill>
                            <a:schemeClr val="dk1"/>
                          </a:solidFill>
                          <a:effectLst/>
                        </a:rPr>
                        <a:t>HID device class</a:t>
                      </a:r>
                      <a:endParaRPr lang="en-US" sz="900" b="0" kern="1200"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2- </a:t>
                      </a:r>
                      <a:r>
                        <a:rPr lang="en-US" sz="900" b="0" dirty="0"/>
                        <a:t>BareMetal mode: </a:t>
                      </a:r>
                      <a:r>
                        <a:rPr lang="en-US" sz="900" b="0" kern="1200" dirty="0">
                          <a:solidFill>
                            <a:schemeClr val="dk1"/>
                          </a:solidFill>
                          <a:effectLst/>
                        </a:rPr>
                        <a:t>CDC device class </a:t>
                      </a:r>
                      <a:endParaRPr lang="en-US" sz="900" b="0" kern="1200"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3- </a:t>
                      </a:r>
                      <a:r>
                        <a:rPr lang="en-US" sz="900" b="0" dirty="0"/>
                        <a:t>BareMetal mode: </a:t>
                      </a:r>
                      <a:r>
                        <a:rPr lang="en-US" sz="900" b="0" kern="1200" dirty="0">
                          <a:solidFill>
                            <a:schemeClr val="dk1"/>
                          </a:solidFill>
                          <a:effectLst/>
                        </a:rPr>
                        <a:t>MSC host class </a:t>
                      </a:r>
                      <a:endParaRPr lang="en-US" sz="900" b="0" kern="1200" dirty="0">
                        <a:solidFill>
                          <a:schemeClr val="dk1"/>
                        </a:solidFill>
                        <a:latin typeface="+mn-lt"/>
                        <a:ea typeface="+mn-ea"/>
                        <a:cs typeface="+mn-cs"/>
                      </a:endParaRPr>
                    </a:p>
                  </a:txBody>
                  <a:tcPr/>
                </a:tc>
                <a:extLst>
                  <a:ext uri="{0D108BD9-81ED-4DB2-BD59-A6C34878D82A}">
                    <a16:rowId xmlns:a16="http://schemas.microsoft.com/office/drawing/2014/main" val="3829234871"/>
                  </a:ext>
                </a:extLst>
              </a:tr>
              <a:tr h="1196256">
                <a:tc>
                  <a:txBody>
                    <a:bodyPr/>
                    <a:lstStyle/>
                    <a:p>
                      <a:pPr algn="ctr"/>
                      <a:r>
                        <a:rPr lang="en-US" dirty="0"/>
                        <a:t>File System</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lumMod val="75000"/>
                            </a:schemeClr>
                          </a:solidFill>
                          <a:effectLst/>
                        </a:rPr>
                        <a:t>NA due to STM32C0 and MSPM0 (low end products) hardware limitations</a:t>
                      </a:r>
                      <a:endParaRPr lang="en-US" sz="900" dirty="0">
                        <a:solidFill>
                          <a:schemeClr val="bg2">
                            <a:lumMod val="75000"/>
                          </a:schemeClr>
                        </a:solidFill>
                      </a:endParaRPr>
                    </a:p>
                    <a:p>
                      <a:endParaRPr lang="en-US" sz="900" dirty="0">
                        <a:solidFill>
                          <a:schemeClr val="bg2">
                            <a:lumMod val="75000"/>
                          </a:schemeClr>
                        </a:solidFill>
                      </a:endParaRPr>
                    </a:p>
                  </a:txBody>
                  <a:tcPr/>
                </a:tc>
                <a:tc>
                  <a:txBody>
                    <a:bodyPr/>
                    <a:lstStyle/>
                    <a:p>
                      <a:r>
                        <a:rPr lang="en-US" sz="900" b="1" dirty="0"/>
                        <a:t>MW stack</a:t>
                      </a:r>
                      <a:r>
                        <a:rPr lang="en-US" sz="900" dirty="0"/>
                        <a:t>: </a:t>
                      </a:r>
                      <a:r>
                        <a:rPr lang="en-US" sz="900" dirty="0" err="1"/>
                        <a:t>AzureRTOS</a:t>
                      </a:r>
                      <a:r>
                        <a:rPr lang="en-US" sz="900" dirty="0"/>
                        <a:t> FileX 6.4.0</a:t>
                      </a:r>
                    </a:p>
                    <a:p>
                      <a:r>
                        <a:rPr lang="en-US" sz="900" b="1" dirty="0"/>
                        <a:t>MCUs</a:t>
                      </a:r>
                      <a:r>
                        <a:rPr lang="en-US" sz="900" dirty="0"/>
                        <a:t>: </a:t>
                      </a:r>
                      <a:r>
                        <a:rPr lang="en-US" sz="900" kern="1200" dirty="0">
                          <a:solidFill>
                            <a:schemeClr val="dk1"/>
                          </a:solidFill>
                        </a:rPr>
                        <a:t>STM32H573I-DK vs EK-RA6M5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dirty="0">
                          <a:solidFill>
                            <a:schemeClr val="dk1"/>
                          </a:solidFill>
                        </a:rPr>
                        <a:t>Use Cases:</a:t>
                      </a:r>
                    </a:p>
                    <a:p>
                      <a:r>
                        <a:rPr lang="en-US" sz="900" b="0" kern="1200" dirty="0">
                          <a:solidFill>
                            <a:schemeClr val="dk1"/>
                          </a:solidFill>
                        </a:rPr>
                        <a:t>1- </a:t>
                      </a:r>
                      <a:r>
                        <a:rPr lang="en-US" sz="900" b="0" dirty="0"/>
                        <a:t>BareMetal mode: FileX w/ SRAM internal memory</a:t>
                      </a:r>
                      <a:endParaRPr lang="en-US" sz="900" b="0" kern="1200" dirty="0">
                        <a:solidFill>
                          <a:schemeClr val="dk1"/>
                        </a:solidFill>
                      </a:endParaRPr>
                    </a:p>
                    <a:p>
                      <a:r>
                        <a:rPr lang="en-US" sz="900" b="0" kern="1200" dirty="0">
                          <a:solidFill>
                            <a:schemeClr val="dk1"/>
                          </a:solidFill>
                        </a:rPr>
                        <a:t>2- </a:t>
                      </a:r>
                      <a:r>
                        <a:rPr lang="en-US" sz="900" b="0" dirty="0"/>
                        <a:t>RTOS mode: FileX w/ USB disk memory</a:t>
                      </a:r>
                      <a:endParaRPr lang="en-US" sz="900" b="0" kern="1200" dirty="0">
                        <a:solidFill>
                          <a:schemeClr val="dk1"/>
                        </a:solidFill>
                      </a:endParaRPr>
                    </a:p>
                    <a:p>
                      <a:endParaRPr lang="en-US" sz="9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a:t>MW stack: </a:t>
                      </a:r>
                      <a:r>
                        <a:rPr lang="en-US" sz="900"/>
                        <a:t>FatFS V R0.15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rgbClr val="FF0000"/>
                          </a:solidFill>
                        </a:rPr>
                        <a:t>Due to Microsoft discontinuation of Azure RTOS, the NXP SDK package supports no more Azure RTOS after version 2.15.</a:t>
                      </a:r>
                      <a:endParaRPr lang="en-US" sz="900" b="1"/>
                    </a:p>
                    <a:p>
                      <a:r>
                        <a:rPr lang="en-US" sz="900" b="1"/>
                        <a:t>MCUs</a:t>
                      </a:r>
                      <a:r>
                        <a:rPr lang="en-US" sz="900"/>
                        <a:t>: </a:t>
                      </a:r>
                      <a:r>
                        <a:rPr lang="en-US" sz="900" b="0" kern="1200">
                          <a:solidFill>
                            <a:schemeClr val="dk1"/>
                          </a:solidFill>
                          <a:effectLst/>
                        </a:rPr>
                        <a:t>STM32U575xx vs MCX-N9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dk1"/>
                          </a:solidFill>
                        </a:rPr>
                        <a:t>Use Cases:</a:t>
                      </a:r>
                      <a:endParaRPr lang="en-US" sz="900" b="0" kern="1200">
                        <a:solidFill>
                          <a:schemeClr val="dk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dk1"/>
                          </a:solidFill>
                        </a:rPr>
                        <a:t>1-</a:t>
                      </a:r>
                      <a:r>
                        <a:rPr lang="en-US" sz="900" b="1" kern="1200">
                          <a:solidFill>
                            <a:schemeClr val="dk1"/>
                          </a:solidFill>
                        </a:rPr>
                        <a:t> </a:t>
                      </a:r>
                      <a:r>
                        <a:rPr lang="en-US" sz="900" b="0" kern="1200">
                          <a:solidFill>
                            <a:schemeClr val="dk1"/>
                          </a:solidFill>
                        </a:rPr>
                        <a:t>BareMetal mode: FatFS w/ SRAM internal memory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a:t>2- </a:t>
                      </a:r>
                      <a:r>
                        <a:rPr lang="en-US" sz="900" b="0" kern="1200">
                          <a:solidFill>
                            <a:schemeClr val="dk1"/>
                          </a:solidFill>
                        </a:rPr>
                        <a:t>BareMetal mode: FatFS w/ SD card</a:t>
                      </a:r>
                      <a:endParaRPr lang="en-US" sz="900" b="0" kern="1200">
                        <a:solidFill>
                          <a:schemeClr val="dk1"/>
                        </a:solidFill>
                        <a:latin typeface="+mn-lt"/>
                        <a:ea typeface="+mn-ea"/>
                        <a:cs typeface="+mn-cs"/>
                      </a:endParaRPr>
                    </a:p>
                  </a:txBody>
                  <a:tcPr/>
                </a:tc>
                <a:extLst>
                  <a:ext uri="{0D108BD9-81ED-4DB2-BD59-A6C34878D82A}">
                    <a16:rowId xmlns:a16="http://schemas.microsoft.com/office/drawing/2014/main" val="2938841583"/>
                  </a:ext>
                </a:extLst>
              </a:tr>
              <a:tr h="598128">
                <a:tc rowSpan="2">
                  <a:txBody>
                    <a:bodyPr/>
                    <a:lstStyle/>
                    <a:p>
                      <a:pPr algn="ctr"/>
                      <a:r>
                        <a:rPr lang="en-US" dirty="0"/>
                        <a:t>RTOS</a:t>
                      </a:r>
                    </a:p>
                  </a:txBody>
                  <a:tcPr anchor="ctr"/>
                </a:tc>
                <a:tc>
                  <a:txBody>
                    <a:bodyPr/>
                    <a:lstStyle/>
                    <a:p>
                      <a:r>
                        <a:rPr lang="en-US" sz="900" b="1" dirty="0"/>
                        <a:t>MW/Version</a:t>
                      </a:r>
                      <a:r>
                        <a:rPr lang="en-US" sz="900" dirty="0"/>
                        <a:t>: </a:t>
                      </a:r>
                      <a:r>
                        <a:rPr lang="en-US" sz="900" dirty="0" err="1"/>
                        <a:t>FreeRTOS</a:t>
                      </a:r>
                      <a:r>
                        <a:rPr lang="en-US" sz="900" dirty="0"/>
                        <a:t> 10.6.2</a:t>
                      </a:r>
                    </a:p>
                    <a:p>
                      <a:r>
                        <a:rPr lang="en-US" sz="900" b="1" dirty="0"/>
                        <a:t>MCUs</a:t>
                      </a:r>
                      <a:r>
                        <a:rPr lang="en-US" sz="900" dirty="0"/>
                        <a:t>: </a:t>
                      </a:r>
                      <a:r>
                        <a:rPr lang="en-US" sz="900" kern="1200" dirty="0">
                          <a:solidFill>
                            <a:schemeClr val="dk1"/>
                          </a:solidFill>
                        </a:rPr>
                        <a:t>STM32C031C6 vs TI MSPM0G3507 </a:t>
                      </a:r>
                    </a:p>
                    <a:p>
                      <a:r>
                        <a:rPr lang="en-US" sz="900" b="1" kern="1200" dirty="0">
                          <a:solidFill>
                            <a:schemeClr val="dk1"/>
                          </a:solidFill>
                        </a:rPr>
                        <a:t>Use Cases: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1- Basic Processing Test</a:t>
                      </a:r>
                    </a:p>
                    <a:p>
                      <a:r>
                        <a:rPr lang="en-US" sz="900" b="0" kern="1200" dirty="0">
                          <a:solidFill>
                            <a:schemeClr val="dk1"/>
                          </a:solidFill>
                        </a:rPr>
                        <a:t>2- Cooperative Scheduling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3- Preemptive Scheduling Test</a:t>
                      </a:r>
                    </a:p>
                  </a:txBody>
                  <a:tcPr/>
                </a:tc>
                <a:tc>
                  <a:txBody>
                    <a:bodyPr/>
                    <a:lstStyle/>
                    <a:p>
                      <a:r>
                        <a:rPr lang="en-US" sz="900" b="1" dirty="0"/>
                        <a:t>MW stack</a:t>
                      </a:r>
                      <a:r>
                        <a:rPr lang="en-US" sz="900" dirty="0"/>
                        <a:t>: </a:t>
                      </a:r>
                      <a:r>
                        <a:rPr lang="en-US" sz="900" dirty="0" err="1"/>
                        <a:t>AzureRTOS</a:t>
                      </a:r>
                      <a:r>
                        <a:rPr lang="en-US" sz="900" dirty="0"/>
                        <a:t> </a:t>
                      </a:r>
                      <a:r>
                        <a:rPr lang="en-US" sz="900" dirty="0" err="1"/>
                        <a:t>ThreadX</a:t>
                      </a:r>
                      <a:r>
                        <a:rPr lang="en-US" sz="900" dirty="0"/>
                        <a:t> 6.4.0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t>MCUs</a:t>
                      </a:r>
                      <a:r>
                        <a:rPr lang="en-US" sz="900" dirty="0"/>
                        <a:t>: </a:t>
                      </a:r>
                      <a:r>
                        <a:rPr lang="en-US" sz="900" kern="1200" dirty="0">
                          <a:solidFill>
                            <a:schemeClr val="dk1"/>
                          </a:solidFill>
                        </a:rPr>
                        <a:t>STM32H573I-DK vs EK-RA6M5</a:t>
                      </a:r>
                    </a:p>
                    <a:p>
                      <a:r>
                        <a:rPr lang="en-US" sz="900" b="1" kern="1200" dirty="0">
                          <a:solidFill>
                            <a:schemeClr val="dk1"/>
                          </a:solidFill>
                        </a:rPr>
                        <a:t>Use Cases: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1- Basic Processing Test</a:t>
                      </a:r>
                    </a:p>
                    <a:p>
                      <a:r>
                        <a:rPr lang="en-US" sz="900" b="0" kern="1200" dirty="0">
                          <a:solidFill>
                            <a:schemeClr val="dk1"/>
                          </a:solidFill>
                        </a:rPr>
                        <a:t>2- Cooperative Scheduling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3- Preemptive Scheduling Test</a:t>
                      </a:r>
                      <a:endParaRPr lang="en-US" sz="9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rgbClr val="FF0000"/>
                          </a:solidFill>
                        </a:rPr>
                        <a:t>Due to Microsoft discontinuation of Azure RTOS, the NXP SDK package supports no more Azure RTOS after version 2.15.</a:t>
                      </a:r>
                      <a:endParaRPr lang="en-US" sz="900" b="1" dirty="0"/>
                    </a:p>
                    <a:p>
                      <a:endParaRPr lang="en-US" sz="900" kern="1200" dirty="0">
                        <a:solidFill>
                          <a:schemeClr val="dk1"/>
                        </a:solidFill>
                        <a:latin typeface="+mn-lt"/>
                        <a:ea typeface="+mn-ea"/>
                        <a:cs typeface="+mn-cs"/>
                      </a:endParaRPr>
                    </a:p>
                  </a:txBody>
                  <a:tcPr/>
                </a:tc>
                <a:extLst>
                  <a:ext uri="{0D108BD9-81ED-4DB2-BD59-A6C34878D82A}">
                    <a16:rowId xmlns:a16="http://schemas.microsoft.com/office/drawing/2014/main" val="4069686945"/>
                  </a:ext>
                </a:extLst>
              </a:tr>
              <a:tr h="598128">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2">
                              <a:lumMod val="75000"/>
                            </a:schemeClr>
                          </a:solidFill>
                          <a:effectLst/>
                        </a:rPr>
                        <a:t>TI does not support </a:t>
                      </a:r>
                      <a:r>
                        <a:rPr lang="en-US" sz="900" kern="1200" dirty="0" err="1">
                          <a:solidFill>
                            <a:schemeClr val="bg2">
                              <a:lumMod val="75000"/>
                            </a:schemeClr>
                          </a:solidFill>
                          <a:effectLst/>
                        </a:rPr>
                        <a:t>AzureRTOS</a:t>
                      </a:r>
                      <a:endParaRPr lang="en-US" sz="900" kern="1200" dirty="0">
                        <a:solidFill>
                          <a:schemeClr val="bg2">
                            <a:lumMod val="75000"/>
                          </a:schemeClr>
                        </a:solidFill>
                        <a:effectLst/>
                        <a:latin typeface="+mn-lt"/>
                        <a:ea typeface="+mn-ea"/>
                        <a:cs typeface="+mn-cs"/>
                      </a:endParaRPr>
                    </a:p>
                  </a:txBody>
                  <a:tcPr/>
                </a:tc>
                <a:tc>
                  <a:txBody>
                    <a:bodyPr/>
                    <a:lstStyle/>
                    <a:p>
                      <a:r>
                        <a:rPr lang="en-US" sz="900" b="1" dirty="0"/>
                        <a:t>MW stack</a:t>
                      </a:r>
                      <a:r>
                        <a:rPr lang="en-US" sz="900" dirty="0"/>
                        <a:t>: </a:t>
                      </a:r>
                      <a:r>
                        <a:rPr lang="en-US" sz="900" dirty="0" err="1"/>
                        <a:t>FreeRTOS</a:t>
                      </a:r>
                      <a:r>
                        <a:rPr lang="en-US" sz="900" dirty="0"/>
                        <a:t> 10.6.2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t>MCUs</a:t>
                      </a:r>
                      <a:r>
                        <a:rPr lang="en-US" sz="900" dirty="0"/>
                        <a:t>: </a:t>
                      </a:r>
                      <a:r>
                        <a:rPr lang="en-US" sz="900" kern="1200" dirty="0">
                          <a:solidFill>
                            <a:schemeClr val="dk1"/>
                          </a:solidFill>
                        </a:rPr>
                        <a:t>STM32H743I-EVAL vs EK-RA8M1 </a:t>
                      </a:r>
                      <a:endParaRPr lang="en-US" sz="900" kern="1200" dirty="0">
                        <a:solidFill>
                          <a:schemeClr val="dk1"/>
                        </a:solidFill>
                        <a:effectLst/>
                      </a:endParaRPr>
                    </a:p>
                    <a:p>
                      <a:r>
                        <a:rPr lang="en-US" sz="900" b="1" kern="1200" dirty="0">
                          <a:solidFill>
                            <a:schemeClr val="dk1"/>
                          </a:solidFill>
                        </a:rPr>
                        <a:t>Use Cases: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1- Basic Processing Test</a:t>
                      </a:r>
                    </a:p>
                    <a:p>
                      <a:r>
                        <a:rPr lang="en-US" sz="900" b="0" kern="1200" dirty="0">
                          <a:solidFill>
                            <a:schemeClr val="dk1"/>
                          </a:solidFill>
                        </a:rPr>
                        <a:t>2- Cooperative Scheduling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3- Preemptive Scheduling Test</a:t>
                      </a:r>
                      <a:endParaRPr lang="en-US" sz="900" kern="1200" dirty="0">
                        <a:solidFill>
                          <a:schemeClr val="dk1"/>
                        </a:solidFill>
                        <a:latin typeface="+mn-lt"/>
                        <a:ea typeface="+mn-ea"/>
                        <a:cs typeface="+mn-cs"/>
                      </a:endParaRPr>
                    </a:p>
                  </a:txBody>
                  <a:tcPr/>
                </a:tc>
                <a:tc>
                  <a:txBody>
                    <a:bodyPr/>
                    <a:lstStyle/>
                    <a:p>
                      <a:r>
                        <a:rPr lang="en-US" sz="900" b="1" dirty="0"/>
                        <a:t>MW stack</a:t>
                      </a:r>
                      <a:r>
                        <a:rPr lang="en-US" sz="900" dirty="0"/>
                        <a:t>: </a:t>
                      </a:r>
                      <a:r>
                        <a:rPr lang="en-US" sz="900" dirty="0" err="1"/>
                        <a:t>FreeRTOS</a:t>
                      </a:r>
                      <a:r>
                        <a:rPr lang="en-US" sz="900" dirty="0"/>
                        <a:t> 11.1.0</a:t>
                      </a:r>
                    </a:p>
                    <a:p>
                      <a:r>
                        <a:rPr lang="en-US" sz="900" b="1" dirty="0"/>
                        <a:t>MCUs</a:t>
                      </a:r>
                      <a:r>
                        <a:rPr lang="en-US" sz="900" dirty="0"/>
                        <a:t>: </a:t>
                      </a:r>
                      <a:r>
                        <a:rPr lang="en-US" sz="900" b="0" kern="1200" dirty="0">
                          <a:solidFill>
                            <a:schemeClr val="dk1"/>
                          </a:solidFill>
                          <a:effectLst/>
                        </a:rPr>
                        <a:t>STM32U575xx vs MCX-N9</a:t>
                      </a:r>
                    </a:p>
                    <a:p>
                      <a:r>
                        <a:rPr lang="en-US" sz="900" b="1" kern="1200" dirty="0">
                          <a:solidFill>
                            <a:schemeClr val="dk1"/>
                          </a:solidFill>
                        </a:rPr>
                        <a:t>Use Cases: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1- Basic Processing Test</a:t>
                      </a:r>
                    </a:p>
                    <a:p>
                      <a:r>
                        <a:rPr lang="en-US" sz="900" b="0" kern="1200" dirty="0">
                          <a:solidFill>
                            <a:schemeClr val="dk1"/>
                          </a:solidFill>
                        </a:rPr>
                        <a:t>2- Cooperative Scheduling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dk1"/>
                          </a:solidFill>
                        </a:rPr>
                        <a:t>3- Preemptive Scheduling Test</a:t>
                      </a:r>
                      <a:endParaRPr lang="en-US" sz="9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kern="1200" dirty="0">
                        <a:solidFill>
                          <a:schemeClr val="dk1"/>
                        </a:solidFill>
                        <a:latin typeface="+mn-lt"/>
                        <a:ea typeface="+mn-ea"/>
                        <a:cs typeface="+mn-cs"/>
                      </a:endParaRPr>
                    </a:p>
                  </a:txBody>
                  <a:tcPr/>
                </a:tc>
                <a:extLst>
                  <a:ext uri="{0D108BD9-81ED-4DB2-BD59-A6C34878D82A}">
                    <a16:rowId xmlns:a16="http://schemas.microsoft.com/office/drawing/2014/main" val="3459087740"/>
                  </a:ext>
                </a:extLst>
              </a:tr>
            </a:tbl>
          </a:graphicData>
        </a:graphic>
      </p:graphicFrame>
      <p:sp>
        <p:nvSpPr>
          <p:cNvPr id="4" name="TextBox 3">
            <a:extLst>
              <a:ext uri="{FF2B5EF4-FFF2-40B4-BE49-F238E27FC236}">
                <a16:creationId xmlns:a16="http://schemas.microsoft.com/office/drawing/2014/main" id="{8ED5BD57-1B92-6E3E-8D90-02538C5CB47A}"/>
              </a:ext>
            </a:extLst>
          </p:cNvPr>
          <p:cNvSpPr txBox="1"/>
          <p:nvPr/>
        </p:nvSpPr>
        <p:spPr>
          <a:xfrm>
            <a:off x="1008657" y="6280186"/>
            <a:ext cx="10601604" cy="246221"/>
          </a:xfrm>
          <a:prstGeom prst="rect">
            <a:avLst/>
          </a:prstGeom>
          <a:noFill/>
        </p:spPr>
        <p:txBody>
          <a:bodyPr wrap="square" rtlCol="0">
            <a:spAutoFit/>
          </a:bodyPr>
          <a:lstStyle/>
          <a:p>
            <a:pPr marL="171450" indent="-171450" algn="l">
              <a:buFont typeface="Arial" panose="020B0604020202020204" pitchFamily="34" charset="0"/>
              <a:buChar char="•"/>
            </a:pPr>
            <a:r>
              <a:rPr lang="en-US" sz="1000" b="1" dirty="0"/>
              <a:t>Footprint and Execution time </a:t>
            </a:r>
            <a:r>
              <a:rPr lang="en-US" sz="1000" dirty="0"/>
              <a:t>measures are performed on mentioned tests</a:t>
            </a:r>
          </a:p>
        </p:txBody>
      </p:sp>
      <p:sp>
        <p:nvSpPr>
          <p:cNvPr id="6" name="Slide Number Placeholder 5">
            <a:extLst>
              <a:ext uri="{FF2B5EF4-FFF2-40B4-BE49-F238E27FC236}">
                <a16:creationId xmlns:a16="http://schemas.microsoft.com/office/drawing/2014/main" id="{C8C55F09-1D71-AA98-F408-92D6D548E292}"/>
              </a:ext>
            </a:extLst>
          </p:cNvPr>
          <p:cNvSpPr>
            <a:spLocks noGrp="1"/>
          </p:cNvSpPr>
          <p:nvPr>
            <p:ph type="sldNum" sz="quarter" idx="12"/>
          </p:nvPr>
        </p:nvSpPr>
        <p:spPr/>
        <p:txBody>
          <a:bodyPr/>
          <a:lstStyle/>
          <a:p>
            <a:fld id="{40A7B169-58CE-4E65-B1F9-ACF9E46440C2}" type="slidenum">
              <a:rPr lang="en-US" smtClean="0"/>
              <a:t>4</a:t>
            </a:fld>
            <a:endParaRPr lang="en-US"/>
          </a:p>
        </p:txBody>
      </p:sp>
    </p:spTree>
    <p:extLst>
      <p:ext uri="{BB962C8B-B14F-4D97-AF65-F5344CB8AC3E}">
        <p14:creationId xmlns:p14="http://schemas.microsoft.com/office/powerpoint/2010/main" val="2270219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EC2A2-23C0-3E16-2428-932582C6A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0AAF4-D740-AB93-DB6B-59CB8398DAA5}"/>
              </a:ext>
            </a:extLst>
          </p:cNvPr>
          <p:cNvSpPr>
            <a:spLocks noGrp="1"/>
          </p:cNvSpPr>
          <p:nvPr>
            <p:ph type="title"/>
          </p:nvPr>
        </p:nvSpPr>
        <p:spPr/>
        <p:txBody>
          <a:bodyPr/>
          <a:lstStyle/>
          <a:p>
            <a:r>
              <a:rPr lang="en-US" dirty="0"/>
              <a:t>Summary &amp; Next steps</a:t>
            </a:r>
          </a:p>
        </p:txBody>
      </p:sp>
      <p:sp>
        <p:nvSpPr>
          <p:cNvPr id="3" name="Picture Placeholder 2">
            <a:extLst>
              <a:ext uri="{FF2B5EF4-FFF2-40B4-BE49-F238E27FC236}">
                <a16:creationId xmlns:a16="http://schemas.microsoft.com/office/drawing/2014/main" id="{B7DCCCDD-8311-E20D-8BF4-BEBB144F2395}"/>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3505712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D655B-BBD1-D3F5-C76A-B074B40FA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B133F-56E7-1BAA-1F35-5101A19B4D5A}"/>
              </a:ext>
            </a:extLst>
          </p:cNvPr>
          <p:cNvSpPr>
            <a:spLocks noGrp="1"/>
          </p:cNvSpPr>
          <p:nvPr>
            <p:ph type="title"/>
          </p:nvPr>
        </p:nvSpPr>
        <p:spPr>
          <a:xfrm>
            <a:off x="345090" y="160099"/>
            <a:ext cx="11609159" cy="640081"/>
          </a:xfrm>
        </p:spPr>
        <p:txBody>
          <a:bodyPr/>
          <a:lstStyle/>
          <a:p>
            <a:r>
              <a:rPr lang="en-US" sz="2800" dirty="0"/>
              <a:t>ST Competitors MW Benchmark: Footprint summary</a:t>
            </a:r>
          </a:p>
        </p:txBody>
      </p:sp>
      <p:sp>
        <p:nvSpPr>
          <p:cNvPr id="9" name="TextBox 8">
            <a:extLst>
              <a:ext uri="{FF2B5EF4-FFF2-40B4-BE49-F238E27FC236}">
                <a16:creationId xmlns:a16="http://schemas.microsoft.com/office/drawing/2014/main" id="{84E10E27-FCDC-DBE3-0AF0-C4E52ADAC484}"/>
              </a:ext>
            </a:extLst>
          </p:cNvPr>
          <p:cNvSpPr txBox="1"/>
          <p:nvPr/>
        </p:nvSpPr>
        <p:spPr>
          <a:xfrm>
            <a:off x="8057106" y="776129"/>
            <a:ext cx="357192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464650"/>
                </a:solidFill>
                <a:effectLst/>
                <a:uLnTx/>
                <a:uFillTx/>
                <a:latin typeface="Arial"/>
                <a:ea typeface="+mn-ea"/>
                <a:cs typeface="+mn-cs"/>
              </a:rPr>
              <a:t>FreeRTOS</a:t>
            </a:r>
            <a:r>
              <a:rPr kumimoji="0" lang="en-US" sz="1400" b="0" i="0" u="none" strike="noStrike" kern="1200" cap="none" spc="0" normalizeH="0" baseline="0" noProof="0" dirty="0">
                <a:ln>
                  <a:noFill/>
                </a:ln>
                <a:solidFill>
                  <a:srgbClr val="464650"/>
                </a:solidFill>
                <a:effectLst/>
                <a:uLnTx/>
                <a:uFillTx/>
                <a:latin typeface="Arial"/>
                <a:ea typeface="+mn-ea"/>
                <a:cs typeface="+mn-cs"/>
              </a:rPr>
              <a:t> V10.6.2(TI/Renesas) V11.1.0 (NXP) Footprint</a:t>
            </a:r>
          </a:p>
        </p:txBody>
      </p:sp>
      <p:sp>
        <p:nvSpPr>
          <p:cNvPr id="11" name="TextBox 10">
            <a:extLst>
              <a:ext uri="{FF2B5EF4-FFF2-40B4-BE49-F238E27FC236}">
                <a16:creationId xmlns:a16="http://schemas.microsoft.com/office/drawing/2014/main" id="{FA186D05-63D4-7D79-A0E0-4F16AD8F8037}"/>
              </a:ext>
            </a:extLst>
          </p:cNvPr>
          <p:cNvSpPr txBox="1"/>
          <p:nvPr/>
        </p:nvSpPr>
        <p:spPr>
          <a:xfrm>
            <a:off x="4045839" y="1004910"/>
            <a:ext cx="33745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64650"/>
                </a:solidFill>
                <a:effectLst/>
                <a:uLnTx/>
                <a:uFillTx/>
                <a:latin typeface="Arial"/>
                <a:ea typeface="+mn-ea"/>
                <a:cs typeface="+mn-cs"/>
              </a:rPr>
              <a:t>File System </a:t>
            </a:r>
            <a:r>
              <a:rPr kumimoji="0" lang="en-US" sz="1400" b="0" i="0" u="none" strike="noStrike" kern="1200" cap="none" spc="0" normalizeH="0" baseline="0" noProof="0" dirty="0" err="1">
                <a:ln>
                  <a:noFill/>
                </a:ln>
                <a:solidFill>
                  <a:srgbClr val="464650"/>
                </a:solidFill>
                <a:effectLst/>
                <a:uLnTx/>
                <a:uFillTx/>
                <a:latin typeface="Arial"/>
                <a:ea typeface="+mn-ea"/>
                <a:cs typeface="+mn-cs"/>
              </a:rPr>
              <a:t>FatFS</a:t>
            </a:r>
            <a:r>
              <a:rPr kumimoji="0" lang="en-US" sz="1400" b="0" i="0" u="none" strike="noStrike" kern="1200" cap="none" spc="0" normalizeH="0" baseline="0" noProof="0" dirty="0">
                <a:ln>
                  <a:noFill/>
                </a:ln>
                <a:solidFill>
                  <a:srgbClr val="464650"/>
                </a:solidFill>
                <a:effectLst/>
                <a:uLnTx/>
                <a:uFillTx/>
                <a:latin typeface="Arial"/>
                <a:ea typeface="+mn-ea"/>
                <a:cs typeface="+mn-cs"/>
              </a:rPr>
              <a:t> R0.15 Footprint</a:t>
            </a:r>
          </a:p>
        </p:txBody>
      </p:sp>
      <p:sp>
        <p:nvSpPr>
          <p:cNvPr id="7" name="TextBox 6">
            <a:extLst>
              <a:ext uri="{FF2B5EF4-FFF2-40B4-BE49-F238E27FC236}">
                <a16:creationId xmlns:a16="http://schemas.microsoft.com/office/drawing/2014/main" id="{79577CAC-3C8D-9C23-CD55-6D127F185EA2}"/>
              </a:ext>
            </a:extLst>
          </p:cNvPr>
          <p:cNvSpPr txBox="1"/>
          <p:nvPr/>
        </p:nvSpPr>
        <p:spPr>
          <a:xfrm>
            <a:off x="52693" y="1004910"/>
            <a:ext cx="295564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64650"/>
                </a:solidFill>
                <a:effectLst/>
                <a:uLnTx/>
                <a:uFillTx/>
                <a:latin typeface="Arial"/>
                <a:ea typeface="+mn-ea"/>
                <a:cs typeface="+mn-cs"/>
              </a:rPr>
              <a:t>USB Native Library Footprint</a:t>
            </a:r>
          </a:p>
        </p:txBody>
      </p:sp>
      <p:sp>
        <p:nvSpPr>
          <p:cNvPr id="6" name="TextBox 5">
            <a:extLst>
              <a:ext uri="{FF2B5EF4-FFF2-40B4-BE49-F238E27FC236}">
                <a16:creationId xmlns:a16="http://schemas.microsoft.com/office/drawing/2014/main" id="{649D4D0B-8665-FB5A-04C4-77413C0A4E16}"/>
              </a:ext>
            </a:extLst>
          </p:cNvPr>
          <p:cNvSpPr txBox="1"/>
          <p:nvPr/>
        </p:nvSpPr>
        <p:spPr>
          <a:xfrm>
            <a:off x="8015458" y="4900530"/>
            <a:ext cx="2955640" cy="215444"/>
          </a:xfrm>
          <a:prstGeom prst="rect">
            <a:avLst/>
          </a:prstGeom>
          <a:noFill/>
        </p:spPr>
        <p:txBody>
          <a:bodyPr wrap="square">
            <a:spAutoFit/>
          </a:bodyPr>
          <a:lstStyle/>
          <a:p>
            <a:pPr marL="171450" indent="-171450">
              <a:buFont typeface="Arial" panose="020B0604020202020204" pitchFamily="34" charset="0"/>
              <a:buChar char="•"/>
              <a:defRPr/>
            </a:pPr>
            <a:r>
              <a:rPr lang="en-US" sz="800">
                <a:solidFill>
                  <a:srgbClr val="03234B"/>
                </a:solidFill>
                <a:latin typeface="Arial"/>
              </a:rPr>
              <a:t>TI and NXP does not support </a:t>
            </a:r>
            <a:r>
              <a:rPr lang="en-US" sz="800" err="1">
                <a:solidFill>
                  <a:srgbClr val="03234B"/>
                </a:solidFill>
                <a:latin typeface="Arial"/>
              </a:rPr>
              <a:t>AzureRTOS</a:t>
            </a:r>
            <a:r>
              <a:rPr lang="en-US" sz="800">
                <a:solidFill>
                  <a:srgbClr val="03234B"/>
                </a:solidFill>
                <a:latin typeface="Arial"/>
              </a:rPr>
              <a:t> </a:t>
            </a:r>
            <a:r>
              <a:rPr lang="en-US" sz="800" err="1">
                <a:solidFill>
                  <a:srgbClr val="03234B"/>
                </a:solidFill>
                <a:latin typeface="Arial"/>
              </a:rPr>
              <a:t>ThreadX</a:t>
            </a:r>
            <a:endParaRPr lang="en-US" sz="800">
              <a:solidFill>
                <a:srgbClr val="03234B"/>
              </a:solidFill>
              <a:latin typeface="Arial"/>
            </a:endParaRPr>
          </a:p>
        </p:txBody>
      </p:sp>
      <p:sp>
        <p:nvSpPr>
          <p:cNvPr id="12" name="TextBox 11">
            <a:extLst>
              <a:ext uri="{FF2B5EF4-FFF2-40B4-BE49-F238E27FC236}">
                <a16:creationId xmlns:a16="http://schemas.microsoft.com/office/drawing/2014/main" id="{B073EE77-BDFF-A13D-FB95-638DC89EEE96}"/>
              </a:ext>
            </a:extLst>
          </p:cNvPr>
          <p:cNvSpPr txBox="1"/>
          <p:nvPr/>
        </p:nvSpPr>
        <p:spPr>
          <a:xfrm>
            <a:off x="52693" y="5280365"/>
            <a:ext cx="3891171" cy="338554"/>
          </a:xfrm>
          <a:prstGeom prst="rect">
            <a:avLst/>
          </a:prstGeom>
          <a:solidFill>
            <a:srgbClr val="FFFFFF"/>
          </a:solidFill>
        </p:spPr>
        <p:txBody>
          <a:bodyPr wrap="square">
            <a:spAutoFit/>
          </a:bodyPr>
          <a:lstStyle/>
          <a:p>
            <a:pPr marL="171450" indent="-171450">
              <a:buFont typeface="Arial" panose="020B0604020202020204" pitchFamily="34" charset="0"/>
              <a:buChar char="•"/>
              <a:defRPr/>
            </a:pPr>
            <a:r>
              <a:rPr lang="en-US" sz="800">
                <a:solidFill>
                  <a:srgbClr val="03234B"/>
                </a:solidFill>
                <a:latin typeface="Arial"/>
              </a:rPr>
              <a:t>TI MSPM0G3507 board does not support USB peripheral</a:t>
            </a:r>
          </a:p>
          <a:p>
            <a:pPr marL="171450" indent="-171450">
              <a:buFont typeface="Arial" panose="020B0604020202020204" pitchFamily="34" charset="0"/>
              <a:buChar char="•"/>
              <a:defRPr/>
            </a:pPr>
            <a:r>
              <a:rPr lang="en-US" sz="800">
                <a:solidFill>
                  <a:srgbClr val="03234B"/>
                </a:solidFill>
                <a:latin typeface="Arial"/>
              </a:rPr>
              <a:t>NXP does not support </a:t>
            </a:r>
            <a:r>
              <a:rPr lang="en-US" sz="800" err="1">
                <a:solidFill>
                  <a:srgbClr val="03234B"/>
                </a:solidFill>
                <a:latin typeface="Arial"/>
              </a:rPr>
              <a:t>AzureRTOS</a:t>
            </a:r>
            <a:r>
              <a:rPr lang="en-US" sz="800">
                <a:solidFill>
                  <a:srgbClr val="03234B"/>
                </a:solidFill>
                <a:latin typeface="Arial"/>
              </a:rPr>
              <a:t> USBX  </a:t>
            </a:r>
          </a:p>
        </p:txBody>
      </p:sp>
      <p:sp>
        <p:nvSpPr>
          <p:cNvPr id="13" name="TextBox 12">
            <a:extLst>
              <a:ext uri="{FF2B5EF4-FFF2-40B4-BE49-F238E27FC236}">
                <a16:creationId xmlns:a16="http://schemas.microsoft.com/office/drawing/2014/main" id="{260CBE34-10E9-7063-5096-24B9E6DC076E}"/>
              </a:ext>
            </a:extLst>
          </p:cNvPr>
          <p:cNvSpPr txBox="1"/>
          <p:nvPr/>
        </p:nvSpPr>
        <p:spPr>
          <a:xfrm>
            <a:off x="4039580" y="4791287"/>
            <a:ext cx="3181656" cy="461665"/>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3234B"/>
                </a:solidFill>
                <a:effectLst/>
                <a:uLnTx/>
                <a:uFillTx/>
                <a:latin typeface="Arial"/>
                <a:ea typeface="+mn-ea"/>
                <a:cs typeface="+mn-cs"/>
              </a:rPr>
              <a:t> TI software package does not support File System Library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3234B"/>
                </a:solidFill>
                <a:effectLst/>
                <a:uLnTx/>
                <a:uFillTx/>
                <a:latin typeface="Arial"/>
                <a:ea typeface="+mn-ea"/>
                <a:cs typeface="+mn-cs"/>
              </a:rPr>
              <a:t> NXP does not support </a:t>
            </a:r>
            <a:r>
              <a:rPr kumimoji="0" lang="en-US" sz="800" b="0" i="0" u="none" strike="noStrike" kern="1200" cap="none" spc="0" normalizeH="0" baseline="0" noProof="0" dirty="0" err="1">
                <a:ln>
                  <a:noFill/>
                </a:ln>
                <a:solidFill>
                  <a:srgbClr val="03234B"/>
                </a:solidFill>
                <a:effectLst/>
                <a:uLnTx/>
                <a:uFillTx/>
                <a:latin typeface="Arial"/>
                <a:ea typeface="+mn-ea"/>
                <a:cs typeface="+mn-cs"/>
              </a:rPr>
              <a:t>AzureRTOS</a:t>
            </a:r>
            <a:r>
              <a:rPr kumimoji="0" lang="en-US" sz="800" b="0" i="0" u="none" strike="noStrike" kern="1200" cap="none" spc="0" normalizeH="0" baseline="0" noProof="0" dirty="0">
                <a:ln>
                  <a:noFill/>
                </a:ln>
                <a:solidFill>
                  <a:srgbClr val="03234B"/>
                </a:solidFill>
                <a:effectLst/>
                <a:uLnTx/>
                <a:uFillTx/>
                <a:latin typeface="Arial"/>
                <a:ea typeface="+mn-ea"/>
                <a:cs typeface="+mn-cs"/>
              </a:rPr>
              <a:t> FileX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3234B"/>
                </a:solidFill>
                <a:effectLst/>
                <a:uLnTx/>
                <a:uFillTx/>
                <a:latin typeface="Arial"/>
                <a:ea typeface="+mn-ea"/>
                <a:cs typeface="+mn-cs"/>
              </a:rPr>
              <a:t> </a:t>
            </a:r>
          </a:p>
        </p:txBody>
      </p:sp>
      <p:sp>
        <p:nvSpPr>
          <p:cNvPr id="16" name="TextBox 15">
            <a:extLst>
              <a:ext uri="{FF2B5EF4-FFF2-40B4-BE49-F238E27FC236}">
                <a16:creationId xmlns:a16="http://schemas.microsoft.com/office/drawing/2014/main" id="{5D2D6D9F-38B7-2574-BBF4-AB60EAA9E083}"/>
              </a:ext>
            </a:extLst>
          </p:cNvPr>
          <p:cNvSpPr txBox="1"/>
          <p:nvPr/>
        </p:nvSpPr>
        <p:spPr>
          <a:xfrm>
            <a:off x="8001879" y="3466329"/>
            <a:ext cx="324397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464650"/>
                </a:solidFill>
                <a:effectLst/>
                <a:uLnTx/>
                <a:uFillTx/>
                <a:latin typeface="Arial"/>
                <a:ea typeface="+mn-ea"/>
                <a:cs typeface="+mn-cs"/>
              </a:rPr>
              <a:t>AzureRTOS</a:t>
            </a:r>
            <a:r>
              <a:rPr kumimoji="0" lang="en-US" sz="1400" b="0" i="0" u="none" strike="noStrike" kern="1200" cap="none" spc="0" normalizeH="0" baseline="0" noProof="0" dirty="0">
                <a:ln>
                  <a:noFill/>
                </a:ln>
                <a:solidFill>
                  <a:srgbClr val="464650"/>
                </a:solidFill>
                <a:effectLst/>
                <a:uLnTx/>
                <a:uFillTx/>
                <a:latin typeface="Arial"/>
                <a:ea typeface="+mn-ea"/>
                <a:cs typeface="+mn-cs"/>
              </a:rPr>
              <a:t> </a:t>
            </a:r>
            <a:r>
              <a:rPr kumimoji="0" lang="en-US" sz="1400" b="0" i="0" u="none" strike="noStrike" kern="1200" cap="none" spc="0" normalizeH="0" baseline="0" noProof="0" dirty="0" err="1">
                <a:ln>
                  <a:noFill/>
                </a:ln>
                <a:solidFill>
                  <a:srgbClr val="464650"/>
                </a:solidFill>
                <a:effectLst/>
                <a:uLnTx/>
                <a:uFillTx/>
                <a:latin typeface="Arial"/>
                <a:ea typeface="+mn-ea"/>
                <a:cs typeface="+mn-cs"/>
              </a:rPr>
              <a:t>ThreadX</a:t>
            </a:r>
            <a:r>
              <a:rPr kumimoji="0" lang="en-US" sz="1400" b="0" i="0" u="none" strike="noStrike" kern="1200" cap="none" spc="0" normalizeH="0" baseline="0" noProof="0" dirty="0">
                <a:ln>
                  <a:noFill/>
                </a:ln>
                <a:solidFill>
                  <a:srgbClr val="464650"/>
                </a:solidFill>
                <a:effectLst/>
                <a:uLnTx/>
                <a:uFillTx/>
                <a:latin typeface="Arial"/>
                <a:ea typeface="+mn-ea"/>
                <a:cs typeface="+mn-cs"/>
              </a:rPr>
              <a:t> V6.4.0 Footprint</a:t>
            </a:r>
          </a:p>
        </p:txBody>
      </p:sp>
      <p:sp>
        <p:nvSpPr>
          <p:cNvPr id="22" name="TextBox 21">
            <a:extLst>
              <a:ext uri="{FF2B5EF4-FFF2-40B4-BE49-F238E27FC236}">
                <a16:creationId xmlns:a16="http://schemas.microsoft.com/office/drawing/2014/main" id="{FC035918-B897-0C36-1169-BD5CB3FF0EB4}"/>
              </a:ext>
            </a:extLst>
          </p:cNvPr>
          <p:cNvSpPr txBox="1"/>
          <p:nvPr/>
        </p:nvSpPr>
        <p:spPr>
          <a:xfrm>
            <a:off x="4092359" y="3466328"/>
            <a:ext cx="362013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464650"/>
                </a:solidFill>
                <a:effectLst/>
                <a:uLnTx/>
                <a:uFillTx/>
                <a:latin typeface="Arial"/>
                <a:ea typeface="+mn-ea"/>
                <a:cs typeface="+mn-cs"/>
              </a:rPr>
              <a:t>AzureRTOS</a:t>
            </a:r>
            <a:r>
              <a:rPr kumimoji="0" lang="en-US" sz="1400" b="0" i="0" u="none" strike="noStrike" kern="1200" cap="none" spc="0" normalizeH="0" baseline="0" noProof="0" dirty="0">
                <a:ln>
                  <a:noFill/>
                </a:ln>
                <a:solidFill>
                  <a:srgbClr val="464650"/>
                </a:solidFill>
                <a:effectLst/>
                <a:uLnTx/>
                <a:uFillTx/>
                <a:latin typeface="Arial"/>
                <a:ea typeface="+mn-ea"/>
                <a:cs typeface="+mn-cs"/>
              </a:rPr>
              <a:t> FileX V6.4.0 Footprint</a:t>
            </a:r>
          </a:p>
        </p:txBody>
      </p:sp>
      <p:graphicFrame>
        <p:nvGraphicFramePr>
          <p:cNvPr id="24" name="Table 23">
            <a:extLst>
              <a:ext uri="{FF2B5EF4-FFF2-40B4-BE49-F238E27FC236}">
                <a16:creationId xmlns:a16="http://schemas.microsoft.com/office/drawing/2014/main" id="{21073CAE-D67C-0EE3-FF7B-ADF8364785EE}"/>
              </a:ext>
            </a:extLst>
          </p:cNvPr>
          <p:cNvGraphicFramePr>
            <a:graphicFrameLocks noGrp="1"/>
          </p:cNvGraphicFramePr>
          <p:nvPr>
            <p:extLst>
              <p:ext uri="{D42A27DB-BD31-4B8C-83A1-F6EECF244321}">
                <p14:modId xmlns:p14="http://schemas.microsoft.com/office/powerpoint/2010/main" val="864560192"/>
              </p:ext>
            </p:extLst>
          </p:nvPr>
        </p:nvGraphicFramePr>
        <p:xfrm>
          <a:off x="170734" y="1270798"/>
          <a:ext cx="3474359" cy="1279859"/>
        </p:xfrm>
        <a:graphic>
          <a:graphicData uri="http://schemas.openxmlformats.org/drawingml/2006/table">
            <a:tbl>
              <a:tblPr firstRow="1" bandRow="1">
                <a:tableStyleId>{5940675A-B579-460E-94D1-54222C63F5DA}</a:tableStyleId>
              </a:tblPr>
              <a:tblGrid>
                <a:gridCol w="1236245">
                  <a:extLst>
                    <a:ext uri="{9D8B030D-6E8A-4147-A177-3AD203B41FA5}">
                      <a16:colId xmlns:a16="http://schemas.microsoft.com/office/drawing/2014/main" val="368163055"/>
                    </a:ext>
                  </a:extLst>
                </a:gridCol>
                <a:gridCol w="762749">
                  <a:extLst>
                    <a:ext uri="{9D8B030D-6E8A-4147-A177-3AD203B41FA5}">
                      <a16:colId xmlns:a16="http://schemas.microsoft.com/office/drawing/2014/main" val="291297205"/>
                    </a:ext>
                  </a:extLst>
                </a:gridCol>
                <a:gridCol w="687772">
                  <a:extLst>
                    <a:ext uri="{9D8B030D-6E8A-4147-A177-3AD203B41FA5}">
                      <a16:colId xmlns:a16="http://schemas.microsoft.com/office/drawing/2014/main" val="2023152432"/>
                    </a:ext>
                  </a:extLst>
                </a:gridCol>
                <a:gridCol w="787593">
                  <a:extLst>
                    <a:ext uri="{9D8B030D-6E8A-4147-A177-3AD203B41FA5}">
                      <a16:colId xmlns:a16="http://schemas.microsoft.com/office/drawing/2014/main" val="3403882518"/>
                    </a:ext>
                  </a:extLst>
                </a:gridCol>
              </a:tblGrid>
              <a:tr h="274019">
                <a:tc>
                  <a:txBody>
                    <a:bodyPr/>
                    <a:lstStyle/>
                    <a:p>
                      <a:endParaRPr lang="en-US" sz="800" b="1" dirty="0">
                        <a:solidFill>
                          <a:schemeClr val="bg1"/>
                        </a:solidFill>
                      </a:endParaRPr>
                    </a:p>
                  </a:txBody>
                  <a:tcPr>
                    <a:solidFill>
                      <a:schemeClr val="accent1"/>
                    </a:solidFill>
                  </a:tcPr>
                </a:tc>
                <a:tc>
                  <a:txBody>
                    <a:bodyPr/>
                    <a:lstStyle/>
                    <a:p>
                      <a:pPr algn="ctr"/>
                      <a:r>
                        <a:rPr lang="en-US" sz="800" b="1" dirty="0">
                          <a:solidFill>
                            <a:schemeClr val="bg1"/>
                          </a:solidFill>
                        </a:rPr>
                        <a:t>ST vs TI</a:t>
                      </a:r>
                    </a:p>
                  </a:txBody>
                  <a:tcPr>
                    <a:solidFill>
                      <a:schemeClr val="accent1"/>
                    </a:solidFill>
                  </a:tcPr>
                </a:tc>
                <a:tc>
                  <a:txBody>
                    <a:bodyPr/>
                    <a:lstStyle/>
                    <a:p>
                      <a:pPr algn="ctr"/>
                      <a:r>
                        <a:rPr lang="en-US" sz="800" b="1" dirty="0">
                          <a:solidFill>
                            <a:schemeClr val="bg1"/>
                          </a:solidFill>
                        </a:rPr>
                        <a:t>ST vs RA</a:t>
                      </a:r>
                    </a:p>
                  </a:txBody>
                  <a:tcP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chemeClr val="bg1"/>
                          </a:solidFill>
                        </a:rPr>
                        <a:t>ST vs NXP</a:t>
                      </a:r>
                    </a:p>
                  </a:txBody>
                  <a:tcPr>
                    <a:solidFill>
                      <a:schemeClr val="accent1"/>
                    </a:solidFill>
                  </a:tcPr>
                </a:tc>
                <a:extLst>
                  <a:ext uri="{0D108BD9-81ED-4DB2-BD59-A6C34878D82A}">
                    <a16:rowId xmlns:a16="http://schemas.microsoft.com/office/drawing/2014/main" val="149028813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CDC device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(BareMetal)</a:t>
                      </a:r>
                    </a:p>
                  </a:txBody>
                  <a:tcPr>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kern="1200" dirty="0">
                          <a:solidFill>
                            <a:schemeClr val="tx1"/>
                          </a:solidFill>
                          <a:latin typeface="+mn-lt"/>
                          <a:ea typeface="+mn-ea"/>
                          <a:cs typeface="+mn-cs"/>
                        </a:rPr>
                        <a:t>NA</a:t>
                      </a:r>
                      <a:endParaRPr lang="en-US" sz="800" kern="1200"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sz="800" kern="1200" dirty="0">
                        <a:solidFill>
                          <a:schemeClr val="tx1"/>
                        </a:solidFill>
                        <a:latin typeface="+mn-lt"/>
                        <a:ea typeface="+mn-ea"/>
                        <a:cs typeface="+mn-cs"/>
                      </a:endParaRPr>
                    </a:p>
                  </a:txBody>
                  <a:tcPr anchor="ctr">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kern="1200" dirty="0">
                          <a:solidFill>
                            <a:schemeClr val="tx1"/>
                          </a:solidFill>
                          <a:latin typeface="+mn-lt"/>
                          <a:ea typeface="+mn-ea"/>
                          <a:cs typeface="+mn-cs"/>
                        </a:rPr>
                        <a:t>NA</a:t>
                      </a:r>
                      <a:endParaRPr lang="en-US" sz="800" kern="1200"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sz="800" kern="1200" dirty="0">
                        <a:solidFill>
                          <a:schemeClr val="tx1"/>
                        </a:solidFill>
                        <a:latin typeface="+mn-lt"/>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dirty="0">
                          <a:solidFill>
                            <a:srgbClr val="FF0000"/>
                          </a:solidFill>
                        </a:rPr>
                        <a:t>+34%</a:t>
                      </a:r>
                    </a:p>
                  </a:txBody>
                  <a:tcPr>
                    <a:noFill/>
                  </a:tcPr>
                </a:tc>
                <a:extLst>
                  <a:ext uri="{0D108BD9-81ED-4DB2-BD59-A6C34878D82A}">
                    <a16:rowId xmlns:a16="http://schemas.microsoft.com/office/drawing/2014/main" val="400240565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HID Device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(BareMetal)</a:t>
                      </a:r>
                    </a:p>
                  </a:txBody>
                  <a:tcPr>
                    <a:solidFill>
                      <a:schemeClr val="bg1"/>
                    </a:solidFill>
                  </a:tcPr>
                </a:tc>
                <a:tc vMerge="1">
                  <a:txBody>
                    <a:bodyPr/>
                    <a:lstStyle/>
                    <a:p>
                      <a:endParaRPr/>
                    </a:p>
                  </a:txBody>
                  <a:tcP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dirty="0">
                          <a:solidFill>
                            <a:srgbClr val="FF0000"/>
                          </a:solidFill>
                        </a:rPr>
                        <a:t>+21%</a:t>
                      </a:r>
                    </a:p>
                  </a:txBody>
                  <a:tcPr>
                    <a:noFill/>
                  </a:tcPr>
                </a:tc>
                <a:extLst>
                  <a:ext uri="{0D108BD9-81ED-4DB2-BD59-A6C34878D82A}">
                    <a16:rowId xmlns:a16="http://schemas.microsoft.com/office/drawing/2014/main" val="289560463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MSC Host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(BareMetal)</a:t>
                      </a:r>
                    </a:p>
                  </a:txBody>
                  <a:tcPr>
                    <a:solidFill>
                      <a:schemeClr val="bg1"/>
                    </a:solidFill>
                  </a:tcPr>
                </a:tc>
                <a:tc vMerge="1">
                  <a:txBody>
                    <a:bodyPr/>
                    <a:lstStyle/>
                    <a:p>
                      <a:endParaRPr/>
                    </a:p>
                  </a:txBody>
                  <a:tcP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dirty="0">
                          <a:solidFill>
                            <a:srgbClr val="FF0000"/>
                          </a:solidFill>
                        </a:rPr>
                        <a:t>+27%</a:t>
                      </a:r>
                    </a:p>
                  </a:txBody>
                  <a:tcPr>
                    <a:noFill/>
                  </a:tcPr>
                </a:tc>
                <a:extLst>
                  <a:ext uri="{0D108BD9-81ED-4DB2-BD59-A6C34878D82A}">
                    <a16:rowId xmlns:a16="http://schemas.microsoft.com/office/drawing/2014/main" val="3861927294"/>
                  </a:ext>
                </a:extLst>
              </a:tr>
            </a:tbl>
          </a:graphicData>
        </a:graphic>
      </p:graphicFrame>
      <p:sp>
        <p:nvSpPr>
          <p:cNvPr id="26" name="TextBox 25">
            <a:extLst>
              <a:ext uri="{FF2B5EF4-FFF2-40B4-BE49-F238E27FC236}">
                <a16:creationId xmlns:a16="http://schemas.microsoft.com/office/drawing/2014/main" id="{CADF29D2-FA51-A51C-AAE8-AF52C208743F}"/>
              </a:ext>
            </a:extLst>
          </p:cNvPr>
          <p:cNvSpPr txBox="1"/>
          <p:nvPr/>
        </p:nvSpPr>
        <p:spPr>
          <a:xfrm>
            <a:off x="52693" y="3466329"/>
            <a:ext cx="362013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464650"/>
                </a:solidFill>
                <a:effectLst/>
                <a:uLnTx/>
                <a:uFillTx/>
                <a:latin typeface="Arial"/>
                <a:ea typeface="+mn-ea"/>
                <a:cs typeface="+mn-cs"/>
              </a:rPr>
              <a:t>AzureRTOS</a:t>
            </a:r>
            <a:r>
              <a:rPr kumimoji="0" lang="en-US" sz="1400" b="0" i="0" u="none" strike="noStrike" kern="1200" cap="none" spc="0" normalizeH="0" baseline="0" noProof="0" dirty="0">
                <a:ln>
                  <a:noFill/>
                </a:ln>
                <a:solidFill>
                  <a:srgbClr val="464650"/>
                </a:solidFill>
                <a:effectLst/>
                <a:uLnTx/>
                <a:uFillTx/>
                <a:latin typeface="Arial"/>
                <a:ea typeface="+mn-ea"/>
                <a:cs typeface="+mn-cs"/>
              </a:rPr>
              <a:t> USBX V6.4.0 Footprint</a:t>
            </a:r>
          </a:p>
        </p:txBody>
      </p:sp>
      <p:graphicFrame>
        <p:nvGraphicFramePr>
          <p:cNvPr id="27" name="Table 26">
            <a:extLst>
              <a:ext uri="{FF2B5EF4-FFF2-40B4-BE49-F238E27FC236}">
                <a16:creationId xmlns:a16="http://schemas.microsoft.com/office/drawing/2014/main" id="{1C6BB6FB-F0C6-D2D6-591F-B2404FEFD278}"/>
              </a:ext>
            </a:extLst>
          </p:cNvPr>
          <p:cNvGraphicFramePr>
            <a:graphicFrameLocks noGrp="1"/>
          </p:cNvGraphicFramePr>
          <p:nvPr>
            <p:extLst>
              <p:ext uri="{D42A27DB-BD31-4B8C-83A1-F6EECF244321}">
                <p14:modId xmlns:p14="http://schemas.microsoft.com/office/powerpoint/2010/main" val="2748287240"/>
              </p:ext>
            </p:extLst>
          </p:nvPr>
        </p:nvGraphicFramePr>
        <p:xfrm>
          <a:off x="124671" y="3774106"/>
          <a:ext cx="3747215" cy="1279859"/>
        </p:xfrm>
        <a:graphic>
          <a:graphicData uri="http://schemas.openxmlformats.org/drawingml/2006/table">
            <a:tbl>
              <a:tblPr firstRow="1" bandRow="1">
                <a:tableStyleId>{5940675A-B579-460E-94D1-54222C63F5DA}</a:tableStyleId>
              </a:tblPr>
              <a:tblGrid>
                <a:gridCol w="1335794">
                  <a:extLst>
                    <a:ext uri="{9D8B030D-6E8A-4147-A177-3AD203B41FA5}">
                      <a16:colId xmlns:a16="http://schemas.microsoft.com/office/drawing/2014/main" val="368163055"/>
                    </a:ext>
                  </a:extLst>
                </a:gridCol>
                <a:gridCol w="793750">
                  <a:extLst>
                    <a:ext uri="{9D8B030D-6E8A-4147-A177-3AD203B41FA5}">
                      <a16:colId xmlns:a16="http://schemas.microsoft.com/office/drawing/2014/main" val="291297205"/>
                    </a:ext>
                  </a:extLst>
                </a:gridCol>
                <a:gridCol w="730250">
                  <a:extLst>
                    <a:ext uri="{9D8B030D-6E8A-4147-A177-3AD203B41FA5}">
                      <a16:colId xmlns:a16="http://schemas.microsoft.com/office/drawing/2014/main" val="2023152432"/>
                    </a:ext>
                  </a:extLst>
                </a:gridCol>
                <a:gridCol w="887421">
                  <a:extLst>
                    <a:ext uri="{9D8B030D-6E8A-4147-A177-3AD203B41FA5}">
                      <a16:colId xmlns:a16="http://schemas.microsoft.com/office/drawing/2014/main" val="3885779126"/>
                    </a:ext>
                  </a:extLst>
                </a:gridCol>
              </a:tblGrid>
              <a:tr h="274019">
                <a:tc>
                  <a:txBody>
                    <a:bodyPr/>
                    <a:lstStyle/>
                    <a:p>
                      <a:endParaRPr lang="en-US" sz="800" b="1">
                        <a:solidFill>
                          <a:schemeClr val="bg1"/>
                        </a:solidFill>
                      </a:endParaRPr>
                    </a:p>
                  </a:txBody>
                  <a:tcPr>
                    <a:solidFill>
                      <a:schemeClr val="accent1"/>
                    </a:solidFill>
                  </a:tcPr>
                </a:tc>
                <a:tc>
                  <a:txBody>
                    <a:bodyPr/>
                    <a:lstStyle/>
                    <a:p>
                      <a:pPr algn="ctr"/>
                      <a:r>
                        <a:rPr lang="en-US" sz="800" b="1">
                          <a:solidFill>
                            <a:schemeClr val="bg1"/>
                          </a:solidFill>
                        </a:rPr>
                        <a:t>ST vs TI</a:t>
                      </a:r>
                    </a:p>
                  </a:txBody>
                  <a:tcPr>
                    <a:solidFill>
                      <a:schemeClr val="accent1"/>
                    </a:solidFill>
                  </a:tcPr>
                </a:tc>
                <a:tc>
                  <a:txBody>
                    <a:bodyPr/>
                    <a:lstStyle/>
                    <a:p>
                      <a:pPr algn="ctr"/>
                      <a:r>
                        <a:rPr lang="en-US" sz="800" b="1">
                          <a:solidFill>
                            <a:schemeClr val="bg1"/>
                          </a:solidFill>
                        </a:rPr>
                        <a:t>ST vs RA</a:t>
                      </a:r>
                    </a:p>
                  </a:txBody>
                  <a:tcPr>
                    <a:solidFill>
                      <a:schemeClr val="accent1"/>
                    </a:solidFill>
                  </a:tcPr>
                </a:tc>
                <a:tc>
                  <a:txBody>
                    <a:bodyPr/>
                    <a:lstStyle/>
                    <a:p>
                      <a:pPr algn="ctr"/>
                      <a:r>
                        <a:rPr lang="en-US" sz="800" b="1">
                          <a:solidFill>
                            <a:schemeClr val="bg1"/>
                          </a:solidFill>
                        </a:rPr>
                        <a:t>ST vs NXP</a:t>
                      </a:r>
                    </a:p>
                  </a:txBody>
                  <a:tcPr>
                    <a:solidFill>
                      <a:schemeClr val="accent1"/>
                    </a:solidFill>
                  </a:tcPr>
                </a:tc>
                <a:extLst>
                  <a:ext uri="{0D108BD9-81ED-4DB2-BD59-A6C34878D82A}">
                    <a16:rowId xmlns:a16="http://schemas.microsoft.com/office/drawing/2014/main" val="149028813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CDC Device Class (RTOS)</a:t>
                      </a:r>
                    </a:p>
                  </a:txBody>
                  <a:tcPr>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kern="1200" dirty="0">
                          <a:solidFill>
                            <a:schemeClr val="tx1"/>
                          </a:solidFill>
                          <a:latin typeface="+mn-lt"/>
                          <a:ea typeface="+mn-ea"/>
                          <a:cs typeface="+mn-cs"/>
                        </a:rPr>
                        <a:t>NA</a:t>
                      </a:r>
                      <a:endParaRPr lang="en-US" sz="800" kern="1200" dirty="0">
                        <a:solidFill>
                          <a:schemeClr val="tx1"/>
                        </a:solidFill>
                        <a:latin typeface="+mn-lt"/>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dirty="0">
                          <a:solidFill>
                            <a:srgbClr val="00B050"/>
                          </a:solidFill>
                        </a:rPr>
                        <a:t>-</a:t>
                      </a:r>
                      <a:r>
                        <a:rPr lang="en-US" sz="800" b="0" dirty="0">
                          <a:solidFill>
                            <a:schemeClr val="accent5"/>
                          </a:solidFill>
                        </a:rPr>
                        <a:t>51</a:t>
                      </a:r>
                      <a:r>
                        <a:rPr lang="en-US" sz="800" b="0" dirty="0">
                          <a:solidFill>
                            <a:srgbClr val="00B050"/>
                          </a:solidFill>
                        </a:rPr>
                        <a:t>%</a:t>
                      </a:r>
                    </a:p>
                  </a:txBody>
                  <a:tcPr>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kern="1200" dirty="0">
                          <a:solidFill>
                            <a:schemeClr val="tx1"/>
                          </a:solidFill>
                          <a:latin typeface="+mn-lt"/>
                          <a:ea typeface="+mn-ea"/>
                          <a:cs typeface="+mn-cs"/>
                        </a:rPr>
                        <a:t>NA</a:t>
                      </a:r>
                      <a:endParaRPr lang="en-US" sz="800" kern="120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400240565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HID Host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(RTOS)</a:t>
                      </a:r>
                    </a:p>
                  </a:txBody>
                  <a:tcP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rgbClr val="FF0000"/>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dirty="0">
                          <a:solidFill>
                            <a:srgbClr val="00B050"/>
                          </a:solidFill>
                        </a:rPr>
                        <a:t>-</a:t>
                      </a:r>
                      <a:r>
                        <a:rPr lang="en-US" sz="800" b="0" dirty="0">
                          <a:solidFill>
                            <a:schemeClr val="accent5"/>
                          </a:solidFill>
                        </a:rPr>
                        <a:t>40</a:t>
                      </a:r>
                      <a:r>
                        <a:rPr lang="en-US" sz="800" b="0" dirty="0">
                          <a:solidFill>
                            <a:srgbClr val="00B050"/>
                          </a:solidFill>
                        </a:rPr>
                        <a:t>%</a:t>
                      </a:r>
                    </a:p>
                  </a:txBody>
                  <a:tcP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rgbClr val="FF0000"/>
                        </a:solidFill>
                      </a:endParaRPr>
                    </a:p>
                  </a:txBody>
                  <a:tcPr>
                    <a:solidFill>
                      <a:schemeClr val="bg1"/>
                    </a:solidFill>
                  </a:tcPr>
                </a:tc>
                <a:extLst>
                  <a:ext uri="{0D108BD9-81ED-4DB2-BD59-A6C34878D82A}">
                    <a16:rowId xmlns:a16="http://schemas.microsoft.com/office/drawing/2014/main" val="289560463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MSC Host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(RTOS)</a:t>
                      </a:r>
                    </a:p>
                  </a:txBody>
                  <a:tcP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dirty="0">
                          <a:solidFill>
                            <a:srgbClr val="00B050"/>
                          </a:solidFill>
                        </a:rPr>
                        <a:t>-11%</a:t>
                      </a:r>
                    </a:p>
                  </a:txBody>
                  <a:tcP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txBody>
                  <a:tcPr>
                    <a:solidFill>
                      <a:schemeClr val="bg1"/>
                    </a:solidFill>
                  </a:tcPr>
                </a:tc>
                <a:extLst>
                  <a:ext uri="{0D108BD9-81ED-4DB2-BD59-A6C34878D82A}">
                    <a16:rowId xmlns:a16="http://schemas.microsoft.com/office/drawing/2014/main" val="3861927294"/>
                  </a:ext>
                </a:extLst>
              </a:tr>
            </a:tbl>
          </a:graphicData>
        </a:graphic>
      </p:graphicFrame>
      <p:graphicFrame>
        <p:nvGraphicFramePr>
          <p:cNvPr id="29" name="Table 28">
            <a:extLst>
              <a:ext uri="{FF2B5EF4-FFF2-40B4-BE49-F238E27FC236}">
                <a16:creationId xmlns:a16="http://schemas.microsoft.com/office/drawing/2014/main" id="{0E940E56-6F90-E958-4DE5-220833BC4BD5}"/>
              </a:ext>
            </a:extLst>
          </p:cNvPr>
          <p:cNvGraphicFramePr>
            <a:graphicFrameLocks noGrp="1"/>
          </p:cNvGraphicFramePr>
          <p:nvPr>
            <p:extLst>
              <p:ext uri="{D42A27DB-BD31-4B8C-83A1-F6EECF244321}">
                <p14:modId xmlns:p14="http://schemas.microsoft.com/office/powerpoint/2010/main" val="1693301781"/>
              </p:ext>
            </p:extLst>
          </p:nvPr>
        </p:nvGraphicFramePr>
        <p:xfrm>
          <a:off x="4039580" y="1270798"/>
          <a:ext cx="3692303" cy="1097280"/>
        </p:xfrm>
        <a:graphic>
          <a:graphicData uri="http://schemas.openxmlformats.org/drawingml/2006/table">
            <a:tbl>
              <a:tblPr firstRow="1" bandRow="1">
                <a:tableStyleId>{5940675A-B579-460E-94D1-54222C63F5DA}</a:tableStyleId>
              </a:tblPr>
              <a:tblGrid>
                <a:gridCol w="1267982">
                  <a:extLst>
                    <a:ext uri="{9D8B030D-6E8A-4147-A177-3AD203B41FA5}">
                      <a16:colId xmlns:a16="http://schemas.microsoft.com/office/drawing/2014/main" val="368163055"/>
                    </a:ext>
                  </a:extLst>
                </a:gridCol>
                <a:gridCol w="776728">
                  <a:extLst>
                    <a:ext uri="{9D8B030D-6E8A-4147-A177-3AD203B41FA5}">
                      <a16:colId xmlns:a16="http://schemas.microsoft.com/office/drawing/2014/main" val="291297205"/>
                    </a:ext>
                  </a:extLst>
                </a:gridCol>
                <a:gridCol w="823802">
                  <a:extLst>
                    <a:ext uri="{9D8B030D-6E8A-4147-A177-3AD203B41FA5}">
                      <a16:colId xmlns:a16="http://schemas.microsoft.com/office/drawing/2014/main" val="2023152432"/>
                    </a:ext>
                  </a:extLst>
                </a:gridCol>
                <a:gridCol w="823791">
                  <a:extLst>
                    <a:ext uri="{9D8B030D-6E8A-4147-A177-3AD203B41FA5}">
                      <a16:colId xmlns:a16="http://schemas.microsoft.com/office/drawing/2014/main" val="1356639455"/>
                    </a:ext>
                  </a:extLst>
                </a:gridCol>
              </a:tblGrid>
              <a:tr h="274019">
                <a:tc>
                  <a:txBody>
                    <a:bodyPr/>
                    <a:lstStyle/>
                    <a:p>
                      <a:endParaRPr lang="en-US" sz="800" b="1">
                        <a:solidFill>
                          <a:schemeClr val="bg1"/>
                        </a:solidFill>
                      </a:endParaRPr>
                    </a:p>
                  </a:txBody>
                  <a:tcPr>
                    <a:solidFill>
                      <a:schemeClr val="accent1"/>
                    </a:solidFill>
                  </a:tcPr>
                </a:tc>
                <a:tc>
                  <a:txBody>
                    <a:bodyPr/>
                    <a:lstStyle/>
                    <a:p>
                      <a:pPr algn="ctr"/>
                      <a:r>
                        <a:rPr lang="en-US" sz="800" b="1">
                          <a:solidFill>
                            <a:schemeClr val="bg1"/>
                          </a:solidFill>
                        </a:rPr>
                        <a:t>ST vs TI</a:t>
                      </a:r>
                    </a:p>
                  </a:txBody>
                  <a:tcPr>
                    <a:solidFill>
                      <a:schemeClr val="accent1"/>
                    </a:solidFill>
                  </a:tcPr>
                </a:tc>
                <a:tc>
                  <a:txBody>
                    <a:bodyPr/>
                    <a:lstStyle/>
                    <a:p>
                      <a:pPr algn="ctr"/>
                      <a:r>
                        <a:rPr lang="en-US" sz="800" b="1">
                          <a:solidFill>
                            <a:schemeClr val="bg1"/>
                          </a:solidFill>
                        </a:rPr>
                        <a:t>ST vs RA</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bg1"/>
                          </a:solidFill>
                        </a:rPr>
                        <a:t>ST vs NXP</a:t>
                      </a:r>
                    </a:p>
                    <a:p>
                      <a:pPr algn="ctr"/>
                      <a:endParaRPr lang="en-US" sz="800" b="1" dirty="0">
                        <a:solidFill>
                          <a:schemeClr val="bg1"/>
                        </a:solidFill>
                      </a:endParaRPr>
                    </a:p>
                  </a:txBody>
                  <a:tcPr>
                    <a:solidFill>
                      <a:schemeClr val="accent1"/>
                    </a:solidFill>
                  </a:tcPr>
                </a:tc>
                <a:extLst>
                  <a:ext uri="{0D108BD9-81ED-4DB2-BD59-A6C34878D82A}">
                    <a16:rowId xmlns:a16="http://schemas.microsoft.com/office/drawing/2014/main" val="149028813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Internal SRAM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(BareMetal)</a:t>
                      </a:r>
                    </a:p>
                    <a:p>
                      <a:endParaRPr dirty="0"/>
                    </a:p>
                  </a:txBody>
                  <a:tcPr marL="0" marR="0" marT="0" marB="0" anchor="ctr">
                    <a:solidFill>
                      <a:schemeClr val="bg1"/>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kern="1200" dirty="0">
                          <a:solidFill>
                            <a:schemeClr val="tx1"/>
                          </a:solidFill>
                          <a:latin typeface="+mn-lt"/>
                          <a:ea typeface="+mn-ea"/>
                          <a:cs typeface="+mn-cs"/>
                        </a:rPr>
                        <a:t>NA</a:t>
                      </a:r>
                      <a:endParaRPr lang="en-US" sz="800" kern="1200" dirty="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sz="800" kern="1200" dirty="0">
                        <a:solidFill>
                          <a:schemeClr val="tx1"/>
                        </a:solidFill>
                        <a:latin typeface="+mn-lt"/>
                        <a:ea typeface="+mn-ea"/>
                        <a:cs typeface="+mn-cs"/>
                      </a:endParaRPr>
                    </a:p>
                  </a:txBody>
                  <a:tcPr anchor="ctr">
                    <a:solidFill>
                      <a:schemeClr val="bg1"/>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kern="1200" dirty="0">
                          <a:solidFill>
                            <a:schemeClr val="tx1"/>
                          </a:solidFill>
                          <a:latin typeface="+mn-lt"/>
                          <a:ea typeface="+mn-ea"/>
                          <a:cs typeface="+mn-cs"/>
                        </a:rPr>
                        <a:t>Not </a:t>
                      </a:r>
                      <a:r>
                        <a:rPr lang="fr-FR" sz="800" kern="1200" dirty="0" err="1">
                          <a:solidFill>
                            <a:schemeClr val="tx1"/>
                          </a:solidFill>
                          <a:latin typeface="+mn-lt"/>
                          <a:ea typeface="+mn-ea"/>
                          <a:cs typeface="+mn-cs"/>
                        </a:rPr>
                        <a:t>Done</a:t>
                      </a:r>
                      <a:endParaRPr lang="en-US" sz="800" kern="1200" dirty="0">
                        <a:solidFill>
                          <a:schemeClr val="tx1"/>
                        </a:solidFill>
                        <a:latin typeface="+mn-lt"/>
                        <a:ea typeface="+mn-ea"/>
                        <a:cs typeface="+mn-cs"/>
                      </a:endParaRPr>
                    </a:p>
                  </a:txBody>
                  <a:tcPr anchor="c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dirty="0">
                          <a:solidFill>
                            <a:srgbClr val="00B050"/>
                          </a:solidFill>
                        </a:rPr>
                        <a:t>-82%</a:t>
                      </a:r>
                    </a:p>
                  </a:txBody>
                  <a:tcPr marL="0" marR="0" marT="0" marB="0" anchor="ctr">
                    <a:solidFill>
                      <a:schemeClr val="bg1"/>
                    </a:solidFill>
                  </a:tcPr>
                </a:tc>
                <a:extLst>
                  <a:ext uri="{0D108BD9-81ED-4DB2-BD59-A6C34878D82A}">
                    <a16:rowId xmlns:a16="http://schemas.microsoft.com/office/drawing/2014/main" val="400240565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SD card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(BareMetal)</a:t>
                      </a:r>
                    </a:p>
                  </a:txBody>
                  <a:tcPr marL="0" marR="0" marT="0" marB="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rgbClr val="FF0000"/>
                        </a:solidFill>
                      </a:endParaRPr>
                    </a:p>
                  </a:txBody>
                  <a:tcP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txBody>
                  <a:tcP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kern="1200" dirty="0">
                          <a:solidFill>
                            <a:srgbClr val="FF0000"/>
                          </a:solidFill>
                          <a:latin typeface="+mn-lt"/>
                          <a:ea typeface="+mn-ea"/>
                          <a:cs typeface="+mn-cs"/>
                        </a:rPr>
                        <a:t>+4%</a:t>
                      </a:r>
                    </a:p>
                  </a:txBody>
                  <a:tcPr marL="0" marR="0" marT="0" marB="0" anchor="ctr">
                    <a:solidFill>
                      <a:schemeClr val="bg1"/>
                    </a:solidFill>
                  </a:tcPr>
                </a:tc>
                <a:extLst>
                  <a:ext uri="{0D108BD9-81ED-4DB2-BD59-A6C34878D82A}">
                    <a16:rowId xmlns:a16="http://schemas.microsoft.com/office/drawing/2014/main" val="2895604631"/>
                  </a:ext>
                </a:extLst>
              </a:tr>
            </a:tbl>
          </a:graphicData>
        </a:graphic>
      </p:graphicFrame>
      <p:graphicFrame>
        <p:nvGraphicFramePr>
          <p:cNvPr id="30" name="Table 29">
            <a:extLst>
              <a:ext uri="{FF2B5EF4-FFF2-40B4-BE49-F238E27FC236}">
                <a16:creationId xmlns:a16="http://schemas.microsoft.com/office/drawing/2014/main" id="{0CE3F7D2-4B56-77EA-1424-9C4DEE42A126}"/>
              </a:ext>
            </a:extLst>
          </p:cNvPr>
          <p:cNvGraphicFramePr>
            <a:graphicFrameLocks noGrp="1"/>
          </p:cNvGraphicFramePr>
          <p:nvPr>
            <p:extLst>
              <p:ext uri="{D42A27DB-BD31-4B8C-83A1-F6EECF244321}">
                <p14:modId xmlns:p14="http://schemas.microsoft.com/office/powerpoint/2010/main" val="1043607185"/>
              </p:ext>
            </p:extLst>
          </p:nvPr>
        </p:nvGraphicFramePr>
        <p:xfrm>
          <a:off x="8094463" y="1278558"/>
          <a:ext cx="3747215" cy="1300675"/>
        </p:xfrm>
        <a:graphic>
          <a:graphicData uri="http://schemas.openxmlformats.org/drawingml/2006/table">
            <a:tbl>
              <a:tblPr firstRow="1" bandRow="1">
                <a:tableStyleId>{5940675A-B579-460E-94D1-54222C63F5DA}</a:tableStyleId>
              </a:tblPr>
              <a:tblGrid>
                <a:gridCol w="1335794">
                  <a:extLst>
                    <a:ext uri="{9D8B030D-6E8A-4147-A177-3AD203B41FA5}">
                      <a16:colId xmlns:a16="http://schemas.microsoft.com/office/drawing/2014/main" val="368163055"/>
                    </a:ext>
                  </a:extLst>
                </a:gridCol>
                <a:gridCol w="793750">
                  <a:extLst>
                    <a:ext uri="{9D8B030D-6E8A-4147-A177-3AD203B41FA5}">
                      <a16:colId xmlns:a16="http://schemas.microsoft.com/office/drawing/2014/main" val="291297205"/>
                    </a:ext>
                  </a:extLst>
                </a:gridCol>
                <a:gridCol w="730250">
                  <a:extLst>
                    <a:ext uri="{9D8B030D-6E8A-4147-A177-3AD203B41FA5}">
                      <a16:colId xmlns:a16="http://schemas.microsoft.com/office/drawing/2014/main" val="2023152432"/>
                    </a:ext>
                  </a:extLst>
                </a:gridCol>
                <a:gridCol w="887421">
                  <a:extLst>
                    <a:ext uri="{9D8B030D-6E8A-4147-A177-3AD203B41FA5}">
                      <a16:colId xmlns:a16="http://schemas.microsoft.com/office/drawing/2014/main" val="3885779126"/>
                    </a:ext>
                  </a:extLst>
                </a:gridCol>
              </a:tblGrid>
              <a:tr h="294835">
                <a:tc>
                  <a:txBody>
                    <a:bodyPr/>
                    <a:lstStyle/>
                    <a:p>
                      <a:endParaRPr lang="en-US" sz="800" b="1">
                        <a:solidFill>
                          <a:schemeClr val="bg1"/>
                        </a:solidFill>
                      </a:endParaRPr>
                    </a:p>
                  </a:txBody>
                  <a:tcPr>
                    <a:solidFill>
                      <a:schemeClr val="accent1"/>
                    </a:solidFill>
                  </a:tcPr>
                </a:tc>
                <a:tc>
                  <a:txBody>
                    <a:bodyPr/>
                    <a:lstStyle/>
                    <a:p>
                      <a:pPr algn="ctr"/>
                      <a:r>
                        <a:rPr lang="en-US" sz="800" b="1" dirty="0">
                          <a:solidFill>
                            <a:schemeClr val="bg1"/>
                          </a:solidFill>
                        </a:rPr>
                        <a:t>ST vs TI</a:t>
                      </a:r>
                    </a:p>
                  </a:txBody>
                  <a:tcPr>
                    <a:solidFill>
                      <a:schemeClr val="accent1"/>
                    </a:solidFill>
                  </a:tcPr>
                </a:tc>
                <a:tc>
                  <a:txBody>
                    <a:bodyPr/>
                    <a:lstStyle/>
                    <a:p>
                      <a:pPr algn="ctr"/>
                      <a:r>
                        <a:rPr lang="en-US" sz="800" b="1">
                          <a:solidFill>
                            <a:schemeClr val="bg1"/>
                          </a:solidFill>
                        </a:rPr>
                        <a:t>ST vs RA</a:t>
                      </a:r>
                    </a:p>
                  </a:txBody>
                  <a:tcPr>
                    <a:solidFill>
                      <a:schemeClr val="accent1"/>
                    </a:solidFill>
                  </a:tcPr>
                </a:tc>
                <a:tc>
                  <a:txBody>
                    <a:bodyPr/>
                    <a:lstStyle/>
                    <a:p>
                      <a:pPr algn="ctr"/>
                      <a:r>
                        <a:rPr lang="en-US" sz="800" b="1">
                          <a:solidFill>
                            <a:schemeClr val="bg1"/>
                          </a:solidFill>
                        </a:rPr>
                        <a:t>ST vs NXP</a:t>
                      </a:r>
                    </a:p>
                  </a:txBody>
                  <a:tcPr>
                    <a:solidFill>
                      <a:schemeClr val="accent1"/>
                    </a:solidFill>
                  </a:tcPr>
                </a:tc>
                <a:extLst>
                  <a:ext uri="{0D108BD9-81ED-4DB2-BD59-A6C34878D82A}">
                    <a16:rowId xmlns:a16="http://schemas.microsoft.com/office/drawing/2014/main" val="1490288134"/>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Basic Processing Test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rgbClr val="FF0000"/>
                          </a:solidFill>
                        </a:rPr>
                        <a:t>+17%</a:t>
                      </a:r>
                      <a:endParaRPr lang="en-US" sz="800" dirty="0">
                        <a:solidFill>
                          <a:srgbClr val="FF0000"/>
                        </a:solidFill>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rgbClr val="00B050"/>
                          </a:solidFill>
                        </a:rPr>
                        <a:t>-68%</a:t>
                      </a:r>
                      <a:endParaRPr lang="en-US" sz="800" dirty="0">
                        <a:solidFill>
                          <a:srgbClr val="00B050"/>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rgbClr val="00B050"/>
                          </a:solidFill>
                        </a:rPr>
                        <a:t>-2%</a:t>
                      </a:r>
                      <a:endParaRPr lang="en-US" sz="800" dirty="0">
                        <a:solidFill>
                          <a:srgbClr val="00B050"/>
                        </a:solidFill>
                      </a:endParaRPr>
                    </a:p>
                  </a:txBody>
                  <a:tcPr>
                    <a:solidFill>
                      <a:schemeClr val="bg1"/>
                    </a:solidFill>
                  </a:tcPr>
                </a:tc>
                <a:extLst>
                  <a:ext uri="{0D108BD9-81ED-4DB2-BD59-A6C34878D82A}">
                    <a16:rowId xmlns:a16="http://schemas.microsoft.com/office/drawing/2014/main" val="4002405651"/>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chemeClr val="accent1"/>
                          </a:solidFill>
                        </a:rPr>
                        <a:t>Cooperative Processing Test</a:t>
                      </a:r>
                      <a:endParaRPr lang="en-US" sz="800" dirty="0">
                        <a:solidFill>
                          <a:schemeClr val="accent1"/>
                        </a:solidFill>
                      </a:endParaRPr>
                    </a:p>
                  </a:txBody>
                  <a:tcPr>
                    <a:solidFill>
                      <a:schemeClr val="bg1"/>
                    </a:solidFill>
                  </a:tcPr>
                </a:tc>
                <a:tc>
                  <a:txBody>
                    <a:bodyPr/>
                    <a:lstStyle/>
                    <a:p>
                      <a:pPr algn="ctr"/>
                      <a:r>
                        <a:rPr lang="fr-FR" sz="800" dirty="0">
                          <a:solidFill>
                            <a:srgbClr val="FF0000"/>
                          </a:solidFill>
                        </a:rPr>
                        <a:t>+13%</a:t>
                      </a:r>
                      <a:endParaRPr lang="en-US" sz="800" dirty="0">
                        <a:solidFill>
                          <a:srgbClr val="FF0000"/>
                        </a:solidFill>
                      </a:endParaRPr>
                    </a:p>
                  </a:txBody>
                  <a:tcPr>
                    <a:noFill/>
                  </a:tcPr>
                </a:tc>
                <a:tc>
                  <a:txBody>
                    <a:bodyPr/>
                    <a:lstStyle/>
                    <a:p>
                      <a:pPr algn="ctr"/>
                      <a:r>
                        <a:rPr lang="fr-FR" sz="800" dirty="0">
                          <a:solidFill>
                            <a:srgbClr val="00B050"/>
                          </a:solidFill>
                        </a:rPr>
                        <a:t>-41%</a:t>
                      </a:r>
                      <a:endParaRPr lang="en-US" sz="800" dirty="0">
                        <a:solidFill>
                          <a:srgbClr val="00B050"/>
                        </a:solidFill>
                      </a:endParaRPr>
                    </a:p>
                  </a:txBody>
                  <a:tcPr>
                    <a:solidFill>
                      <a:schemeClr val="bg1"/>
                    </a:solidFill>
                  </a:tcPr>
                </a:tc>
                <a:tc>
                  <a:txBody>
                    <a:bodyPr/>
                    <a:lstStyle/>
                    <a:p>
                      <a:pPr algn="ctr"/>
                      <a:r>
                        <a:rPr lang="fr-FR" sz="800" dirty="0">
                          <a:solidFill>
                            <a:srgbClr val="FF0000"/>
                          </a:solidFill>
                        </a:rPr>
                        <a:t>+6%</a:t>
                      </a:r>
                      <a:endParaRPr lang="en-US" sz="800" dirty="0">
                        <a:solidFill>
                          <a:srgbClr val="FF0000"/>
                        </a:solidFill>
                      </a:endParaRPr>
                    </a:p>
                  </a:txBody>
                  <a:tcPr>
                    <a:solidFill>
                      <a:schemeClr val="bg1"/>
                    </a:solidFill>
                  </a:tcPr>
                </a:tc>
                <a:extLst>
                  <a:ext uri="{0D108BD9-81ED-4DB2-BD59-A6C34878D82A}">
                    <a16:rowId xmlns:a16="http://schemas.microsoft.com/office/drawing/2014/main" val="2895604631"/>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Preemptive Processing Test</a:t>
                      </a:r>
                      <a:endParaRPr lang="en-US" dirty="0"/>
                    </a:p>
                  </a:txBody>
                  <a:tcPr>
                    <a:solidFill>
                      <a:schemeClr val="bg1"/>
                    </a:solidFill>
                  </a:tcPr>
                </a:tc>
                <a:tc>
                  <a:txBody>
                    <a:bodyPr/>
                    <a:lstStyle/>
                    <a:p>
                      <a:pPr algn="ctr"/>
                      <a:r>
                        <a:rPr lang="fr-FR" sz="800" dirty="0">
                          <a:solidFill>
                            <a:srgbClr val="FF0000"/>
                          </a:solidFill>
                        </a:rPr>
                        <a:t>+15%</a:t>
                      </a:r>
                      <a:endParaRPr lang="en-US" sz="800" dirty="0">
                        <a:solidFill>
                          <a:srgbClr val="FF0000"/>
                        </a:solidFill>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dirty="0">
                          <a:solidFill>
                            <a:schemeClr val="accent5"/>
                          </a:solidFill>
                          <a:effectLst/>
                          <a:latin typeface="+mn-lt"/>
                          <a:ea typeface="+mn-ea"/>
                          <a:cs typeface="+mn-cs"/>
                        </a:rPr>
                        <a:t>-73%</a:t>
                      </a:r>
                    </a:p>
                  </a:txBody>
                  <a:tcPr>
                    <a:solidFill>
                      <a:schemeClr val="bg1"/>
                    </a:solidFill>
                  </a:tcPr>
                </a:tc>
                <a:tc>
                  <a:txBody>
                    <a:bodyPr/>
                    <a:lstStyle/>
                    <a:p>
                      <a:pPr algn="ctr"/>
                      <a:r>
                        <a:rPr lang="fr-FR" sz="800" dirty="0">
                          <a:solidFill>
                            <a:srgbClr val="FF0000"/>
                          </a:solidFill>
                        </a:rPr>
                        <a:t>+8%</a:t>
                      </a:r>
                      <a:endParaRPr lang="en-US" sz="800" dirty="0">
                        <a:solidFill>
                          <a:srgbClr val="FF0000"/>
                        </a:solidFill>
                      </a:endParaRPr>
                    </a:p>
                  </a:txBody>
                  <a:tcPr>
                    <a:solidFill>
                      <a:schemeClr val="bg1"/>
                    </a:solidFill>
                  </a:tcPr>
                </a:tc>
                <a:extLst>
                  <a:ext uri="{0D108BD9-81ED-4DB2-BD59-A6C34878D82A}">
                    <a16:rowId xmlns:a16="http://schemas.microsoft.com/office/drawing/2014/main" val="3861927294"/>
                  </a:ext>
                </a:extLst>
              </a:tr>
            </a:tbl>
          </a:graphicData>
        </a:graphic>
      </p:graphicFrame>
      <p:graphicFrame>
        <p:nvGraphicFramePr>
          <p:cNvPr id="31" name="Table 30">
            <a:extLst>
              <a:ext uri="{FF2B5EF4-FFF2-40B4-BE49-F238E27FC236}">
                <a16:creationId xmlns:a16="http://schemas.microsoft.com/office/drawing/2014/main" id="{25094454-CB8C-F71D-FB57-51EE5215FFBD}"/>
              </a:ext>
            </a:extLst>
          </p:cNvPr>
          <p:cNvGraphicFramePr>
            <a:graphicFrameLocks noGrp="1"/>
          </p:cNvGraphicFramePr>
          <p:nvPr>
            <p:extLst>
              <p:ext uri="{D42A27DB-BD31-4B8C-83A1-F6EECF244321}">
                <p14:modId xmlns:p14="http://schemas.microsoft.com/office/powerpoint/2010/main" val="2370972516"/>
              </p:ext>
            </p:extLst>
          </p:nvPr>
        </p:nvGraphicFramePr>
        <p:xfrm>
          <a:off x="8094463" y="3774106"/>
          <a:ext cx="3747215" cy="1279859"/>
        </p:xfrm>
        <a:graphic>
          <a:graphicData uri="http://schemas.openxmlformats.org/drawingml/2006/table">
            <a:tbl>
              <a:tblPr firstRow="1" bandRow="1">
                <a:tableStyleId>{5940675A-B579-460E-94D1-54222C63F5DA}</a:tableStyleId>
              </a:tblPr>
              <a:tblGrid>
                <a:gridCol w="1335794">
                  <a:extLst>
                    <a:ext uri="{9D8B030D-6E8A-4147-A177-3AD203B41FA5}">
                      <a16:colId xmlns:a16="http://schemas.microsoft.com/office/drawing/2014/main" val="368163055"/>
                    </a:ext>
                  </a:extLst>
                </a:gridCol>
                <a:gridCol w="793750">
                  <a:extLst>
                    <a:ext uri="{9D8B030D-6E8A-4147-A177-3AD203B41FA5}">
                      <a16:colId xmlns:a16="http://schemas.microsoft.com/office/drawing/2014/main" val="291297205"/>
                    </a:ext>
                  </a:extLst>
                </a:gridCol>
                <a:gridCol w="730250">
                  <a:extLst>
                    <a:ext uri="{9D8B030D-6E8A-4147-A177-3AD203B41FA5}">
                      <a16:colId xmlns:a16="http://schemas.microsoft.com/office/drawing/2014/main" val="2023152432"/>
                    </a:ext>
                  </a:extLst>
                </a:gridCol>
                <a:gridCol w="887421">
                  <a:extLst>
                    <a:ext uri="{9D8B030D-6E8A-4147-A177-3AD203B41FA5}">
                      <a16:colId xmlns:a16="http://schemas.microsoft.com/office/drawing/2014/main" val="3885779126"/>
                    </a:ext>
                  </a:extLst>
                </a:gridCol>
              </a:tblGrid>
              <a:tr h="274019">
                <a:tc>
                  <a:txBody>
                    <a:bodyPr/>
                    <a:lstStyle/>
                    <a:p>
                      <a:endParaRPr lang="en-US" sz="800" b="1">
                        <a:solidFill>
                          <a:schemeClr val="bg1"/>
                        </a:solidFill>
                      </a:endParaRPr>
                    </a:p>
                  </a:txBody>
                  <a:tcPr>
                    <a:solidFill>
                      <a:schemeClr val="accent1"/>
                    </a:solidFill>
                  </a:tcPr>
                </a:tc>
                <a:tc>
                  <a:txBody>
                    <a:bodyPr/>
                    <a:lstStyle/>
                    <a:p>
                      <a:pPr algn="ctr"/>
                      <a:r>
                        <a:rPr lang="en-US" sz="800" b="1">
                          <a:solidFill>
                            <a:schemeClr val="bg1"/>
                          </a:solidFill>
                        </a:rPr>
                        <a:t>ST vs TI</a:t>
                      </a:r>
                    </a:p>
                  </a:txBody>
                  <a:tcPr>
                    <a:solidFill>
                      <a:schemeClr val="accent1"/>
                    </a:solidFill>
                  </a:tcPr>
                </a:tc>
                <a:tc>
                  <a:txBody>
                    <a:bodyPr/>
                    <a:lstStyle/>
                    <a:p>
                      <a:pPr algn="ctr"/>
                      <a:r>
                        <a:rPr lang="en-US" sz="800" b="1">
                          <a:solidFill>
                            <a:schemeClr val="bg1"/>
                          </a:solidFill>
                        </a:rPr>
                        <a:t>ST vs RA</a:t>
                      </a:r>
                    </a:p>
                  </a:txBody>
                  <a:tcPr>
                    <a:solidFill>
                      <a:schemeClr val="accent1"/>
                    </a:solidFill>
                  </a:tcPr>
                </a:tc>
                <a:tc>
                  <a:txBody>
                    <a:bodyPr/>
                    <a:lstStyle/>
                    <a:p>
                      <a:pPr algn="ctr"/>
                      <a:r>
                        <a:rPr lang="en-US" sz="800" b="1">
                          <a:solidFill>
                            <a:schemeClr val="bg1"/>
                          </a:solidFill>
                        </a:rPr>
                        <a:t>ST vs NXP</a:t>
                      </a:r>
                    </a:p>
                  </a:txBody>
                  <a:tcPr>
                    <a:solidFill>
                      <a:schemeClr val="accent1"/>
                    </a:solidFill>
                  </a:tcPr>
                </a:tc>
                <a:extLst>
                  <a:ext uri="{0D108BD9-81ED-4DB2-BD59-A6C34878D82A}">
                    <a16:rowId xmlns:a16="http://schemas.microsoft.com/office/drawing/2014/main" val="1490288134"/>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Basic Processing Test</a:t>
                      </a:r>
                    </a:p>
                  </a:txBody>
                  <a:tcPr>
                    <a:solidFill>
                      <a:schemeClr val="bg1"/>
                    </a:solidFill>
                  </a:tcPr>
                </a:tc>
                <a:tc rowSpan="3">
                  <a:txBody>
                    <a:bodyPr/>
                    <a:lstStyle/>
                    <a:p>
                      <a:pPr algn="ctr"/>
                      <a:r>
                        <a:rPr lang="en-US" sz="800" kern="1200" dirty="0">
                          <a:solidFill>
                            <a:schemeClr val="tx1"/>
                          </a:solidFill>
                          <a:latin typeface="+mn-lt"/>
                          <a:ea typeface="+mn-ea"/>
                          <a:cs typeface="+mn-cs"/>
                        </a:rPr>
                        <a:t>NA</a:t>
                      </a:r>
                      <a:endParaRPr sz="800" kern="1200" dirty="0">
                        <a:solidFill>
                          <a:schemeClr val="tx1"/>
                        </a:solidFill>
                        <a:latin typeface="+mn-lt"/>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rgbClr val="00B050"/>
                          </a:solidFill>
                        </a:rPr>
                        <a:t>-45%</a:t>
                      </a:r>
                      <a:endParaRPr lang="en-US" sz="800" dirty="0">
                        <a:solidFill>
                          <a:srgbClr val="00B050"/>
                        </a:solidFill>
                      </a:endParaRPr>
                    </a:p>
                  </a:txBody>
                  <a:tcPr>
                    <a:solidFill>
                      <a:schemeClr val="bg1"/>
                    </a:solidFill>
                  </a:tcPr>
                </a:tc>
                <a:tc rowSpan="3">
                  <a:txBody>
                    <a:bodyPr/>
                    <a:lstStyle/>
                    <a:p>
                      <a:pPr marL="0" algn="ctr" defTabSz="914400" rtl="0" eaLnBrk="1" latinLnBrk="0" hangingPunct="1"/>
                      <a:r>
                        <a:rPr lang="en-US" sz="800" kern="1200" dirty="0">
                          <a:solidFill>
                            <a:schemeClr val="tx1"/>
                          </a:solidFill>
                          <a:latin typeface="+mn-lt"/>
                          <a:ea typeface="+mn-ea"/>
                          <a:cs typeface="+mn-cs"/>
                        </a:rPr>
                        <a:t>NA</a:t>
                      </a:r>
                      <a:endParaRPr sz="800" kern="120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4002405651"/>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chemeClr val="accent1"/>
                          </a:solidFill>
                        </a:rPr>
                        <a:t>Cooperative Processing Test</a:t>
                      </a:r>
                      <a:endParaRPr lang="en-US" sz="800" dirty="0">
                        <a:solidFill>
                          <a:schemeClr val="accent1"/>
                        </a:solidFill>
                      </a:endParaRPr>
                    </a:p>
                  </a:txBody>
                  <a:tcPr>
                    <a:solidFill>
                      <a:schemeClr val="bg1"/>
                    </a:solidFill>
                  </a:tcPr>
                </a:tc>
                <a:tc vMerge="1">
                  <a:txBody>
                    <a:bodyPr/>
                    <a:lstStyle/>
                    <a:p>
                      <a:pPr algn="ctr"/>
                      <a:endParaRPr lang="en-US" sz="800">
                        <a:solidFill>
                          <a:schemeClr val="tx1"/>
                        </a:solidFill>
                      </a:endParaRPr>
                    </a:p>
                  </a:txBody>
                  <a:tcPr>
                    <a:solidFill>
                      <a:schemeClr val="bg1"/>
                    </a:solidFill>
                  </a:tcPr>
                </a:tc>
                <a:tc>
                  <a:txBody>
                    <a:bodyPr/>
                    <a:lstStyle/>
                    <a:p>
                      <a:pPr algn="ctr"/>
                      <a:r>
                        <a:rPr lang="fr-FR" sz="800" dirty="0">
                          <a:solidFill>
                            <a:srgbClr val="00B050"/>
                          </a:solidFill>
                        </a:rPr>
                        <a:t>-46%</a:t>
                      </a:r>
                      <a:endParaRPr lang="en-US" sz="800" dirty="0">
                        <a:solidFill>
                          <a:srgbClr val="00B050"/>
                        </a:solidFill>
                      </a:endParaRPr>
                    </a:p>
                  </a:txBody>
                  <a:tcPr>
                    <a:solidFill>
                      <a:schemeClr val="bg1"/>
                    </a:solidFill>
                  </a:tcPr>
                </a:tc>
                <a:tc vMerge="1">
                  <a:txBody>
                    <a:bodyPr/>
                    <a:lstStyle/>
                    <a:p>
                      <a:pPr algn="ctr"/>
                      <a:endParaRPr lang="en-US" sz="800">
                        <a:solidFill>
                          <a:schemeClr val="tx1"/>
                        </a:solidFill>
                      </a:endParaRPr>
                    </a:p>
                  </a:txBody>
                  <a:tcPr>
                    <a:solidFill>
                      <a:schemeClr val="bg1"/>
                    </a:solidFill>
                  </a:tcPr>
                </a:tc>
                <a:extLst>
                  <a:ext uri="{0D108BD9-81ED-4DB2-BD59-A6C34878D82A}">
                    <a16:rowId xmlns:a16="http://schemas.microsoft.com/office/drawing/2014/main" val="2895604631"/>
                  </a:ext>
                </a:extLst>
              </a:tr>
              <a:tr h="335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Preemptive Processing Test</a:t>
                      </a:r>
                      <a:endParaRPr lang="en-US" dirty="0"/>
                    </a:p>
                  </a:txBody>
                  <a:tcPr>
                    <a:solidFill>
                      <a:schemeClr val="bg1"/>
                    </a:solidFill>
                  </a:tcPr>
                </a:tc>
                <a:tc vMerge="1">
                  <a:txBody>
                    <a:bodyPr/>
                    <a:lstStyle/>
                    <a:p>
                      <a:pPr algn="ctr"/>
                      <a:endParaRPr lang="en-US" sz="80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kern="1200" dirty="0">
                          <a:solidFill>
                            <a:schemeClr val="accent5"/>
                          </a:solidFill>
                          <a:effectLst/>
                          <a:latin typeface="+mn-lt"/>
                          <a:ea typeface="+mn-ea"/>
                          <a:cs typeface="+mn-cs"/>
                        </a:rPr>
                        <a:t>-45%</a:t>
                      </a:r>
                    </a:p>
                  </a:txBody>
                  <a:tcPr>
                    <a:solidFill>
                      <a:schemeClr val="bg1"/>
                    </a:solidFill>
                  </a:tcPr>
                </a:tc>
                <a:tc vMerge="1">
                  <a:txBody>
                    <a:bodyPr/>
                    <a:lstStyle/>
                    <a:p>
                      <a:pPr algn="ctr"/>
                      <a:endParaRPr lang="en-US" sz="800">
                        <a:solidFill>
                          <a:schemeClr val="tx1"/>
                        </a:solidFill>
                      </a:endParaRPr>
                    </a:p>
                  </a:txBody>
                  <a:tcPr>
                    <a:solidFill>
                      <a:schemeClr val="bg1"/>
                    </a:solidFill>
                  </a:tcPr>
                </a:tc>
                <a:extLst>
                  <a:ext uri="{0D108BD9-81ED-4DB2-BD59-A6C34878D82A}">
                    <a16:rowId xmlns:a16="http://schemas.microsoft.com/office/drawing/2014/main" val="3861927294"/>
                  </a:ext>
                </a:extLst>
              </a:tr>
            </a:tbl>
          </a:graphicData>
        </a:graphic>
      </p:graphicFrame>
      <p:sp>
        <p:nvSpPr>
          <p:cNvPr id="34" name="TextBox 33">
            <a:extLst>
              <a:ext uri="{FF2B5EF4-FFF2-40B4-BE49-F238E27FC236}">
                <a16:creationId xmlns:a16="http://schemas.microsoft.com/office/drawing/2014/main" id="{CF7A6671-1FF4-1AA1-957E-2F0805EE6745}"/>
              </a:ext>
            </a:extLst>
          </p:cNvPr>
          <p:cNvSpPr txBox="1"/>
          <p:nvPr/>
        </p:nvSpPr>
        <p:spPr>
          <a:xfrm>
            <a:off x="148549" y="2558422"/>
            <a:ext cx="2955640" cy="215444"/>
          </a:xfrm>
          <a:prstGeom prst="rect">
            <a:avLst/>
          </a:prstGeom>
          <a:solidFill>
            <a:srgbClr val="FFFFFF"/>
          </a:solid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3234B"/>
                </a:solidFill>
                <a:effectLst/>
                <a:uLnTx/>
                <a:uFillTx/>
                <a:latin typeface="Arial"/>
                <a:ea typeface="+mn-ea"/>
                <a:cs typeface="+mn-cs"/>
              </a:rPr>
              <a:t>TI MSPM0G3507 board does not support USB peripheral</a:t>
            </a:r>
          </a:p>
        </p:txBody>
      </p:sp>
      <p:sp>
        <p:nvSpPr>
          <p:cNvPr id="35" name="TextBox 34">
            <a:extLst>
              <a:ext uri="{FF2B5EF4-FFF2-40B4-BE49-F238E27FC236}">
                <a16:creationId xmlns:a16="http://schemas.microsoft.com/office/drawing/2014/main" id="{B46B873B-01B7-82DB-7A59-ACAE604BED5B}"/>
              </a:ext>
            </a:extLst>
          </p:cNvPr>
          <p:cNvSpPr txBox="1"/>
          <p:nvPr/>
        </p:nvSpPr>
        <p:spPr>
          <a:xfrm>
            <a:off x="4052076" y="2379166"/>
            <a:ext cx="2955640" cy="215444"/>
          </a:xfrm>
          <a:prstGeom prst="rect">
            <a:avLst/>
          </a:prstGeom>
          <a:solidFill>
            <a:srgbClr val="FFFFFF"/>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3234B"/>
                </a:solidFill>
                <a:effectLst/>
                <a:uLnTx/>
                <a:uFillTx/>
                <a:latin typeface="Arial"/>
                <a:ea typeface="+mn-ea"/>
                <a:cs typeface="+mn-cs"/>
              </a:rPr>
              <a:t>* TI software package does not support File System Library</a:t>
            </a:r>
          </a:p>
        </p:txBody>
      </p:sp>
      <p:sp>
        <p:nvSpPr>
          <p:cNvPr id="3" name="Oval 2">
            <a:extLst>
              <a:ext uri="{FF2B5EF4-FFF2-40B4-BE49-F238E27FC236}">
                <a16:creationId xmlns:a16="http://schemas.microsoft.com/office/drawing/2014/main" id="{6752F2EA-5808-3EAB-F48F-0D865CED4C1F}"/>
              </a:ext>
            </a:extLst>
          </p:cNvPr>
          <p:cNvSpPr/>
          <p:nvPr/>
        </p:nvSpPr>
        <p:spPr>
          <a:xfrm>
            <a:off x="10341620" y="1565883"/>
            <a:ext cx="457200" cy="954855"/>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37114AA-30B5-C8CF-1221-64C4CDE04C60}"/>
              </a:ext>
            </a:extLst>
          </p:cNvPr>
          <p:cNvSpPr txBox="1"/>
          <p:nvPr/>
        </p:nvSpPr>
        <p:spPr>
          <a:xfrm>
            <a:off x="8046817" y="3026412"/>
            <a:ext cx="3747215" cy="338554"/>
          </a:xfrm>
          <a:prstGeom prst="rect">
            <a:avLst/>
          </a:prstGeom>
          <a:noFill/>
        </p:spPr>
        <p:txBody>
          <a:bodyPr wrap="square" rtlCol="0">
            <a:spAutoFit/>
          </a:bodyPr>
          <a:lstStyle/>
          <a:p>
            <a:r>
              <a:rPr lang="en-US" sz="800" dirty="0">
                <a:solidFill>
                  <a:srgbClr val="00B050"/>
                </a:solidFill>
              </a:rPr>
              <a:t>Renesas uses more complex structures in HAL&amp;RM layers and sets more data variables, which improves code readability but increases RAM usage.</a:t>
            </a:r>
          </a:p>
        </p:txBody>
      </p:sp>
      <p:cxnSp>
        <p:nvCxnSpPr>
          <p:cNvPr id="10" name="Connector: Curved 9">
            <a:extLst>
              <a:ext uri="{FF2B5EF4-FFF2-40B4-BE49-F238E27FC236}">
                <a16:creationId xmlns:a16="http://schemas.microsoft.com/office/drawing/2014/main" id="{CAC10204-A831-6187-0A69-571F9EE9BC52}"/>
              </a:ext>
            </a:extLst>
          </p:cNvPr>
          <p:cNvCxnSpPr>
            <a:cxnSpLocks/>
            <a:stCxn id="5" idx="0"/>
            <a:endCxn id="3" idx="4"/>
          </p:cNvCxnSpPr>
          <p:nvPr/>
        </p:nvCxnSpPr>
        <p:spPr>
          <a:xfrm rot="5400000" flipH="1" flipV="1">
            <a:off x="9992485" y="2448678"/>
            <a:ext cx="505674" cy="649795"/>
          </a:xfrm>
          <a:prstGeom prst="curvedConnector3">
            <a:avLst>
              <a:gd name="adj1" fmla="val 50000"/>
            </a:avLst>
          </a:prstGeom>
          <a:ln>
            <a:tailEnd type="triangle"/>
          </a:ln>
        </p:spPr>
        <p:style>
          <a:lnRef idx="1">
            <a:schemeClr val="accent5"/>
          </a:lnRef>
          <a:fillRef idx="0">
            <a:schemeClr val="accent5"/>
          </a:fillRef>
          <a:effectRef idx="0">
            <a:schemeClr val="accent5"/>
          </a:effectRef>
          <a:fontRef idx="minor">
            <a:schemeClr val="tx1"/>
          </a:fontRef>
        </p:style>
      </p:cxnSp>
      <p:sp>
        <p:nvSpPr>
          <p:cNvPr id="15" name="TextBox 14">
            <a:extLst>
              <a:ext uri="{FF2B5EF4-FFF2-40B4-BE49-F238E27FC236}">
                <a16:creationId xmlns:a16="http://schemas.microsoft.com/office/drawing/2014/main" id="{E5CCFD3E-B992-6BD0-4CA2-807007DB8D1F}"/>
              </a:ext>
            </a:extLst>
          </p:cNvPr>
          <p:cNvSpPr txBox="1"/>
          <p:nvPr/>
        </p:nvSpPr>
        <p:spPr>
          <a:xfrm>
            <a:off x="5822420" y="2481067"/>
            <a:ext cx="2110995" cy="338554"/>
          </a:xfrm>
          <a:prstGeom prst="rect">
            <a:avLst/>
          </a:prstGeom>
          <a:noFill/>
        </p:spPr>
        <p:txBody>
          <a:bodyPr wrap="square">
            <a:spAutoFit/>
          </a:bodyPr>
          <a:lstStyle/>
          <a:p>
            <a:r>
              <a:rPr lang="en-US" altLang="en-US" sz="800" b="1" dirty="0">
                <a:solidFill>
                  <a:srgbClr val="00B050"/>
                </a:solidFill>
              </a:rPr>
              <a:t>NXP’s </a:t>
            </a:r>
            <a:r>
              <a:rPr lang="en-US" altLang="en-US" sz="800" b="1" dirty="0" err="1">
                <a:solidFill>
                  <a:srgbClr val="00B050"/>
                </a:solidFill>
              </a:rPr>
              <a:t>fsl_ram_disk.h</a:t>
            </a:r>
            <a:r>
              <a:rPr lang="en-US" altLang="en-US" sz="800" b="1" dirty="0">
                <a:solidFill>
                  <a:srgbClr val="00B050"/>
                </a:solidFill>
              </a:rPr>
              <a:t> </a:t>
            </a:r>
            <a:r>
              <a:rPr lang="en-US" altLang="en-US" sz="800" dirty="0">
                <a:solidFill>
                  <a:srgbClr val="00B050"/>
                </a:solidFill>
              </a:rPr>
              <a:t>allocate max RAM size for buffer</a:t>
            </a:r>
            <a:r>
              <a:rPr lang="en-US" altLang="en-US" sz="800" b="1" dirty="0">
                <a:solidFill>
                  <a:srgbClr val="00B050"/>
                </a:solidFill>
              </a:rPr>
              <a:t> </a:t>
            </a:r>
            <a:r>
              <a:rPr lang="en-US" altLang="en-US" sz="800" b="1" dirty="0" err="1">
                <a:solidFill>
                  <a:srgbClr val="00B050"/>
                </a:solidFill>
              </a:rPr>
              <a:t>disk_space</a:t>
            </a:r>
            <a:r>
              <a:rPr lang="en-US" altLang="en-US" sz="800" b="1" dirty="0">
                <a:solidFill>
                  <a:srgbClr val="00B050"/>
                </a:solidFill>
              </a:rPr>
              <a:t> (</a:t>
            </a:r>
            <a:r>
              <a:rPr lang="en-US" altLang="en-US" sz="800" dirty="0">
                <a:solidFill>
                  <a:srgbClr val="00B050"/>
                </a:solidFill>
              </a:rPr>
              <a:t>95 KB)</a:t>
            </a:r>
            <a:endParaRPr lang="en-US" sz="800" dirty="0">
              <a:solidFill>
                <a:srgbClr val="00B050"/>
              </a:solidFill>
            </a:endParaRPr>
          </a:p>
        </p:txBody>
      </p:sp>
      <p:sp>
        <p:nvSpPr>
          <p:cNvPr id="17" name="Oval 16">
            <a:extLst>
              <a:ext uri="{FF2B5EF4-FFF2-40B4-BE49-F238E27FC236}">
                <a16:creationId xmlns:a16="http://schemas.microsoft.com/office/drawing/2014/main" id="{09B7D0F6-22F9-5810-B26F-548DC64A4E8C}"/>
              </a:ext>
            </a:extLst>
          </p:cNvPr>
          <p:cNvSpPr/>
          <p:nvPr/>
        </p:nvSpPr>
        <p:spPr>
          <a:xfrm>
            <a:off x="7012885" y="1754665"/>
            <a:ext cx="587740" cy="219158"/>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Connector: Curved 17">
            <a:extLst>
              <a:ext uri="{FF2B5EF4-FFF2-40B4-BE49-F238E27FC236}">
                <a16:creationId xmlns:a16="http://schemas.microsoft.com/office/drawing/2014/main" id="{AFC92AD6-9475-D6F2-7856-1EF6FA4CBD39}"/>
              </a:ext>
            </a:extLst>
          </p:cNvPr>
          <p:cNvCxnSpPr>
            <a:cxnSpLocks/>
            <a:stCxn id="15" idx="0"/>
            <a:endCxn id="17" idx="4"/>
          </p:cNvCxnSpPr>
          <p:nvPr/>
        </p:nvCxnSpPr>
        <p:spPr>
          <a:xfrm rot="5400000" flipH="1" flipV="1">
            <a:off x="6838714" y="2013027"/>
            <a:ext cx="507244" cy="428837"/>
          </a:xfrm>
          <a:prstGeom prst="curvedConnector3">
            <a:avLst>
              <a:gd name="adj1" fmla="val 50000"/>
            </a:avLst>
          </a:prstGeom>
          <a:ln>
            <a:tailEnd type="triangle"/>
          </a:ln>
        </p:spPr>
        <p:style>
          <a:lnRef idx="1">
            <a:schemeClr val="accent5"/>
          </a:lnRef>
          <a:fillRef idx="0">
            <a:schemeClr val="accent5"/>
          </a:fillRef>
          <a:effectRef idx="0">
            <a:schemeClr val="accent5"/>
          </a:effectRef>
          <a:fontRef idx="minor">
            <a:schemeClr val="tx1"/>
          </a:fontRef>
        </p:style>
      </p:cxnSp>
      <p:sp>
        <p:nvSpPr>
          <p:cNvPr id="36" name="Oval 35">
            <a:extLst>
              <a:ext uri="{FF2B5EF4-FFF2-40B4-BE49-F238E27FC236}">
                <a16:creationId xmlns:a16="http://schemas.microsoft.com/office/drawing/2014/main" id="{19DD9081-8303-5151-082F-E7AEF6844B9B}"/>
              </a:ext>
            </a:extLst>
          </p:cNvPr>
          <p:cNvSpPr/>
          <p:nvPr/>
        </p:nvSpPr>
        <p:spPr>
          <a:xfrm>
            <a:off x="2369555" y="4019601"/>
            <a:ext cx="474138" cy="973457"/>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9F5966A0-9FA8-B68E-594E-B35DA712110A}"/>
              </a:ext>
            </a:extLst>
          </p:cNvPr>
          <p:cNvSpPr txBox="1"/>
          <p:nvPr/>
        </p:nvSpPr>
        <p:spPr>
          <a:xfrm>
            <a:off x="2391985" y="5560702"/>
            <a:ext cx="2110995" cy="707886"/>
          </a:xfrm>
          <a:prstGeom prst="rect">
            <a:avLst/>
          </a:prstGeom>
          <a:noFill/>
        </p:spPr>
        <p:txBody>
          <a:bodyPr wrap="square" rtlCol="0">
            <a:spAutoFit/>
          </a:bodyPr>
          <a:lstStyle/>
          <a:p>
            <a:r>
              <a:rPr lang="en-US" sz="800" dirty="0">
                <a:solidFill>
                  <a:srgbClr val="00B050"/>
                </a:solidFill>
              </a:rPr>
              <a:t>Renesas uses more complex structures in HAL&amp;RM (Renesas Middleware) layers and sets more data variables, which improves code readability but increases RAM usage.</a:t>
            </a:r>
          </a:p>
        </p:txBody>
      </p:sp>
      <p:cxnSp>
        <p:nvCxnSpPr>
          <p:cNvPr id="38" name="Connector: Curved 37">
            <a:extLst>
              <a:ext uri="{FF2B5EF4-FFF2-40B4-BE49-F238E27FC236}">
                <a16:creationId xmlns:a16="http://schemas.microsoft.com/office/drawing/2014/main" id="{39D0B706-09F1-2DFB-C9A2-89B7312C3FBD}"/>
              </a:ext>
            </a:extLst>
          </p:cNvPr>
          <p:cNvCxnSpPr>
            <a:cxnSpLocks/>
            <a:stCxn id="37" idx="0"/>
            <a:endCxn id="36" idx="5"/>
          </p:cNvCxnSpPr>
          <p:nvPr/>
        </p:nvCxnSpPr>
        <p:spPr>
          <a:xfrm rot="16200000" flipV="1">
            <a:off x="2755769" y="4868988"/>
            <a:ext cx="710203" cy="673226"/>
          </a:xfrm>
          <a:prstGeom prst="curvedConnector3">
            <a:avLst/>
          </a:prstGeom>
          <a:ln>
            <a:tailEnd type="triangle"/>
          </a:ln>
        </p:spPr>
        <p:style>
          <a:lnRef idx="1">
            <a:schemeClr val="accent5"/>
          </a:lnRef>
          <a:fillRef idx="0">
            <a:schemeClr val="accent5"/>
          </a:fillRef>
          <a:effectRef idx="0">
            <a:schemeClr val="accent5"/>
          </a:effectRef>
          <a:fontRef idx="minor">
            <a:schemeClr val="tx1"/>
          </a:fontRef>
        </p:style>
      </p:cxnSp>
      <p:sp>
        <p:nvSpPr>
          <p:cNvPr id="19" name="Oval 18">
            <a:extLst>
              <a:ext uri="{FF2B5EF4-FFF2-40B4-BE49-F238E27FC236}">
                <a16:creationId xmlns:a16="http://schemas.microsoft.com/office/drawing/2014/main" id="{57A29A64-4464-0C5F-8FA6-4E3A8D260142}"/>
              </a:ext>
            </a:extLst>
          </p:cNvPr>
          <p:cNvSpPr/>
          <p:nvPr/>
        </p:nvSpPr>
        <p:spPr>
          <a:xfrm>
            <a:off x="10348977" y="4025409"/>
            <a:ext cx="457200" cy="973457"/>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nector: Curved 20">
            <a:extLst>
              <a:ext uri="{FF2B5EF4-FFF2-40B4-BE49-F238E27FC236}">
                <a16:creationId xmlns:a16="http://schemas.microsoft.com/office/drawing/2014/main" id="{93A5854C-78F3-CB25-5DB5-D854AE78B5E0}"/>
              </a:ext>
            </a:extLst>
          </p:cNvPr>
          <p:cNvCxnSpPr>
            <a:cxnSpLocks/>
            <a:stCxn id="5" idx="2"/>
            <a:endCxn id="19" idx="1"/>
          </p:cNvCxnSpPr>
          <p:nvPr/>
        </p:nvCxnSpPr>
        <p:spPr>
          <a:xfrm rot="16200000" flipH="1">
            <a:off x="9766677" y="3518713"/>
            <a:ext cx="803002" cy="495507"/>
          </a:xfrm>
          <a:prstGeom prst="curvedConnector3">
            <a:avLst>
              <a:gd name="adj1" fmla="val 50000"/>
            </a:avLst>
          </a:prstGeom>
          <a:ln>
            <a:tailEnd type="triangle"/>
          </a:ln>
        </p:spPr>
        <p:style>
          <a:lnRef idx="1">
            <a:schemeClr val="accent5"/>
          </a:lnRef>
          <a:fillRef idx="0">
            <a:schemeClr val="accent5"/>
          </a:fillRef>
          <a:effectRef idx="0">
            <a:schemeClr val="accent5"/>
          </a:effectRef>
          <a:fontRef idx="minor">
            <a:schemeClr val="tx1"/>
          </a:fontRef>
        </p:style>
      </p:cxnSp>
      <p:sp>
        <p:nvSpPr>
          <p:cNvPr id="14" name="TextBox 13">
            <a:extLst>
              <a:ext uri="{FF2B5EF4-FFF2-40B4-BE49-F238E27FC236}">
                <a16:creationId xmlns:a16="http://schemas.microsoft.com/office/drawing/2014/main" id="{A99A3310-B14D-69BA-A6A4-EB2E32244BBC}"/>
              </a:ext>
            </a:extLst>
          </p:cNvPr>
          <p:cNvSpPr txBox="1"/>
          <p:nvPr/>
        </p:nvSpPr>
        <p:spPr>
          <a:xfrm>
            <a:off x="8094463" y="5386614"/>
            <a:ext cx="3420062" cy="1338828"/>
          </a:xfrm>
          <a:prstGeom prst="rect">
            <a:avLst/>
          </a:prstGeom>
          <a:solidFill>
            <a:schemeClr val="bg1">
              <a:lumMod val="85000"/>
            </a:schemeClr>
          </a:solidFill>
        </p:spPr>
        <p:txBody>
          <a:bodyPr wrap="square" rtlCol="0">
            <a:spAutoFit/>
          </a:bodyPr>
          <a:lstStyle/>
          <a:p>
            <a:r>
              <a:rPr lang="en-US" sz="800" b="1" dirty="0">
                <a:solidFill>
                  <a:schemeClr val="accent2"/>
                </a:solidFill>
              </a:rPr>
              <a:t>Ratio = ((ST - </a:t>
            </a:r>
            <a:r>
              <a:rPr lang="en-US" sz="800" b="1" dirty="0" err="1">
                <a:solidFill>
                  <a:schemeClr val="accent2"/>
                </a:solidFill>
              </a:rPr>
              <a:t>Compet</a:t>
            </a:r>
            <a:r>
              <a:rPr lang="en-US" sz="800" b="1" dirty="0">
                <a:solidFill>
                  <a:schemeClr val="accent2"/>
                </a:solidFill>
              </a:rPr>
              <a:t>) / </a:t>
            </a:r>
            <a:r>
              <a:rPr lang="en-US" sz="800" b="1" dirty="0" err="1">
                <a:solidFill>
                  <a:schemeClr val="accent2"/>
                </a:solidFill>
              </a:rPr>
              <a:t>Compet</a:t>
            </a:r>
            <a:r>
              <a:rPr lang="en-US" sz="800" b="1" dirty="0">
                <a:solidFill>
                  <a:schemeClr val="accent2"/>
                </a:solidFill>
              </a:rPr>
              <a:t>)*100</a:t>
            </a:r>
          </a:p>
          <a:p>
            <a:pPr algn="l"/>
            <a:r>
              <a:rPr lang="en-US" sz="800" b="1" dirty="0"/>
              <a:t>Used HW boards:</a:t>
            </a:r>
          </a:p>
          <a:p>
            <a:pPr marL="171450" indent="-171450">
              <a:buFont typeface="Wingdings" panose="05000000000000000000" pitchFamily="2" charset="2"/>
              <a:buChar char="ü"/>
            </a:pPr>
            <a:r>
              <a:rPr lang="en-US" sz="800" b="1" dirty="0">
                <a:solidFill>
                  <a:schemeClr val="dk1"/>
                </a:solidFill>
              </a:rPr>
              <a:t>TI</a:t>
            </a:r>
            <a:r>
              <a:rPr lang="en-US" sz="800" dirty="0">
                <a:solidFill>
                  <a:schemeClr val="dk1"/>
                </a:solidFill>
              </a:rPr>
              <a:t>: STM32C031C6 vs TI MSPM0G3507 </a:t>
            </a:r>
          </a:p>
          <a:p>
            <a:pPr marL="171450" indent="-171450">
              <a:buFont typeface="Wingdings" panose="05000000000000000000" pitchFamily="2" charset="2"/>
              <a:buChar char="ü"/>
            </a:pPr>
            <a:r>
              <a:rPr lang="en-US" sz="800" b="1" dirty="0">
                <a:solidFill>
                  <a:schemeClr val="dk1"/>
                </a:solidFill>
              </a:rPr>
              <a:t>RA</a:t>
            </a:r>
            <a:r>
              <a:rPr lang="en-US" sz="800" dirty="0">
                <a:solidFill>
                  <a:schemeClr val="dk1"/>
                </a:solidFill>
              </a:rPr>
              <a:t>: STM32H573 vs EK-RA6M5/ STM32H743 vs EK-RA8M1 </a:t>
            </a:r>
          </a:p>
          <a:p>
            <a:pPr marL="171450" indent="-171450">
              <a:buFont typeface="Wingdings" panose="05000000000000000000" pitchFamily="2" charset="2"/>
              <a:buChar char="ü"/>
            </a:pPr>
            <a:r>
              <a:rPr lang="en-US" sz="800" b="1" dirty="0">
                <a:solidFill>
                  <a:schemeClr val="dk1"/>
                </a:solidFill>
              </a:rPr>
              <a:t>NXP</a:t>
            </a:r>
            <a:r>
              <a:rPr lang="en-US" sz="800" dirty="0">
                <a:solidFill>
                  <a:schemeClr val="dk1"/>
                </a:solidFill>
              </a:rPr>
              <a:t>: STM32U575xx vs MCX-N9</a:t>
            </a:r>
          </a:p>
          <a:p>
            <a:r>
              <a:rPr lang="en-US" sz="800" b="1" dirty="0">
                <a:solidFill>
                  <a:schemeClr val="dk1"/>
                </a:solidFill>
              </a:rPr>
              <a:t>IDE: </a:t>
            </a:r>
          </a:p>
          <a:p>
            <a:pPr marL="171450" indent="-171450">
              <a:buFont typeface="Wingdings" panose="05000000000000000000" pitchFamily="2" charset="2"/>
              <a:buChar char="ü"/>
            </a:pPr>
            <a:r>
              <a:rPr lang="en-US" sz="800" dirty="0">
                <a:solidFill>
                  <a:schemeClr val="dk1"/>
                </a:solidFill>
              </a:rPr>
              <a:t>EWARM 9.60.3</a:t>
            </a:r>
          </a:p>
          <a:p>
            <a:r>
              <a:rPr lang="en-US" sz="800" b="1" dirty="0">
                <a:solidFill>
                  <a:schemeClr val="dk1"/>
                </a:solidFill>
              </a:rPr>
              <a:t>Tools:</a:t>
            </a:r>
          </a:p>
          <a:p>
            <a:pPr marL="171450" indent="-171450">
              <a:buFont typeface="Wingdings" panose="05000000000000000000" pitchFamily="2" charset="2"/>
              <a:buChar char="ü"/>
            </a:pPr>
            <a:r>
              <a:rPr lang="en-US" sz="800" dirty="0"/>
              <a:t>Data Watchpoint (DWT)/</a:t>
            </a:r>
          </a:p>
          <a:p>
            <a:pPr marL="171450" indent="-171450">
              <a:buFont typeface="Wingdings" panose="05000000000000000000" pitchFamily="2" charset="2"/>
              <a:buChar char="ü"/>
            </a:pPr>
            <a:r>
              <a:rPr lang="en-US" sz="800" dirty="0"/>
              <a:t>LeCroy USB analyzer</a:t>
            </a:r>
          </a:p>
        </p:txBody>
      </p:sp>
      <p:sp>
        <p:nvSpPr>
          <p:cNvPr id="33" name="Slide Number Placeholder 32">
            <a:extLst>
              <a:ext uri="{FF2B5EF4-FFF2-40B4-BE49-F238E27FC236}">
                <a16:creationId xmlns:a16="http://schemas.microsoft.com/office/drawing/2014/main" id="{9915726B-F786-8E26-DB97-40FF3ADF8271}"/>
              </a:ext>
            </a:extLst>
          </p:cNvPr>
          <p:cNvSpPr>
            <a:spLocks noGrp="1"/>
          </p:cNvSpPr>
          <p:nvPr>
            <p:ph type="sldNum" sz="quarter" idx="12"/>
          </p:nvPr>
        </p:nvSpPr>
        <p:spPr/>
        <p:txBody>
          <a:bodyPr/>
          <a:lstStyle/>
          <a:p>
            <a:fld id="{40A7B169-58CE-4E65-B1F9-ACF9E46440C2}" type="slidenum">
              <a:rPr lang="en-US" smtClean="0"/>
              <a:t>6</a:t>
            </a:fld>
            <a:endParaRPr lang="en-US"/>
          </a:p>
        </p:txBody>
      </p:sp>
      <p:sp>
        <p:nvSpPr>
          <p:cNvPr id="41" name="TextBox 40">
            <a:extLst>
              <a:ext uri="{FF2B5EF4-FFF2-40B4-BE49-F238E27FC236}">
                <a16:creationId xmlns:a16="http://schemas.microsoft.com/office/drawing/2014/main" id="{700916AC-8633-AF75-62DA-E9D5C8A80A38}"/>
              </a:ext>
            </a:extLst>
          </p:cNvPr>
          <p:cNvSpPr txBox="1"/>
          <p:nvPr/>
        </p:nvSpPr>
        <p:spPr>
          <a:xfrm>
            <a:off x="373139" y="2718222"/>
            <a:ext cx="2470554" cy="338554"/>
          </a:xfrm>
          <a:prstGeom prst="rect">
            <a:avLst/>
          </a:prstGeom>
          <a:noFill/>
        </p:spPr>
        <p:txBody>
          <a:bodyPr wrap="square">
            <a:spAutoFit/>
          </a:bodyPr>
          <a:lstStyle/>
          <a:p>
            <a:r>
              <a:rPr lang="en-US" altLang="en-US" sz="800" dirty="0">
                <a:solidFill>
                  <a:srgbClr val="FF0000"/>
                </a:solidFill>
              </a:rPr>
              <a:t>STM32U5 footprint overhead is coming mainly from HAL RCC configuration, not from USB stack</a:t>
            </a:r>
            <a:endParaRPr lang="en-US" sz="800" dirty="0">
              <a:solidFill>
                <a:srgbClr val="FF0000"/>
              </a:solidFill>
            </a:endParaRPr>
          </a:p>
        </p:txBody>
      </p:sp>
      <p:sp>
        <p:nvSpPr>
          <p:cNvPr id="42" name="Oval 41">
            <a:extLst>
              <a:ext uri="{FF2B5EF4-FFF2-40B4-BE49-F238E27FC236}">
                <a16:creationId xmlns:a16="http://schemas.microsoft.com/office/drawing/2014/main" id="{CC1C5819-B198-20EC-029B-3F67C8242651}"/>
              </a:ext>
            </a:extLst>
          </p:cNvPr>
          <p:cNvSpPr/>
          <p:nvPr/>
        </p:nvSpPr>
        <p:spPr>
          <a:xfrm>
            <a:off x="2931659" y="1492643"/>
            <a:ext cx="587740" cy="10580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Connector: Curved 42">
            <a:extLst>
              <a:ext uri="{FF2B5EF4-FFF2-40B4-BE49-F238E27FC236}">
                <a16:creationId xmlns:a16="http://schemas.microsoft.com/office/drawing/2014/main" id="{8AB5823A-6113-E9B3-D069-34860B8A8BE6}"/>
              </a:ext>
            </a:extLst>
          </p:cNvPr>
          <p:cNvCxnSpPr>
            <a:cxnSpLocks/>
            <a:stCxn id="41" idx="3"/>
            <a:endCxn id="42" idx="4"/>
          </p:cNvCxnSpPr>
          <p:nvPr/>
        </p:nvCxnSpPr>
        <p:spPr>
          <a:xfrm flipV="1">
            <a:off x="2843693" y="2550657"/>
            <a:ext cx="381836" cy="336842"/>
          </a:xfrm>
          <a:prstGeom prst="curvedConnector2">
            <a:avLst/>
          </a:prstGeom>
          <a:ln>
            <a:solidFill>
              <a:srgbClr val="FF0000"/>
            </a:solidFill>
            <a:tailEnd type="triangle"/>
          </a:ln>
        </p:spPr>
        <p:style>
          <a:lnRef idx="1">
            <a:schemeClr val="accent5"/>
          </a:lnRef>
          <a:fillRef idx="0">
            <a:schemeClr val="accent5"/>
          </a:fillRef>
          <a:effectRef idx="0">
            <a:schemeClr val="accent5"/>
          </a:effectRef>
          <a:fontRef idx="minor">
            <a:schemeClr val="tx1"/>
          </a:fontRef>
        </p:style>
      </p:cxnSp>
      <p:graphicFrame>
        <p:nvGraphicFramePr>
          <p:cNvPr id="4" name="Table 3">
            <a:extLst>
              <a:ext uri="{FF2B5EF4-FFF2-40B4-BE49-F238E27FC236}">
                <a16:creationId xmlns:a16="http://schemas.microsoft.com/office/drawing/2014/main" id="{C4C38293-8DB1-CFA9-B5F0-9D0F262CB77F}"/>
              </a:ext>
            </a:extLst>
          </p:cNvPr>
          <p:cNvGraphicFramePr>
            <a:graphicFrameLocks noGrp="1"/>
          </p:cNvGraphicFramePr>
          <p:nvPr>
            <p:extLst>
              <p:ext uri="{D42A27DB-BD31-4B8C-83A1-F6EECF244321}">
                <p14:modId xmlns:p14="http://schemas.microsoft.com/office/powerpoint/2010/main" val="1016043857"/>
              </p:ext>
            </p:extLst>
          </p:nvPr>
        </p:nvGraphicFramePr>
        <p:xfrm>
          <a:off x="4052076" y="3900219"/>
          <a:ext cx="3747215" cy="761699"/>
        </p:xfrm>
        <a:graphic>
          <a:graphicData uri="http://schemas.openxmlformats.org/drawingml/2006/table">
            <a:tbl>
              <a:tblPr firstRow="1" bandRow="1">
                <a:tableStyleId>{5940675A-B579-460E-94D1-54222C63F5DA}</a:tableStyleId>
              </a:tblPr>
              <a:tblGrid>
                <a:gridCol w="1335794">
                  <a:extLst>
                    <a:ext uri="{9D8B030D-6E8A-4147-A177-3AD203B41FA5}">
                      <a16:colId xmlns:a16="http://schemas.microsoft.com/office/drawing/2014/main" val="368163055"/>
                    </a:ext>
                  </a:extLst>
                </a:gridCol>
                <a:gridCol w="793750">
                  <a:extLst>
                    <a:ext uri="{9D8B030D-6E8A-4147-A177-3AD203B41FA5}">
                      <a16:colId xmlns:a16="http://schemas.microsoft.com/office/drawing/2014/main" val="291297205"/>
                    </a:ext>
                  </a:extLst>
                </a:gridCol>
                <a:gridCol w="730250">
                  <a:extLst>
                    <a:ext uri="{9D8B030D-6E8A-4147-A177-3AD203B41FA5}">
                      <a16:colId xmlns:a16="http://schemas.microsoft.com/office/drawing/2014/main" val="2023152432"/>
                    </a:ext>
                  </a:extLst>
                </a:gridCol>
                <a:gridCol w="887421">
                  <a:extLst>
                    <a:ext uri="{9D8B030D-6E8A-4147-A177-3AD203B41FA5}">
                      <a16:colId xmlns:a16="http://schemas.microsoft.com/office/drawing/2014/main" val="3885779126"/>
                    </a:ext>
                  </a:extLst>
                </a:gridCol>
              </a:tblGrid>
              <a:tr h="274019">
                <a:tc>
                  <a:txBody>
                    <a:bodyPr/>
                    <a:lstStyle/>
                    <a:p>
                      <a:endParaRPr lang="en-US" sz="800" b="1">
                        <a:solidFill>
                          <a:schemeClr val="bg1"/>
                        </a:solidFill>
                      </a:endParaRPr>
                    </a:p>
                  </a:txBody>
                  <a:tcPr>
                    <a:solidFill>
                      <a:schemeClr val="accent1"/>
                    </a:solidFill>
                  </a:tcPr>
                </a:tc>
                <a:tc>
                  <a:txBody>
                    <a:bodyPr/>
                    <a:lstStyle/>
                    <a:p>
                      <a:pPr algn="ctr"/>
                      <a:r>
                        <a:rPr lang="en-US" sz="800" b="1">
                          <a:solidFill>
                            <a:schemeClr val="bg1"/>
                          </a:solidFill>
                        </a:rPr>
                        <a:t>ST vs TI</a:t>
                      </a:r>
                    </a:p>
                  </a:txBody>
                  <a:tcPr>
                    <a:solidFill>
                      <a:schemeClr val="accent1"/>
                    </a:solidFill>
                  </a:tcPr>
                </a:tc>
                <a:tc>
                  <a:txBody>
                    <a:bodyPr/>
                    <a:lstStyle/>
                    <a:p>
                      <a:pPr algn="ctr"/>
                      <a:r>
                        <a:rPr lang="en-US" sz="800" b="1">
                          <a:solidFill>
                            <a:schemeClr val="bg1"/>
                          </a:solidFill>
                        </a:rPr>
                        <a:t>ST vs RA</a:t>
                      </a:r>
                    </a:p>
                  </a:txBody>
                  <a:tcPr>
                    <a:solidFill>
                      <a:schemeClr val="accent1"/>
                    </a:solidFill>
                  </a:tcPr>
                </a:tc>
                <a:tc>
                  <a:txBody>
                    <a:bodyPr/>
                    <a:lstStyle/>
                    <a:p>
                      <a:pPr algn="ctr"/>
                      <a:r>
                        <a:rPr lang="en-US" sz="800" b="1">
                          <a:solidFill>
                            <a:schemeClr val="bg1"/>
                          </a:solidFill>
                        </a:rPr>
                        <a:t>ST vs NXP</a:t>
                      </a:r>
                    </a:p>
                  </a:txBody>
                  <a:tcPr>
                    <a:solidFill>
                      <a:schemeClr val="accent1"/>
                    </a:solidFill>
                  </a:tcPr>
                </a:tc>
                <a:extLst>
                  <a:ext uri="{0D108BD9-81ED-4DB2-BD59-A6C34878D82A}">
                    <a16:rowId xmlns:a16="http://schemas.microsoft.com/office/drawing/2014/main" val="149028813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Internal SRAM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a:t>
                      </a:r>
                      <a:r>
                        <a:rPr lang="en-US" sz="800" b="1" kern="1200" dirty="0" err="1">
                          <a:solidFill>
                            <a:schemeClr val="accent1"/>
                          </a:solidFill>
                          <a:latin typeface="+mn-lt"/>
                          <a:ea typeface="+mn-ea"/>
                          <a:cs typeface="+mn-cs"/>
                        </a:rPr>
                        <a:t>baremetal</a:t>
                      </a:r>
                      <a:r>
                        <a:rPr lang="en-US" sz="800" b="1" kern="1200" dirty="0">
                          <a:solidFill>
                            <a:schemeClr val="accent1"/>
                          </a:solidFill>
                          <a:latin typeface="+mn-lt"/>
                          <a:ea typeface="+mn-ea"/>
                          <a:cs typeface="+mn-cs"/>
                        </a:rPr>
                        <a:t>)</a:t>
                      </a:r>
                    </a:p>
                  </a:txBody>
                  <a:tcPr marL="0" marR="0" marT="0" marB="0" anchor="ctr">
                    <a:solidFill>
                      <a:schemeClr val="bg1"/>
                    </a:solidFill>
                  </a:tcPr>
                </a:tc>
                <a:tc rowSpan="2">
                  <a:txBody>
                    <a:bodyPr/>
                    <a:lstStyle/>
                    <a:p>
                      <a:pPr algn="ctr"/>
                      <a:r>
                        <a:rPr lang="fr-FR" sz="800" kern="1200" dirty="0">
                          <a:solidFill>
                            <a:schemeClr val="tx1"/>
                          </a:solidFill>
                          <a:latin typeface="+mn-lt"/>
                          <a:ea typeface="+mn-ea"/>
                          <a:cs typeface="+mn-cs"/>
                        </a:rPr>
                        <a:t>NA</a:t>
                      </a:r>
                      <a:endParaRPr sz="800" kern="1200" dirty="0">
                        <a:solidFill>
                          <a:schemeClr val="tx1"/>
                        </a:solidFill>
                        <a:latin typeface="+mn-lt"/>
                        <a:ea typeface="+mn-ea"/>
                        <a:cs typeface="+mn-cs"/>
                      </a:endParaRPr>
                    </a:p>
                  </a:txBody>
                  <a:tcPr anchor="ctr">
                    <a:solidFill>
                      <a:schemeClr val="bg1"/>
                    </a:solidFill>
                  </a:tcPr>
                </a:tc>
                <a:tc>
                  <a:txBody>
                    <a:bodyPr/>
                    <a:lstStyle/>
                    <a:p>
                      <a:pPr algn="ctr"/>
                      <a:r>
                        <a:rPr lang="en-US" sz="800" b="0" dirty="0">
                          <a:solidFill>
                            <a:srgbClr val="00B050"/>
                          </a:solidFill>
                        </a:rPr>
                        <a:t>-32%</a:t>
                      </a:r>
                    </a:p>
                  </a:txBody>
                  <a:tcPr>
                    <a:solidFill>
                      <a:schemeClr val="bg1"/>
                    </a:solidFill>
                  </a:tcPr>
                </a:tc>
                <a:tc rowSpan="2">
                  <a:txBody>
                    <a:bodyPr/>
                    <a:lstStyle/>
                    <a:p>
                      <a:pPr marL="0" algn="ctr" defTabSz="914400" rtl="0" eaLnBrk="1" latinLnBrk="0" hangingPunct="1"/>
                      <a:r>
                        <a:rPr lang="fr-FR" sz="800" kern="1200" dirty="0">
                          <a:solidFill>
                            <a:schemeClr val="tx1"/>
                          </a:solidFill>
                          <a:latin typeface="+mn-lt"/>
                          <a:ea typeface="+mn-ea"/>
                          <a:cs typeface="+mn-cs"/>
                        </a:rPr>
                        <a:t>NA</a:t>
                      </a:r>
                      <a:endParaRPr sz="800" kern="120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400240565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USB Disk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(RTOS)</a:t>
                      </a:r>
                    </a:p>
                  </a:txBody>
                  <a:tcPr marL="0" marR="0" marT="0" marB="0" anchor="ctr">
                    <a:solidFill>
                      <a:schemeClr val="bg1"/>
                    </a:solidFill>
                  </a:tcPr>
                </a:tc>
                <a:tc vMerge="1">
                  <a:txBody>
                    <a:bodyPr/>
                    <a:lstStyle/>
                    <a:p>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dirty="0">
                          <a:solidFill>
                            <a:srgbClr val="00B050"/>
                          </a:solidFill>
                        </a:rPr>
                        <a:t>-26%</a:t>
                      </a:r>
                    </a:p>
                  </a:txBody>
                  <a:tcPr>
                    <a:solidFill>
                      <a:schemeClr val="bg1"/>
                    </a:solidFill>
                  </a:tcPr>
                </a:tc>
                <a:tc vMerge="1">
                  <a:txBody>
                    <a:bodyPr/>
                    <a:lstStyle/>
                    <a:p>
                      <a:endParaRPr/>
                    </a:p>
                  </a:txBody>
                  <a:tcPr>
                    <a:solidFill>
                      <a:schemeClr val="bg1"/>
                    </a:solidFill>
                  </a:tcPr>
                </a:tc>
                <a:extLst>
                  <a:ext uri="{0D108BD9-81ED-4DB2-BD59-A6C34878D82A}">
                    <a16:rowId xmlns:a16="http://schemas.microsoft.com/office/drawing/2014/main" val="2895604631"/>
                  </a:ext>
                </a:extLst>
              </a:tr>
            </a:tbl>
          </a:graphicData>
        </a:graphic>
      </p:graphicFrame>
      <p:sp>
        <p:nvSpPr>
          <p:cNvPr id="20" name="Oval 19">
            <a:extLst>
              <a:ext uri="{FF2B5EF4-FFF2-40B4-BE49-F238E27FC236}">
                <a16:creationId xmlns:a16="http://schemas.microsoft.com/office/drawing/2014/main" id="{57CC4321-546F-C7A2-F0AD-9ADD8377B516}"/>
              </a:ext>
            </a:extLst>
          </p:cNvPr>
          <p:cNvSpPr/>
          <p:nvPr/>
        </p:nvSpPr>
        <p:spPr>
          <a:xfrm>
            <a:off x="9532349" y="1546365"/>
            <a:ext cx="587740" cy="105801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Connector: Curved 22">
            <a:extLst>
              <a:ext uri="{FF2B5EF4-FFF2-40B4-BE49-F238E27FC236}">
                <a16:creationId xmlns:a16="http://schemas.microsoft.com/office/drawing/2014/main" id="{C1B48802-A4A2-9A5A-3F27-5084C45A0716}"/>
              </a:ext>
            </a:extLst>
          </p:cNvPr>
          <p:cNvCxnSpPr>
            <a:cxnSpLocks/>
            <a:stCxn id="25" idx="0"/>
            <a:endCxn id="20" idx="2"/>
          </p:cNvCxnSpPr>
          <p:nvPr/>
        </p:nvCxnSpPr>
        <p:spPr>
          <a:xfrm rot="5400000" flipH="1" flipV="1">
            <a:off x="8884620" y="1984305"/>
            <a:ext cx="556661" cy="738797"/>
          </a:xfrm>
          <a:prstGeom prst="curvedConnector2">
            <a:avLst/>
          </a:prstGeom>
          <a:ln>
            <a:solidFill>
              <a:srgbClr val="FF0000"/>
            </a:solidFill>
            <a:tailEnd type="triangle"/>
          </a:ln>
        </p:spPr>
        <p:style>
          <a:lnRef idx="1">
            <a:schemeClr val="accent5"/>
          </a:lnRef>
          <a:fillRef idx="0">
            <a:schemeClr val="accent5"/>
          </a:fillRef>
          <a:effectRef idx="0">
            <a:schemeClr val="accent5"/>
          </a:effectRef>
          <a:fontRef idx="minor">
            <a:schemeClr val="tx1"/>
          </a:fontRef>
        </p:style>
      </p:cxnSp>
      <p:sp>
        <p:nvSpPr>
          <p:cNvPr id="25" name="TextBox 24">
            <a:extLst>
              <a:ext uri="{FF2B5EF4-FFF2-40B4-BE49-F238E27FC236}">
                <a16:creationId xmlns:a16="http://schemas.microsoft.com/office/drawing/2014/main" id="{E923FA54-39E6-A777-FAA3-AA933B8A77F1}"/>
              </a:ext>
            </a:extLst>
          </p:cNvPr>
          <p:cNvSpPr txBox="1"/>
          <p:nvPr/>
        </p:nvSpPr>
        <p:spPr>
          <a:xfrm>
            <a:off x="7860717" y="2632033"/>
            <a:ext cx="1865669" cy="338554"/>
          </a:xfrm>
          <a:prstGeom prst="rect">
            <a:avLst/>
          </a:prstGeom>
          <a:noFill/>
        </p:spPr>
        <p:txBody>
          <a:bodyPr wrap="square">
            <a:spAutoFit/>
          </a:bodyPr>
          <a:lstStyle/>
          <a:p>
            <a:r>
              <a:rPr lang="en-US" sz="800" dirty="0">
                <a:solidFill>
                  <a:srgbClr val="FF0000"/>
                </a:solidFill>
              </a:rPr>
              <a:t>Due to STM32C0 clock configuration (</a:t>
            </a:r>
            <a:r>
              <a:rPr lang="en-US" sz="800" dirty="0" err="1">
                <a:solidFill>
                  <a:srgbClr val="FF0000"/>
                </a:solidFill>
              </a:rPr>
              <a:t>HAL_RCC_ClockConfig</a:t>
            </a:r>
            <a:r>
              <a:rPr lang="en-US" sz="800" dirty="0">
                <a:solidFill>
                  <a:srgbClr val="FF0000"/>
                </a:solidFill>
              </a:rPr>
              <a:t>() API).</a:t>
            </a:r>
          </a:p>
        </p:txBody>
      </p:sp>
    </p:spTree>
    <p:extLst>
      <p:ext uri="{BB962C8B-B14F-4D97-AF65-F5344CB8AC3E}">
        <p14:creationId xmlns:p14="http://schemas.microsoft.com/office/powerpoint/2010/main" val="1734365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6DF9-AC35-F4DC-297E-90BD0F1154D6}"/>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76250CDA-A7B7-B04F-374A-20369D4FAD36}"/>
              </a:ext>
            </a:extLst>
          </p:cNvPr>
          <p:cNvSpPr txBox="1"/>
          <p:nvPr/>
        </p:nvSpPr>
        <p:spPr>
          <a:xfrm>
            <a:off x="8677656" y="5429943"/>
            <a:ext cx="3420062" cy="1338828"/>
          </a:xfrm>
          <a:prstGeom prst="rect">
            <a:avLst/>
          </a:prstGeom>
          <a:solidFill>
            <a:schemeClr val="bg1">
              <a:lumMod val="85000"/>
            </a:schemeClr>
          </a:solidFill>
        </p:spPr>
        <p:txBody>
          <a:bodyPr wrap="square" rtlCol="0">
            <a:spAutoFit/>
          </a:bodyPr>
          <a:lstStyle/>
          <a:p>
            <a:r>
              <a:rPr lang="en-US" sz="800" b="1" dirty="0">
                <a:solidFill>
                  <a:schemeClr val="accent2"/>
                </a:solidFill>
              </a:rPr>
              <a:t>Ratio = ((ST - </a:t>
            </a:r>
            <a:r>
              <a:rPr lang="en-US" sz="800" b="1" dirty="0" err="1">
                <a:solidFill>
                  <a:schemeClr val="accent2"/>
                </a:solidFill>
              </a:rPr>
              <a:t>Compet</a:t>
            </a:r>
            <a:r>
              <a:rPr lang="en-US" sz="800" b="1" dirty="0">
                <a:solidFill>
                  <a:schemeClr val="accent2"/>
                </a:solidFill>
              </a:rPr>
              <a:t>) / </a:t>
            </a:r>
            <a:r>
              <a:rPr lang="en-US" sz="800" b="1" dirty="0" err="1">
                <a:solidFill>
                  <a:schemeClr val="accent2"/>
                </a:solidFill>
              </a:rPr>
              <a:t>Compet</a:t>
            </a:r>
            <a:r>
              <a:rPr lang="en-US" sz="800" b="1" dirty="0">
                <a:solidFill>
                  <a:schemeClr val="accent2"/>
                </a:solidFill>
              </a:rPr>
              <a:t>)*100</a:t>
            </a:r>
          </a:p>
          <a:p>
            <a:pPr algn="l"/>
            <a:r>
              <a:rPr lang="en-US" sz="800" b="1" dirty="0"/>
              <a:t>Used HW boards:</a:t>
            </a:r>
          </a:p>
          <a:p>
            <a:pPr marL="171450" indent="-171450">
              <a:buFont typeface="Wingdings" panose="05000000000000000000" pitchFamily="2" charset="2"/>
              <a:buChar char="ü"/>
            </a:pPr>
            <a:r>
              <a:rPr lang="en-US" sz="800" b="1" dirty="0">
                <a:solidFill>
                  <a:schemeClr val="dk1"/>
                </a:solidFill>
              </a:rPr>
              <a:t>TI</a:t>
            </a:r>
            <a:r>
              <a:rPr lang="en-US" sz="800" dirty="0">
                <a:solidFill>
                  <a:schemeClr val="dk1"/>
                </a:solidFill>
              </a:rPr>
              <a:t>: STM32C031C6 vs TI MSPM0G3507 </a:t>
            </a:r>
          </a:p>
          <a:p>
            <a:pPr marL="171450" indent="-171450">
              <a:buFont typeface="Wingdings" panose="05000000000000000000" pitchFamily="2" charset="2"/>
              <a:buChar char="ü"/>
            </a:pPr>
            <a:r>
              <a:rPr lang="en-US" sz="800" b="1" dirty="0">
                <a:solidFill>
                  <a:schemeClr val="dk1"/>
                </a:solidFill>
              </a:rPr>
              <a:t>RA</a:t>
            </a:r>
            <a:r>
              <a:rPr lang="en-US" sz="800" dirty="0">
                <a:solidFill>
                  <a:schemeClr val="dk1"/>
                </a:solidFill>
              </a:rPr>
              <a:t>: STM32H573 vs EK-RA6M5/ STM32H743 vs EK-RA8M1 </a:t>
            </a:r>
          </a:p>
          <a:p>
            <a:pPr marL="171450" indent="-171450">
              <a:buFont typeface="Wingdings" panose="05000000000000000000" pitchFamily="2" charset="2"/>
              <a:buChar char="ü"/>
            </a:pPr>
            <a:r>
              <a:rPr lang="en-US" sz="800" b="1" dirty="0">
                <a:solidFill>
                  <a:schemeClr val="dk1"/>
                </a:solidFill>
              </a:rPr>
              <a:t>NXP</a:t>
            </a:r>
            <a:r>
              <a:rPr lang="en-US" sz="800" dirty="0">
                <a:solidFill>
                  <a:schemeClr val="dk1"/>
                </a:solidFill>
              </a:rPr>
              <a:t>: STM32U575xx vs MCX-N9</a:t>
            </a:r>
          </a:p>
          <a:p>
            <a:r>
              <a:rPr lang="en-US" sz="800" b="1" dirty="0">
                <a:solidFill>
                  <a:schemeClr val="dk1"/>
                </a:solidFill>
              </a:rPr>
              <a:t>IDE: </a:t>
            </a:r>
          </a:p>
          <a:p>
            <a:pPr marL="171450" indent="-171450">
              <a:buFont typeface="Wingdings" panose="05000000000000000000" pitchFamily="2" charset="2"/>
              <a:buChar char="ü"/>
            </a:pPr>
            <a:r>
              <a:rPr lang="en-US" sz="800" dirty="0">
                <a:solidFill>
                  <a:schemeClr val="dk1"/>
                </a:solidFill>
              </a:rPr>
              <a:t>EWARM 9.60.3</a:t>
            </a:r>
          </a:p>
          <a:p>
            <a:r>
              <a:rPr lang="en-US" sz="800" b="1" dirty="0">
                <a:solidFill>
                  <a:schemeClr val="dk1"/>
                </a:solidFill>
              </a:rPr>
              <a:t>Tools:</a:t>
            </a:r>
          </a:p>
          <a:p>
            <a:pPr marL="171450" indent="-171450">
              <a:buFont typeface="Wingdings" panose="05000000000000000000" pitchFamily="2" charset="2"/>
              <a:buChar char="ü"/>
            </a:pPr>
            <a:r>
              <a:rPr lang="en-US" sz="800" dirty="0"/>
              <a:t>Data Watchpoint (DWT)/</a:t>
            </a:r>
          </a:p>
          <a:p>
            <a:pPr marL="171450" indent="-171450">
              <a:buFont typeface="Wingdings" panose="05000000000000000000" pitchFamily="2" charset="2"/>
              <a:buChar char="ü"/>
            </a:pPr>
            <a:r>
              <a:rPr lang="en-US" sz="800" dirty="0"/>
              <a:t>LeCroy USB analyzer</a:t>
            </a:r>
          </a:p>
        </p:txBody>
      </p:sp>
      <p:graphicFrame>
        <p:nvGraphicFramePr>
          <p:cNvPr id="20" name="Table 19">
            <a:extLst>
              <a:ext uri="{FF2B5EF4-FFF2-40B4-BE49-F238E27FC236}">
                <a16:creationId xmlns:a16="http://schemas.microsoft.com/office/drawing/2014/main" id="{FA1D0B3C-B322-B163-FA5E-99CAD0EC3C8E}"/>
              </a:ext>
            </a:extLst>
          </p:cNvPr>
          <p:cNvGraphicFramePr>
            <a:graphicFrameLocks noGrp="1"/>
          </p:cNvGraphicFramePr>
          <p:nvPr>
            <p:extLst>
              <p:ext uri="{D42A27DB-BD31-4B8C-83A1-F6EECF244321}">
                <p14:modId xmlns:p14="http://schemas.microsoft.com/office/powerpoint/2010/main" val="465349956"/>
              </p:ext>
            </p:extLst>
          </p:nvPr>
        </p:nvGraphicFramePr>
        <p:xfrm>
          <a:off x="4869543" y="3832045"/>
          <a:ext cx="3199520" cy="1767539"/>
        </p:xfrm>
        <a:graphic>
          <a:graphicData uri="http://schemas.openxmlformats.org/drawingml/2006/table">
            <a:tbl>
              <a:tblPr firstRow="1" bandRow="1">
                <a:tableStyleId>{5940675A-B579-460E-94D1-54222C63F5DA}</a:tableStyleId>
              </a:tblPr>
              <a:tblGrid>
                <a:gridCol w="858704">
                  <a:extLst>
                    <a:ext uri="{9D8B030D-6E8A-4147-A177-3AD203B41FA5}">
                      <a16:colId xmlns:a16="http://schemas.microsoft.com/office/drawing/2014/main" val="368163055"/>
                    </a:ext>
                  </a:extLst>
                </a:gridCol>
                <a:gridCol w="492067">
                  <a:extLst>
                    <a:ext uri="{9D8B030D-6E8A-4147-A177-3AD203B41FA5}">
                      <a16:colId xmlns:a16="http://schemas.microsoft.com/office/drawing/2014/main" val="670098430"/>
                    </a:ext>
                  </a:extLst>
                </a:gridCol>
                <a:gridCol w="608250">
                  <a:extLst>
                    <a:ext uri="{9D8B030D-6E8A-4147-A177-3AD203B41FA5}">
                      <a16:colId xmlns:a16="http://schemas.microsoft.com/office/drawing/2014/main" val="291297205"/>
                    </a:ext>
                  </a:extLst>
                </a:gridCol>
                <a:gridCol w="567244">
                  <a:extLst>
                    <a:ext uri="{9D8B030D-6E8A-4147-A177-3AD203B41FA5}">
                      <a16:colId xmlns:a16="http://schemas.microsoft.com/office/drawing/2014/main" val="3885779126"/>
                    </a:ext>
                  </a:extLst>
                </a:gridCol>
                <a:gridCol w="673255">
                  <a:extLst>
                    <a:ext uri="{9D8B030D-6E8A-4147-A177-3AD203B41FA5}">
                      <a16:colId xmlns:a16="http://schemas.microsoft.com/office/drawing/2014/main" val="3432793788"/>
                    </a:ext>
                  </a:extLst>
                </a:gridCol>
              </a:tblGrid>
              <a:tr h="274019">
                <a:tc gridSpan="2">
                  <a:txBody>
                    <a:bodyPr/>
                    <a:lstStyle/>
                    <a:p>
                      <a:endParaRPr lang="en-US" sz="600" b="1">
                        <a:solidFill>
                          <a:schemeClr val="bg1"/>
                        </a:solidFill>
                      </a:endParaRPr>
                    </a:p>
                  </a:txBody>
                  <a:tcPr>
                    <a:solidFill>
                      <a:schemeClr val="accent1"/>
                    </a:solidFill>
                  </a:tcPr>
                </a:tc>
                <a:tc hMerge="1">
                  <a:txBody>
                    <a:bodyPr/>
                    <a:lstStyle/>
                    <a:p>
                      <a:endParaRPr lang="en-US"/>
                    </a:p>
                  </a:txBody>
                  <a:tcPr/>
                </a:tc>
                <a:tc>
                  <a:txBody>
                    <a:bodyPr/>
                    <a:lstStyle/>
                    <a:p>
                      <a:pPr algn="ctr"/>
                      <a:r>
                        <a:rPr lang="en-US" sz="600" b="1">
                          <a:solidFill>
                            <a:schemeClr val="bg1"/>
                          </a:solidFill>
                        </a:rPr>
                        <a:t>ST vs TI</a:t>
                      </a:r>
                    </a:p>
                  </a:txBody>
                  <a:tcPr>
                    <a:solidFill>
                      <a:schemeClr val="accent1"/>
                    </a:solidFill>
                  </a:tcPr>
                </a:tc>
                <a:tc>
                  <a:txBody>
                    <a:bodyPr/>
                    <a:lstStyle/>
                    <a:p>
                      <a:pPr algn="ctr"/>
                      <a:r>
                        <a:rPr lang="en-US" sz="600" b="1">
                          <a:solidFill>
                            <a:schemeClr val="bg1"/>
                          </a:solidFill>
                        </a:rPr>
                        <a:t>ST vs RA</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a:solidFill>
                            <a:schemeClr val="bg1"/>
                          </a:solidFill>
                        </a:rPr>
                        <a:t>ST vs NXP</a:t>
                      </a:r>
                    </a:p>
                  </a:txBody>
                  <a:tcPr>
                    <a:solidFill>
                      <a:schemeClr val="accent1"/>
                    </a:solidFill>
                  </a:tcPr>
                </a:tc>
                <a:extLst>
                  <a:ext uri="{0D108BD9-81ED-4DB2-BD59-A6C34878D82A}">
                    <a16:rowId xmlns:a16="http://schemas.microsoft.com/office/drawing/2014/main" val="1490288134"/>
                  </a:ext>
                </a:extLst>
              </a:tr>
              <a:tr h="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Internal SRAM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a:t>
                      </a:r>
                      <a:r>
                        <a:rPr lang="en-US" sz="800" b="1" kern="1200" dirty="0" err="1">
                          <a:solidFill>
                            <a:schemeClr val="accent1"/>
                          </a:solidFill>
                          <a:latin typeface="+mn-lt"/>
                          <a:ea typeface="+mn-ea"/>
                          <a:cs typeface="+mn-cs"/>
                        </a:rPr>
                        <a:t>Baremetal</a:t>
                      </a:r>
                      <a:r>
                        <a:rPr lang="en-US" sz="800" b="1" kern="1200" dirty="0">
                          <a:solidFill>
                            <a:schemeClr val="accent1"/>
                          </a:solidFill>
                          <a:latin typeface="+mn-lt"/>
                          <a:ea typeface="+mn-ea"/>
                          <a:cs typeface="+mn-cs"/>
                        </a:rPr>
                        <a:t>)</a:t>
                      </a:r>
                    </a:p>
                    <a:p>
                      <a:endParaRPr dirty="0"/>
                    </a:p>
                  </a:txBody>
                  <a:tcPr marL="0" marR="0" marT="0" marB="0" anchor="ctr">
                    <a:solidFill>
                      <a:schemeClr val="bg1"/>
                    </a:solidFill>
                  </a:tcPr>
                </a:tc>
                <a:tc>
                  <a:txBody>
                    <a:bodyPr/>
                    <a:lstStyle/>
                    <a:p>
                      <a:r>
                        <a:rPr lang="en-US" sz="800" b="0" kern="1200" dirty="0">
                          <a:solidFill>
                            <a:schemeClr val="accent3"/>
                          </a:solidFill>
                          <a:latin typeface="+mn-lt"/>
                          <a:ea typeface="+mn-ea"/>
                          <a:cs typeface="+mn-cs"/>
                        </a:rPr>
                        <a:t>Init</a:t>
                      </a:r>
                      <a:endParaRPr b="0" dirty="0"/>
                    </a:p>
                  </a:txBody>
                  <a:tcPr>
                    <a:solidFill>
                      <a:schemeClr val="bg1"/>
                    </a:solidFill>
                  </a:tcPr>
                </a:tc>
                <a:tc rowSpan="4">
                  <a:txBody>
                    <a:bodyPr/>
                    <a:lstStyle/>
                    <a:p>
                      <a:pPr algn="ctr"/>
                      <a:r>
                        <a:rPr lang="en-US" sz="600" b="1" kern="1200" dirty="0">
                          <a:solidFill>
                            <a:schemeClr val="tx1"/>
                          </a:solidFill>
                          <a:latin typeface="+mn-lt"/>
                          <a:ea typeface="+mn-ea"/>
                          <a:cs typeface="+mn-cs"/>
                        </a:rPr>
                        <a:t>NA</a:t>
                      </a:r>
                      <a:endParaRPr sz="600" b="1" kern="1200" dirty="0">
                        <a:solidFill>
                          <a:schemeClr val="tx1"/>
                        </a:solidFill>
                        <a:latin typeface="+mn-lt"/>
                        <a:ea typeface="+mn-ea"/>
                        <a:cs typeface="+mn-cs"/>
                      </a:endParaRPr>
                    </a:p>
                  </a:txBody>
                  <a:tcPr anchor="ctr">
                    <a:solidFill>
                      <a:schemeClr val="bg1"/>
                    </a:solidFill>
                  </a:tcPr>
                </a:tc>
                <a:tc>
                  <a:txBody>
                    <a:bodyPr/>
                    <a:lstStyle/>
                    <a:p>
                      <a:pPr algn="ctr"/>
                      <a:r>
                        <a:rPr lang="en-US" sz="600" b="1" dirty="0">
                          <a:solidFill>
                            <a:schemeClr val="accent5"/>
                          </a:solidFill>
                        </a:rPr>
                        <a:t>-22%</a:t>
                      </a:r>
                    </a:p>
                  </a:txBody>
                  <a:tcPr>
                    <a:solidFill>
                      <a:schemeClr val="bg1"/>
                    </a:solidFill>
                  </a:tcPr>
                </a:tc>
                <a:tc rowSpan="4">
                  <a:txBody>
                    <a:bodyPr/>
                    <a:lstStyle/>
                    <a:p>
                      <a:pPr marL="0" algn="ctr" defTabSz="914400" rtl="0" eaLnBrk="1" latinLnBrk="0" hangingPunct="1"/>
                      <a:r>
                        <a:rPr lang="en-US" sz="600" b="1" kern="1200" dirty="0">
                          <a:solidFill>
                            <a:schemeClr val="tx1"/>
                          </a:solidFill>
                          <a:latin typeface="+mn-lt"/>
                          <a:ea typeface="+mn-ea"/>
                          <a:cs typeface="+mn-cs"/>
                        </a:rPr>
                        <a:t>NA</a:t>
                      </a:r>
                      <a:endParaRPr sz="600" b="1" kern="120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4002405651"/>
                  </a:ext>
                </a:extLst>
              </a:tr>
              <a:tr h="18288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create</a:t>
                      </a:r>
                    </a:p>
                  </a:txBody>
                  <a:tcPr>
                    <a:solidFill>
                      <a:schemeClr val="bg1"/>
                    </a:solidFill>
                  </a:tcPr>
                </a:tc>
                <a:tc vMerge="1">
                  <a:txBody>
                    <a:bodyPr/>
                    <a:lstStyle/>
                    <a:p>
                      <a:endParaRPr/>
                    </a:p>
                  </a:txBody>
                  <a:tcPr>
                    <a:solidFill>
                      <a:schemeClr val="bg1"/>
                    </a:solidFill>
                  </a:tcPr>
                </a:tc>
                <a:tc>
                  <a:txBody>
                    <a:bodyPr/>
                    <a:lstStyle/>
                    <a:p>
                      <a:pPr algn="ctr"/>
                      <a:r>
                        <a:rPr lang="en-US" sz="600" b="1" dirty="0">
                          <a:solidFill>
                            <a:schemeClr val="accent5"/>
                          </a:solidFill>
                        </a:rPr>
                        <a:t>-9%</a:t>
                      </a:r>
                    </a:p>
                  </a:txBody>
                  <a:tcPr>
                    <a:solidFill>
                      <a:schemeClr val="bg1"/>
                    </a:solidFill>
                  </a:tcPr>
                </a:tc>
                <a:tc vMerge="1">
                  <a:txBody>
                    <a:bodyPr/>
                    <a:lstStyle/>
                    <a:p>
                      <a:endParaRPr/>
                    </a:p>
                  </a:txBody>
                  <a:tcPr>
                    <a:solidFill>
                      <a:schemeClr val="bg1"/>
                    </a:solidFill>
                  </a:tcPr>
                </a:tc>
                <a:extLst>
                  <a:ext uri="{0D108BD9-81ED-4DB2-BD59-A6C34878D82A}">
                    <a16:rowId xmlns:a16="http://schemas.microsoft.com/office/drawing/2014/main" val="3088133438"/>
                  </a:ext>
                </a:extLst>
              </a:tr>
              <a:tr h="12192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write</a:t>
                      </a:r>
                    </a:p>
                  </a:txBody>
                  <a:tcPr>
                    <a:solidFill>
                      <a:schemeClr val="bg1"/>
                    </a:solidFill>
                  </a:tcPr>
                </a:tc>
                <a:tc vMerge="1">
                  <a:txBody>
                    <a:bodyPr/>
                    <a:lstStyle/>
                    <a:p>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chemeClr val="accent5"/>
                          </a:solidFill>
                        </a:rPr>
                        <a:t>-9%</a:t>
                      </a:r>
                    </a:p>
                  </a:txBody>
                  <a:tcPr>
                    <a:solidFill>
                      <a:schemeClr val="bg1"/>
                    </a:solidFill>
                  </a:tcPr>
                </a:tc>
                <a:tc vMerge="1">
                  <a:txBody>
                    <a:bodyPr/>
                    <a:lstStyle/>
                    <a:p>
                      <a:endParaRPr/>
                    </a:p>
                  </a:txBody>
                  <a:tcPr>
                    <a:solidFill>
                      <a:schemeClr val="bg1"/>
                    </a:solidFill>
                  </a:tcPr>
                </a:tc>
                <a:extLst>
                  <a:ext uri="{0D108BD9-81ED-4DB2-BD59-A6C34878D82A}">
                    <a16:rowId xmlns:a16="http://schemas.microsoft.com/office/drawing/2014/main" val="419240110"/>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read</a:t>
                      </a:r>
                    </a:p>
                  </a:txBody>
                  <a:tcPr>
                    <a:solidFill>
                      <a:schemeClr val="bg1"/>
                    </a:solidFill>
                  </a:tcPr>
                </a:tc>
                <a:tc vMerge="1">
                  <a:txBody>
                    <a:bodyPr/>
                    <a:lstStyle/>
                    <a:p>
                      <a:endParaRPr/>
                    </a:p>
                  </a:txBody>
                  <a:tcPr>
                    <a:solidFill>
                      <a:schemeClr val="bg1"/>
                    </a:solidFill>
                  </a:tcPr>
                </a:tc>
                <a:tc>
                  <a:txBody>
                    <a:bodyPr/>
                    <a:lstStyle/>
                    <a:p>
                      <a:pPr algn="ctr"/>
                      <a:r>
                        <a:rPr lang="en-US" sz="600" b="1" dirty="0">
                          <a:solidFill>
                            <a:schemeClr val="accent5"/>
                          </a:solidFill>
                        </a:rPr>
                        <a:t>-33%</a:t>
                      </a:r>
                    </a:p>
                  </a:txBody>
                  <a:tcPr>
                    <a:solidFill>
                      <a:schemeClr val="bg1"/>
                    </a:solidFill>
                  </a:tcPr>
                </a:tc>
                <a:tc vMerge="1">
                  <a:txBody>
                    <a:bodyPr/>
                    <a:lstStyle/>
                    <a:p>
                      <a:endParaRPr/>
                    </a:p>
                  </a:txBody>
                  <a:tcPr>
                    <a:solidFill>
                      <a:schemeClr val="bg1"/>
                    </a:solidFill>
                  </a:tcPr>
                </a:tc>
                <a:extLst>
                  <a:ext uri="{0D108BD9-81ED-4DB2-BD59-A6C34878D82A}">
                    <a16:rowId xmlns:a16="http://schemas.microsoft.com/office/drawing/2014/main" val="1571974276"/>
                  </a:ext>
                </a:extLst>
              </a:tr>
              <a:tr h="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 USB Disk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(RTOS)</a:t>
                      </a: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Init</a:t>
                      </a:r>
                    </a:p>
                  </a:txBody>
                  <a:tcP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a:solidFill>
                            <a:schemeClr val="tx1"/>
                          </a:solidFill>
                          <a:latin typeface="+mn-lt"/>
                          <a:ea typeface="+mn-ea"/>
                          <a:cs typeface="+mn-cs"/>
                        </a:rPr>
                        <a:t>NA</a:t>
                      </a:r>
                    </a:p>
                  </a:txBody>
                  <a:tcPr anchor="ctr">
                    <a:solidFill>
                      <a:schemeClr val="bg1"/>
                    </a:solidFill>
                  </a:tcPr>
                </a:tc>
                <a:tc>
                  <a:txBody>
                    <a:bodyPr/>
                    <a:lstStyle/>
                    <a:p>
                      <a:pPr algn="ctr"/>
                      <a:r>
                        <a:rPr lang="en-US" sz="600" b="1">
                          <a:solidFill>
                            <a:schemeClr val="accent5"/>
                          </a:solidFill>
                        </a:rPr>
                        <a:t>-29%</a:t>
                      </a:r>
                    </a:p>
                  </a:txBody>
                  <a:tcP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tx1"/>
                          </a:solidFill>
                          <a:latin typeface="+mn-lt"/>
                          <a:ea typeface="+mn-ea"/>
                          <a:cs typeface="+mn-cs"/>
                        </a:rPr>
                        <a:t>NA</a:t>
                      </a:r>
                    </a:p>
                  </a:txBody>
                  <a:tcPr anchor="ctr">
                    <a:solidFill>
                      <a:schemeClr val="bg1"/>
                    </a:solidFill>
                  </a:tcPr>
                </a:tc>
                <a:extLst>
                  <a:ext uri="{0D108BD9-81ED-4DB2-BD59-A6C34878D82A}">
                    <a16:rowId xmlns:a16="http://schemas.microsoft.com/office/drawing/2014/main" val="2895604631"/>
                  </a:ext>
                </a:extLst>
              </a:tr>
              <a:tr h="18288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create</a:t>
                      </a:r>
                    </a:p>
                  </a:txBody>
                  <a:tcPr>
                    <a:solidFill>
                      <a:schemeClr val="bg1"/>
                    </a:solidFill>
                  </a:tcPr>
                </a:tc>
                <a:tc vMerge="1">
                  <a:txBody>
                    <a:bodyPr/>
                    <a:lstStyle/>
                    <a:p>
                      <a:endParaRPr/>
                    </a:p>
                  </a:txBody>
                  <a:tcPr>
                    <a:solidFill>
                      <a:schemeClr val="bg1"/>
                    </a:solidFill>
                  </a:tcPr>
                </a:tc>
                <a:tc>
                  <a:txBody>
                    <a:bodyPr/>
                    <a:lstStyle/>
                    <a:p>
                      <a:pPr algn="ctr"/>
                      <a:r>
                        <a:rPr lang="en-US" sz="600" b="1">
                          <a:solidFill>
                            <a:srgbClr val="FF0000"/>
                          </a:solidFill>
                        </a:rPr>
                        <a:t>+88%</a:t>
                      </a:r>
                    </a:p>
                  </a:txBody>
                  <a:tcPr>
                    <a:solidFill>
                      <a:schemeClr val="bg1"/>
                    </a:solidFill>
                  </a:tcPr>
                </a:tc>
                <a:tc vMerge="1">
                  <a:txBody>
                    <a:bodyPr/>
                    <a:lstStyle/>
                    <a:p>
                      <a:endParaRPr/>
                    </a:p>
                  </a:txBody>
                  <a:tcPr>
                    <a:solidFill>
                      <a:schemeClr val="bg1"/>
                    </a:solidFill>
                  </a:tcPr>
                </a:tc>
                <a:extLst>
                  <a:ext uri="{0D108BD9-81ED-4DB2-BD59-A6C34878D82A}">
                    <a16:rowId xmlns:a16="http://schemas.microsoft.com/office/drawing/2014/main" val="2565589042"/>
                  </a:ext>
                </a:extLst>
              </a:tr>
              <a:tr h="12192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write</a:t>
                      </a:r>
                    </a:p>
                  </a:txBody>
                  <a:tcPr>
                    <a:solidFill>
                      <a:schemeClr val="bg1"/>
                    </a:solidFill>
                  </a:tcPr>
                </a:tc>
                <a:tc vMerge="1">
                  <a:txBody>
                    <a:bodyPr/>
                    <a:lstStyle/>
                    <a:p>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a:solidFill>
                            <a:srgbClr val="FF0000"/>
                          </a:solidFill>
                        </a:rPr>
                        <a:t>+41%</a:t>
                      </a:r>
                    </a:p>
                  </a:txBody>
                  <a:tcPr>
                    <a:solidFill>
                      <a:schemeClr val="bg1"/>
                    </a:solidFill>
                  </a:tcPr>
                </a:tc>
                <a:tc vMerge="1">
                  <a:txBody>
                    <a:bodyPr/>
                    <a:lstStyle/>
                    <a:p>
                      <a:endParaRPr/>
                    </a:p>
                  </a:txBody>
                  <a:tcPr>
                    <a:solidFill>
                      <a:schemeClr val="bg1"/>
                    </a:solidFill>
                  </a:tcPr>
                </a:tc>
                <a:extLst>
                  <a:ext uri="{0D108BD9-81ED-4DB2-BD59-A6C34878D82A}">
                    <a16:rowId xmlns:a16="http://schemas.microsoft.com/office/drawing/2014/main" val="379318870"/>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read</a:t>
                      </a:r>
                    </a:p>
                  </a:txBody>
                  <a:tcPr>
                    <a:solidFill>
                      <a:schemeClr val="bg1"/>
                    </a:solidFill>
                  </a:tcPr>
                </a:tc>
                <a:tc vMerge="1">
                  <a:txBody>
                    <a:bodyPr/>
                    <a:lstStyle/>
                    <a:p>
                      <a:endParaRPr/>
                    </a:p>
                  </a:txBody>
                  <a:tcPr>
                    <a:solidFill>
                      <a:schemeClr val="bg1"/>
                    </a:solidFill>
                  </a:tcPr>
                </a:tc>
                <a:tc>
                  <a:txBody>
                    <a:bodyPr/>
                    <a:lstStyle/>
                    <a:p>
                      <a:pPr algn="ctr"/>
                      <a:r>
                        <a:rPr lang="en-US" sz="600" b="1" dirty="0">
                          <a:solidFill>
                            <a:srgbClr val="FFC000"/>
                          </a:solidFill>
                        </a:rPr>
                        <a:t>+2%</a:t>
                      </a:r>
                    </a:p>
                  </a:txBody>
                  <a:tcPr>
                    <a:solidFill>
                      <a:schemeClr val="bg1"/>
                    </a:solidFill>
                  </a:tcPr>
                </a:tc>
                <a:tc vMerge="1">
                  <a:txBody>
                    <a:bodyPr/>
                    <a:lstStyle/>
                    <a:p>
                      <a:endParaRPr/>
                    </a:p>
                  </a:txBody>
                  <a:tcPr>
                    <a:solidFill>
                      <a:schemeClr val="bg1"/>
                    </a:solidFill>
                  </a:tcPr>
                </a:tc>
                <a:extLst>
                  <a:ext uri="{0D108BD9-81ED-4DB2-BD59-A6C34878D82A}">
                    <a16:rowId xmlns:a16="http://schemas.microsoft.com/office/drawing/2014/main" val="2431456976"/>
                  </a:ext>
                </a:extLst>
              </a:tr>
            </a:tbl>
          </a:graphicData>
        </a:graphic>
      </p:graphicFrame>
      <p:sp>
        <p:nvSpPr>
          <p:cNvPr id="2" name="Title 1">
            <a:extLst>
              <a:ext uri="{FF2B5EF4-FFF2-40B4-BE49-F238E27FC236}">
                <a16:creationId xmlns:a16="http://schemas.microsoft.com/office/drawing/2014/main" id="{D1557399-1BDC-5DD4-D400-372CFD2518A6}"/>
              </a:ext>
            </a:extLst>
          </p:cNvPr>
          <p:cNvSpPr>
            <a:spLocks noGrp="1"/>
          </p:cNvSpPr>
          <p:nvPr>
            <p:ph type="title"/>
          </p:nvPr>
        </p:nvSpPr>
        <p:spPr>
          <a:xfrm>
            <a:off x="232519" y="179174"/>
            <a:ext cx="11609159" cy="640081"/>
          </a:xfrm>
        </p:spPr>
        <p:txBody>
          <a:bodyPr/>
          <a:lstStyle/>
          <a:p>
            <a:r>
              <a:rPr lang="en-US" sz="2800" dirty="0"/>
              <a:t>ST Competitors MW Benchmark: Execution Time summary</a:t>
            </a:r>
          </a:p>
        </p:txBody>
      </p:sp>
      <p:sp>
        <p:nvSpPr>
          <p:cNvPr id="11" name="TextBox 10">
            <a:extLst>
              <a:ext uri="{FF2B5EF4-FFF2-40B4-BE49-F238E27FC236}">
                <a16:creationId xmlns:a16="http://schemas.microsoft.com/office/drawing/2014/main" id="{7A899E61-913E-EBF5-B770-4791EB273EA2}"/>
              </a:ext>
            </a:extLst>
          </p:cNvPr>
          <p:cNvSpPr txBox="1"/>
          <p:nvPr/>
        </p:nvSpPr>
        <p:spPr>
          <a:xfrm>
            <a:off x="4534591" y="776200"/>
            <a:ext cx="2537842" cy="246221"/>
          </a:xfrm>
          <a:prstGeom prst="rect">
            <a:avLst/>
          </a:prstGeom>
          <a:noFill/>
        </p:spPr>
        <p:txBody>
          <a:bodyPr wrap="square" rtlCol="0">
            <a:spAutoFit/>
          </a:bodyPr>
          <a:lstStyle/>
          <a:p>
            <a:pPr lvl="0">
              <a:defRPr/>
            </a:pPr>
            <a:r>
              <a:rPr kumimoji="0" lang="en-US" sz="1000" b="0" i="0" u="none" strike="noStrike" kern="1200" cap="none" spc="0" normalizeH="0" baseline="0" noProof="0">
                <a:ln>
                  <a:noFill/>
                </a:ln>
                <a:solidFill>
                  <a:srgbClr val="464650"/>
                </a:solidFill>
                <a:effectLst/>
                <a:uLnTx/>
                <a:uFillTx/>
                <a:latin typeface="Arial"/>
                <a:ea typeface="+mn-ea"/>
                <a:cs typeface="+mn-cs"/>
              </a:rPr>
              <a:t>File System </a:t>
            </a:r>
            <a:r>
              <a:rPr kumimoji="0" lang="en-US" sz="1000" b="0" i="0" u="none" strike="noStrike" kern="1200" cap="none" spc="0" normalizeH="0" baseline="0" noProof="0" err="1">
                <a:ln>
                  <a:noFill/>
                </a:ln>
                <a:solidFill>
                  <a:srgbClr val="464650"/>
                </a:solidFill>
                <a:effectLst/>
                <a:uLnTx/>
                <a:uFillTx/>
                <a:latin typeface="Arial"/>
                <a:ea typeface="+mn-ea"/>
                <a:cs typeface="+mn-cs"/>
              </a:rPr>
              <a:t>FatFS</a:t>
            </a:r>
            <a:r>
              <a:rPr kumimoji="0" lang="en-US" sz="1000" b="0" i="0" u="none" strike="noStrike" kern="1200" cap="none" spc="0" normalizeH="0" baseline="0" noProof="0">
                <a:ln>
                  <a:noFill/>
                </a:ln>
                <a:solidFill>
                  <a:srgbClr val="464650"/>
                </a:solidFill>
                <a:effectLst/>
                <a:uLnTx/>
                <a:uFillTx/>
                <a:latin typeface="Arial"/>
                <a:ea typeface="+mn-ea"/>
                <a:cs typeface="+mn-cs"/>
              </a:rPr>
              <a:t> R0.15 </a:t>
            </a:r>
            <a:r>
              <a:rPr lang="en-US" sz="1000">
                <a:solidFill>
                  <a:schemeClr val="tx2"/>
                </a:solidFill>
              </a:rPr>
              <a:t>Execution Time</a:t>
            </a:r>
            <a:endParaRPr kumimoji="0" lang="en-US" sz="1000" b="0" i="0" u="none" strike="noStrike" kern="1200" cap="none" spc="0" normalizeH="0" baseline="0" noProof="0">
              <a:ln>
                <a:noFill/>
              </a:ln>
              <a:solidFill>
                <a:srgbClr val="464650"/>
              </a:solidFill>
              <a:effectLst/>
              <a:uLnTx/>
              <a:uFillTx/>
              <a:latin typeface="Arial"/>
              <a:ea typeface="+mn-ea"/>
              <a:cs typeface="+mn-cs"/>
            </a:endParaRPr>
          </a:p>
        </p:txBody>
      </p:sp>
      <p:sp>
        <p:nvSpPr>
          <p:cNvPr id="7" name="TextBox 6">
            <a:extLst>
              <a:ext uri="{FF2B5EF4-FFF2-40B4-BE49-F238E27FC236}">
                <a16:creationId xmlns:a16="http://schemas.microsoft.com/office/drawing/2014/main" id="{56F7DD1C-8E93-5DD9-8F07-DD1108A04EEC}"/>
              </a:ext>
            </a:extLst>
          </p:cNvPr>
          <p:cNvSpPr txBox="1"/>
          <p:nvPr/>
        </p:nvSpPr>
        <p:spPr>
          <a:xfrm>
            <a:off x="52692" y="801710"/>
            <a:ext cx="4195458" cy="246221"/>
          </a:xfrm>
          <a:prstGeom prst="rect">
            <a:avLst/>
          </a:prstGeom>
          <a:noFill/>
        </p:spPr>
        <p:txBody>
          <a:bodyPr wrap="square" rtlCol="0">
            <a:spAutoFit/>
          </a:bodyPr>
          <a:lstStyle/>
          <a:p>
            <a:pPr lvl="0">
              <a:defRPr/>
            </a:pPr>
            <a:r>
              <a:rPr kumimoji="0" lang="en-US" sz="1000" b="0" i="0" u="none" strike="noStrike" kern="1200" cap="none" spc="0" normalizeH="0" baseline="0" noProof="0">
                <a:ln>
                  <a:noFill/>
                </a:ln>
                <a:solidFill>
                  <a:srgbClr val="464650"/>
                </a:solidFill>
                <a:effectLst/>
                <a:uLnTx/>
                <a:uFillTx/>
                <a:latin typeface="Arial"/>
                <a:ea typeface="+mn-ea"/>
                <a:cs typeface="+mn-cs"/>
              </a:rPr>
              <a:t>USB Native Library </a:t>
            </a:r>
            <a:r>
              <a:rPr lang="en-US" sz="1000">
                <a:solidFill>
                  <a:schemeClr val="tx2"/>
                </a:solidFill>
              </a:rPr>
              <a:t>Execution Time</a:t>
            </a:r>
            <a:endParaRPr kumimoji="0" lang="en-US" sz="1000" b="0" i="0" u="none" strike="noStrike" kern="1200" cap="none" spc="0" normalizeH="0" baseline="0" noProof="0">
              <a:ln>
                <a:noFill/>
              </a:ln>
              <a:solidFill>
                <a:srgbClr val="464650"/>
              </a:solidFill>
              <a:effectLst/>
              <a:uLnTx/>
              <a:uFillTx/>
              <a:latin typeface="Arial"/>
              <a:ea typeface="+mn-ea"/>
              <a:cs typeface="+mn-cs"/>
            </a:endParaRPr>
          </a:p>
        </p:txBody>
      </p:sp>
      <p:sp>
        <p:nvSpPr>
          <p:cNvPr id="16" name="TextBox 15">
            <a:extLst>
              <a:ext uri="{FF2B5EF4-FFF2-40B4-BE49-F238E27FC236}">
                <a16:creationId xmlns:a16="http://schemas.microsoft.com/office/drawing/2014/main" id="{3AA87F3E-FB7B-D400-0459-C80BDB7D16FF}"/>
              </a:ext>
            </a:extLst>
          </p:cNvPr>
          <p:cNvSpPr txBox="1"/>
          <p:nvPr/>
        </p:nvSpPr>
        <p:spPr>
          <a:xfrm>
            <a:off x="8410740" y="3360069"/>
            <a:ext cx="3199521" cy="246221"/>
          </a:xfrm>
          <a:prstGeom prst="rect">
            <a:avLst/>
          </a:prstGeom>
          <a:noFill/>
        </p:spPr>
        <p:txBody>
          <a:bodyPr wrap="square">
            <a:spAutoFit/>
          </a:bodyPr>
          <a:lstStyle/>
          <a:p>
            <a:pPr lvl="0">
              <a:defRPr/>
            </a:pPr>
            <a:r>
              <a:rPr kumimoji="0" lang="en-US" sz="1000" b="0" i="0" u="none" strike="noStrike" kern="1200" cap="none" spc="0" normalizeH="0" baseline="0" noProof="0" dirty="0" err="1">
                <a:ln>
                  <a:noFill/>
                </a:ln>
                <a:solidFill>
                  <a:srgbClr val="464650"/>
                </a:solidFill>
                <a:effectLst/>
                <a:uLnTx/>
                <a:uFillTx/>
                <a:latin typeface="Arial"/>
                <a:ea typeface="+mn-ea"/>
                <a:cs typeface="+mn-cs"/>
              </a:rPr>
              <a:t>AzureRTOS</a:t>
            </a:r>
            <a:r>
              <a:rPr kumimoji="0" lang="en-US" sz="1000" b="0" i="0" u="none" strike="noStrike" kern="1200" cap="none" spc="0" normalizeH="0" baseline="0" noProof="0" dirty="0">
                <a:ln>
                  <a:noFill/>
                </a:ln>
                <a:solidFill>
                  <a:srgbClr val="464650"/>
                </a:solidFill>
                <a:effectLst/>
                <a:uLnTx/>
                <a:uFillTx/>
                <a:latin typeface="Arial"/>
                <a:ea typeface="+mn-ea"/>
                <a:cs typeface="+mn-cs"/>
              </a:rPr>
              <a:t> </a:t>
            </a:r>
            <a:r>
              <a:rPr kumimoji="0" lang="en-US" sz="1000" b="0" i="0" u="none" strike="noStrike" kern="1200" cap="none" spc="0" normalizeH="0" baseline="0" noProof="0" dirty="0" err="1">
                <a:ln>
                  <a:noFill/>
                </a:ln>
                <a:solidFill>
                  <a:srgbClr val="464650"/>
                </a:solidFill>
                <a:effectLst/>
                <a:uLnTx/>
                <a:uFillTx/>
                <a:latin typeface="Arial"/>
                <a:ea typeface="+mn-ea"/>
                <a:cs typeface="+mn-cs"/>
              </a:rPr>
              <a:t>ThreadX</a:t>
            </a:r>
            <a:r>
              <a:rPr kumimoji="0" lang="en-US" sz="1000" b="0" i="0" u="none" strike="noStrike" kern="1200" cap="none" spc="0" normalizeH="0" baseline="0" noProof="0" dirty="0">
                <a:ln>
                  <a:noFill/>
                </a:ln>
                <a:solidFill>
                  <a:srgbClr val="464650"/>
                </a:solidFill>
                <a:effectLst/>
                <a:uLnTx/>
                <a:uFillTx/>
                <a:latin typeface="Arial"/>
                <a:ea typeface="+mn-ea"/>
                <a:cs typeface="+mn-cs"/>
              </a:rPr>
              <a:t> V6.4.0 </a:t>
            </a:r>
            <a:r>
              <a:rPr lang="en-US" sz="1000" dirty="0">
                <a:solidFill>
                  <a:schemeClr val="tx2"/>
                </a:solidFill>
              </a:rPr>
              <a:t>Performance</a:t>
            </a:r>
            <a:endParaRPr kumimoji="0" lang="en-US" sz="1000" b="0" i="0" u="none" strike="noStrike" kern="1200" cap="none" spc="0" normalizeH="0" baseline="0" noProof="0" dirty="0">
              <a:ln>
                <a:noFill/>
              </a:ln>
              <a:solidFill>
                <a:srgbClr val="464650"/>
              </a:solidFill>
              <a:effectLst/>
              <a:uLnTx/>
              <a:uFillTx/>
              <a:latin typeface="Arial"/>
              <a:ea typeface="+mn-ea"/>
              <a:cs typeface="+mn-cs"/>
            </a:endParaRPr>
          </a:p>
        </p:txBody>
      </p:sp>
      <p:sp>
        <p:nvSpPr>
          <p:cNvPr id="22" name="TextBox 21">
            <a:extLst>
              <a:ext uri="{FF2B5EF4-FFF2-40B4-BE49-F238E27FC236}">
                <a16:creationId xmlns:a16="http://schemas.microsoft.com/office/drawing/2014/main" id="{30FCE80B-798C-1329-5E2D-5226BE8A1EBE}"/>
              </a:ext>
            </a:extLst>
          </p:cNvPr>
          <p:cNvSpPr txBox="1"/>
          <p:nvPr/>
        </p:nvSpPr>
        <p:spPr>
          <a:xfrm>
            <a:off x="5141788" y="3594439"/>
            <a:ext cx="2820505" cy="246221"/>
          </a:xfrm>
          <a:prstGeom prst="rect">
            <a:avLst/>
          </a:prstGeom>
          <a:noFill/>
        </p:spPr>
        <p:txBody>
          <a:bodyPr wrap="square" rtlCol="0">
            <a:spAutoFit/>
          </a:bodyPr>
          <a:lstStyle/>
          <a:p>
            <a:pPr lvl="0">
              <a:defRPr/>
            </a:pPr>
            <a:r>
              <a:rPr kumimoji="0" lang="en-US" sz="1000" b="0" i="0" u="none" strike="noStrike" kern="1200" cap="none" spc="0" normalizeH="0" baseline="0" noProof="0" err="1">
                <a:ln>
                  <a:noFill/>
                </a:ln>
                <a:solidFill>
                  <a:srgbClr val="464650"/>
                </a:solidFill>
                <a:effectLst/>
                <a:uLnTx/>
                <a:uFillTx/>
                <a:latin typeface="Arial"/>
                <a:ea typeface="+mn-ea"/>
                <a:cs typeface="+mn-cs"/>
              </a:rPr>
              <a:t>AzureRTOS</a:t>
            </a:r>
            <a:r>
              <a:rPr kumimoji="0" lang="en-US" sz="1000" b="0" i="0" u="none" strike="noStrike" kern="1200" cap="none" spc="0" normalizeH="0" baseline="0" noProof="0">
                <a:ln>
                  <a:noFill/>
                </a:ln>
                <a:solidFill>
                  <a:srgbClr val="464650"/>
                </a:solidFill>
                <a:effectLst/>
                <a:uLnTx/>
                <a:uFillTx/>
                <a:latin typeface="Arial"/>
                <a:ea typeface="+mn-ea"/>
                <a:cs typeface="+mn-cs"/>
              </a:rPr>
              <a:t> FileX V6.4.0 </a:t>
            </a:r>
            <a:r>
              <a:rPr lang="en-US" sz="1000">
                <a:solidFill>
                  <a:schemeClr val="tx2"/>
                </a:solidFill>
              </a:rPr>
              <a:t>Execution Time</a:t>
            </a:r>
            <a:endParaRPr kumimoji="0" lang="en-US" sz="1000" b="0" i="0" u="none" strike="noStrike" kern="1200" cap="none" spc="0" normalizeH="0" baseline="0" noProof="0">
              <a:ln>
                <a:noFill/>
              </a:ln>
              <a:solidFill>
                <a:srgbClr val="464650"/>
              </a:solidFill>
              <a:effectLst/>
              <a:uLnTx/>
              <a:uFillTx/>
              <a:latin typeface="Arial"/>
              <a:ea typeface="+mn-ea"/>
              <a:cs typeface="+mn-cs"/>
            </a:endParaRPr>
          </a:p>
        </p:txBody>
      </p:sp>
      <p:graphicFrame>
        <p:nvGraphicFramePr>
          <p:cNvPr id="24" name="Table 23">
            <a:extLst>
              <a:ext uri="{FF2B5EF4-FFF2-40B4-BE49-F238E27FC236}">
                <a16:creationId xmlns:a16="http://schemas.microsoft.com/office/drawing/2014/main" id="{CA171EB7-0B8A-34BC-AA82-075CE3AD396E}"/>
              </a:ext>
            </a:extLst>
          </p:cNvPr>
          <p:cNvGraphicFramePr>
            <a:graphicFrameLocks noGrp="1"/>
          </p:cNvGraphicFramePr>
          <p:nvPr>
            <p:extLst>
              <p:ext uri="{D42A27DB-BD31-4B8C-83A1-F6EECF244321}">
                <p14:modId xmlns:p14="http://schemas.microsoft.com/office/powerpoint/2010/main" val="3853401030"/>
              </p:ext>
            </p:extLst>
          </p:nvPr>
        </p:nvGraphicFramePr>
        <p:xfrm>
          <a:off x="112569" y="1031022"/>
          <a:ext cx="4126585" cy="2285699"/>
        </p:xfrm>
        <a:graphic>
          <a:graphicData uri="http://schemas.openxmlformats.org/drawingml/2006/table">
            <a:tbl>
              <a:tblPr firstRow="1" bandRow="1">
                <a:tableStyleId>{5940675A-B579-460E-94D1-54222C63F5DA}</a:tableStyleId>
              </a:tblPr>
              <a:tblGrid>
                <a:gridCol w="881038">
                  <a:extLst>
                    <a:ext uri="{9D8B030D-6E8A-4147-A177-3AD203B41FA5}">
                      <a16:colId xmlns:a16="http://schemas.microsoft.com/office/drawing/2014/main" val="368163055"/>
                    </a:ext>
                  </a:extLst>
                </a:gridCol>
                <a:gridCol w="1021402">
                  <a:extLst>
                    <a:ext uri="{9D8B030D-6E8A-4147-A177-3AD203B41FA5}">
                      <a16:colId xmlns:a16="http://schemas.microsoft.com/office/drawing/2014/main" val="2129086174"/>
                    </a:ext>
                  </a:extLst>
                </a:gridCol>
                <a:gridCol w="665099">
                  <a:extLst>
                    <a:ext uri="{9D8B030D-6E8A-4147-A177-3AD203B41FA5}">
                      <a16:colId xmlns:a16="http://schemas.microsoft.com/office/drawing/2014/main" val="192659996"/>
                    </a:ext>
                  </a:extLst>
                </a:gridCol>
                <a:gridCol w="795744">
                  <a:extLst>
                    <a:ext uri="{9D8B030D-6E8A-4147-A177-3AD203B41FA5}">
                      <a16:colId xmlns:a16="http://schemas.microsoft.com/office/drawing/2014/main" val="2023152432"/>
                    </a:ext>
                  </a:extLst>
                </a:gridCol>
                <a:gridCol w="763302">
                  <a:extLst>
                    <a:ext uri="{9D8B030D-6E8A-4147-A177-3AD203B41FA5}">
                      <a16:colId xmlns:a16="http://schemas.microsoft.com/office/drawing/2014/main" val="3335775662"/>
                    </a:ext>
                  </a:extLst>
                </a:gridCol>
              </a:tblGrid>
              <a:tr h="274019">
                <a:tc gridSpan="2">
                  <a:txBody>
                    <a:bodyPr/>
                    <a:lstStyle/>
                    <a:p>
                      <a:endParaRPr lang="en-US" sz="600" b="1" dirty="0">
                        <a:solidFill>
                          <a:schemeClr val="bg1"/>
                        </a:solidFill>
                      </a:endParaRPr>
                    </a:p>
                  </a:txBody>
                  <a:tcPr>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chemeClr val="bg1"/>
                          </a:solidFill>
                        </a:rPr>
                        <a:t>ST vs TI</a:t>
                      </a:r>
                    </a:p>
                  </a:txBody>
                  <a:tcPr>
                    <a:solidFill>
                      <a:schemeClr val="accent1"/>
                    </a:solidFill>
                  </a:tcPr>
                </a:tc>
                <a:tc>
                  <a:txBody>
                    <a:bodyPr/>
                    <a:lstStyle/>
                    <a:p>
                      <a:pPr algn="ctr"/>
                      <a:r>
                        <a:rPr lang="en-US" sz="600" b="1" dirty="0">
                          <a:solidFill>
                            <a:schemeClr val="bg1"/>
                          </a:solidFill>
                        </a:rPr>
                        <a:t>ST vs RA</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bg1"/>
                          </a:solidFill>
                          <a:latin typeface="+mn-lt"/>
                          <a:ea typeface="+mn-ea"/>
                          <a:cs typeface="+mn-cs"/>
                        </a:rPr>
                        <a:t>ST vs NXP</a:t>
                      </a:r>
                    </a:p>
                  </a:txBody>
                  <a:tcPr>
                    <a:solidFill>
                      <a:schemeClr val="accent1"/>
                    </a:solidFill>
                  </a:tcPr>
                </a:tc>
                <a:extLst>
                  <a:ext uri="{0D108BD9-81ED-4DB2-BD59-A6C34878D82A}">
                    <a16:rowId xmlns:a16="http://schemas.microsoft.com/office/drawing/2014/main" val="1490288134"/>
                  </a:ext>
                </a:extLst>
              </a:tr>
              <a:tr h="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dirty="0">
                        <a:solidFill>
                          <a:schemeClr val="accent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CDC Device Class (BareMetal)</a:t>
                      </a:r>
                    </a:p>
                    <a:p>
                      <a:pPr marL="0" marR="0" lvl="0" indent="0" algn="l" defTabSz="914400" rtl="0" eaLnBrk="1" fontAlgn="auto" latinLnBrk="0" hangingPunct="1">
                        <a:lnSpc>
                          <a:spcPct val="100000"/>
                        </a:lnSpc>
                        <a:spcBef>
                          <a:spcPts val="0"/>
                        </a:spcBef>
                        <a:spcAft>
                          <a:spcPts val="0"/>
                        </a:spcAft>
                        <a:buClrTx/>
                        <a:buSzTx/>
                        <a:buFontTx/>
                        <a:buNone/>
                        <a:tabLst/>
                        <a:defRPr/>
                      </a:pPr>
                      <a:endParaRPr sz="800" b="1" kern="1200" dirty="0">
                        <a:solidFill>
                          <a:schemeClr val="accent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accent3"/>
                          </a:solidFill>
                          <a:latin typeface="+mn-lt"/>
                          <a:ea typeface="+mn-ea"/>
                          <a:cs typeface="+mn-cs"/>
                        </a:rPr>
                        <a:t>Init</a:t>
                      </a:r>
                    </a:p>
                  </a:txBody>
                  <a:tcPr>
                    <a:lnR w="12700" cap="flat" cmpd="sng" algn="ctr">
                      <a:solidFill>
                        <a:schemeClr val="tx1"/>
                      </a:solidFill>
                      <a:prstDash val="solid"/>
                      <a:round/>
                      <a:headEnd type="none" w="med" len="med"/>
                      <a:tailEnd type="none" w="med" len="med"/>
                    </a:ln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tx1"/>
                          </a:solidFill>
                          <a:latin typeface="+mn-lt"/>
                          <a:ea typeface="+mn-ea"/>
                          <a:cs typeface="+mn-cs"/>
                        </a:rPr>
                        <a:t>NA</a:t>
                      </a:r>
                    </a:p>
                    <a:p>
                      <a:pPr marL="0" marR="0" lvl="0" indent="0" algn="ctr" defTabSz="914400" rtl="0" eaLnBrk="1" fontAlgn="auto" latinLnBrk="0" hangingPunct="1">
                        <a:lnSpc>
                          <a:spcPct val="100000"/>
                        </a:lnSpc>
                        <a:spcBef>
                          <a:spcPts val="0"/>
                        </a:spcBef>
                        <a:spcAft>
                          <a:spcPts val="0"/>
                        </a:spcAft>
                        <a:buClrTx/>
                        <a:buSzTx/>
                        <a:buFontTx/>
                        <a:buNone/>
                        <a:tabLst/>
                        <a:defRPr/>
                      </a:pPr>
                      <a:endParaRPr sz="6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tx1"/>
                          </a:solidFill>
                          <a:latin typeface="+mn-lt"/>
                          <a:ea typeface="+mn-ea"/>
                          <a:cs typeface="+mn-cs"/>
                        </a:rPr>
                        <a:t>Not Done</a:t>
                      </a:r>
                    </a:p>
                    <a:p>
                      <a:pPr marL="0" marR="0" lvl="0" indent="0" algn="ctr" defTabSz="914400" rtl="0" eaLnBrk="1" fontAlgn="auto" latinLnBrk="0" hangingPunct="1">
                        <a:lnSpc>
                          <a:spcPct val="100000"/>
                        </a:lnSpc>
                        <a:spcBef>
                          <a:spcPts val="0"/>
                        </a:spcBef>
                        <a:spcAft>
                          <a:spcPts val="0"/>
                        </a:spcAft>
                        <a:buClrTx/>
                        <a:buSzTx/>
                        <a:buFontTx/>
                        <a:buNone/>
                        <a:tabLst/>
                        <a:defRPr/>
                      </a:pPr>
                      <a:endParaRPr sz="600" b="1" kern="1200" dirty="0">
                        <a:solidFill>
                          <a:schemeClr val="tx1"/>
                        </a:solidFill>
                        <a:latin typeface="+mn-lt"/>
                        <a:ea typeface="+mn-ea"/>
                        <a:cs typeface="+mn-cs"/>
                      </a:endParaRPr>
                    </a:p>
                  </a:txBody>
                  <a:tcPr anchor="ctr">
                    <a:solidFill>
                      <a:schemeClr val="bg1"/>
                    </a:solidFill>
                  </a:tcPr>
                </a:tc>
                <a:tc>
                  <a:txBody>
                    <a:bodyPr/>
                    <a:lstStyle/>
                    <a:p>
                      <a:pPr algn="ctr"/>
                      <a:r>
                        <a:rPr lang="en-US" sz="600" b="1" dirty="0">
                          <a:solidFill>
                            <a:srgbClr val="FF0000"/>
                          </a:solidFill>
                        </a:rPr>
                        <a:t>+22%</a:t>
                      </a:r>
                    </a:p>
                  </a:txBody>
                  <a:tcPr>
                    <a:solidFill>
                      <a:schemeClr val="bg1"/>
                    </a:solidFill>
                  </a:tcPr>
                </a:tc>
                <a:extLst>
                  <a:ext uri="{0D108BD9-81ED-4DB2-BD59-A6C34878D82A}">
                    <a16:rowId xmlns:a16="http://schemas.microsoft.com/office/drawing/2014/main" val="4002405651"/>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accent3"/>
                          </a:solidFill>
                          <a:latin typeface="+mn-lt"/>
                          <a:ea typeface="+mn-ea"/>
                          <a:cs typeface="+mn-cs"/>
                        </a:rPr>
                        <a:t>Enumeration</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en-US" sz="600" b="1" dirty="0">
                          <a:solidFill>
                            <a:srgbClr val="FF0000"/>
                          </a:solidFill>
                        </a:rPr>
                        <a:t>+2%</a:t>
                      </a:r>
                    </a:p>
                  </a:txBody>
                  <a:tcPr>
                    <a:solidFill>
                      <a:schemeClr val="bg1"/>
                    </a:solidFill>
                  </a:tcPr>
                </a:tc>
                <a:extLst>
                  <a:ext uri="{0D108BD9-81ED-4DB2-BD59-A6C34878D82A}">
                    <a16:rowId xmlns:a16="http://schemas.microsoft.com/office/drawing/2014/main" val="84592604"/>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accent3"/>
                          </a:solidFill>
                          <a:latin typeface="+mn-lt"/>
                          <a:ea typeface="+mn-ea"/>
                          <a:cs typeface="+mn-cs"/>
                        </a:rPr>
                        <a:t>Transmit</a:t>
                      </a:r>
                      <a:endParaRPr lang="en-US" sz="600" b="0" kern="1200" dirty="0">
                        <a:solidFill>
                          <a:schemeClr val="accent3"/>
                        </a:solidFill>
                        <a:highlight>
                          <a:srgbClr val="FFFF00"/>
                        </a:highlight>
                        <a:latin typeface="+mn-lt"/>
                        <a:ea typeface="+mn-ea"/>
                        <a:cs typeface="+mn-cs"/>
                      </a:endParaRP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en-US" sz="600" b="1" dirty="0">
                          <a:solidFill>
                            <a:srgbClr val="00B050"/>
                          </a:solidFill>
                        </a:rPr>
                        <a:t>-1%</a:t>
                      </a:r>
                    </a:p>
                  </a:txBody>
                  <a:tcPr>
                    <a:solidFill>
                      <a:schemeClr val="bg1"/>
                    </a:solidFill>
                  </a:tcPr>
                </a:tc>
                <a:extLst>
                  <a:ext uri="{0D108BD9-81ED-4DB2-BD59-A6C34878D82A}">
                    <a16:rowId xmlns:a16="http://schemas.microsoft.com/office/drawing/2014/main" val="780004407"/>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accent3"/>
                          </a:solidFill>
                          <a:latin typeface="+mn-lt"/>
                          <a:ea typeface="+mn-ea"/>
                          <a:cs typeface="+mn-cs"/>
                        </a:rPr>
                        <a:t>Receive</a:t>
                      </a:r>
                    </a:p>
                  </a:txBody>
                  <a:tcPr>
                    <a:lnB w="12700" cap="flat" cmpd="sng" algn="ctr">
                      <a:solidFill>
                        <a:schemeClr val="tx1"/>
                      </a:solidFill>
                      <a:prstDash val="solid"/>
                      <a:round/>
                      <a:headEnd type="none" w="med" len="med"/>
                      <a:tailEnd type="none" w="med" len="med"/>
                    </a:lnB>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en-US" sz="600" b="1" dirty="0">
                          <a:solidFill>
                            <a:srgbClr val="00B050"/>
                          </a:solidFill>
                        </a:rPr>
                        <a:t>0%</a:t>
                      </a:r>
                    </a:p>
                  </a:txBody>
                  <a:tcPr>
                    <a:solidFill>
                      <a:schemeClr val="bg1"/>
                    </a:solidFill>
                  </a:tcPr>
                </a:tc>
                <a:extLst>
                  <a:ext uri="{0D108BD9-81ED-4DB2-BD59-A6C34878D82A}">
                    <a16:rowId xmlns:a16="http://schemas.microsoft.com/office/drawing/2014/main" val="4095691427"/>
                  </a:ext>
                </a:extLst>
              </a:tr>
              <a:tr h="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HID Device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(BareMetal)</a:t>
                      </a:r>
                    </a:p>
                  </a:txBody>
                  <a:tcP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Init</a:t>
                      </a:r>
                    </a:p>
                  </a:txBody>
                  <a:tcPr>
                    <a:lnT w="12700" cap="flat" cmpd="sng" algn="ctr">
                      <a:solidFill>
                        <a:schemeClr val="tx1"/>
                      </a:solidFill>
                      <a:prstDash val="solid"/>
                      <a:round/>
                      <a:headEnd type="none" w="med" len="med"/>
                      <a:tailEnd type="none" w="med" len="med"/>
                    </a:lnT>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a:solidFill>
                            <a:schemeClr val="tx1"/>
                          </a:solidFill>
                          <a:latin typeface="+mn-lt"/>
                          <a:ea typeface="+mn-ea"/>
                          <a:cs typeface="+mn-cs"/>
                        </a:rPr>
                        <a:t>NA</a:t>
                      </a:r>
                    </a:p>
                  </a:txBody>
                  <a:tcPr anchor="ctr">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chemeClr val="tx1"/>
                          </a:solidFill>
                        </a:rPr>
                        <a:t>Not Done</a:t>
                      </a:r>
                    </a:p>
                  </a:txBody>
                  <a:tcPr anchor="ctr">
                    <a:solidFill>
                      <a:schemeClr val="bg1"/>
                    </a:solidFill>
                  </a:tcPr>
                </a:tc>
                <a:tc>
                  <a:txBody>
                    <a:bodyPr/>
                    <a:lstStyle/>
                    <a:p>
                      <a:pPr algn="ctr"/>
                      <a:r>
                        <a:rPr lang="en-US" sz="600" b="1" dirty="0">
                          <a:solidFill>
                            <a:srgbClr val="FF0000"/>
                          </a:solidFill>
                        </a:rPr>
                        <a:t>+100%</a:t>
                      </a:r>
                    </a:p>
                  </a:txBody>
                  <a:tcPr>
                    <a:solidFill>
                      <a:schemeClr val="bg1"/>
                    </a:solidFill>
                  </a:tcPr>
                </a:tc>
                <a:extLst>
                  <a:ext uri="{0D108BD9-81ED-4DB2-BD59-A6C34878D82A}">
                    <a16:rowId xmlns:a16="http://schemas.microsoft.com/office/drawing/2014/main" val="253696023"/>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Enumeration</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fr-FR" sz="600" b="1" dirty="0">
                          <a:solidFill>
                            <a:srgbClr val="00B050"/>
                          </a:solidFill>
                        </a:rPr>
                        <a:t>-1%</a:t>
                      </a:r>
                      <a:endParaRPr lang="en-US" sz="600" b="1" dirty="0">
                        <a:solidFill>
                          <a:srgbClr val="00B050"/>
                        </a:solidFill>
                      </a:endParaRPr>
                    </a:p>
                  </a:txBody>
                  <a:tcPr>
                    <a:solidFill>
                      <a:schemeClr val="bg1"/>
                    </a:solidFill>
                  </a:tcPr>
                </a:tc>
                <a:extLst>
                  <a:ext uri="{0D108BD9-81ED-4DB2-BD59-A6C34878D82A}">
                    <a16:rowId xmlns:a16="http://schemas.microsoft.com/office/drawing/2014/main" val="2864106151"/>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accent3"/>
                          </a:solidFill>
                          <a:latin typeface="+mn-lt"/>
                          <a:ea typeface="+mn-ea"/>
                          <a:cs typeface="+mn-cs"/>
                        </a:rPr>
                        <a:t>Data transmission</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fr-FR" sz="600" b="1" dirty="0">
                          <a:solidFill>
                            <a:srgbClr val="00B050"/>
                          </a:solidFill>
                        </a:rPr>
                        <a:t>0%</a:t>
                      </a:r>
                      <a:endParaRPr lang="en-US" sz="600" b="1" dirty="0">
                        <a:solidFill>
                          <a:srgbClr val="00B050"/>
                        </a:solidFill>
                      </a:endParaRPr>
                    </a:p>
                  </a:txBody>
                  <a:tcPr>
                    <a:solidFill>
                      <a:schemeClr val="bg1"/>
                    </a:solidFill>
                  </a:tcPr>
                </a:tc>
                <a:extLst>
                  <a:ext uri="{0D108BD9-81ED-4DB2-BD59-A6C34878D82A}">
                    <a16:rowId xmlns:a16="http://schemas.microsoft.com/office/drawing/2014/main" val="921424146"/>
                  </a:ext>
                </a:extLst>
              </a:tr>
              <a:tr h="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MSC Host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(BareMetal)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dirty="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Init</a:t>
                      </a:r>
                    </a:p>
                  </a:txBody>
                  <a:tcP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a:solidFill>
                            <a:schemeClr val="tx1"/>
                          </a:solidFill>
                          <a:latin typeface="+mn-lt"/>
                          <a:ea typeface="+mn-ea"/>
                          <a:cs typeface="+mn-cs"/>
                        </a:rPr>
                        <a:t>NA</a:t>
                      </a:r>
                    </a:p>
                  </a:txBody>
                  <a:tcPr anchor="ct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chemeClr val="tx1"/>
                          </a:solidFill>
                        </a:rPr>
                        <a:t>Not Done</a:t>
                      </a:r>
                    </a:p>
                  </a:txBody>
                  <a:tcPr anchor="ctr">
                    <a:solidFill>
                      <a:schemeClr val="bg1"/>
                    </a:solidFill>
                  </a:tcPr>
                </a:tc>
                <a:tc>
                  <a:txBody>
                    <a:bodyPr/>
                    <a:lstStyle/>
                    <a:p>
                      <a:pPr algn="ctr"/>
                      <a:r>
                        <a:rPr lang="en-US" sz="600" b="1">
                          <a:solidFill>
                            <a:srgbClr val="FF0000"/>
                          </a:solidFill>
                        </a:rPr>
                        <a:t>+12%</a:t>
                      </a:r>
                    </a:p>
                  </a:txBody>
                  <a:tcPr>
                    <a:solidFill>
                      <a:schemeClr val="bg1"/>
                    </a:solidFill>
                  </a:tcPr>
                </a:tc>
                <a:extLst>
                  <a:ext uri="{0D108BD9-81ED-4DB2-BD59-A6C34878D82A}">
                    <a16:rowId xmlns:a16="http://schemas.microsoft.com/office/drawing/2014/main" val="248717900"/>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Enumeration</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fr-FR" sz="600" b="1">
                          <a:solidFill>
                            <a:srgbClr val="00B050"/>
                          </a:solidFill>
                        </a:rPr>
                        <a:t>-18%</a:t>
                      </a:r>
                      <a:endParaRPr lang="en-US" sz="600" b="1">
                        <a:solidFill>
                          <a:srgbClr val="00B050"/>
                        </a:solidFill>
                      </a:endParaRPr>
                    </a:p>
                  </a:txBody>
                  <a:tcPr>
                    <a:solidFill>
                      <a:schemeClr val="bg1"/>
                    </a:solidFill>
                  </a:tcPr>
                </a:tc>
                <a:extLst>
                  <a:ext uri="{0D108BD9-81ED-4DB2-BD59-A6C34878D82A}">
                    <a16:rowId xmlns:a16="http://schemas.microsoft.com/office/drawing/2014/main" val="507802921"/>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accent3"/>
                          </a:solidFill>
                          <a:latin typeface="+mn-lt"/>
                          <a:ea typeface="+mn-ea"/>
                          <a:cs typeface="+mn-cs"/>
                        </a:rPr>
                        <a:t>Write </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en-US" sz="600" b="1" dirty="0">
                          <a:solidFill>
                            <a:srgbClr val="FF0000"/>
                          </a:solidFill>
                        </a:rPr>
                        <a:t>-2.7%</a:t>
                      </a:r>
                    </a:p>
                  </a:txBody>
                  <a:tcPr>
                    <a:solidFill>
                      <a:schemeClr val="bg1"/>
                    </a:solidFill>
                  </a:tcPr>
                </a:tc>
                <a:extLst>
                  <a:ext uri="{0D108BD9-81ED-4DB2-BD59-A6C34878D82A}">
                    <a16:rowId xmlns:a16="http://schemas.microsoft.com/office/drawing/2014/main" val="388078958"/>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accent3"/>
                          </a:solidFill>
                          <a:latin typeface="+mn-lt"/>
                          <a:ea typeface="+mn-ea"/>
                          <a:cs typeface="+mn-cs"/>
                        </a:rPr>
                        <a:t>Read</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fr-FR" sz="600" b="1" dirty="0">
                          <a:solidFill>
                            <a:srgbClr val="FF0000"/>
                          </a:solidFill>
                        </a:rPr>
                        <a:t>-3%</a:t>
                      </a:r>
                      <a:endParaRPr lang="en-US" sz="600" b="1" dirty="0">
                        <a:solidFill>
                          <a:srgbClr val="FF0000"/>
                        </a:solidFill>
                      </a:endParaRPr>
                    </a:p>
                  </a:txBody>
                  <a:tcPr>
                    <a:solidFill>
                      <a:schemeClr val="bg1"/>
                    </a:solidFill>
                  </a:tcPr>
                </a:tc>
                <a:extLst>
                  <a:ext uri="{0D108BD9-81ED-4DB2-BD59-A6C34878D82A}">
                    <a16:rowId xmlns:a16="http://schemas.microsoft.com/office/drawing/2014/main" val="2453832839"/>
                  </a:ext>
                </a:extLst>
              </a:tr>
            </a:tbl>
          </a:graphicData>
        </a:graphic>
      </p:graphicFrame>
      <p:sp>
        <p:nvSpPr>
          <p:cNvPr id="26" name="TextBox 25">
            <a:extLst>
              <a:ext uri="{FF2B5EF4-FFF2-40B4-BE49-F238E27FC236}">
                <a16:creationId xmlns:a16="http://schemas.microsoft.com/office/drawing/2014/main" id="{1A6971A4-49AB-A708-9A35-8BB6E192113C}"/>
              </a:ext>
            </a:extLst>
          </p:cNvPr>
          <p:cNvSpPr txBox="1"/>
          <p:nvPr/>
        </p:nvSpPr>
        <p:spPr>
          <a:xfrm>
            <a:off x="112570" y="3581613"/>
            <a:ext cx="3620130" cy="246221"/>
          </a:xfrm>
          <a:prstGeom prst="rect">
            <a:avLst/>
          </a:prstGeom>
          <a:noFill/>
        </p:spPr>
        <p:txBody>
          <a:bodyPr wrap="square" rtlCol="0">
            <a:spAutoFit/>
          </a:bodyPr>
          <a:lstStyle/>
          <a:p>
            <a:pPr lvl="0">
              <a:defRPr/>
            </a:pPr>
            <a:r>
              <a:rPr kumimoji="0" lang="en-US" sz="1000" b="0" i="0" u="none" strike="noStrike" kern="1200" cap="none" spc="0" normalizeH="0" baseline="0" noProof="0" err="1">
                <a:ln>
                  <a:noFill/>
                </a:ln>
                <a:solidFill>
                  <a:srgbClr val="464650"/>
                </a:solidFill>
                <a:effectLst/>
                <a:uLnTx/>
                <a:uFillTx/>
                <a:latin typeface="Arial"/>
                <a:ea typeface="+mn-ea"/>
                <a:cs typeface="+mn-cs"/>
              </a:rPr>
              <a:t>AzureRTOS</a:t>
            </a:r>
            <a:r>
              <a:rPr kumimoji="0" lang="en-US" sz="1000" b="0" i="0" u="none" strike="noStrike" kern="1200" cap="none" spc="0" normalizeH="0" baseline="0" noProof="0">
                <a:ln>
                  <a:noFill/>
                </a:ln>
                <a:solidFill>
                  <a:srgbClr val="464650"/>
                </a:solidFill>
                <a:effectLst/>
                <a:uLnTx/>
                <a:uFillTx/>
                <a:latin typeface="Arial"/>
                <a:ea typeface="+mn-ea"/>
                <a:cs typeface="+mn-cs"/>
              </a:rPr>
              <a:t> USBX V6.4.0 </a:t>
            </a:r>
            <a:r>
              <a:rPr lang="en-US" sz="1000">
                <a:solidFill>
                  <a:schemeClr val="tx2"/>
                </a:solidFill>
              </a:rPr>
              <a:t>Execution Time</a:t>
            </a:r>
            <a:endParaRPr kumimoji="0" lang="en-US" sz="1000" b="0" i="0" u="none" strike="noStrike" kern="1200" cap="none" spc="0" normalizeH="0" baseline="0" noProof="0">
              <a:ln>
                <a:noFill/>
              </a:ln>
              <a:solidFill>
                <a:srgbClr val="464650"/>
              </a:solidFill>
              <a:effectLst/>
              <a:uLnTx/>
              <a:uFillTx/>
              <a:latin typeface="Arial"/>
              <a:ea typeface="+mn-ea"/>
              <a:cs typeface="+mn-cs"/>
            </a:endParaRPr>
          </a:p>
        </p:txBody>
      </p:sp>
      <p:graphicFrame>
        <p:nvGraphicFramePr>
          <p:cNvPr id="29" name="Table 28">
            <a:extLst>
              <a:ext uri="{FF2B5EF4-FFF2-40B4-BE49-F238E27FC236}">
                <a16:creationId xmlns:a16="http://schemas.microsoft.com/office/drawing/2014/main" id="{8B0B7CD1-86E5-A574-F4B4-EBD9B02BFC08}"/>
              </a:ext>
            </a:extLst>
          </p:cNvPr>
          <p:cNvGraphicFramePr>
            <a:graphicFrameLocks noGrp="1"/>
          </p:cNvGraphicFramePr>
          <p:nvPr>
            <p:extLst>
              <p:ext uri="{D42A27DB-BD31-4B8C-83A1-F6EECF244321}">
                <p14:modId xmlns:p14="http://schemas.microsoft.com/office/powerpoint/2010/main" val="1455467249"/>
              </p:ext>
            </p:extLst>
          </p:nvPr>
        </p:nvGraphicFramePr>
        <p:xfrm>
          <a:off x="4542388" y="1011665"/>
          <a:ext cx="3533562" cy="1773114"/>
        </p:xfrm>
        <a:graphic>
          <a:graphicData uri="http://schemas.openxmlformats.org/drawingml/2006/table">
            <a:tbl>
              <a:tblPr firstRow="1" bandRow="1">
                <a:tableStyleId>{5940675A-B579-460E-94D1-54222C63F5DA}</a:tableStyleId>
              </a:tblPr>
              <a:tblGrid>
                <a:gridCol w="831881">
                  <a:extLst>
                    <a:ext uri="{9D8B030D-6E8A-4147-A177-3AD203B41FA5}">
                      <a16:colId xmlns:a16="http://schemas.microsoft.com/office/drawing/2014/main" val="368163055"/>
                    </a:ext>
                  </a:extLst>
                </a:gridCol>
                <a:gridCol w="623053">
                  <a:extLst>
                    <a:ext uri="{9D8B030D-6E8A-4147-A177-3AD203B41FA5}">
                      <a16:colId xmlns:a16="http://schemas.microsoft.com/office/drawing/2014/main" val="670098430"/>
                    </a:ext>
                  </a:extLst>
                </a:gridCol>
                <a:gridCol w="752856">
                  <a:extLst>
                    <a:ext uri="{9D8B030D-6E8A-4147-A177-3AD203B41FA5}">
                      <a16:colId xmlns:a16="http://schemas.microsoft.com/office/drawing/2014/main" val="291297205"/>
                    </a:ext>
                  </a:extLst>
                </a:gridCol>
                <a:gridCol w="639314">
                  <a:extLst>
                    <a:ext uri="{9D8B030D-6E8A-4147-A177-3AD203B41FA5}">
                      <a16:colId xmlns:a16="http://schemas.microsoft.com/office/drawing/2014/main" val="2023152432"/>
                    </a:ext>
                  </a:extLst>
                </a:gridCol>
                <a:gridCol w="686458">
                  <a:extLst>
                    <a:ext uri="{9D8B030D-6E8A-4147-A177-3AD203B41FA5}">
                      <a16:colId xmlns:a16="http://schemas.microsoft.com/office/drawing/2014/main" val="3729923864"/>
                    </a:ext>
                  </a:extLst>
                </a:gridCol>
              </a:tblGrid>
              <a:tr h="275002">
                <a:tc gridSpan="2">
                  <a:txBody>
                    <a:bodyPr/>
                    <a:lstStyle/>
                    <a:p>
                      <a:endParaRPr lang="en-US" sz="600" b="1">
                        <a:solidFill>
                          <a:schemeClr val="bg1"/>
                        </a:solidFill>
                      </a:endParaRPr>
                    </a:p>
                  </a:txBody>
                  <a:tcPr>
                    <a:solidFill>
                      <a:schemeClr val="accent1"/>
                    </a:solidFill>
                  </a:tcPr>
                </a:tc>
                <a:tc hMerge="1">
                  <a:txBody>
                    <a:bodyPr/>
                    <a:lstStyle/>
                    <a:p>
                      <a:endParaRPr lang="en-US"/>
                    </a:p>
                  </a:txBody>
                  <a:tcPr/>
                </a:tc>
                <a:tc>
                  <a:txBody>
                    <a:bodyPr/>
                    <a:lstStyle/>
                    <a:p>
                      <a:pPr algn="ctr"/>
                      <a:r>
                        <a:rPr lang="en-US" sz="600" b="1">
                          <a:solidFill>
                            <a:schemeClr val="bg1"/>
                          </a:solidFill>
                        </a:rPr>
                        <a:t>ST vs TI</a:t>
                      </a:r>
                    </a:p>
                  </a:txBody>
                  <a:tcPr>
                    <a:solidFill>
                      <a:schemeClr val="accent1"/>
                    </a:solidFill>
                  </a:tcPr>
                </a:tc>
                <a:tc>
                  <a:txBody>
                    <a:bodyPr/>
                    <a:lstStyle/>
                    <a:p>
                      <a:pPr algn="ctr"/>
                      <a:r>
                        <a:rPr lang="en-US" sz="600" b="1" dirty="0">
                          <a:solidFill>
                            <a:schemeClr val="bg1"/>
                          </a:solidFill>
                        </a:rPr>
                        <a:t>ST vs RA</a:t>
                      </a:r>
                    </a:p>
                  </a:txBody>
                  <a:tcP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bg1"/>
                          </a:solidFill>
                          <a:latin typeface="+mn-lt"/>
                          <a:ea typeface="+mn-ea"/>
                          <a:cs typeface="+mn-cs"/>
                        </a:rPr>
                        <a:t>ST vs NXP</a:t>
                      </a:r>
                    </a:p>
                  </a:txBody>
                  <a:tcPr>
                    <a:solidFill>
                      <a:schemeClr val="accent1"/>
                    </a:solidFill>
                  </a:tcPr>
                </a:tc>
                <a:extLst>
                  <a:ext uri="{0D108BD9-81ED-4DB2-BD59-A6C34878D82A}">
                    <a16:rowId xmlns:a16="http://schemas.microsoft.com/office/drawing/2014/main" val="1490288134"/>
                  </a:ext>
                </a:extLst>
              </a:tr>
              <a:tr h="183536">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Internal SRAM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(BareMetal)</a:t>
                      </a: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dirty="0">
                          <a:solidFill>
                            <a:schemeClr val="accent3"/>
                          </a:solidFill>
                          <a:latin typeface="+mn-lt"/>
                          <a:ea typeface="+mn-ea"/>
                          <a:cs typeface="+mn-cs"/>
                        </a:rPr>
                        <a:t>Init</a:t>
                      </a:r>
                    </a:p>
                  </a:txBody>
                  <a:tcP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tx1"/>
                          </a:solidFill>
                          <a:latin typeface="+mn-lt"/>
                          <a:ea typeface="+mn-ea"/>
                          <a:cs typeface="+mn-cs"/>
                        </a:rPr>
                        <a:t>NA</a:t>
                      </a:r>
                    </a:p>
                  </a:txBody>
                  <a:tcPr anchor="ct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chemeClr val="tx1"/>
                          </a:solidFill>
                        </a:rPr>
                        <a:t>Not Done</a:t>
                      </a:r>
                    </a:p>
                  </a:txBody>
                  <a:tcPr anchor="ctr">
                    <a:solidFill>
                      <a:schemeClr val="bg1"/>
                    </a:solidFill>
                  </a:tcPr>
                </a:tc>
                <a:tc>
                  <a:txBody>
                    <a:bodyPr/>
                    <a:lstStyle/>
                    <a:p>
                      <a:pPr marL="0" algn="ctr" defTabSz="914400" rtl="0" eaLnBrk="1" latinLnBrk="0" hangingPunct="1"/>
                      <a:r>
                        <a:rPr lang="en-US" sz="600" b="0" kern="1200" dirty="0">
                          <a:solidFill>
                            <a:srgbClr val="FF0000"/>
                          </a:solidFill>
                          <a:latin typeface="+mn-lt"/>
                          <a:ea typeface="+mn-ea"/>
                          <a:cs typeface="+mn-cs"/>
                        </a:rPr>
                        <a:t>+37%</a:t>
                      </a:r>
                    </a:p>
                  </a:txBody>
                  <a:tcPr marL="6350" marR="6350" marT="6350" marB="0" anchor="ctr">
                    <a:solidFill>
                      <a:schemeClr val="bg1"/>
                    </a:solidFill>
                  </a:tcPr>
                </a:tc>
                <a:extLst>
                  <a:ext uri="{0D108BD9-81ED-4DB2-BD59-A6C34878D82A}">
                    <a16:rowId xmlns:a16="http://schemas.microsoft.com/office/drawing/2014/main" val="4002405651"/>
                  </a:ext>
                </a:extLst>
              </a:tr>
              <a:tr h="18353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accent3"/>
                          </a:solidFill>
                          <a:latin typeface="+mn-lt"/>
                          <a:ea typeface="+mn-ea"/>
                          <a:cs typeface="+mn-cs"/>
                        </a:rPr>
                        <a:t>create</a:t>
                      </a:r>
                    </a:p>
                  </a:txBody>
                  <a:tcPr>
                    <a:solidFill>
                      <a:schemeClr val="bg1"/>
                    </a:solidFill>
                  </a:tcPr>
                </a:tc>
                <a:tc vMerge="1">
                  <a:txBody>
                    <a:bodyPr/>
                    <a:lstStyle/>
                    <a:p>
                      <a:endParaRPr/>
                    </a:p>
                  </a:txBody>
                  <a:tcPr anchor="ctr">
                    <a:solidFill>
                      <a:schemeClr val="bg1"/>
                    </a:solidFill>
                  </a:tcPr>
                </a:tc>
                <a:tc vMerge="1">
                  <a:txBody>
                    <a:bodyPr/>
                    <a:lstStyle/>
                    <a:p>
                      <a:endParaRPr/>
                    </a:p>
                  </a:txBody>
                  <a:tcPr anchor="ctr">
                    <a:solidFill>
                      <a:schemeClr val="bg1"/>
                    </a:solidFill>
                  </a:tcPr>
                </a:tc>
                <a:tc>
                  <a:txBody>
                    <a:bodyPr/>
                    <a:lstStyle/>
                    <a:p>
                      <a:pPr algn="ctr"/>
                      <a:r>
                        <a:rPr lang="fr-FR" sz="600" b="0" kern="1200">
                          <a:solidFill>
                            <a:srgbClr val="FF0000"/>
                          </a:solidFill>
                          <a:latin typeface="+mn-lt"/>
                          <a:ea typeface="+mn-ea"/>
                          <a:cs typeface="+mn-cs"/>
                        </a:rPr>
                        <a:t>+7%</a:t>
                      </a:r>
                      <a:endParaRPr lang="en-US" sz="600" b="0" kern="1200">
                        <a:solidFill>
                          <a:srgbClr val="FF0000"/>
                        </a:solidFill>
                        <a:latin typeface="+mn-lt"/>
                        <a:ea typeface="+mn-ea"/>
                        <a:cs typeface="+mn-cs"/>
                      </a:endParaRPr>
                    </a:p>
                  </a:txBody>
                  <a:tcPr>
                    <a:solidFill>
                      <a:schemeClr val="bg1"/>
                    </a:solidFill>
                  </a:tcPr>
                </a:tc>
                <a:extLst>
                  <a:ext uri="{0D108BD9-81ED-4DB2-BD59-A6C34878D82A}">
                    <a16:rowId xmlns:a16="http://schemas.microsoft.com/office/drawing/2014/main" val="3088133438"/>
                  </a:ext>
                </a:extLst>
              </a:tr>
              <a:tr h="18353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write</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marL="0" algn="ctr" defTabSz="914400" rtl="0" eaLnBrk="1" latinLnBrk="0" hangingPunct="1"/>
                      <a:r>
                        <a:rPr lang="fr-FR" sz="600" b="0" kern="1200">
                          <a:solidFill>
                            <a:schemeClr val="accent5"/>
                          </a:solidFill>
                          <a:latin typeface="+mn-lt"/>
                          <a:ea typeface="+mn-ea"/>
                          <a:cs typeface="+mn-cs"/>
                        </a:rPr>
                        <a:t>-7%</a:t>
                      </a:r>
                      <a:endParaRPr lang="en-US" sz="600" b="0" kern="1200">
                        <a:solidFill>
                          <a:schemeClr val="accent5"/>
                        </a:solidFill>
                        <a:latin typeface="+mn-lt"/>
                        <a:ea typeface="+mn-ea"/>
                        <a:cs typeface="+mn-cs"/>
                      </a:endParaRPr>
                    </a:p>
                  </a:txBody>
                  <a:tcPr>
                    <a:solidFill>
                      <a:schemeClr val="bg1"/>
                    </a:solidFill>
                  </a:tcPr>
                </a:tc>
                <a:extLst>
                  <a:ext uri="{0D108BD9-81ED-4DB2-BD59-A6C34878D82A}">
                    <a16:rowId xmlns:a16="http://schemas.microsoft.com/office/drawing/2014/main" val="419240110"/>
                  </a:ext>
                </a:extLst>
              </a:tr>
              <a:tr h="18353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read</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fr-FR" sz="600" b="0" dirty="0">
                          <a:solidFill>
                            <a:srgbClr val="FF0000"/>
                          </a:solidFill>
                          <a:latin typeface="+mj-lt"/>
                        </a:rPr>
                        <a:t>+2%</a:t>
                      </a:r>
                      <a:endParaRPr lang="en-US" sz="600" b="0" dirty="0">
                        <a:solidFill>
                          <a:srgbClr val="FF0000"/>
                        </a:solidFill>
                        <a:latin typeface="+mj-lt"/>
                      </a:endParaRPr>
                    </a:p>
                  </a:txBody>
                  <a:tcPr>
                    <a:solidFill>
                      <a:schemeClr val="bg1"/>
                    </a:solidFill>
                  </a:tcPr>
                </a:tc>
                <a:extLst>
                  <a:ext uri="{0D108BD9-81ED-4DB2-BD59-A6C34878D82A}">
                    <a16:rowId xmlns:a16="http://schemas.microsoft.com/office/drawing/2014/main" val="1571974276"/>
                  </a:ext>
                </a:extLst>
              </a:tr>
              <a:tr h="183536">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  SD Card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(BareMetal)</a:t>
                      </a: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Init</a:t>
                      </a:r>
                    </a:p>
                  </a:txBody>
                  <a:tcP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a:solidFill>
                            <a:schemeClr val="tx1"/>
                          </a:solidFill>
                          <a:latin typeface="+mn-lt"/>
                          <a:ea typeface="+mn-ea"/>
                          <a:cs typeface="+mn-cs"/>
                        </a:rPr>
                        <a:t>NA</a:t>
                      </a:r>
                    </a:p>
                  </a:txBody>
                  <a:tcPr anchor="ct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a:solidFill>
                            <a:schemeClr val="tx1"/>
                          </a:solidFill>
                        </a:rPr>
                        <a:t>Not Done</a:t>
                      </a:r>
                    </a:p>
                  </a:txBody>
                  <a:tcPr anchor="c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600" b="0" kern="1200">
                          <a:solidFill>
                            <a:srgbClr val="00B050"/>
                          </a:solidFill>
                          <a:latin typeface="+mn-lt"/>
                          <a:ea typeface="+mn-ea"/>
                          <a:cs typeface="+mn-cs"/>
                        </a:rPr>
                        <a:t>-41%</a:t>
                      </a:r>
                      <a:endParaRPr lang="en-US" sz="600" b="0" kern="1200">
                        <a:solidFill>
                          <a:srgbClr val="00B050"/>
                        </a:solidFill>
                        <a:latin typeface="+mn-lt"/>
                        <a:ea typeface="+mn-ea"/>
                        <a:cs typeface="+mn-cs"/>
                      </a:endParaRPr>
                    </a:p>
                  </a:txBody>
                  <a:tcPr marL="0" marR="0" marT="0" marB="0" anchor="ctr">
                    <a:solidFill>
                      <a:schemeClr val="bg1"/>
                    </a:solidFill>
                  </a:tcPr>
                </a:tc>
                <a:extLst>
                  <a:ext uri="{0D108BD9-81ED-4DB2-BD59-A6C34878D82A}">
                    <a16:rowId xmlns:a16="http://schemas.microsoft.com/office/drawing/2014/main" val="2895604631"/>
                  </a:ext>
                </a:extLst>
              </a:tr>
              <a:tr h="18353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create</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fr-FR" sz="600" b="0" dirty="0">
                          <a:solidFill>
                            <a:srgbClr val="00B050"/>
                          </a:solidFill>
                          <a:latin typeface="+mj-lt"/>
                        </a:rPr>
                        <a:t>-99%</a:t>
                      </a:r>
                      <a:endParaRPr lang="en-US" sz="600" b="0" dirty="0">
                        <a:solidFill>
                          <a:srgbClr val="00B050"/>
                        </a:solidFill>
                        <a:latin typeface="+mj-lt"/>
                      </a:endParaRPr>
                    </a:p>
                  </a:txBody>
                  <a:tcPr>
                    <a:solidFill>
                      <a:schemeClr val="bg1"/>
                    </a:solidFill>
                  </a:tcPr>
                </a:tc>
                <a:extLst>
                  <a:ext uri="{0D108BD9-81ED-4DB2-BD59-A6C34878D82A}">
                    <a16:rowId xmlns:a16="http://schemas.microsoft.com/office/drawing/2014/main" val="2565589042"/>
                  </a:ext>
                </a:extLst>
              </a:tr>
              <a:tr h="18353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write</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fr-FR" sz="600" b="0" dirty="0">
                          <a:solidFill>
                            <a:srgbClr val="00B050"/>
                          </a:solidFill>
                          <a:latin typeface="+mj-lt"/>
                        </a:rPr>
                        <a:t>-89%</a:t>
                      </a:r>
                      <a:endParaRPr lang="en-US" sz="600" b="0" dirty="0">
                        <a:solidFill>
                          <a:srgbClr val="00B050"/>
                        </a:solidFill>
                        <a:latin typeface="+mj-lt"/>
                      </a:endParaRPr>
                    </a:p>
                  </a:txBody>
                  <a:tcPr>
                    <a:solidFill>
                      <a:schemeClr val="bg1"/>
                    </a:solidFill>
                  </a:tcPr>
                </a:tc>
                <a:extLst>
                  <a:ext uri="{0D108BD9-81ED-4DB2-BD59-A6C34878D82A}">
                    <a16:rowId xmlns:a16="http://schemas.microsoft.com/office/drawing/2014/main" val="379318870"/>
                  </a:ext>
                </a:extLst>
              </a:tr>
              <a:tr h="18353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marL="0" marR="0" marT="0" marB="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read</a:t>
                      </a:r>
                    </a:p>
                  </a:txBody>
                  <a:tcPr>
                    <a:solidFill>
                      <a:schemeClr val="bg1"/>
                    </a:solidFill>
                  </a:tcPr>
                </a:tc>
                <a:tc vMerge="1">
                  <a:txBody>
                    <a:bodyPr/>
                    <a:lstStyle/>
                    <a:p>
                      <a:endParaRPr/>
                    </a:p>
                  </a:txBody>
                  <a:tcPr>
                    <a:solidFill>
                      <a:schemeClr val="bg1"/>
                    </a:solidFill>
                  </a:tcPr>
                </a:tc>
                <a:tc vMerge="1">
                  <a:txBody>
                    <a:bodyPr/>
                    <a:lstStyle/>
                    <a:p>
                      <a:endParaRPr/>
                    </a:p>
                  </a:txBody>
                  <a:tcPr>
                    <a:solidFill>
                      <a:schemeClr val="bg1"/>
                    </a:solidFill>
                  </a:tcPr>
                </a:tc>
                <a:tc>
                  <a:txBody>
                    <a:bodyPr/>
                    <a:lstStyle/>
                    <a:p>
                      <a:pPr algn="ctr"/>
                      <a:r>
                        <a:rPr lang="fr-FR" sz="600" b="0" dirty="0">
                          <a:solidFill>
                            <a:srgbClr val="F68F1E"/>
                          </a:solidFill>
                          <a:latin typeface="+mj-lt"/>
                        </a:rPr>
                        <a:t>-3%</a:t>
                      </a:r>
                      <a:endParaRPr lang="en-US" sz="600" b="0" dirty="0">
                        <a:solidFill>
                          <a:srgbClr val="F68F1E"/>
                        </a:solidFill>
                        <a:latin typeface="+mj-lt"/>
                      </a:endParaRPr>
                    </a:p>
                  </a:txBody>
                  <a:tcPr>
                    <a:solidFill>
                      <a:schemeClr val="bg1"/>
                    </a:solidFill>
                  </a:tcPr>
                </a:tc>
                <a:extLst>
                  <a:ext uri="{0D108BD9-81ED-4DB2-BD59-A6C34878D82A}">
                    <a16:rowId xmlns:a16="http://schemas.microsoft.com/office/drawing/2014/main" val="2431456976"/>
                  </a:ext>
                </a:extLst>
              </a:tr>
            </a:tbl>
          </a:graphicData>
        </a:graphic>
      </p:graphicFrame>
      <p:graphicFrame>
        <p:nvGraphicFramePr>
          <p:cNvPr id="30" name="Table 29">
            <a:extLst>
              <a:ext uri="{FF2B5EF4-FFF2-40B4-BE49-F238E27FC236}">
                <a16:creationId xmlns:a16="http://schemas.microsoft.com/office/drawing/2014/main" id="{7E982D34-F285-4FDA-662C-6FEDA025F902}"/>
              </a:ext>
            </a:extLst>
          </p:cNvPr>
          <p:cNvGraphicFramePr>
            <a:graphicFrameLocks noGrp="1"/>
          </p:cNvGraphicFramePr>
          <p:nvPr>
            <p:extLst>
              <p:ext uri="{D42A27DB-BD31-4B8C-83A1-F6EECF244321}">
                <p14:modId xmlns:p14="http://schemas.microsoft.com/office/powerpoint/2010/main" val="3912136084"/>
              </p:ext>
            </p:extLst>
          </p:nvPr>
        </p:nvGraphicFramePr>
        <p:xfrm>
          <a:off x="8434966" y="1007618"/>
          <a:ext cx="3314656" cy="1523699"/>
        </p:xfrm>
        <a:graphic>
          <a:graphicData uri="http://schemas.openxmlformats.org/drawingml/2006/table">
            <a:tbl>
              <a:tblPr firstRow="1" bandRow="1">
                <a:tableStyleId>{5940675A-B579-460E-94D1-54222C63F5DA}</a:tableStyleId>
              </a:tblPr>
              <a:tblGrid>
                <a:gridCol w="1181597">
                  <a:extLst>
                    <a:ext uri="{9D8B030D-6E8A-4147-A177-3AD203B41FA5}">
                      <a16:colId xmlns:a16="http://schemas.microsoft.com/office/drawing/2014/main" val="368163055"/>
                    </a:ext>
                  </a:extLst>
                </a:gridCol>
                <a:gridCol w="702123">
                  <a:extLst>
                    <a:ext uri="{9D8B030D-6E8A-4147-A177-3AD203B41FA5}">
                      <a16:colId xmlns:a16="http://schemas.microsoft.com/office/drawing/2014/main" val="291297205"/>
                    </a:ext>
                  </a:extLst>
                </a:gridCol>
                <a:gridCol w="645954">
                  <a:extLst>
                    <a:ext uri="{9D8B030D-6E8A-4147-A177-3AD203B41FA5}">
                      <a16:colId xmlns:a16="http://schemas.microsoft.com/office/drawing/2014/main" val="2023152432"/>
                    </a:ext>
                  </a:extLst>
                </a:gridCol>
                <a:gridCol w="784982">
                  <a:extLst>
                    <a:ext uri="{9D8B030D-6E8A-4147-A177-3AD203B41FA5}">
                      <a16:colId xmlns:a16="http://schemas.microsoft.com/office/drawing/2014/main" val="3885779126"/>
                    </a:ext>
                  </a:extLst>
                </a:gridCol>
              </a:tblGrid>
              <a:tr h="274019">
                <a:tc>
                  <a:txBody>
                    <a:bodyPr/>
                    <a:lstStyle/>
                    <a:p>
                      <a:endParaRPr lang="en-US" sz="600" b="1">
                        <a:solidFill>
                          <a:schemeClr val="bg1"/>
                        </a:solidFill>
                      </a:endParaRPr>
                    </a:p>
                  </a:txBody>
                  <a:tcPr>
                    <a:solidFill>
                      <a:schemeClr val="accent1"/>
                    </a:solidFill>
                  </a:tcPr>
                </a:tc>
                <a:tc>
                  <a:txBody>
                    <a:bodyPr/>
                    <a:lstStyle/>
                    <a:p>
                      <a:pPr algn="ctr"/>
                      <a:r>
                        <a:rPr lang="en-US" sz="600" b="1">
                          <a:solidFill>
                            <a:schemeClr val="bg1"/>
                          </a:solidFill>
                        </a:rPr>
                        <a:t>ST vs TI</a:t>
                      </a:r>
                    </a:p>
                  </a:txBody>
                  <a:tcPr>
                    <a:solidFill>
                      <a:schemeClr val="accent1"/>
                    </a:solidFill>
                  </a:tcPr>
                </a:tc>
                <a:tc>
                  <a:txBody>
                    <a:bodyPr/>
                    <a:lstStyle/>
                    <a:p>
                      <a:pPr algn="ctr"/>
                      <a:r>
                        <a:rPr lang="en-US" sz="600" b="1">
                          <a:solidFill>
                            <a:schemeClr val="bg1"/>
                          </a:solidFill>
                        </a:rPr>
                        <a:t>ST vs RA</a:t>
                      </a:r>
                    </a:p>
                  </a:txBody>
                  <a:tcPr>
                    <a:solidFill>
                      <a:schemeClr val="accent1"/>
                    </a:solidFill>
                  </a:tcPr>
                </a:tc>
                <a:tc>
                  <a:txBody>
                    <a:bodyPr/>
                    <a:lstStyle/>
                    <a:p>
                      <a:pPr algn="ctr"/>
                      <a:r>
                        <a:rPr lang="en-US" sz="600" b="1">
                          <a:solidFill>
                            <a:schemeClr val="bg1"/>
                          </a:solidFill>
                        </a:rPr>
                        <a:t>ST vs NXP</a:t>
                      </a:r>
                    </a:p>
                  </a:txBody>
                  <a:tcPr>
                    <a:solidFill>
                      <a:schemeClr val="accent1"/>
                    </a:solidFill>
                  </a:tcPr>
                </a:tc>
                <a:extLst>
                  <a:ext uri="{0D108BD9-81ED-4DB2-BD59-A6C34878D82A}">
                    <a16:rowId xmlns:a16="http://schemas.microsoft.com/office/drawing/2014/main" val="149028813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Basic Processing Test (Thread/s)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600" b="1" dirty="0">
                          <a:solidFill>
                            <a:srgbClr val="FF0000"/>
                          </a:solidFill>
                        </a:rPr>
                        <a:t>-0.45%</a:t>
                      </a:r>
                      <a:endParaRPr lang="en-US" sz="600" b="1" dirty="0">
                        <a:solidFill>
                          <a:srgbClr val="FF0000"/>
                        </a:solidFill>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600" b="1">
                          <a:solidFill>
                            <a:srgbClr val="FF0000"/>
                          </a:solidFill>
                        </a:rPr>
                        <a:t>-9%</a:t>
                      </a:r>
                      <a:endParaRPr lang="en-US" sz="600" b="1">
                        <a:solidFill>
                          <a:srgbClr val="FF0000"/>
                        </a:solidFill>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600" b="1" dirty="0">
                          <a:solidFill>
                            <a:srgbClr val="FF0000"/>
                          </a:solidFill>
                        </a:rPr>
                        <a:t>-0,09%</a:t>
                      </a:r>
                      <a:endParaRPr lang="en-US" sz="600" b="1" dirty="0">
                        <a:solidFill>
                          <a:srgbClr val="FF0000"/>
                        </a:solidFill>
                      </a:endParaRPr>
                    </a:p>
                  </a:txBody>
                  <a:tcPr anchor="ctr">
                    <a:solidFill>
                      <a:schemeClr val="bg1"/>
                    </a:solidFill>
                  </a:tcPr>
                </a:tc>
                <a:extLst>
                  <a:ext uri="{0D108BD9-81ED-4DB2-BD59-A6C34878D82A}">
                    <a16:rowId xmlns:a16="http://schemas.microsoft.com/office/drawing/2014/main" val="400240565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Cooperative Processing Test (Thread/30s)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rgbClr val="00B050"/>
                          </a:solidFill>
                        </a:rPr>
                        <a:t>+6%</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rgbClr val="00B050"/>
                          </a:solidFill>
                        </a:rPr>
                        <a:t>+31%</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a:solidFill>
                            <a:srgbClr val="00B050"/>
                          </a:solidFill>
                        </a:rPr>
                        <a:t>+8%</a:t>
                      </a:r>
                    </a:p>
                  </a:txBody>
                  <a:tcPr anchor="ctr">
                    <a:solidFill>
                      <a:schemeClr val="bg1"/>
                    </a:solidFill>
                  </a:tcPr>
                </a:tc>
                <a:extLst>
                  <a:ext uri="{0D108BD9-81ED-4DB2-BD59-A6C34878D82A}">
                    <a16:rowId xmlns:a16="http://schemas.microsoft.com/office/drawing/2014/main" val="289560463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Preemptive Processing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(Thread/30s)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rgbClr val="00B050"/>
                          </a:solidFill>
                        </a:rPr>
                        <a:t>+1%</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rgbClr val="FF0000"/>
                          </a:solidFill>
                        </a:rPr>
                        <a:t>-1%</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rgbClr val="00B050"/>
                          </a:solidFill>
                        </a:rPr>
                        <a:t>+4%</a:t>
                      </a:r>
                    </a:p>
                  </a:txBody>
                  <a:tcPr anchor="ctr">
                    <a:solidFill>
                      <a:schemeClr val="bg1"/>
                    </a:solidFill>
                  </a:tcPr>
                </a:tc>
                <a:extLst>
                  <a:ext uri="{0D108BD9-81ED-4DB2-BD59-A6C34878D82A}">
                    <a16:rowId xmlns:a16="http://schemas.microsoft.com/office/drawing/2014/main" val="3861927294"/>
                  </a:ext>
                </a:extLst>
              </a:tr>
            </a:tbl>
          </a:graphicData>
        </a:graphic>
      </p:graphicFrame>
      <p:graphicFrame>
        <p:nvGraphicFramePr>
          <p:cNvPr id="31" name="Table 30">
            <a:extLst>
              <a:ext uri="{FF2B5EF4-FFF2-40B4-BE49-F238E27FC236}">
                <a16:creationId xmlns:a16="http://schemas.microsoft.com/office/drawing/2014/main" id="{28FD2036-D9D9-56B1-DC5C-9915458940A5}"/>
              </a:ext>
            </a:extLst>
          </p:cNvPr>
          <p:cNvGraphicFramePr>
            <a:graphicFrameLocks noGrp="1"/>
          </p:cNvGraphicFramePr>
          <p:nvPr>
            <p:extLst>
              <p:ext uri="{D42A27DB-BD31-4B8C-83A1-F6EECF244321}">
                <p14:modId xmlns:p14="http://schemas.microsoft.com/office/powerpoint/2010/main" val="2221547843"/>
              </p:ext>
            </p:extLst>
          </p:nvPr>
        </p:nvGraphicFramePr>
        <p:xfrm>
          <a:off x="8501107" y="3606291"/>
          <a:ext cx="3314657" cy="1523699"/>
        </p:xfrm>
        <a:graphic>
          <a:graphicData uri="http://schemas.openxmlformats.org/drawingml/2006/table">
            <a:tbl>
              <a:tblPr firstRow="1" bandRow="1">
                <a:tableStyleId>{5940675A-B579-460E-94D1-54222C63F5DA}</a:tableStyleId>
              </a:tblPr>
              <a:tblGrid>
                <a:gridCol w="1181597">
                  <a:extLst>
                    <a:ext uri="{9D8B030D-6E8A-4147-A177-3AD203B41FA5}">
                      <a16:colId xmlns:a16="http://schemas.microsoft.com/office/drawing/2014/main" val="368163055"/>
                    </a:ext>
                  </a:extLst>
                </a:gridCol>
                <a:gridCol w="702124">
                  <a:extLst>
                    <a:ext uri="{9D8B030D-6E8A-4147-A177-3AD203B41FA5}">
                      <a16:colId xmlns:a16="http://schemas.microsoft.com/office/drawing/2014/main" val="291297205"/>
                    </a:ext>
                  </a:extLst>
                </a:gridCol>
                <a:gridCol w="645954">
                  <a:extLst>
                    <a:ext uri="{9D8B030D-6E8A-4147-A177-3AD203B41FA5}">
                      <a16:colId xmlns:a16="http://schemas.microsoft.com/office/drawing/2014/main" val="2023152432"/>
                    </a:ext>
                  </a:extLst>
                </a:gridCol>
                <a:gridCol w="784982">
                  <a:extLst>
                    <a:ext uri="{9D8B030D-6E8A-4147-A177-3AD203B41FA5}">
                      <a16:colId xmlns:a16="http://schemas.microsoft.com/office/drawing/2014/main" val="3885779126"/>
                    </a:ext>
                  </a:extLst>
                </a:gridCol>
              </a:tblGrid>
              <a:tr h="274019">
                <a:tc>
                  <a:txBody>
                    <a:bodyPr/>
                    <a:lstStyle/>
                    <a:p>
                      <a:endParaRPr lang="en-US" sz="600" b="1">
                        <a:solidFill>
                          <a:schemeClr val="bg1"/>
                        </a:solidFill>
                      </a:endParaRPr>
                    </a:p>
                  </a:txBody>
                  <a:tcPr>
                    <a:solidFill>
                      <a:schemeClr val="accent1"/>
                    </a:solidFill>
                  </a:tcPr>
                </a:tc>
                <a:tc>
                  <a:txBody>
                    <a:bodyPr/>
                    <a:lstStyle/>
                    <a:p>
                      <a:pPr algn="ctr"/>
                      <a:r>
                        <a:rPr lang="en-US" sz="600" b="1">
                          <a:solidFill>
                            <a:schemeClr val="bg1"/>
                          </a:solidFill>
                        </a:rPr>
                        <a:t>ST vs TI</a:t>
                      </a:r>
                    </a:p>
                  </a:txBody>
                  <a:tcPr>
                    <a:solidFill>
                      <a:schemeClr val="accent1"/>
                    </a:solidFill>
                  </a:tcPr>
                </a:tc>
                <a:tc>
                  <a:txBody>
                    <a:bodyPr/>
                    <a:lstStyle/>
                    <a:p>
                      <a:pPr algn="ctr"/>
                      <a:r>
                        <a:rPr lang="en-US" sz="600" b="1">
                          <a:solidFill>
                            <a:schemeClr val="bg1"/>
                          </a:solidFill>
                        </a:rPr>
                        <a:t>ST vs RA</a:t>
                      </a:r>
                    </a:p>
                  </a:txBody>
                  <a:tcPr>
                    <a:solidFill>
                      <a:schemeClr val="accent1"/>
                    </a:solidFill>
                  </a:tcPr>
                </a:tc>
                <a:tc>
                  <a:txBody>
                    <a:bodyPr/>
                    <a:lstStyle/>
                    <a:p>
                      <a:pPr algn="ctr"/>
                      <a:r>
                        <a:rPr lang="en-US" sz="600" b="1">
                          <a:solidFill>
                            <a:schemeClr val="bg1"/>
                          </a:solidFill>
                        </a:rPr>
                        <a:t>ST vs NXP</a:t>
                      </a:r>
                    </a:p>
                  </a:txBody>
                  <a:tcPr>
                    <a:solidFill>
                      <a:schemeClr val="accent1"/>
                    </a:solidFill>
                  </a:tcPr>
                </a:tc>
                <a:extLst>
                  <a:ext uri="{0D108BD9-81ED-4DB2-BD59-A6C34878D82A}">
                    <a16:rowId xmlns:a16="http://schemas.microsoft.com/office/drawing/2014/main" val="149028813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Basic Processing Test (Thread/s)</a:t>
                      </a:r>
                    </a:p>
                  </a:txBody>
                  <a:tcPr>
                    <a:solidFill>
                      <a:schemeClr val="bg1"/>
                    </a:solidFill>
                  </a:tcPr>
                </a:tc>
                <a:tc rowSpan="3">
                  <a:txBody>
                    <a:bodyPr/>
                    <a:lstStyle/>
                    <a:p>
                      <a:pPr algn="ctr"/>
                      <a:r>
                        <a:rPr lang="en-US" sz="600" b="1" kern="1200" dirty="0">
                          <a:solidFill>
                            <a:schemeClr val="tx1"/>
                          </a:solidFill>
                          <a:latin typeface="+mn-lt"/>
                          <a:ea typeface="+mn-ea"/>
                          <a:cs typeface="+mn-cs"/>
                        </a:rPr>
                        <a:t>NA</a:t>
                      </a:r>
                      <a:endParaRPr sz="600" b="1" kern="1200" dirty="0">
                        <a:solidFill>
                          <a:schemeClr val="tx1"/>
                        </a:solidFill>
                        <a:latin typeface="+mn-lt"/>
                        <a:ea typeface="+mn-ea"/>
                        <a:cs typeface="+mn-cs"/>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600" b="1" dirty="0">
                          <a:solidFill>
                            <a:srgbClr val="00B050"/>
                          </a:solidFill>
                        </a:rPr>
                        <a:t>+19%</a:t>
                      </a:r>
                      <a:endParaRPr lang="en-US" sz="600" b="1" dirty="0">
                        <a:solidFill>
                          <a:srgbClr val="00B050"/>
                        </a:solidFill>
                      </a:endParaRPr>
                    </a:p>
                  </a:txBody>
                  <a:tcPr anchor="ctr">
                    <a:solidFill>
                      <a:schemeClr val="bg1"/>
                    </a:solidFill>
                  </a:tcPr>
                </a:tc>
                <a:tc rowSpan="3">
                  <a:txBody>
                    <a:bodyPr/>
                    <a:lstStyle/>
                    <a:p>
                      <a:pPr marL="0" algn="ctr" defTabSz="914400" rtl="0" eaLnBrk="1" latinLnBrk="0" hangingPunct="1"/>
                      <a:r>
                        <a:rPr lang="en-US" sz="600" b="1" kern="1200" dirty="0">
                          <a:solidFill>
                            <a:schemeClr val="tx1"/>
                          </a:solidFill>
                          <a:latin typeface="+mn-lt"/>
                          <a:ea typeface="+mn-ea"/>
                          <a:cs typeface="+mn-cs"/>
                        </a:rPr>
                        <a:t>NA</a:t>
                      </a:r>
                      <a:endParaRPr sz="600" b="1" kern="120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400240565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Cooperative Processing Test (Thread/30s)</a:t>
                      </a:r>
                    </a:p>
                  </a:txBody>
                  <a:tcPr>
                    <a:solidFill>
                      <a:schemeClr val="bg1"/>
                    </a:solidFill>
                  </a:tcPr>
                </a:tc>
                <a:tc vMerge="1">
                  <a:txBody>
                    <a:bodyPr/>
                    <a:lstStyle/>
                    <a:p>
                      <a:pPr algn="ctr"/>
                      <a:endParaRPr lang="en-US" sz="600" b="1">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rgbClr val="00B050"/>
                          </a:solidFill>
                        </a:rPr>
                        <a:t>+16%</a:t>
                      </a:r>
                    </a:p>
                  </a:txBody>
                  <a:tcPr anchor="ctr">
                    <a:solidFill>
                      <a:schemeClr val="bg1"/>
                    </a:solidFill>
                  </a:tcPr>
                </a:tc>
                <a:tc vMerge="1">
                  <a:txBody>
                    <a:bodyPr/>
                    <a:lstStyle/>
                    <a:p>
                      <a:pPr algn="ctr"/>
                      <a:endParaRPr lang="en-US" sz="600" b="1">
                        <a:solidFill>
                          <a:schemeClr val="tx1"/>
                        </a:solidFill>
                      </a:endParaRPr>
                    </a:p>
                  </a:txBody>
                  <a:tcPr>
                    <a:solidFill>
                      <a:schemeClr val="bg1"/>
                    </a:solidFill>
                  </a:tcPr>
                </a:tc>
                <a:extLst>
                  <a:ext uri="{0D108BD9-81ED-4DB2-BD59-A6C34878D82A}">
                    <a16:rowId xmlns:a16="http://schemas.microsoft.com/office/drawing/2014/main" val="289560463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Preemptive Processing Test (Thread/30s)</a:t>
                      </a:r>
                    </a:p>
                  </a:txBody>
                  <a:tcPr>
                    <a:solidFill>
                      <a:schemeClr val="bg1"/>
                    </a:solidFill>
                  </a:tcPr>
                </a:tc>
                <a:tc vMerge="1">
                  <a:txBody>
                    <a:bodyPr/>
                    <a:lstStyle/>
                    <a:p>
                      <a:pPr algn="ctr"/>
                      <a:endParaRPr lang="en-US" sz="600" b="1">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dirty="0">
                          <a:solidFill>
                            <a:srgbClr val="00B050"/>
                          </a:solidFill>
                        </a:rPr>
                        <a:t>+17%</a:t>
                      </a:r>
                    </a:p>
                  </a:txBody>
                  <a:tcPr anchor="ctr">
                    <a:solidFill>
                      <a:schemeClr val="bg1"/>
                    </a:solidFill>
                  </a:tcPr>
                </a:tc>
                <a:tc vMerge="1">
                  <a:txBody>
                    <a:bodyPr/>
                    <a:lstStyle/>
                    <a:p>
                      <a:pPr algn="ctr"/>
                      <a:endParaRPr lang="en-US" sz="600" b="1">
                        <a:solidFill>
                          <a:schemeClr val="tx1"/>
                        </a:solidFill>
                      </a:endParaRPr>
                    </a:p>
                  </a:txBody>
                  <a:tcPr>
                    <a:solidFill>
                      <a:schemeClr val="bg1"/>
                    </a:solidFill>
                  </a:tcPr>
                </a:tc>
                <a:extLst>
                  <a:ext uri="{0D108BD9-81ED-4DB2-BD59-A6C34878D82A}">
                    <a16:rowId xmlns:a16="http://schemas.microsoft.com/office/drawing/2014/main" val="3861927294"/>
                  </a:ext>
                </a:extLst>
              </a:tr>
            </a:tbl>
          </a:graphicData>
        </a:graphic>
      </p:graphicFrame>
      <p:graphicFrame>
        <p:nvGraphicFramePr>
          <p:cNvPr id="14" name="Table 13">
            <a:extLst>
              <a:ext uri="{FF2B5EF4-FFF2-40B4-BE49-F238E27FC236}">
                <a16:creationId xmlns:a16="http://schemas.microsoft.com/office/drawing/2014/main" id="{292DE542-C9DC-5F3F-EB6B-1A2D71711786}"/>
              </a:ext>
            </a:extLst>
          </p:cNvPr>
          <p:cNvGraphicFramePr>
            <a:graphicFrameLocks noGrp="1"/>
          </p:cNvGraphicFramePr>
          <p:nvPr>
            <p:extLst>
              <p:ext uri="{D42A27DB-BD31-4B8C-83A1-F6EECF244321}">
                <p14:modId xmlns:p14="http://schemas.microsoft.com/office/powerpoint/2010/main" val="130498134"/>
              </p:ext>
            </p:extLst>
          </p:nvPr>
        </p:nvGraphicFramePr>
        <p:xfrm>
          <a:off x="112570" y="3837216"/>
          <a:ext cx="3921618" cy="2316179"/>
        </p:xfrm>
        <a:graphic>
          <a:graphicData uri="http://schemas.openxmlformats.org/drawingml/2006/table">
            <a:tbl>
              <a:tblPr firstRow="1" bandRow="1">
                <a:tableStyleId>{5940675A-B579-460E-94D1-54222C63F5DA}</a:tableStyleId>
              </a:tblPr>
              <a:tblGrid>
                <a:gridCol w="682958">
                  <a:extLst>
                    <a:ext uri="{9D8B030D-6E8A-4147-A177-3AD203B41FA5}">
                      <a16:colId xmlns:a16="http://schemas.microsoft.com/office/drawing/2014/main" val="368163055"/>
                    </a:ext>
                  </a:extLst>
                </a:gridCol>
                <a:gridCol w="905256">
                  <a:extLst>
                    <a:ext uri="{9D8B030D-6E8A-4147-A177-3AD203B41FA5}">
                      <a16:colId xmlns:a16="http://schemas.microsoft.com/office/drawing/2014/main" val="2129086174"/>
                    </a:ext>
                  </a:extLst>
                </a:gridCol>
                <a:gridCol w="713232">
                  <a:extLst>
                    <a:ext uri="{9D8B030D-6E8A-4147-A177-3AD203B41FA5}">
                      <a16:colId xmlns:a16="http://schemas.microsoft.com/office/drawing/2014/main" val="192659996"/>
                    </a:ext>
                  </a:extLst>
                </a:gridCol>
                <a:gridCol w="438162">
                  <a:extLst>
                    <a:ext uri="{9D8B030D-6E8A-4147-A177-3AD203B41FA5}">
                      <a16:colId xmlns:a16="http://schemas.microsoft.com/office/drawing/2014/main" val="3885779126"/>
                    </a:ext>
                  </a:extLst>
                </a:gridCol>
                <a:gridCol w="438162">
                  <a:extLst>
                    <a:ext uri="{9D8B030D-6E8A-4147-A177-3AD203B41FA5}">
                      <a16:colId xmlns:a16="http://schemas.microsoft.com/office/drawing/2014/main" val="188629871"/>
                    </a:ext>
                  </a:extLst>
                </a:gridCol>
                <a:gridCol w="743848">
                  <a:extLst>
                    <a:ext uri="{9D8B030D-6E8A-4147-A177-3AD203B41FA5}">
                      <a16:colId xmlns:a16="http://schemas.microsoft.com/office/drawing/2014/main" val="3181323609"/>
                    </a:ext>
                  </a:extLst>
                </a:gridCol>
              </a:tblGrid>
              <a:tr h="274019">
                <a:tc gridSpan="2">
                  <a:txBody>
                    <a:bodyPr/>
                    <a:lstStyle/>
                    <a:p>
                      <a:endParaRPr lang="en-US" sz="600" b="1">
                        <a:solidFill>
                          <a:schemeClr val="bg1"/>
                        </a:solidFill>
                      </a:endParaRPr>
                    </a:p>
                  </a:txBody>
                  <a:tcPr>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a:solidFill>
                            <a:schemeClr val="bg1"/>
                          </a:solidFill>
                        </a:rPr>
                        <a:t>ST vs TI</a:t>
                      </a:r>
                    </a:p>
                  </a:txBody>
                  <a:tcPr>
                    <a:solidFill>
                      <a:schemeClr val="accent1"/>
                    </a:solidFill>
                  </a:tcPr>
                </a:tc>
                <a:tc gridSpan="2">
                  <a:txBody>
                    <a:bodyPr/>
                    <a:lstStyle/>
                    <a:p>
                      <a:pPr algn="ctr"/>
                      <a:r>
                        <a:rPr lang="en-US" sz="600" b="1">
                          <a:solidFill>
                            <a:schemeClr val="bg1"/>
                          </a:solidFill>
                        </a:rPr>
                        <a:t>ST vs RA</a:t>
                      </a:r>
                    </a:p>
                  </a:txBody>
                  <a:tcPr>
                    <a:solidFill>
                      <a:schemeClr val="accent1"/>
                    </a:solidFill>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a:solidFill>
                            <a:schemeClr val="bg1"/>
                          </a:solidFill>
                        </a:rPr>
                        <a:t>ST vs NXP</a:t>
                      </a:r>
                    </a:p>
                  </a:txBody>
                  <a:tcPr>
                    <a:solidFill>
                      <a:schemeClr val="accent1"/>
                    </a:solidFill>
                  </a:tcPr>
                </a:tc>
                <a:extLst>
                  <a:ext uri="{0D108BD9-81ED-4DB2-BD59-A6C34878D82A}">
                    <a16:rowId xmlns:a16="http://schemas.microsoft.com/office/drawing/2014/main" val="1490288134"/>
                  </a:ext>
                </a:extLst>
              </a:tr>
              <a:tr h="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CDC Device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Class (RTOS)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dirty="0">
                          <a:solidFill>
                            <a:schemeClr val="accent3"/>
                          </a:solidFill>
                          <a:latin typeface="+mn-lt"/>
                          <a:ea typeface="+mn-ea"/>
                          <a:cs typeface="+mn-cs"/>
                        </a:rPr>
                        <a:t>Init</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tx1"/>
                          </a:solidFill>
                          <a:latin typeface="+mn-lt"/>
                          <a:ea typeface="+mn-ea"/>
                          <a:cs typeface="+mn-cs"/>
                        </a:rPr>
                        <a:t>NA</a:t>
                      </a:r>
                    </a:p>
                  </a:txBody>
                  <a:tcPr anchor="ctr">
                    <a:lnL w="12700" cap="flat" cmpd="sng" algn="ctr">
                      <a:solidFill>
                        <a:schemeClr val="tx1"/>
                      </a:solidFill>
                      <a:prstDash val="solid"/>
                      <a:round/>
                      <a:headEnd type="none" w="med" len="med"/>
                      <a:tailEnd type="none" w="med" len="med"/>
                    </a:lnL>
                    <a:solidFill>
                      <a:schemeClr val="bg1"/>
                    </a:solidFill>
                  </a:tcPr>
                </a:tc>
                <a:tc gridSpan="2">
                  <a:txBody>
                    <a:bodyPr/>
                    <a:lstStyle/>
                    <a:p>
                      <a:pPr algn="ctr"/>
                      <a:r>
                        <a:rPr lang="en-US" sz="600" b="1" dirty="0">
                          <a:solidFill>
                            <a:schemeClr val="accent5"/>
                          </a:solidFill>
                        </a:rPr>
                        <a:t>-95%</a:t>
                      </a:r>
                    </a:p>
                  </a:txBody>
                  <a:tcPr>
                    <a:solidFill>
                      <a:schemeClr val="bg1"/>
                    </a:solidFill>
                  </a:tcPr>
                </a:tc>
                <a:tc hMerge="1">
                  <a:txBody>
                    <a:bodyPr/>
                    <a:lstStyle/>
                    <a:p>
                      <a:endParaRPr lang="en-US"/>
                    </a:p>
                  </a:txBody>
                  <a:tcPr/>
                </a:tc>
                <a:tc rowSpan="4">
                  <a:txBody>
                    <a:bodyPr/>
                    <a:lstStyle/>
                    <a:p>
                      <a:endParaRPr dirty="0"/>
                    </a:p>
                  </a:txBody>
                  <a:tcPr anchor="ctr">
                    <a:solidFill>
                      <a:schemeClr val="bg1"/>
                    </a:solidFill>
                  </a:tcPr>
                </a:tc>
                <a:extLst>
                  <a:ext uri="{0D108BD9-81ED-4DB2-BD59-A6C34878D82A}">
                    <a16:rowId xmlns:a16="http://schemas.microsoft.com/office/drawing/2014/main" val="4002405651"/>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accent3"/>
                          </a:solidFill>
                          <a:latin typeface="+mn-lt"/>
                          <a:ea typeface="+mn-ea"/>
                          <a:cs typeface="+mn-cs"/>
                        </a:rPr>
                        <a:t>Enumeration</a:t>
                      </a:r>
                    </a:p>
                  </a:txBody>
                  <a:tcPr>
                    <a:solidFill>
                      <a:schemeClr val="bg1"/>
                    </a:solidFill>
                  </a:tcPr>
                </a:tc>
                <a:tc vMerge="1">
                  <a:txBody>
                    <a:bodyPr/>
                    <a:lstStyle/>
                    <a:p>
                      <a:endParaRPr/>
                    </a:p>
                  </a:txBody>
                  <a:tcPr>
                    <a:solidFill>
                      <a:schemeClr val="bg1"/>
                    </a:solidFill>
                  </a:tcPr>
                </a:tc>
                <a:tc gridSpan="2">
                  <a:txBody>
                    <a:bodyPr/>
                    <a:lstStyle/>
                    <a:p>
                      <a:pPr algn="ctr"/>
                      <a:r>
                        <a:rPr lang="fr-FR" sz="600" b="1" dirty="0">
                          <a:solidFill>
                            <a:srgbClr val="00B050"/>
                          </a:solidFill>
                        </a:rPr>
                        <a:t>-2%</a:t>
                      </a:r>
                      <a:endParaRPr lang="en-US" sz="600" b="1" dirty="0">
                        <a:solidFill>
                          <a:srgbClr val="00B050"/>
                        </a:solidFill>
                      </a:endParaRPr>
                    </a:p>
                  </a:txBody>
                  <a:tcPr>
                    <a:solidFill>
                      <a:schemeClr val="bg1"/>
                    </a:solidFill>
                  </a:tcPr>
                </a:tc>
                <a:tc hMerge="1">
                  <a:txBody>
                    <a:bodyPr/>
                    <a:lstStyle/>
                    <a:p>
                      <a:endParaRPr lang="en-US"/>
                    </a:p>
                  </a:txBody>
                  <a:tcPr/>
                </a:tc>
                <a:tc vMerge="1">
                  <a:txBody>
                    <a:bodyPr/>
                    <a:lstStyle/>
                    <a:p>
                      <a:endParaRPr/>
                    </a:p>
                  </a:txBody>
                  <a:tcPr>
                    <a:solidFill>
                      <a:schemeClr val="bg1"/>
                    </a:solidFill>
                  </a:tcPr>
                </a:tc>
                <a:extLst>
                  <a:ext uri="{0D108BD9-81ED-4DB2-BD59-A6C34878D82A}">
                    <a16:rowId xmlns:a16="http://schemas.microsoft.com/office/drawing/2014/main" val="84592604"/>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accent3"/>
                          </a:solidFill>
                          <a:latin typeface="+mn-lt"/>
                          <a:ea typeface="+mn-ea"/>
                          <a:cs typeface="+mn-cs"/>
                        </a:rPr>
                        <a:t>Transmit</a:t>
                      </a:r>
                    </a:p>
                  </a:txBody>
                  <a:tcPr>
                    <a:solidFill>
                      <a:schemeClr val="bg1"/>
                    </a:solidFill>
                  </a:tcPr>
                </a:tc>
                <a:tc vMerge="1">
                  <a:txBody>
                    <a:bodyPr/>
                    <a:lstStyle/>
                    <a:p>
                      <a:endParaRPr/>
                    </a:p>
                  </a:txBody>
                  <a:tcP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i="0" kern="1200" dirty="0">
                          <a:solidFill>
                            <a:srgbClr val="00B050"/>
                          </a:solidFill>
                          <a:effectLst/>
                          <a:latin typeface="+mn-lt"/>
                          <a:ea typeface="+mn-ea"/>
                          <a:cs typeface="+mn-cs"/>
                        </a:rPr>
                        <a:t>-1%</a:t>
                      </a:r>
                      <a:endParaRPr lang="en-US" sz="600" b="1" dirty="0">
                        <a:solidFill>
                          <a:srgbClr val="00B050"/>
                        </a:solidFill>
                      </a:endParaRPr>
                    </a:p>
                  </a:txBody>
                  <a:tcPr>
                    <a:solidFill>
                      <a:schemeClr val="bg1"/>
                    </a:solidFill>
                  </a:tcPr>
                </a:tc>
                <a:tc hMerge="1">
                  <a:txBody>
                    <a:bodyPr/>
                    <a:lstStyle/>
                    <a:p>
                      <a:endParaRPr lang="en-US"/>
                    </a:p>
                  </a:txBody>
                  <a:tcPr/>
                </a:tc>
                <a:tc vMerge="1">
                  <a:txBody>
                    <a:bodyPr/>
                    <a:lstStyle/>
                    <a:p>
                      <a:endParaRPr/>
                    </a:p>
                  </a:txBody>
                  <a:tcPr>
                    <a:solidFill>
                      <a:schemeClr val="bg1"/>
                    </a:solidFill>
                  </a:tcPr>
                </a:tc>
                <a:extLst>
                  <a:ext uri="{0D108BD9-81ED-4DB2-BD59-A6C34878D82A}">
                    <a16:rowId xmlns:a16="http://schemas.microsoft.com/office/drawing/2014/main" val="780004407"/>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Receive</a:t>
                      </a:r>
                    </a:p>
                  </a:txBody>
                  <a:tcPr>
                    <a:lnB w="12700" cap="flat" cmpd="sng" algn="ctr">
                      <a:solidFill>
                        <a:schemeClr val="tx1"/>
                      </a:solidFill>
                      <a:prstDash val="solid"/>
                      <a:round/>
                      <a:headEnd type="none" w="med" len="med"/>
                      <a:tailEnd type="none" w="med" len="med"/>
                    </a:lnB>
                    <a:solidFill>
                      <a:schemeClr val="bg1"/>
                    </a:solidFill>
                  </a:tcPr>
                </a:tc>
                <a:tc vMerge="1">
                  <a:txBody>
                    <a:bodyPr/>
                    <a:lstStyle/>
                    <a:p>
                      <a:endParaRPr/>
                    </a:p>
                  </a:txBody>
                  <a:tcP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i="0" kern="1200" dirty="0">
                          <a:solidFill>
                            <a:srgbClr val="00B050"/>
                          </a:solidFill>
                          <a:effectLst/>
                          <a:latin typeface="+mn-lt"/>
                          <a:ea typeface="+mn-ea"/>
                          <a:cs typeface="+mn-cs"/>
                        </a:rPr>
                        <a:t>0%</a:t>
                      </a:r>
                      <a:endParaRPr lang="en-US" sz="600" b="1" dirty="0">
                        <a:solidFill>
                          <a:srgbClr val="00B050"/>
                        </a:solidFill>
                      </a:endParaRPr>
                    </a:p>
                  </a:txBody>
                  <a:tcPr>
                    <a:solidFill>
                      <a:schemeClr val="bg1"/>
                    </a:solidFill>
                  </a:tcPr>
                </a:tc>
                <a:tc hMerge="1">
                  <a:txBody>
                    <a:bodyPr/>
                    <a:lstStyle/>
                    <a:p>
                      <a:endParaRPr lang="en-US"/>
                    </a:p>
                  </a:txBody>
                  <a:tcPr/>
                </a:tc>
                <a:tc vMerge="1">
                  <a:txBody>
                    <a:bodyPr/>
                    <a:lstStyle/>
                    <a:p>
                      <a:endParaRPr/>
                    </a:p>
                  </a:txBody>
                  <a:tcPr>
                    <a:solidFill>
                      <a:schemeClr val="bg1"/>
                    </a:solidFill>
                  </a:tcPr>
                </a:tc>
                <a:extLst>
                  <a:ext uri="{0D108BD9-81ED-4DB2-BD59-A6C34878D82A}">
                    <a16:rowId xmlns:a16="http://schemas.microsoft.com/office/drawing/2014/main" val="4095691427"/>
                  </a:ext>
                </a:extLst>
              </a:tr>
              <a:tr h="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HID Host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Class (RTOS)</a:t>
                      </a:r>
                    </a:p>
                  </a:txBody>
                  <a:tcP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Init</a:t>
                      </a:r>
                    </a:p>
                  </a:txBody>
                  <a:tcPr>
                    <a:lnT w="12700" cap="flat" cmpd="sng" algn="ctr">
                      <a:solidFill>
                        <a:schemeClr val="tx1"/>
                      </a:solidFill>
                      <a:prstDash val="solid"/>
                      <a:round/>
                      <a:headEnd type="none" w="med" len="med"/>
                      <a:tailEnd type="none" w="med" len="med"/>
                    </a:lnT>
                    <a:solidFill>
                      <a:schemeClr val="bg1"/>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tx1"/>
                          </a:solidFill>
                          <a:latin typeface="+mn-lt"/>
                          <a:ea typeface="+mn-ea"/>
                          <a:cs typeface="+mn-cs"/>
                        </a:rPr>
                        <a:t>NA</a:t>
                      </a:r>
                    </a:p>
                  </a:txBody>
                  <a:tcPr anchor="ctr">
                    <a:solidFill>
                      <a:schemeClr val="bg1"/>
                    </a:solidFill>
                  </a:tcPr>
                </a:tc>
                <a:tc gridSpan="2">
                  <a:txBody>
                    <a:bodyPr/>
                    <a:lstStyle/>
                    <a:p>
                      <a:pPr algn="ctr"/>
                      <a:r>
                        <a:rPr lang="en-US" sz="600" b="1" dirty="0">
                          <a:solidFill>
                            <a:srgbClr val="00B050"/>
                          </a:solidFill>
                        </a:rPr>
                        <a:t>-51%</a:t>
                      </a:r>
                    </a:p>
                  </a:txBody>
                  <a:tcPr>
                    <a:solidFill>
                      <a:schemeClr val="bg1"/>
                    </a:solidFill>
                  </a:tcPr>
                </a:tc>
                <a:tc hMerge="1">
                  <a:txBody>
                    <a:bodyPr/>
                    <a:lstStyle/>
                    <a:p>
                      <a:endParaRPr lang="en-US"/>
                    </a:p>
                  </a:txBody>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a:solidFill>
                            <a:schemeClr val="tx1"/>
                          </a:solidFill>
                          <a:latin typeface="+mn-lt"/>
                          <a:ea typeface="+mn-ea"/>
                          <a:cs typeface="+mn-cs"/>
                        </a:rPr>
                        <a:t>NA</a:t>
                      </a:r>
                    </a:p>
                  </a:txBody>
                  <a:tcPr anchor="ctr">
                    <a:solidFill>
                      <a:schemeClr val="bg1"/>
                    </a:solidFill>
                  </a:tcPr>
                </a:tc>
                <a:extLst>
                  <a:ext uri="{0D108BD9-81ED-4DB2-BD59-A6C34878D82A}">
                    <a16:rowId xmlns:a16="http://schemas.microsoft.com/office/drawing/2014/main" val="253696023"/>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dirty="0">
                          <a:solidFill>
                            <a:schemeClr val="accent3"/>
                          </a:solidFill>
                          <a:latin typeface="+mn-lt"/>
                          <a:ea typeface="+mn-ea"/>
                          <a:cs typeface="+mn-cs"/>
                        </a:rPr>
                        <a:t>Enumeration</a:t>
                      </a:r>
                    </a:p>
                  </a:txBody>
                  <a:tcPr>
                    <a:solidFill>
                      <a:schemeClr val="bg1"/>
                    </a:solidFill>
                  </a:tcPr>
                </a:tc>
                <a:tc vMerge="1">
                  <a:txBody>
                    <a:bodyPr/>
                    <a:lstStyle/>
                    <a:p>
                      <a:endParaRPr/>
                    </a:p>
                  </a:txBody>
                  <a:tcPr>
                    <a:solidFill>
                      <a:schemeClr val="bg1"/>
                    </a:solidFill>
                  </a:tcPr>
                </a:tc>
                <a:tc gridSpan="2">
                  <a:txBody>
                    <a:bodyPr/>
                    <a:lstStyle/>
                    <a:p>
                      <a:pPr algn="ctr"/>
                      <a:r>
                        <a:rPr lang="fr-FR" sz="600" b="1" dirty="0">
                          <a:solidFill>
                            <a:srgbClr val="FF0000"/>
                          </a:solidFill>
                        </a:rPr>
                        <a:t>+650%</a:t>
                      </a:r>
                      <a:endParaRPr lang="en-US" sz="600" b="1" dirty="0">
                        <a:solidFill>
                          <a:srgbClr val="FF0000"/>
                        </a:solidFill>
                      </a:endParaRPr>
                    </a:p>
                  </a:txBody>
                  <a:tcPr>
                    <a:solidFill>
                      <a:schemeClr val="bg1"/>
                    </a:solidFill>
                  </a:tcPr>
                </a:tc>
                <a:tc hMerge="1">
                  <a:txBody>
                    <a:bodyPr/>
                    <a:lstStyle/>
                    <a:p>
                      <a:endParaRPr lang="en-US"/>
                    </a:p>
                  </a:txBody>
                  <a:tcPr/>
                </a:tc>
                <a:tc vMerge="1">
                  <a:txBody>
                    <a:bodyPr/>
                    <a:lstStyle/>
                    <a:p>
                      <a:endParaRPr/>
                    </a:p>
                  </a:txBody>
                  <a:tcPr>
                    <a:solidFill>
                      <a:schemeClr val="bg1"/>
                    </a:solidFill>
                  </a:tcPr>
                </a:tc>
                <a:extLst>
                  <a:ext uri="{0D108BD9-81ED-4DB2-BD59-A6C34878D82A}">
                    <a16:rowId xmlns:a16="http://schemas.microsoft.com/office/drawing/2014/main" val="2864106151"/>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Data transmission</a:t>
                      </a:r>
                    </a:p>
                  </a:txBody>
                  <a:tcPr>
                    <a:solidFill>
                      <a:schemeClr val="bg1"/>
                    </a:solidFill>
                  </a:tcPr>
                </a:tc>
                <a:tc vMerge="1">
                  <a:txBody>
                    <a:bodyPr/>
                    <a:lstStyle/>
                    <a:p>
                      <a:endParaRPr/>
                    </a:p>
                  </a:txBody>
                  <a:tcPr>
                    <a:solidFill>
                      <a:schemeClr val="bg1"/>
                    </a:solidFill>
                  </a:tcPr>
                </a:tc>
                <a:tc gridSpan="2">
                  <a:txBody>
                    <a:bodyPr/>
                    <a:lstStyle/>
                    <a:p>
                      <a:pPr algn="ctr"/>
                      <a:r>
                        <a:rPr lang="fr-FR" sz="600" b="1" dirty="0">
                          <a:solidFill>
                            <a:srgbClr val="00B050"/>
                          </a:solidFill>
                        </a:rPr>
                        <a:t>-5.6%</a:t>
                      </a:r>
                      <a:endParaRPr lang="en-US" sz="600" b="1" dirty="0">
                        <a:solidFill>
                          <a:srgbClr val="00B050"/>
                        </a:solidFill>
                      </a:endParaRPr>
                    </a:p>
                  </a:txBody>
                  <a:tcPr>
                    <a:solidFill>
                      <a:schemeClr val="bg1"/>
                    </a:solidFill>
                  </a:tcPr>
                </a:tc>
                <a:tc hMerge="1">
                  <a:txBody>
                    <a:bodyPr/>
                    <a:lstStyle/>
                    <a:p>
                      <a:endParaRPr lang="en-US"/>
                    </a:p>
                  </a:txBody>
                  <a:tcPr/>
                </a:tc>
                <a:tc vMerge="1">
                  <a:txBody>
                    <a:bodyPr/>
                    <a:lstStyle/>
                    <a:p>
                      <a:endParaRPr/>
                    </a:p>
                  </a:txBody>
                  <a:tcPr>
                    <a:solidFill>
                      <a:schemeClr val="bg1"/>
                    </a:solidFill>
                  </a:tcPr>
                </a:tc>
                <a:extLst>
                  <a:ext uri="{0D108BD9-81ED-4DB2-BD59-A6C34878D82A}">
                    <a16:rowId xmlns:a16="http://schemas.microsoft.com/office/drawing/2014/main" val="921424146"/>
                  </a:ext>
                </a:extLst>
              </a:tr>
              <a:tr h="0">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MSC Host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accent1"/>
                          </a:solidFill>
                          <a:latin typeface="+mn-lt"/>
                          <a:ea typeface="+mn-ea"/>
                          <a:cs typeface="+mn-cs"/>
                        </a:rPr>
                        <a:t>Class (RTOS)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dirty="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Init</a:t>
                      </a:r>
                    </a:p>
                  </a:txBody>
                  <a:tcPr>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a:solidFill>
                            <a:schemeClr val="tx1"/>
                          </a:solidFill>
                          <a:latin typeface="+mn-lt"/>
                          <a:ea typeface="+mn-ea"/>
                          <a:cs typeface="+mn-cs"/>
                        </a:rPr>
                        <a:t>NA</a:t>
                      </a:r>
                    </a:p>
                  </a:txBody>
                  <a:tcPr anchor="ctr">
                    <a:solidFill>
                      <a:schemeClr val="bg1"/>
                    </a:solidFill>
                  </a:tcPr>
                </a:tc>
                <a:tc gridSpan="2">
                  <a:txBody>
                    <a:bodyPr/>
                    <a:lstStyle/>
                    <a:p>
                      <a:pPr algn="ctr"/>
                      <a:r>
                        <a:rPr lang="en-US" sz="600" b="1">
                          <a:solidFill>
                            <a:schemeClr val="accent5"/>
                          </a:solidFill>
                        </a:rPr>
                        <a:t>-56%</a:t>
                      </a:r>
                    </a:p>
                  </a:txBody>
                  <a:tcPr>
                    <a:solidFill>
                      <a:schemeClr val="bg1"/>
                    </a:solidFill>
                  </a:tcPr>
                </a:tc>
                <a:tc hMerge="1">
                  <a:txBody>
                    <a:bodyPr/>
                    <a:lstStyle/>
                    <a:p>
                      <a:endParaRPr lang="en-US"/>
                    </a:p>
                  </a:txBody>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a:solidFill>
                            <a:schemeClr val="tx1"/>
                          </a:solidFill>
                          <a:latin typeface="+mn-lt"/>
                          <a:ea typeface="+mn-ea"/>
                          <a:cs typeface="+mn-cs"/>
                        </a:rPr>
                        <a:t>NA</a:t>
                      </a:r>
                    </a:p>
                  </a:txBody>
                  <a:tcPr anchor="ctr">
                    <a:solidFill>
                      <a:schemeClr val="bg1"/>
                    </a:solidFill>
                  </a:tcPr>
                </a:tc>
                <a:extLst>
                  <a:ext uri="{0D108BD9-81ED-4DB2-BD59-A6C34878D82A}">
                    <a16:rowId xmlns:a16="http://schemas.microsoft.com/office/drawing/2014/main" val="248717900"/>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Enumeration</a:t>
                      </a:r>
                    </a:p>
                  </a:txBody>
                  <a:tcPr>
                    <a:solidFill>
                      <a:schemeClr val="bg1"/>
                    </a:solidFill>
                  </a:tcPr>
                </a:tc>
                <a:tc vMerge="1">
                  <a:txBody>
                    <a:bodyPr/>
                    <a:lstStyle/>
                    <a:p>
                      <a:endParaRPr/>
                    </a:p>
                  </a:txBody>
                  <a:tcPr>
                    <a:solidFill>
                      <a:schemeClr val="bg1"/>
                    </a:solidFill>
                  </a:tcPr>
                </a:tc>
                <a:tc gridSpan="2">
                  <a:txBody>
                    <a:bodyPr/>
                    <a:lstStyle/>
                    <a:p>
                      <a:pPr algn="ctr"/>
                      <a:r>
                        <a:rPr lang="fr-FR" sz="600" b="1">
                          <a:solidFill>
                            <a:srgbClr val="FF0000"/>
                          </a:solidFill>
                        </a:rPr>
                        <a:t>+950%</a:t>
                      </a:r>
                      <a:endParaRPr lang="en-US" sz="600" b="1">
                        <a:solidFill>
                          <a:srgbClr val="FF0000"/>
                        </a:solidFill>
                      </a:endParaRPr>
                    </a:p>
                  </a:txBody>
                  <a:tcPr>
                    <a:solidFill>
                      <a:schemeClr val="bg1"/>
                    </a:solidFill>
                  </a:tcPr>
                </a:tc>
                <a:tc hMerge="1">
                  <a:txBody>
                    <a:bodyPr/>
                    <a:lstStyle/>
                    <a:p>
                      <a:endParaRPr lang="en-US"/>
                    </a:p>
                  </a:txBody>
                  <a:tcPr/>
                </a:tc>
                <a:tc vMerge="1">
                  <a:txBody>
                    <a:bodyPr/>
                    <a:lstStyle/>
                    <a:p>
                      <a:endParaRPr/>
                    </a:p>
                  </a:txBody>
                  <a:tcPr>
                    <a:solidFill>
                      <a:schemeClr val="bg1"/>
                    </a:solidFill>
                  </a:tcPr>
                </a:tc>
                <a:extLst>
                  <a:ext uri="{0D108BD9-81ED-4DB2-BD59-A6C34878D82A}">
                    <a16:rowId xmlns:a16="http://schemas.microsoft.com/office/drawing/2014/main" val="507802921"/>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Write</a:t>
                      </a:r>
                    </a:p>
                  </a:txBody>
                  <a:tcPr>
                    <a:solidFill>
                      <a:schemeClr val="bg1"/>
                    </a:solidFill>
                  </a:tcPr>
                </a:tc>
                <a:tc vMerge="1">
                  <a:txBody>
                    <a:bodyPr/>
                    <a:lstStyle/>
                    <a:p>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600" b="1">
                          <a:solidFill>
                            <a:srgbClr val="FF0000"/>
                          </a:solidFill>
                        </a:rPr>
                        <a:t>-33%</a:t>
                      </a:r>
                      <a:endParaRPr lang="en-US" sz="600" b="1">
                        <a:solidFill>
                          <a:srgbClr val="FF0000"/>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a:solidFill>
                            <a:schemeClr val="accent1"/>
                          </a:solidFill>
                        </a:rPr>
                        <a:t>0%</a:t>
                      </a:r>
                    </a:p>
                  </a:txBody>
                  <a:tcPr>
                    <a:solidFill>
                      <a:srgbClr val="FFFFFF"/>
                    </a:solidFill>
                  </a:tcPr>
                </a:tc>
                <a:tc vMerge="1">
                  <a:txBody>
                    <a:bodyPr/>
                    <a:lstStyle/>
                    <a:p>
                      <a:endParaRPr/>
                    </a:p>
                  </a:txBody>
                  <a:tcPr>
                    <a:solidFill>
                      <a:schemeClr val="bg1"/>
                    </a:solidFill>
                  </a:tcPr>
                </a:tc>
                <a:extLst>
                  <a:ext uri="{0D108BD9-81ED-4DB2-BD59-A6C34878D82A}">
                    <a16:rowId xmlns:a16="http://schemas.microsoft.com/office/drawing/2014/main" val="388078958"/>
                  </a:ext>
                </a:extLst>
              </a:tr>
              <a:tr h="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kern="1200">
                        <a:solidFill>
                          <a:schemeClr val="accent1"/>
                        </a:solidFill>
                        <a:latin typeface="+mn-lt"/>
                        <a:ea typeface="+mn-ea"/>
                        <a:cs typeface="+mn-cs"/>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1" kern="1200">
                          <a:solidFill>
                            <a:schemeClr val="accent3"/>
                          </a:solidFill>
                          <a:latin typeface="+mn-lt"/>
                          <a:ea typeface="+mn-ea"/>
                          <a:cs typeface="+mn-cs"/>
                        </a:rPr>
                        <a:t>Read</a:t>
                      </a:r>
                    </a:p>
                  </a:txBody>
                  <a:tcPr>
                    <a:solidFill>
                      <a:schemeClr val="bg1"/>
                    </a:solidFill>
                  </a:tcPr>
                </a:tc>
                <a:tc vMerge="1">
                  <a:txBody>
                    <a:bodyPr/>
                    <a:lstStyle/>
                    <a:p>
                      <a:endParaRPr/>
                    </a:p>
                  </a:txBody>
                  <a:tcPr>
                    <a:solidFill>
                      <a:schemeClr val="bg1"/>
                    </a:solidFill>
                  </a:tcPr>
                </a:tc>
                <a:tc>
                  <a:txBody>
                    <a:bodyPr/>
                    <a:lstStyle/>
                    <a:p>
                      <a:pPr algn="ctr"/>
                      <a:r>
                        <a:rPr lang="fr-FR" sz="600" b="1">
                          <a:solidFill>
                            <a:srgbClr val="FF0000"/>
                          </a:solidFill>
                        </a:rPr>
                        <a:t>-64%</a:t>
                      </a:r>
                      <a:endParaRPr lang="en-US" sz="600" b="1">
                        <a:solidFill>
                          <a:srgbClr val="FF0000"/>
                        </a:solidFill>
                      </a:endParaRPr>
                    </a:p>
                  </a:txBody>
                  <a:tcPr>
                    <a:solidFill>
                      <a:schemeClr val="bg1"/>
                    </a:solidFill>
                  </a:tcPr>
                </a:tc>
                <a:tc>
                  <a:txBody>
                    <a:bodyPr/>
                    <a:lstStyle/>
                    <a:p>
                      <a:pPr algn="ctr"/>
                      <a:r>
                        <a:rPr lang="fr-FR" sz="600" b="1" dirty="0">
                          <a:solidFill>
                            <a:srgbClr val="00B050"/>
                          </a:solidFill>
                        </a:rPr>
                        <a:t>+15%</a:t>
                      </a:r>
                      <a:endParaRPr lang="en-US" sz="600" b="1" dirty="0">
                        <a:solidFill>
                          <a:srgbClr val="00B050"/>
                        </a:solidFill>
                      </a:endParaRPr>
                    </a:p>
                  </a:txBody>
                  <a:tcPr>
                    <a:solidFill>
                      <a:srgbClr val="FFFFFF"/>
                    </a:solidFill>
                  </a:tcPr>
                </a:tc>
                <a:tc vMerge="1">
                  <a:txBody>
                    <a:bodyPr/>
                    <a:lstStyle/>
                    <a:p>
                      <a:endParaRPr/>
                    </a:p>
                  </a:txBody>
                  <a:tcPr>
                    <a:solidFill>
                      <a:schemeClr val="bg1"/>
                    </a:solidFill>
                  </a:tcPr>
                </a:tc>
                <a:extLst>
                  <a:ext uri="{0D108BD9-81ED-4DB2-BD59-A6C34878D82A}">
                    <a16:rowId xmlns:a16="http://schemas.microsoft.com/office/drawing/2014/main" val="2453832839"/>
                  </a:ext>
                </a:extLst>
              </a:tr>
            </a:tbl>
          </a:graphicData>
        </a:graphic>
      </p:graphicFrame>
      <p:sp>
        <p:nvSpPr>
          <p:cNvPr id="46" name="Oval 45">
            <a:extLst>
              <a:ext uri="{FF2B5EF4-FFF2-40B4-BE49-F238E27FC236}">
                <a16:creationId xmlns:a16="http://schemas.microsoft.com/office/drawing/2014/main" id="{CE70913E-F274-BF30-1521-775898A391FB}"/>
              </a:ext>
            </a:extLst>
          </p:cNvPr>
          <p:cNvSpPr/>
          <p:nvPr/>
        </p:nvSpPr>
        <p:spPr>
          <a:xfrm>
            <a:off x="2618097" y="5075807"/>
            <a:ext cx="484170" cy="139437"/>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80746783-AB9B-D80D-585D-CEC13F3CD8ED}"/>
              </a:ext>
            </a:extLst>
          </p:cNvPr>
          <p:cNvSpPr/>
          <p:nvPr/>
        </p:nvSpPr>
        <p:spPr>
          <a:xfrm>
            <a:off x="2618096" y="5601607"/>
            <a:ext cx="484170" cy="173628"/>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DF07CCA8-E7F0-D497-645E-F93B21735E69}"/>
              </a:ext>
            </a:extLst>
          </p:cNvPr>
          <p:cNvSpPr txBox="1"/>
          <p:nvPr/>
        </p:nvSpPr>
        <p:spPr>
          <a:xfrm>
            <a:off x="3521427" y="4088115"/>
            <a:ext cx="1348116" cy="830997"/>
          </a:xfrm>
          <a:prstGeom prst="rect">
            <a:avLst/>
          </a:prstGeom>
          <a:noFill/>
        </p:spPr>
        <p:txBody>
          <a:bodyPr wrap="square">
            <a:spAutoFit/>
          </a:bodyPr>
          <a:lstStyle/>
          <a:p>
            <a:r>
              <a:rPr lang="en-US" sz="800" dirty="0">
                <a:solidFill>
                  <a:srgbClr val="FF0000"/>
                </a:solidFill>
              </a:rPr>
              <a:t>STM32 waits a delay of 50 </a:t>
            </a:r>
            <a:r>
              <a:rPr lang="en-US" sz="800" dirty="0" err="1">
                <a:solidFill>
                  <a:srgbClr val="FF0000"/>
                </a:solidFill>
              </a:rPr>
              <a:t>ms</a:t>
            </a:r>
            <a:r>
              <a:rPr lang="en-US" sz="800" dirty="0">
                <a:solidFill>
                  <a:srgbClr val="FF0000"/>
                </a:solidFill>
              </a:rPr>
              <a:t> (defined in USBX) after device setting vs RA handles enumeration in </a:t>
            </a:r>
            <a:r>
              <a:rPr lang="en-US" sz="800" dirty="0" err="1">
                <a:solidFill>
                  <a:srgbClr val="FF0000"/>
                </a:solidFill>
              </a:rPr>
              <a:t>rm_usbx_ports</a:t>
            </a:r>
            <a:r>
              <a:rPr lang="en-US" sz="800" dirty="0">
                <a:solidFill>
                  <a:srgbClr val="FF0000"/>
                </a:solidFill>
              </a:rPr>
              <a:t> layer (no delay) </a:t>
            </a:r>
          </a:p>
        </p:txBody>
      </p:sp>
      <p:cxnSp>
        <p:nvCxnSpPr>
          <p:cNvPr id="49" name="Connector: Curved 48">
            <a:extLst>
              <a:ext uri="{FF2B5EF4-FFF2-40B4-BE49-F238E27FC236}">
                <a16:creationId xmlns:a16="http://schemas.microsoft.com/office/drawing/2014/main" id="{24FFB950-8215-4EA2-ED94-D47095E11701}"/>
              </a:ext>
            </a:extLst>
          </p:cNvPr>
          <p:cNvCxnSpPr>
            <a:cxnSpLocks/>
            <a:stCxn id="48" idx="1"/>
            <a:endCxn id="46" idx="6"/>
          </p:cNvCxnSpPr>
          <p:nvPr/>
        </p:nvCxnSpPr>
        <p:spPr>
          <a:xfrm rot="10800000" flipV="1">
            <a:off x="3102267" y="4503614"/>
            <a:ext cx="419160" cy="641912"/>
          </a:xfrm>
          <a:prstGeom prst="curvedConnector3">
            <a:avLst>
              <a:gd name="adj1" fmla="val 50000"/>
            </a:avLst>
          </a:prstGeom>
          <a:ln>
            <a:solidFill>
              <a:srgbClr val="FF0000"/>
            </a:solidFill>
            <a:tailEnd type="triangle"/>
          </a:ln>
        </p:spPr>
        <p:style>
          <a:lnRef idx="1">
            <a:schemeClr val="accent5"/>
          </a:lnRef>
          <a:fillRef idx="0">
            <a:schemeClr val="accent5"/>
          </a:fillRef>
          <a:effectRef idx="0">
            <a:schemeClr val="accent5"/>
          </a:effectRef>
          <a:fontRef idx="minor">
            <a:schemeClr val="tx1"/>
          </a:fontRef>
        </p:style>
      </p:cxnSp>
      <p:cxnSp>
        <p:nvCxnSpPr>
          <p:cNvPr id="52" name="Connector: Curved 51">
            <a:extLst>
              <a:ext uri="{FF2B5EF4-FFF2-40B4-BE49-F238E27FC236}">
                <a16:creationId xmlns:a16="http://schemas.microsoft.com/office/drawing/2014/main" id="{3E1F52A3-61D4-2767-7FEF-B394E24FF2B7}"/>
              </a:ext>
            </a:extLst>
          </p:cNvPr>
          <p:cNvCxnSpPr>
            <a:cxnSpLocks/>
            <a:stCxn id="48" idx="1"/>
            <a:endCxn id="47" idx="6"/>
          </p:cNvCxnSpPr>
          <p:nvPr/>
        </p:nvCxnSpPr>
        <p:spPr>
          <a:xfrm rot="10800000" flipV="1">
            <a:off x="3102267" y="4503613"/>
            <a:ext cx="419161" cy="1184807"/>
          </a:xfrm>
          <a:prstGeom prst="curvedConnector3">
            <a:avLst>
              <a:gd name="adj1" fmla="val 50000"/>
            </a:avLst>
          </a:prstGeom>
          <a:ln>
            <a:solidFill>
              <a:srgbClr val="FF0000"/>
            </a:solidFill>
            <a:tailEnd type="triangle"/>
          </a:ln>
        </p:spPr>
        <p:style>
          <a:lnRef idx="1">
            <a:schemeClr val="accent5"/>
          </a:lnRef>
          <a:fillRef idx="0">
            <a:schemeClr val="accent5"/>
          </a:fillRef>
          <a:effectRef idx="0">
            <a:schemeClr val="accent5"/>
          </a:effectRef>
          <a:fontRef idx="minor">
            <a:schemeClr val="tx1"/>
          </a:fontRef>
        </p:style>
      </p:cxnSp>
      <p:sp>
        <p:nvSpPr>
          <p:cNvPr id="61" name="Oval 60">
            <a:extLst>
              <a:ext uri="{FF2B5EF4-FFF2-40B4-BE49-F238E27FC236}">
                <a16:creationId xmlns:a16="http://schemas.microsoft.com/office/drawing/2014/main" id="{6BCA0281-31A5-65F8-11F2-03B97511CFC3}"/>
              </a:ext>
            </a:extLst>
          </p:cNvPr>
          <p:cNvSpPr/>
          <p:nvPr/>
        </p:nvSpPr>
        <p:spPr>
          <a:xfrm>
            <a:off x="7418438" y="2066544"/>
            <a:ext cx="670523" cy="784746"/>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Connector: Curved 61">
            <a:extLst>
              <a:ext uri="{FF2B5EF4-FFF2-40B4-BE49-F238E27FC236}">
                <a16:creationId xmlns:a16="http://schemas.microsoft.com/office/drawing/2014/main" id="{ABFFE342-2E5A-C9CF-EA0A-F412F7F0261C}"/>
              </a:ext>
            </a:extLst>
          </p:cNvPr>
          <p:cNvCxnSpPr>
            <a:cxnSpLocks/>
            <a:stCxn id="61" idx="6"/>
            <a:endCxn id="63" idx="1"/>
          </p:cNvCxnSpPr>
          <p:nvPr/>
        </p:nvCxnSpPr>
        <p:spPr>
          <a:xfrm>
            <a:off x="8088961" y="2458917"/>
            <a:ext cx="346005" cy="688527"/>
          </a:xfrm>
          <a:prstGeom prst="curvedConnector3">
            <a:avLst>
              <a:gd name="adj1" fmla="val 50000"/>
            </a:avLst>
          </a:prstGeom>
          <a:ln>
            <a:tailEnd type="triangle"/>
          </a:ln>
        </p:spPr>
        <p:style>
          <a:lnRef idx="1">
            <a:schemeClr val="accent5"/>
          </a:lnRef>
          <a:fillRef idx="0">
            <a:schemeClr val="accent5"/>
          </a:fillRef>
          <a:effectRef idx="0">
            <a:schemeClr val="accent5"/>
          </a:effectRef>
          <a:fontRef idx="minor">
            <a:schemeClr val="tx1"/>
          </a:fontRef>
        </p:style>
      </p:cxnSp>
      <p:sp>
        <p:nvSpPr>
          <p:cNvPr id="63" name="TextBox 62">
            <a:extLst>
              <a:ext uri="{FF2B5EF4-FFF2-40B4-BE49-F238E27FC236}">
                <a16:creationId xmlns:a16="http://schemas.microsoft.com/office/drawing/2014/main" id="{EFF80176-7419-5FF9-BBFC-511C6B3EFBF9}"/>
              </a:ext>
            </a:extLst>
          </p:cNvPr>
          <p:cNvSpPr txBox="1"/>
          <p:nvPr/>
        </p:nvSpPr>
        <p:spPr>
          <a:xfrm>
            <a:off x="8434966" y="2978167"/>
            <a:ext cx="1812150" cy="338554"/>
          </a:xfrm>
          <a:prstGeom prst="rect">
            <a:avLst/>
          </a:prstGeom>
          <a:noFill/>
          <a:ln>
            <a:noFill/>
          </a:ln>
        </p:spPr>
        <p:txBody>
          <a:bodyPr wrap="square">
            <a:spAutoFit/>
          </a:bodyPr>
          <a:lstStyle/>
          <a:p>
            <a:r>
              <a:rPr lang="en-US" sz="800">
                <a:solidFill>
                  <a:srgbClr val="00B050"/>
                </a:solidFill>
                <a:sym typeface="Wingdings" panose="05000000000000000000" pitchFamily="2" charset="2"/>
              </a:rPr>
              <a:t>STM32 SD HAL driver performing better than NXP </a:t>
            </a:r>
            <a:endParaRPr lang="en-US" sz="800">
              <a:solidFill>
                <a:srgbClr val="00B050"/>
              </a:solidFill>
            </a:endParaRPr>
          </a:p>
        </p:txBody>
      </p:sp>
      <p:sp>
        <p:nvSpPr>
          <p:cNvPr id="66" name="TextBox 65">
            <a:extLst>
              <a:ext uri="{FF2B5EF4-FFF2-40B4-BE49-F238E27FC236}">
                <a16:creationId xmlns:a16="http://schemas.microsoft.com/office/drawing/2014/main" id="{AA932D22-702E-4C0E-8BAD-F592A11DBFB9}"/>
              </a:ext>
            </a:extLst>
          </p:cNvPr>
          <p:cNvSpPr txBox="1"/>
          <p:nvPr/>
        </p:nvSpPr>
        <p:spPr>
          <a:xfrm>
            <a:off x="94282" y="6407210"/>
            <a:ext cx="3545709" cy="430887"/>
          </a:xfrm>
          <a:prstGeom prst="rect">
            <a:avLst/>
          </a:prstGeom>
          <a:solidFill>
            <a:srgbClr val="FFFFFF"/>
          </a:solidFill>
        </p:spPr>
        <p:txBody>
          <a:bodyPr wrap="square">
            <a:spAutoFit/>
          </a:bodyPr>
          <a:lstStyle/>
          <a:p>
            <a:r>
              <a:rPr lang="en-US" sz="800"/>
              <a:t>* </a:t>
            </a:r>
            <a:r>
              <a:rPr lang="en-US" sz="700">
                <a:solidFill>
                  <a:schemeClr val="dk1"/>
                </a:solidFill>
              </a:rPr>
              <a:t>TI MSPM0G3507 </a:t>
            </a:r>
            <a:r>
              <a:rPr lang="en-US" sz="700"/>
              <a:t>board does not support USB peripheral</a:t>
            </a:r>
          </a:p>
          <a:p>
            <a:r>
              <a:rPr lang="en-US" sz="700"/>
              <a:t>* NXP does not support </a:t>
            </a:r>
            <a:r>
              <a:rPr lang="en-US" sz="700" err="1"/>
              <a:t>AzureRTOS</a:t>
            </a:r>
            <a:r>
              <a:rPr lang="en-US" sz="700"/>
              <a:t> USBX </a:t>
            </a:r>
          </a:p>
          <a:p>
            <a:r>
              <a:rPr lang="en-US" sz="700"/>
              <a:t>* USBX supports BareMetal mode from 6.11.0 version </a:t>
            </a:r>
            <a:r>
              <a:rPr lang="en-US" sz="700" i="1" u="sng">
                <a:solidFill>
                  <a:schemeClr val="accent3"/>
                </a:solidFill>
              </a:rPr>
              <a:t>(</a:t>
            </a:r>
            <a:r>
              <a:rPr lang="en-US" sz="700" i="1" u="sng">
                <a:solidFill>
                  <a:schemeClr val="accent3"/>
                </a:solidFill>
                <a:hlinkClick r:id="rId2">
                  <a:extLst>
                    <a:ext uri="{A12FA001-AC4F-418D-AE19-62706E023703}">
                      <ahyp:hlinkClr xmlns:ahyp="http://schemas.microsoft.com/office/drawing/2018/hyperlinkcolor" val="tx"/>
                    </a:ext>
                  </a:extLst>
                </a:hlinkClick>
              </a:rPr>
              <a:t>link</a:t>
            </a:r>
            <a:r>
              <a:rPr lang="en-US" sz="700" i="1" u="sng">
                <a:solidFill>
                  <a:schemeClr val="accent3"/>
                </a:solidFill>
              </a:rPr>
              <a:t>)</a:t>
            </a:r>
          </a:p>
        </p:txBody>
      </p:sp>
      <p:grpSp>
        <p:nvGrpSpPr>
          <p:cNvPr id="75" name="Group 74">
            <a:extLst>
              <a:ext uri="{FF2B5EF4-FFF2-40B4-BE49-F238E27FC236}">
                <a16:creationId xmlns:a16="http://schemas.microsoft.com/office/drawing/2014/main" id="{48F4F938-4E20-425C-0BF8-5B67F00E3CFD}"/>
              </a:ext>
            </a:extLst>
          </p:cNvPr>
          <p:cNvGrpSpPr/>
          <p:nvPr/>
        </p:nvGrpSpPr>
        <p:grpSpPr>
          <a:xfrm>
            <a:off x="4085218" y="6133800"/>
            <a:ext cx="3284587" cy="682774"/>
            <a:chOff x="3849617" y="5907909"/>
            <a:chExt cx="3341758" cy="811717"/>
          </a:xfrm>
        </p:grpSpPr>
        <p:pic>
          <p:nvPicPr>
            <p:cNvPr id="70" name="Picture 69">
              <a:extLst>
                <a:ext uri="{FF2B5EF4-FFF2-40B4-BE49-F238E27FC236}">
                  <a16:creationId xmlns:a16="http://schemas.microsoft.com/office/drawing/2014/main" id="{D9FCBF64-9CA4-53DF-75E0-48BCA5D0277F}"/>
                </a:ext>
              </a:extLst>
            </p:cNvPr>
            <p:cNvPicPr>
              <a:picLocks noChangeAspect="1"/>
            </p:cNvPicPr>
            <p:nvPr/>
          </p:nvPicPr>
          <p:blipFill>
            <a:blip r:embed="rId3"/>
            <a:srcRect t="2123" b="4078"/>
            <a:stretch>
              <a:fillRect/>
            </a:stretch>
          </p:blipFill>
          <p:spPr>
            <a:xfrm>
              <a:off x="3849617" y="5907909"/>
              <a:ext cx="3341758" cy="772563"/>
            </a:xfrm>
            <a:prstGeom prst="rect">
              <a:avLst/>
            </a:prstGeom>
          </p:spPr>
        </p:pic>
        <p:sp>
          <p:nvSpPr>
            <p:cNvPr id="71" name="Rectangle 70">
              <a:extLst>
                <a:ext uri="{FF2B5EF4-FFF2-40B4-BE49-F238E27FC236}">
                  <a16:creationId xmlns:a16="http://schemas.microsoft.com/office/drawing/2014/main" id="{1EC14CBD-6366-6483-60B4-AF927ED513D5}"/>
                </a:ext>
              </a:extLst>
            </p:cNvPr>
            <p:cNvSpPr/>
            <p:nvPr/>
          </p:nvSpPr>
          <p:spPr>
            <a:xfrm>
              <a:off x="4006233" y="6320876"/>
              <a:ext cx="3089892" cy="39875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Oval 59">
            <a:extLst>
              <a:ext uri="{FF2B5EF4-FFF2-40B4-BE49-F238E27FC236}">
                <a16:creationId xmlns:a16="http://schemas.microsoft.com/office/drawing/2014/main" id="{35354BC8-C0F5-9975-CE76-E980D09D09E3}"/>
              </a:ext>
            </a:extLst>
          </p:cNvPr>
          <p:cNvSpPr/>
          <p:nvPr/>
        </p:nvSpPr>
        <p:spPr>
          <a:xfrm>
            <a:off x="2888539" y="5789756"/>
            <a:ext cx="339717" cy="468112"/>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Connector: Curved 76">
            <a:extLst>
              <a:ext uri="{FF2B5EF4-FFF2-40B4-BE49-F238E27FC236}">
                <a16:creationId xmlns:a16="http://schemas.microsoft.com/office/drawing/2014/main" id="{499F1A9B-E38F-3998-8B73-C3E1E849E857}"/>
              </a:ext>
            </a:extLst>
          </p:cNvPr>
          <p:cNvCxnSpPr>
            <a:cxnSpLocks/>
            <a:stCxn id="60" idx="6"/>
            <a:endCxn id="79" idx="1"/>
          </p:cNvCxnSpPr>
          <p:nvPr/>
        </p:nvCxnSpPr>
        <p:spPr>
          <a:xfrm flipV="1">
            <a:off x="3228256" y="5988985"/>
            <a:ext cx="872524" cy="34827"/>
          </a:xfrm>
          <a:prstGeom prst="curvedConnector3">
            <a:avLst/>
          </a:prstGeom>
          <a:ln>
            <a:tailEnd type="triangle"/>
          </a:ln>
        </p:spPr>
        <p:style>
          <a:lnRef idx="1">
            <a:schemeClr val="accent5"/>
          </a:lnRef>
          <a:fillRef idx="0">
            <a:schemeClr val="accent5"/>
          </a:fillRef>
          <a:effectRef idx="0">
            <a:schemeClr val="accent5"/>
          </a:effectRef>
          <a:fontRef idx="minor">
            <a:schemeClr val="tx1"/>
          </a:fontRef>
        </p:style>
      </p:cxnSp>
      <p:sp>
        <p:nvSpPr>
          <p:cNvPr id="79" name="TextBox 78">
            <a:extLst>
              <a:ext uri="{FF2B5EF4-FFF2-40B4-BE49-F238E27FC236}">
                <a16:creationId xmlns:a16="http://schemas.microsoft.com/office/drawing/2014/main" id="{C10D6FA5-FFC2-2D96-00CA-07BA776F6069}"/>
              </a:ext>
            </a:extLst>
          </p:cNvPr>
          <p:cNvSpPr txBox="1"/>
          <p:nvPr/>
        </p:nvSpPr>
        <p:spPr>
          <a:xfrm>
            <a:off x="4100780" y="5819708"/>
            <a:ext cx="4655870" cy="338554"/>
          </a:xfrm>
          <a:prstGeom prst="rect">
            <a:avLst/>
          </a:prstGeom>
          <a:noFill/>
        </p:spPr>
        <p:txBody>
          <a:bodyPr wrap="square" rtlCol="0">
            <a:spAutoFit/>
          </a:bodyPr>
          <a:lstStyle/>
          <a:p>
            <a:r>
              <a:rPr lang="en-US" sz="800">
                <a:solidFill>
                  <a:srgbClr val="00B050"/>
                </a:solidFill>
              </a:rPr>
              <a:t>stm32h5xx_hal_hcd.c / </a:t>
            </a:r>
            <a:r>
              <a:rPr lang="en-US" sz="800" err="1">
                <a:solidFill>
                  <a:srgbClr val="00B050"/>
                </a:solidFill>
              </a:rPr>
              <a:t>HCD_HC_IN_IRQHandler</a:t>
            </a:r>
            <a:r>
              <a:rPr lang="en-US" sz="800">
                <a:solidFill>
                  <a:srgbClr val="00B050"/>
                </a:solidFill>
              </a:rPr>
              <a:t>() static function enhancement request submitted </a:t>
            </a:r>
          </a:p>
          <a:p>
            <a:r>
              <a:rPr lang="en-US" sz="800" u="sng">
                <a:solidFill>
                  <a:schemeClr val="accent3"/>
                </a:solidFill>
                <a:hlinkClick r:id="rId4"/>
              </a:rPr>
              <a:t>Bugzilla Ticket 217913</a:t>
            </a:r>
            <a:endParaRPr lang="en-US" sz="800" u="sng">
              <a:solidFill>
                <a:schemeClr val="accent3"/>
              </a:solidFill>
            </a:endParaRPr>
          </a:p>
        </p:txBody>
      </p:sp>
      <p:sp>
        <p:nvSpPr>
          <p:cNvPr id="84" name="TextBox 83">
            <a:extLst>
              <a:ext uri="{FF2B5EF4-FFF2-40B4-BE49-F238E27FC236}">
                <a16:creationId xmlns:a16="http://schemas.microsoft.com/office/drawing/2014/main" id="{D640E0C7-4E5C-E200-6494-E98B1C7F0FC4}"/>
              </a:ext>
            </a:extLst>
          </p:cNvPr>
          <p:cNvSpPr txBox="1"/>
          <p:nvPr/>
        </p:nvSpPr>
        <p:spPr>
          <a:xfrm>
            <a:off x="4446270" y="2810186"/>
            <a:ext cx="3181656" cy="338554"/>
          </a:xfrm>
          <a:prstGeom prst="rect">
            <a:avLst/>
          </a:prstGeom>
          <a:noFill/>
        </p:spPr>
        <p:txBody>
          <a:bodyPr wrap="square">
            <a:spAutoFit/>
          </a:bodyPr>
          <a:lstStyle/>
          <a:p>
            <a:r>
              <a:rPr lang="en-US" sz="800" dirty="0"/>
              <a:t>* </a:t>
            </a:r>
            <a:r>
              <a:rPr lang="en-US" sz="800" dirty="0">
                <a:solidFill>
                  <a:schemeClr val="dk1"/>
                </a:solidFill>
              </a:rPr>
              <a:t>TI MSPM0 Library does not support </a:t>
            </a:r>
            <a:r>
              <a:rPr lang="en-US" sz="800" dirty="0" err="1">
                <a:solidFill>
                  <a:schemeClr val="dk1"/>
                </a:solidFill>
              </a:rPr>
              <a:t>FatFS</a:t>
            </a:r>
            <a:r>
              <a:rPr lang="en-US" sz="800" dirty="0">
                <a:solidFill>
                  <a:schemeClr val="dk1"/>
                </a:solidFill>
              </a:rPr>
              <a:t>/FileX</a:t>
            </a:r>
            <a:endParaRPr lang="en-US" sz="800" dirty="0"/>
          </a:p>
          <a:p>
            <a:r>
              <a:rPr lang="en-US" sz="800" b="1" dirty="0"/>
              <a:t>* </a:t>
            </a:r>
            <a:r>
              <a:rPr lang="en-US" sz="800" dirty="0"/>
              <a:t>NXP does not support </a:t>
            </a:r>
            <a:r>
              <a:rPr lang="en-US" sz="800" dirty="0" err="1"/>
              <a:t>AzureRTOS</a:t>
            </a:r>
            <a:r>
              <a:rPr lang="en-US" sz="800" dirty="0"/>
              <a:t> FileX </a:t>
            </a:r>
          </a:p>
        </p:txBody>
      </p:sp>
      <p:sp>
        <p:nvSpPr>
          <p:cNvPr id="85" name="TextBox 84">
            <a:extLst>
              <a:ext uri="{FF2B5EF4-FFF2-40B4-BE49-F238E27FC236}">
                <a16:creationId xmlns:a16="http://schemas.microsoft.com/office/drawing/2014/main" id="{779B1DF1-7F07-B3AB-8D92-229451E74156}"/>
              </a:ext>
            </a:extLst>
          </p:cNvPr>
          <p:cNvSpPr txBox="1"/>
          <p:nvPr/>
        </p:nvSpPr>
        <p:spPr>
          <a:xfrm>
            <a:off x="8501107" y="5153966"/>
            <a:ext cx="2955640" cy="215444"/>
          </a:xfrm>
          <a:prstGeom prst="rect">
            <a:avLst/>
          </a:prstGeom>
          <a:noFill/>
        </p:spPr>
        <p:txBody>
          <a:bodyPr wrap="square">
            <a:spAutoFit/>
          </a:bodyPr>
          <a:lstStyle/>
          <a:p>
            <a:pPr algn="l"/>
            <a:r>
              <a:rPr lang="en-US" sz="800" dirty="0"/>
              <a:t>*TI and NXP does not support </a:t>
            </a:r>
            <a:r>
              <a:rPr lang="en-US" sz="800" dirty="0" err="1"/>
              <a:t>AzureRTOS</a:t>
            </a:r>
            <a:r>
              <a:rPr lang="en-US" sz="800" dirty="0"/>
              <a:t> </a:t>
            </a:r>
            <a:r>
              <a:rPr lang="en-US" sz="800" dirty="0" err="1"/>
              <a:t>ThreadX</a:t>
            </a:r>
            <a:endParaRPr lang="en-US" sz="800" dirty="0"/>
          </a:p>
        </p:txBody>
      </p:sp>
      <p:sp>
        <p:nvSpPr>
          <p:cNvPr id="5" name="TextBox 4">
            <a:extLst>
              <a:ext uri="{FF2B5EF4-FFF2-40B4-BE49-F238E27FC236}">
                <a16:creationId xmlns:a16="http://schemas.microsoft.com/office/drawing/2014/main" id="{35FAC61B-0D95-895B-9D6D-55F65C067C8C}"/>
              </a:ext>
            </a:extLst>
          </p:cNvPr>
          <p:cNvSpPr txBox="1"/>
          <p:nvPr/>
        </p:nvSpPr>
        <p:spPr>
          <a:xfrm>
            <a:off x="4248150" y="3230478"/>
            <a:ext cx="2216069" cy="215444"/>
          </a:xfrm>
          <a:prstGeom prst="rect">
            <a:avLst/>
          </a:prstGeom>
          <a:noFill/>
        </p:spPr>
        <p:txBody>
          <a:bodyPr wrap="square" rtlCol="0">
            <a:spAutoFit/>
          </a:bodyPr>
          <a:lstStyle/>
          <a:p>
            <a:pPr algn="l"/>
            <a:r>
              <a:rPr lang="en-US" sz="800" dirty="0">
                <a:solidFill>
                  <a:srgbClr val="00B0F0"/>
                </a:solidFill>
              </a:rPr>
              <a:t>Throughput (KB/s): the higher the better</a:t>
            </a:r>
          </a:p>
        </p:txBody>
      </p:sp>
      <p:sp>
        <p:nvSpPr>
          <p:cNvPr id="6" name="Oval 5">
            <a:extLst>
              <a:ext uri="{FF2B5EF4-FFF2-40B4-BE49-F238E27FC236}">
                <a16:creationId xmlns:a16="http://schemas.microsoft.com/office/drawing/2014/main" id="{9079AA4F-BA49-1B47-3B30-81E03EBB6FB9}"/>
              </a:ext>
            </a:extLst>
          </p:cNvPr>
          <p:cNvSpPr/>
          <p:nvPr/>
        </p:nvSpPr>
        <p:spPr>
          <a:xfrm>
            <a:off x="3639991" y="2956332"/>
            <a:ext cx="368080" cy="360389"/>
          </a:xfrm>
          <a:prstGeom prst="ellipse">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cxnSp>
        <p:nvCxnSpPr>
          <p:cNvPr id="10" name="Connector: Curved 9">
            <a:extLst>
              <a:ext uri="{FF2B5EF4-FFF2-40B4-BE49-F238E27FC236}">
                <a16:creationId xmlns:a16="http://schemas.microsoft.com/office/drawing/2014/main" id="{DB37497A-75B9-86C1-B879-3B1FCD9777FF}"/>
              </a:ext>
            </a:extLst>
          </p:cNvPr>
          <p:cNvCxnSpPr>
            <a:cxnSpLocks/>
            <a:stCxn id="5" idx="0"/>
            <a:endCxn id="6" idx="6"/>
          </p:cNvCxnSpPr>
          <p:nvPr/>
        </p:nvCxnSpPr>
        <p:spPr>
          <a:xfrm rot="16200000" flipV="1">
            <a:off x="4635153" y="2509446"/>
            <a:ext cx="93951" cy="1348114"/>
          </a:xfrm>
          <a:prstGeom prst="curvedConnector2">
            <a:avLst/>
          </a:prstGeom>
          <a:ln>
            <a:headEnd type="none" w="lg" len="lg"/>
            <a:tailEnd type="triangle"/>
          </a:ln>
        </p:spPr>
        <p:style>
          <a:lnRef idx="1">
            <a:schemeClr val="accent3"/>
          </a:lnRef>
          <a:fillRef idx="0">
            <a:schemeClr val="accent3"/>
          </a:fillRef>
          <a:effectRef idx="0">
            <a:schemeClr val="accent3"/>
          </a:effectRef>
          <a:fontRef idx="minor">
            <a:schemeClr val="tx1"/>
          </a:fontRef>
        </p:style>
      </p:cxnSp>
      <p:sp>
        <p:nvSpPr>
          <p:cNvPr id="19" name="Oval 18">
            <a:extLst>
              <a:ext uri="{FF2B5EF4-FFF2-40B4-BE49-F238E27FC236}">
                <a16:creationId xmlns:a16="http://schemas.microsoft.com/office/drawing/2014/main" id="{9B5033F9-E5F7-933F-9473-5D5FDA689C59}"/>
              </a:ext>
            </a:extLst>
          </p:cNvPr>
          <p:cNvSpPr/>
          <p:nvPr/>
        </p:nvSpPr>
        <p:spPr>
          <a:xfrm>
            <a:off x="2450269" y="5826979"/>
            <a:ext cx="362838" cy="430888"/>
          </a:xfrm>
          <a:prstGeom prst="ellipse">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21" name="TextBox 20">
            <a:extLst>
              <a:ext uri="{FF2B5EF4-FFF2-40B4-BE49-F238E27FC236}">
                <a16:creationId xmlns:a16="http://schemas.microsoft.com/office/drawing/2014/main" id="{53F9E336-513B-1CB8-0E84-936DFBEC218B}"/>
              </a:ext>
            </a:extLst>
          </p:cNvPr>
          <p:cNvSpPr txBox="1"/>
          <p:nvPr/>
        </p:nvSpPr>
        <p:spPr>
          <a:xfrm>
            <a:off x="2860182" y="6392689"/>
            <a:ext cx="1260776" cy="338554"/>
          </a:xfrm>
          <a:prstGeom prst="rect">
            <a:avLst/>
          </a:prstGeom>
          <a:noFill/>
        </p:spPr>
        <p:txBody>
          <a:bodyPr wrap="square" rtlCol="0">
            <a:spAutoFit/>
          </a:bodyPr>
          <a:lstStyle/>
          <a:p>
            <a:pPr algn="l"/>
            <a:r>
              <a:rPr lang="en-US" sz="800">
                <a:solidFill>
                  <a:srgbClr val="00B0F0"/>
                </a:solidFill>
              </a:rPr>
              <a:t>Throughput (KB/s): the higher the better</a:t>
            </a:r>
          </a:p>
        </p:txBody>
      </p:sp>
      <p:cxnSp>
        <p:nvCxnSpPr>
          <p:cNvPr id="27" name="Connector: Curved 26">
            <a:extLst>
              <a:ext uri="{FF2B5EF4-FFF2-40B4-BE49-F238E27FC236}">
                <a16:creationId xmlns:a16="http://schemas.microsoft.com/office/drawing/2014/main" id="{56854FBA-51F0-2A95-E262-07BA505CCD3C}"/>
              </a:ext>
            </a:extLst>
          </p:cNvPr>
          <p:cNvCxnSpPr>
            <a:cxnSpLocks/>
            <a:stCxn id="21" idx="1"/>
            <a:endCxn id="19" idx="5"/>
          </p:cNvCxnSpPr>
          <p:nvPr/>
        </p:nvCxnSpPr>
        <p:spPr>
          <a:xfrm rot="10800000">
            <a:off x="2759972" y="6194766"/>
            <a:ext cx="100211" cy="367201"/>
          </a:xfrm>
          <a:prstGeom prst="curvedConnector2">
            <a:avLst/>
          </a:prstGeom>
          <a:ln>
            <a:headEnd type="none" w="lg" len="lg"/>
            <a:tailEnd type="triangle"/>
          </a:ln>
        </p:spPr>
        <p:style>
          <a:lnRef idx="1">
            <a:schemeClr val="accent3"/>
          </a:lnRef>
          <a:fillRef idx="0">
            <a:schemeClr val="accent3"/>
          </a:fillRef>
          <a:effectRef idx="0">
            <a:schemeClr val="accent3"/>
          </a:effectRef>
          <a:fontRef idx="minor">
            <a:schemeClr val="tx1"/>
          </a:fontRef>
        </p:style>
      </p:cxnSp>
      <p:sp>
        <p:nvSpPr>
          <p:cNvPr id="3" name="TextBox 2">
            <a:extLst>
              <a:ext uri="{FF2B5EF4-FFF2-40B4-BE49-F238E27FC236}">
                <a16:creationId xmlns:a16="http://schemas.microsoft.com/office/drawing/2014/main" id="{E751249D-946E-2686-23A9-4AE2AA7E3D6C}"/>
              </a:ext>
            </a:extLst>
          </p:cNvPr>
          <p:cNvSpPr txBox="1"/>
          <p:nvPr/>
        </p:nvSpPr>
        <p:spPr>
          <a:xfrm>
            <a:off x="8329620" y="750492"/>
            <a:ext cx="3768098" cy="246221"/>
          </a:xfrm>
          <a:prstGeom prst="rect">
            <a:avLst/>
          </a:prstGeom>
          <a:noFill/>
        </p:spPr>
        <p:txBody>
          <a:bodyPr wrap="square" rtlCol="0">
            <a:spAutoFit/>
          </a:bodyPr>
          <a:lstStyle/>
          <a:p>
            <a:pPr lvl="0">
              <a:defRPr/>
            </a:pPr>
            <a:r>
              <a:rPr kumimoji="0" lang="en-US" sz="1000" b="0" i="0" u="none" strike="noStrike" kern="1200" cap="none" spc="0" normalizeH="0" baseline="0" noProof="0" dirty="0" err="1">
                <a:ln>
                  <a:noFill/>
                </a:ln>
                <a:solidFill>
                  <a:srgbClr val="464650"/>
                </a:solidFill>
                <a:effectLst/>
                <a:uLnTx/>
                <a:uFillTx/>
                <a:latin typeface="Arial"/>
                <a:ea typeface="+mn-ea"/>
                <a:cs typeface="+mn-cs"/>
              </a:rPr>
              <a:t>FreeRTOS</a:t>
            </a:r>
            <a:r>
              <a:rPr kumimoji="0" lang="en-US" sz="1000" b="0" i="0" u="none" strike="noStrike" kern="1200" cap="none" spc="0" normalizeH="0" baseline="0" noProof="0" dirty="0">
                <a:ln>
                  <a:noFill/>
                </a:ln>
                <a:solidFill>
                  <a:srgbClr val="464650"/>
                </a:solidFill>
                <a:effectLst/>
                <a:uLnTx/>
                <a:uFillTx/>
                <a:latin typeface="Arial"/>
                <a:ea typeface="+mn-ea"/>
                <a:cs typeface="+mn-cs"/>
              </a:rPr>
              <a:t> V10.6.2(TI/Renesas) V11.1.0 (NXP) </a:t>
            </a:r>
            <a:r>
              <a:rPr lang="en-US" sz="1000" dirty="0">
                <a:solidFill>
                  <a:schemeClr val="tx2"/>
                </a:solidFill>
              </a:rPr>
              <a:t>Performance</a:t>
            </a:r>
            <a:endParaRPr kumimoji="0" lang="en-US" sz="1000" b="0" i="0" u="none" strike="noStrike" kern="1200" cap="none" spc="0" normalizeH="0" baseline="0" noProof="0" dirty="0">
              <a:ln>
                <a:noFill/>
              </a:ln>
              <a:solidFill>
                <a:srgbClr val="464650"/>
              </a:solidFill>
              <a:effectLst/>
              <a:uLnTx/>
              <a:uFillTx/>
              <a:latin typeface="Arial"/>
              <a:ea typeface="+mn-ea"/>
              <a:cs typeface="+mn-cs"/>
            </a:endParaRPr>
          </a:p>
        </p:txBody>
      </p:sp>
      <p:sp>
        <p:nvSpPr>
          <p:cNvPr id="8" name="TextBox 7">
            <a:extLst>
              <a:ext uri="{FF2B5EF4-FFF2-40B4-BE49-F238E27FC236}">
                <a16:creationId xmlns:a16="http://schemas.microsoft.com/office/drawing/2014/main" id="{9E78953B-41C0-EBE9-9362-AF49934FF5F4}"/>
              </a:ext>
            </a:extLst>
          </p:cNvPr>
          <p:cNvSpPr txBox="1"/>
          <p:nvPr/>
        </p:nvSpPr>
        <p:spPr>
          <a:xfrm>
            <a:off x="8370188" y="2536279"/>
            <a:ext cx="3379434" cy="338554"/>
          </a:xfrm>
          <a:prstGeom prst="rect">
            <a:avLst/>
          </a:prstGeom>
          <a:noFill/>
        </p:spPr>
        <p:txBody>
          <a:bodyPr wrap="square">
            <a:spAutoFit/>
          </a:bodyPr>
          <a:lstStyle/>
          <a:p>
            <a:pPr algn="l"/>
            <a:r>
              <a:rPr lang="en-US" sz="800" dirty="0"/>
              <a:t>* RTOS performance is evaluated by context switching rate metric (thread/s): </a:t>
            </a:r>
            <a:r>
              <a:rPr lang="en-US" sz="800" b="1" dirty="0">
                <a:solidFill>
                  <a:srgbClr val="FF0000"/>
                </a:solidFill>
              </a:rPr>
              <a:t>The higher the better</a:t>
            </a:r>
          </a:p>
        </p:txBody>
      </p:sp>
      <p:sp>
        <p:nvSpPr>
          <p:cNvPr id="42" name="Slide Number Placeholder 41">
            <a:extLst>
              <a:ext uri="{FF2B5EF4-FFF2-40B4-BE49-F238E27FC236}">
                <a16:creationId xmlns:a16="http://schemas.microsoft.com/office/drawing/2014/main" id="{659E9D7A-DDD2-096E-B549-805845FA707C}"/>
              </a:ext>
            </a:extLst>
          </p:cNvPr>
          <p:cNvSpPr>
            <a:spLocks noGrp="1"/>
          </p:cNvSpPr>
          <p:nvPr>
            <p:ph type="sldNum" sz="quarter" idx="12"/>
          </p:nvPr>
        </p:nvSpPr>
        <p:spPr/>
        <p:txBody>
          <a:bodyPr/>
          <a:lstStyle/>
          <a:p>
            <a:fld id="{40A7B169-58CE-4E65-B1F9-ACF9E46440C2}" type="slidenum">
              <a:rPr lang="en-US" smtClean="0"/>
              <a:t>7</a:t>
            </a:fld>
            <a:endParaRPr lang="en-US"/>
          </a:p>
        </p:txBody>
      </p:sp>
    </p:spTree>
    <p:extLst>
      <p:ext uri="{BB962C8B-B14F-4D97-AF65-F5344CB8AC3E}">
        <p14:creationId xmlns:p14="http://schemas.microsoft.com/office/powerpoint/2010/main" val="1200851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921D5-95AA-CCA2-348A-82C1BECE5918}"/>
              </a:ext>
            </a:extLst>
          </p:cNvPr>
          <p:cNvSpPr>
            <a:spLocks noGrp="1"/>
          </p:cNvSpPr>
          <p:nvPr>
            <p:ph type="title"/>
          </p:nvPr>
        </p:nvSpPr>
        <p:spPr/>
        <p:txBody>
          <a:bodyPr/>
          <a:lstStyle/>
          <a:p>
            <a:r>
              <a:rPr lang="en-US" dirty="0"/>
              <a:t>Continuation Plan Proposal</a:t>
            </a:r>
          </a:p>
        </p:txBody>
      </p:sp>
      <p:sp>
        <p:nvSpPr>
          <p:cNvPr id="3" name="Slide Number Placeholder 2">
            <a:extLst>
              <a:ext uri="{FF2B5EF4-FFF2-40B4-BE49-F238E27FC236}">
                <a16:creationId xmlns:a16="http://schemas.microsoft.com/office/drawing/2014/main" id="{DF6B4664-1FCF-66E4-38E8-AF00E301E4DE}"/>
              </a:ext>
            </a:extLst>
          </p:cNvPr>
          <p:cNvSpPr>
            <a:spLocks noGrp="1"/>
          </p:cNvSpPr>
          <p:nvPr>
            <p:ph type="sldNum" sz="quarter" idx="12"/>
          </p:nvPr>
        </p:nvSpPr>
        <p:spPr/>
        <p:txBody>
          <a:bodyPr/>
          <a:lstStyle/>
          <a:p>
            <a:fld id="{40A7B169-58CE-4E65-B1F9-ACF9E46440C2}" type="slidenum">
              <a:rPr lang="en-US" smtClean="0"/>
              <a:t>8</a:t>
            </a:fld>
            <a:endParaRPr lang="en-US"/>
          </a:p>
        </p:txBody>
      </p:sp>
      <p:graphicFrame>
        <p:nvGraphicFramePr>
          <p:cNvPr id="7" name="Table 6">
            <a:extLst>
              <a:ext uri="{FF2B5EF4-FFF2-40B4-BE49-F238E27FC236}">
                <a16:creationId xmlns:a16="http://schemas.microsoft.com/office/drawing/2014/main" id="{EA470FE0-452F-9358-D6AC-BBB146B9405E}"/>
              </a:ext>
            </a:extLst>
          </p:cNvPr>
          <p:cNvGraphicFramePr>
            <a:graphicFrameLocks noGrp="1"/>
          </p:cNvGraphicFramePr>
          <p:nvPr>
            <p:extLst>
              <p:ext uri="{D42A27DB-BD31-4B8C-83A1-F6EECF244321}">
                <p14:modId xmlns:p14="http://schemas.microsoft.com/office/powerpoint/2010/main" val="1515744788"/>
              </p:ext>
            </p:extLst>
          </p:nvPr>
        </p:nvGraphicFramePr>
        <p:xfrm>
          <a:off x="300036" y="1419884"/>
          <a:ext cx="11609158" cy="5304750"/>
        </p:xfrm>
        <a:graphic>
          <a:graphicData uri="http://schemas.openxmlformats.org/drawingml/2006/table">
            <a:tbl>
              <a:tblPr/>
              <a:tblGrid>
                <a:gridCol w="1491566">
                  <a:extLst>
                    <a:ext uri="{9D8B030D-6E8A-4147-A177-3AD203B41FA5}">
                      <a16:colId xmlns:a16="http://schemas.microsoft.com/office/drawing/2014/main" val="3513881961"/>
                    </a:ext>
                  </a:extLst>
                </a:gridCol>
                <a:gridCol w="6247873">
                  <a:extLst>
                    <a:ext uri="{9D8B030D-6E8A-4147-A177-3AD203B41FA5}">
                      <a16:colId xmlns:a16="http://schemas.microsoft.com/office/drawing/2014/main" val="1291631953"/>
                    </a:ext>
                  </a:extLst>
                </a:gridCol>
                <a:gridCol w="817142">
                  <a:extLst>
                    <a:ext uri="{9D8B030D-6E8A-4147-A177-3AD203B41FA5}">
                      <a16:colId xmlns:a16="http://schemas.microsoft.com/office/drawing/2014/main" val="3989615174"/>
                    </a:ext>
                  </a:extLst>
                </a:gridCol>
                <a:gridCol w="3052577">
                  <a:extLst>
                    <a:ext uri="{9D8B030D-6E8A-4147-A177-3AD203B41FA5}">
                      <a16:colId xmlns:a16="http://schemas.microsoft.com/office/drawing/2014/main" val="3785807277"/>
                    </a:ext>
                  </a:extLst>
                </a:gridCol>
              </a:tblGrid>
              <a:tr h="374082">
                <a:tc>
                  <a:txBody>
                    <a:bodyPr/>
                    <a:lstStyle/>
                    <a:p>
                      <a:pPr algn="ctr">
                        <a:buNone/>
                      </a:pPr>
                      <a:r>
                        <a:rPr lang="en-US" sz="1000" b="1" dirty="0">
                          <a:solidFill>
                            <a:schemeClr val="bg1"/>
                          </a:solidFill>
                          <a:effectLst/>
                        </a:rPr>
                        <a:t>Middleware Stack</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buNone/>
                      </a:pPr>
                      <a:r>
                        <a:rPr lang="en-US" sz="1000" b="1" dirty="0">
                          <a:solidFill>
                            <a:schemeClr val="bg1"/>
                          </a:solidFill>
                          <a:effectLst/>
                        </a:rPr>
                        <a:t>Benchmark Scope</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pPr algn="ctr">
                        <a:buNone/>
                      </a:pPr>
                      <a:r>
                        <a:rPr lang="en-US" sz="1000" b="1" dirty="0">
                          <a:solidFill>
                            <a:schemeClr val="bg1"/>
                          </a:solidFill>
                          <a:effectLst/>
                        </a:rPr>
                        <a:t>HW Board</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pPr algn="ctr">
                        <a:buNone/>
                      </a:pPr>
                      <a:endParaRPr lang="en-US" sz="1000" b="1" dirty="0">
                        <a:solidFill>
                          <a:schemeClr val="bg1"/>
                        </a:solidFill>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275929183"/>
                  </a:ext>
                </a:extLst>
              </a:tr>
              <a:tr h="278674">
                <a:tc gridSpan="4">
                  <a:txBody>
                    <a:bodyPr/>
                    <a:lstStyle/>
                    <a:p>
                      <a:pPr algn="ctr">
                        <a:buNone/>
                      </a:pPr>
                      <a:r>
                        <a:rPr lang="en-US" sz="1000" b="1" dirty="0">
                          <a:effectLst/>
                        </a:rPr>
                        <a:t>STM32 vs Renesas</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hMerge="1">
                  <a:txBody>
                    <a:bodyPr/>
                    <a:lstStyle/>
                    <a:p>
                      <a:endParaRPr lang="en-US"/>
                    </a:p>
                  </a:txBody>
                  <a:tcPr/>
                </a:tc>
                <a:tc hMerge="1">
                  <a:txBody>
                    <a:bodyPr/>
                    <a:lstStyle/>
                    <a:p>
                      <a:pPr>
                        <a:buNone/>
                      </a:pP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CFCFD"/>
                    </a:solidFill>
                  </a:tcPr>
                </a:tc>
                <a:tc hMerge="1">
                  <a:txBody>
                    <a:bodyPr/>
                    <a:lstStyle/>
                    <a:p>
                      <a:pPr algn="ctr">
                        <a:buNone/>
                      </a:pPr>
                      <a:endParaRPr lang="en-US" sz="1000" b="1"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4132898377"/>
                  </a:ext>
                </a:extLst>
              </a:tr>
              <a:tr h="333532">
                <a:tc>
                  <a:txBody>
                    <a:bodyPr/>
                    <a:lstStyle/>
                    <a:p>
                      <a:pPr>
                        <a:buNone/>
                      </a:pPr>
                      <a:r>
                        <a:rPr lang="en-US" sz="1000" b="1" dirty="0" err="1">
                          <a:effectLst/>
                        </a:rPr>
                        <a:t>FreeRTOS</a:t>
                      </a:r>
                      <a:endParaRPr lang="en-US" sz="1000" b="1"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dirty="0">
                          <a:effectLst/>
                        </a:rPr>
                        <a:t>Low-footprint multitasking efficiency: task lifecycle cost, API latency, context-switch overhead</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r>
                        <a:rPr lang="en-US" sz="1000" dirty="0">
                          <a:effectLst/>
                        </a:rPr>
                        <a:t>FPB-RA0E1 vs NUCLEO-STM32L031</a:t>
                      </a:r>
                      <a:br>
                        <a:rPr lang="en-US" sz="1000" dirty="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a:txBody>
                    <a:bodyPr/>
                    <a:lstStyle/>
                    <a:p>
                      <a:pPr>
                        <a:buNone/>
                      </a:pPr>
                      <a:r>
                        <a:rPr lang="en-US" sz="1000">
                          <a:effectLst/>
                        </a:rPr>
                        <a:t>FPB-RA0E1 vs NUCLEO-STM32L031</a:t>
                      </a:r>
                      <a:br>
                        <a:rPr lang="en-US" sz="100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extLst>
                  <a:ext uri="{0D108BD9-81ED-4DB2-BD59-A6C34878D82A}">
                    <a16:rowId xmlns:a16="http://schemas.microsoft.com/office/drawing/2014/main" val="809869608"/>
                  </a:ext>
                </a:extLst>
              </a:tr>
              <a:tr h="333532">
                <a:tc>
                  <a:txBody>
                    <a:bodyPr/>
                    <a:lstStyle/>
                    <a:p>
                      <a:pPr>
                        <a:buNone/>
                      </a:pPr>
                      <a:r>
                        <a:rPr lang="en-US" sz="1000" b="1" dirty="0" err="1">
                          <a:effectLst/>
                        </a:rPr>
                        <a:t>LevelX</a:t>
                      </a:r>
                      <a:endParaRPr lang="en-US" sz="1000" b="1"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dirty="0">
                          <a:effectLst/>
                        </a:rPr>
                        <a:t>Persistent storage efficiency and flash-management readiness: format, mount/remount, small-file create/delete</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r>
                        <a:rPr lang="en-US" sz="1000" dirty="0">
                          <a:effectLst/>
                        </a:rPr>
                        <a:t>EK-RA8M1 vs STM32H753</a:t>
                      </a:r>
                      <a:br>
                        <a:rPr lang="en-US" sz="1000" dirty="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a:txBody>
                    <a:bodyPr/>
                    <a:lstStyle/>
                    <a:p>
                      <a:pPr>
                        <a:buNone/>
                      </a:pPr>
                      <a:r>
                        <a:rPr lang="en-US" sz="1000">
                          <a:effectLst/>
                        </a:rPr>
                        <a:t>EK-RA8M1 vs STM32H753</a:t>
                      </a:r>
                      <a:br>
                        <a:rPr lang="en-US" sz="100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extLst>
                  <a:ext uri="{0D108BD9-81ED-4DB2-BD59-A6C34878D82A}">
                    <a16:rowId xmlns:a16="http://schemas.microsoft.com/office/drawing/2014/main" val="2889697887"/>
                  </a:ext>
                </a:extLst>
              </a:tr>
              <a:tr h="333532">
                <a:tc>
                  <a:txBody>
                    <a:bodyPr/>
                    <a:lstStyle/>
                    <a:p>
                      <a:pPr>
                        <a:buNone/>
                      </a:pPr>
                      <a:r>
                        <a:rPr lang="en-US" sz="1000" b="1" dirty="0">
                          <a:effectLst/>
                        </a:rPr>
                        <a:t>USB</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dirty="0">
                          <a:effectLst/>
                        </a:rPr>
                        <a:t>USB stack footprint and class initialization performance: CDC, HID, MSC</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r>
                        <a:rPr lang="en-US" sz="1000" dirty="0">
                          <a:effectLst/>
                        </a:rPr>
                        <a:t>FPB-RA8E1 vs NUCLEO-STM32H743</a:t>
                      </a:r>
                      <a:br>
                        <a:rPr lang="en-US" sz="1000" dirty="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a:txBody>
                    <a:bodyPr/>
                    <a:lstStyle/>
                    <a:p>
                      <a:pPr>
                        <a:buNone/>
                      </a:pPr>
                      <a:r>
                        <a:rPr lang="en-US" sz="1000" dirty="0">
                          <a:effectLst/>
                        </a:rPr>
                        <a:t>FPB-RA8E1 vs NUCLEO-STM32H743</a:t>
                      </a:r>
                      <a:br>
                        <a:rPr lang="en-US" sz="1000" dirty="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extLst>
                  <a:ext uri="{0D108BD9-81ED-4DB2-BD59-A6C34878D82A}">
                    <a16:rowId xmlns:a16="http://schemas.microsoft.com/office/drawing/2014/main" val="3083245259"/>
                  </a:ext>
                </a:extLst>
              </a:tr>
              <a:tr h="270855">
                <a:tc gridSpan="4">
                  <a:txBody>
                    <a:bodyPr/>
                    <a:lstStyle/>
                    <a:p>
                      <a:pPr marL="0" algn="ctr" defTabSz="914400" rtl="0" eaLnBrk="1" latinLnBrk="0" hangingPunct="1">
                        <a:buNone/>
                      </a:pPr>
                      <a:r>
                        <a:rPr lang="en-US" sz="1000" b="1" kern="1200" dirty="0">
                          <a:solidFill>
                            <a:schemeClr val="tx1"/>
                          </a:solidFill>
                          <a:effectLst/>
                          <a:latin typeface="+mn-lt"/>
                          <a:ea typeface="+mn-ea"/>
                          <a:cs typeface="+mn-cs"/>
                        </a:rPr>
                        <a:t>STM32 vs NXP</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hMerge="1">
                  <a:txBody>
                    <a:bodyPr/>
                    <a:lstStyle/>
                    <a:p>
                      <a:endParaRPr lang="en-US"/>
                    </a:p>
                  </a:txBody>
                  <a:tcPr/>
                </a:tc>
                <a:tc hMerge="1">
                  <a:txBody>
                    <a:bodyPr/>
                    <a:lstStyle/>
                    <a:p>
                      <a:pPr>
                        <a:buNone/>
                      </a:pP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CFCFD"/>
                    </a:solidFill>
                  </a:tcPr>
                </a:tc>
                <a:tc hMerge="1">
                  <a:txBody>
                    <a:bodyPr/>
                    <a:lstStyle/>
                    <a:p>
                      <a:pPr marL="0" algn="ctr" defTabSz="914400" rtl="0" eaLnBrk="1" latinLnBrk="0" hangingPunct="1">
                        <a:buNone/>
                      </a:pPr>
                      <a:endParaRPr lang="en-US" sz="1000" b="1" kern="1200" dirty="0">
                        <a:solidFill>
                          <a:schemeClr val="tx1"/>
                        </a:solidFill>
                        <a:effectLst/>
                        <a:latin typeface="+mn-lt"/>
                        <a:ea typeface="+mn-ea"/>
                        <a:cs typeface="+mn-cs"/>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3429692566"/>
                  </a:ext>
                </a:extLst>
              </a:tr>
              <a:tr h="388822">
                <a:tc>
                  <a:txBody>
                    <a:bodyPr/>
                    <a:lstStyle/>
                    <a:p>
                      <a:pPr>
                        <a:buNone/>
                      </a:pPr>
                      <a:r>
                        <a:rPr lang="en-US" sz="1000" b="1">
                          <a:effectLst/>
                        </a:rPr>
                        <a:t>FreeRTOS</a:t>
                      </a:r>
                      <a:endParaRPr lang="en-US" sz="1000" b="1"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dirty="0">
                          <a:effectLst/>
                        </a:rPr>
                        <a:t>Low-power RTOS efficiency: task management, synchronization, queues, timers, wakeup/sleep transitions, context-switch latency</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r>
                        <a:rPr lang="en-US" sz="1000" dirty="0">
                          <a:effectLst/>
                        </a:rPr>
                        <a:t>FRDM-MCXA156 vs NUCLEO-L552ZE-Q</a:t>
                      </a:r>
                      <a:br>
                        <a:rPr lang="en-US" sz="1000" dirty="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a:txBody>
                    <a:bodyPr/>
                    <a:lstStyle/>
                    <a:p>
                      <a:pPr>
                        <a:buNone/>
                      </a:pPr>
                      <a:r>
                        <a:rPr lang="en-US" sz="1000">
                          <a:effectLst/>
                        </a:rPr>
                        <a:t>FRDM-MCXA156 vs NUCLEO-L552ZE-Q</a:t>
                      </a:r>
                      <a:br>
                        <a:rPr lang="en-US" sz="100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extLst>
                  <a:ext uri="{0D108BD9-81ED-4DB2-BD59-A6C34878D82A}">
                    <a16:rowId xmlns:a16="http://schemas.microsoft.com/office/drawing/2014/main" val="1844516069"/>
                  </a:ext>
                </a:extLst>
              </a:tr>
              <a:tr h="388822">
                <a:tc>
                  <a:txBody>
                    <a:bodyPr/>
                    <a:lstStyle/>
                    <a:p>
                      <a:pPr>
                        <a:buNone/>
                      </a:pPr>
                      <a:r>
                        <a:rPr lang="en-US" sz="1000" b="1">
                          <a:effectLst/>
                        </a:rPr>
                        <a:t>FatFS</a:t>
                      </a:r>
                      <a:endParaRPr lang="en-US" sz="1000" b="1"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dirty="0">
                          <a:effectLst/>
                        </a:rPr>
                        <a:t>SD storage middleware efficiency: mount, format, file operations, directory scan</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r>
                        <a:rPr lang="en-US" sz="1000" dirty="0">
                          <a:effectLst/>
                        </a:rPr>
                        <a:t>MIMXRT1060-EVKV vs STM32H735G-DK</a:t>
                      </a:r>
                      <a:br>
                        <a:rPr lang="en-US" sz="1000" dirty="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a:txBody>
                    <a:bodyPr/>
                    <a:lstStyle/>
                    <a:p>
                      <a:pPr>
                        <a:buNone/>
                      </a:pPr>
                      <a:r>
                        <a:rPr lang="en-US" sz="1000">
                          <a:effectLst/>
                        </a:rPr>
                        <a:t>MIMXRT1060-EVKV vs STM32H735G-DK</a:t>
                      </a:r>
                      <a:br>
                        <a:rPr lang="en-US" sz="100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extLst>
                  <a:ext uri="{0D108BD9-81ED-4DB2-BD59-A6C34878D82A}">
                    <a16:rowId xmlns:a16="http://schemas.microsoft.com/office/drawing/2014/main" val="100247793"/>
                  </a:ext>
                </a:extLst>
              </a:tr>
              <a:tr h="388822">
                <a:tc>
                  <a:txBody>
                    <a:bodyPr/>
                    <a:lstStyle/>
                    <a:p>
                      <a:pPr>
                        <a:buNone/>
                      </a:pPr>
                      <a:r>
                        <a:rPr lang="en-US" sz="1000" b="1" dirty="0">
                          <a:effectLst/>
                        </a:rPr>
                        <a:t>USB Device</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dirty="0">
                          <a:effectLst/>
                        </a:rPr>
                        <a:t>USB FS device stack efficiency across CDC, HID, MSC: initialization, enumeration, control-transfer, transfer performance</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r>
                        <a:rPr lang="en-US" sz="1000" dirty="0">
                          <a:effectLst/>
                        </a:rPr>
                        <a:t>FRDM-MCXA156 vs NUCLEO-L552ZE-Q</a:t>
                      </a:r>
                      <a:br>
                        <a:rPr lang="en-US" sz="1000" dirty="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a:txBody>
                    <a:bodyPr/>
                    <a:lstStyle/>
                    <a:p>
                      <a:pPr>
                        <a:buNone/>
                      </a:pPr>
                      <a:r>
                        <a:rPr lang="en-US" sz="1000">
                          <a:effectLst/>
                        </a:rPr>
                        <a:t>FRDM-MCXA156 vs NUCLEO-L552ZE-Q</a:t>
                      </a:r>
                      <a:br>
                        <a:rPr lang="en-US" sz="100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extLst>
                  <a:ext uri="{0D108BD9-81ED-4DB2-BD59-A6C34878D82A}">
                    <a16:rowId xmlns:a16="http://schemas.microsoft.com/office/drawing/2014/main" val="3397231336"/>
                  </a:ext>
                </a:extLst>
              </a:tr>
              <a:tr h="388822">
                <a:tc>
                  <a:txBody>
                    <a:bodyPr/>
                    <a:lstStyle/>
                    <a:p>
                      <a:pPr>
                        <a:buNone/>
                      </a:pPr>
                      <a:r>
                        <a:rPr lang="en-US" sz="1000" b="1" dirty="0" err="1">
                          <a:effectLst/>
                        </a:rPr>
                        <a:t>LwIP</a:t>
                      </a:r>
                      <a:endParaRPr lang="en-US" sz="1000" b="1"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dirty="0">
                          <a:effectLst/>
                        </a:rPr>
                        <a:t>Ethernet stack efficiency: startup, network service latency, socket performance, TCP/UDP throughput</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r>
                        <a:rPr lang="en-US" sz="1000" dirty="0">
                          <a:effectLst/>
                        </a:rPr>
                        <a:t>MIMXRT1060-EVKC vs STM32H735G-DK</a:t>
                      </a:r>
                      <a:br>
                        <a:rPr lang="en-US" sz="1000" dirty="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a:txBody>
                    <a:bodyPr/>
                    <a:lstStyle/>
                    <a:p>
                      <a:pPr>
                        <a:buNone/>
                      </a:pPr>
                      <a:r>
                        <a:rPr lang="en-US" sz="1000" dirty="0">
                          <a:effectLst/>
                        </a:rPr>
                        <a:t>MIMXRT1060-EVKC vs STM32H735G-DK</a:t>
                      </a:r>
                      <a:br>
                        <a:rPr lang="en-US" sz="1000" dirty="0">
                          <a:effectLst/>
                        </a:rPr>
                      </a:b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extLst>
                  <a:ext uri="{0D108BD9-81ED-4DB2-BD59-A6C34878D82A}">
                    <a16:rowId xmlns:a16="http://schemas.microsoft.com/office/drawing/2014/main" val="1403868344"/>
                  </a:ext>
                </a:extLst>
              </a:tr>
              <a:tr h="269967">
                <a:tc gridSpan="4">
                  <a:txBody>
                    <a:bodyPr/>
                    <a:lstStyle/>
                    <a:p>
                      <a:pPr marL="0" algn="ctr" defTabSz="914400" rtl="0" eaLnBrk="1" latinLnBrk="0" hangingPunct="1">
                        <a:buNone/>
                      </a:pPr>
                      <a:r>
                        <a:rPr lang="en-US" sz="1000" b="1" kern="1200" dirty="0">
                          <a:solidFill>
                            <a:schemeClr val="tx1"/>
                          </a:solidFill>
                          <a:effectLst/>
                          <a:latin typeface="+mn-lt"/>
                          <a:ea typeface="+mn-ea"/>
                          <a:cs typeface="+mn-cs"/>
                        </a:rPr>
                        <a:t>STM32 vs </a:t>
                      </a:r>
                      <a:r>
                        <a:rPr lang="en-US" sz="1000" b="1" kern="1200" dirty="0" err="1">
                          <a:solidFill>
                            <a:schemeClr val="tx1"/>
                          </a:solidFill>
                          <a:effectLst/>
                          <a:latin typeface="+mn-lt"/>
                          <a:ea typeface="+mn-ea"/>
                          <a:cs typeface="+mn-cs"/>
                        </a:rPr>
                        <a:t>GigaDevice</a:t>
                      </a:r>
                      <a:endParaRPr lang="en-US" sz="1000" b="1" kern="1200" dirty="0">
                        <a:solidFill>
                          <a:schemeClr val="tx1"/>
                        </a:solidFill>
                        <a:effectLst/>
                        <a:latin typeface="+mn-lt"/>
                        <a:ea typeface="+mn-ea"/>
                        <a:cs typeface="+mn-cs"/>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hMerge="1">
                  <a:txBody>
                    <a:bodyPr/>
                    <a:lstStyle/>
                    <a:p>
                      <a:pPr>
                        <a:buNone/>
                      </a:pP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marL="0" algn="ctr" defTabSz="914400" rtl="0" eaLnBrk="1" latinLnBrk="0" hangingPunct="1">
                        <a:buNone/>
                      </a:pPr>
                      <a:endParaRPr lang="en-US" sz="1000" b="1" kern="1200" dirty="0">
                        <a:solidFill>
                          <a:schemeClr val="tx1"/>
                        </a:solidFill>
                        <a:effectLst/>
                        <a:latin typeface="+mn-lt"/>
                        <a:ea typeface="+mn-ea"/>
                        <a:cs typeface="+mn-cs"/>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2742325003"/>
                  </a:ext>
                </a:extLst>
              </a:tr>
              <a:tr h="388822">
                <a:tc>
                  <a:txBody>
                    <a:bodyPr/>
                    <a:lstStyle/>
                    <a:p>
                      <a:pPr>
                        <a:buNone/>
                      </a:pPr>
                      <a:r>
                        <a:rPr lang="en-US" sz="1000" b="1" dirty="0">
                          <a:effectLst/>
                        </a:rPr>
                        <a:t>USB Device</a:t>
                      </a:r>
                    </a:p>
                  </a:txBody>
                  <a:tcPr marL="76200" marR="762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kern="1200" dirty="0">
                          <a:solidFill>
                            <a:schemeClr val="dk1"/>
                          </a:solidFill>
                          <a:effectLst/>
                        </a:rPr>
                        <a:t>Measure USB device stack efficiency across HID, CDC, and MSC through footprint, initialization, enumeration, and transfer performance.</a:t>
                      </a:r>
                      <a:endParaRPr lang="en-US" sz="1000" kern="1200" dirty="0">
                        <a:solidFill>
                          <a:schemeClr val="dk1"/>
                        </a:solidFill>
                        <a:effectLst/>
                        <a:latin typeface="+mn-lt"/>
                        <a:ea typeface="+mn-ea"/>
                        <a:cs typeface="+mn-cs"/>
                      </a:endParaRPr>
                    </a:p>
                  </a:txBody>
                  <a:tcPr marL="76200" marR="762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effectLst/>
                        </a:rPr>
                        <a:t>GD32E507Z-EVAL vs STM32U5A9J-DK</a:t>
                      </a:r>
                    </a:p>
                    <a:p>
                      <a:pPr>
                        <a:buNone/>
                      </a:pP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effectLst/>
                        </a:rPr>
                        <a:t>GD32E507Z-EVAL vs STM32U5A9J-DK</a:t>
                      </a: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extLst>
                  <a:ext uri="{0D108BD9-81ED-4DB2-BD59-A6C34878D82A}">
                    <a16:rowId xmlns:a16="http://schemas.microsoft.com/office/drawing/2014/main" val="3124472530"/>
                  </a:ext>
                </a:extLst>
              </a:tr>
              <a:tr h="388822">
                <a:tc>
                  <a:txBody>
                    <a:bodyPr/>
                    <a:lstStyle/>
                    <a:p>
                      <a:pPr>
                        <a:buNone/>
                      </a:pPr>
                      <a:r>
                        <a:rPr lang="en-US" sz="1000" b="1" dirty="0" err="1">
                          <a:effectLst/>
                        </a:rPr>
                        <a:t>FreeRTOS</a:t>
                      </a:r>
                      <a:endParaRPr lang="en-US" sz="1000" b="1" dirty="0">
                        <a:effectLst/>
                      </a:endParaRPr>
                    </a:p>
                  </a:txBody>
                  <a:tcPr marL="76200" marR="762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kern="1200" dirty="0">
                          <a:solidFill>
                            <a:schemeClr val="dk1"/>
                          </a:solidFill>
                          <a:effectLst/>
                        </a:rPr>
                        <a:t>Measure RTOS responsiveness and scalability through task, sync, queue, timer, ISR wakeup, and context-switch performance.</a:t>
                      </a:r>
                      <a:endParaRPr lang="en-US" sz="1000" kern="1200" dirty="0">
                        <a:solidFill>
                          <a:schemeClr val="dk1"/>
                        </a:solidFill>
                        <a:effectLst/>
                        <a:latin typeface="+mn-lt"/>
                        <a:ea typeface="+mn-ea"/>
                        <a:cs typeface="+mn-cs"/>
                      </a:endParaRPr>
                    </a:p>
                  </a:txBody>
                  <a:tcPr marL="76200" marR="762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vMerge="1">
                  <a:txBody>
                    <a:bodyPr/>
                    <a:lstStyle/>
                    <a:p>
                      <a:endParaRPr lang="en-US"/>
                    </a:p>
                  </a:txBody>
                  <a:tcPr/>
                </a:tc>
                <a:extLst>
                  <a:ext uri="{0D108BD9-81ED-4DB2-BD59-A6C34878D82A}">
                    <a16:rowId xmlns:a16="http://schemas.microsoft.com/office/drawing/2014/main" val="2734051630"/>
                  </a:ext>
                </a:extLst>
              </a:tr>
              <a:tr h="388822">
                <a:tc>
                  <a:txBody>
                    <a:bodyPr/>
                    <a:lstStyle/>
                    <a:p>
                      <a:pPr>
                        <a:buNone/>
                      </a:pPr>
                      <a:r>
                        <a:rPr lang="en-US" sz="1000" b="1" dirty="0" err="1">
                          <a:effectLst/>
                        </a:rPr>
                        <a:t>FatFS</a:t>
                      </a:r>
                      <a:endParaRPr lang="en-US" sz="1000" b="1" dirty="0">
                        <a:effectLst/>
                      </a:endParaRPr>
                    </a:p>
                  </a:txBody>
                  <a:tcPr marL="76200" marR="762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kern="1200" dirty="0">
                          <a:solidFill>
                            <a:schemeClr val="dk1"/>
                          </a:solidFill>
                          <a:effectLst/>
                        </a:rPr>
                        <a:t>Measure file-system efficiency on external and removable storage through mount, format, and file operation performance.</a:t>
                      </a:r>
                      <a:endParaRPr lang="en-US" sz="1000" kern="1200" dirty="0">
                        <a:solidFill>
                          <a:schemeClr val="dk1"/>
                        </a:solidFill>
                        <a:effectLst/>
                        <a:latin typeface="+mn-lt"/>
                        <a:ea typeface="+mn-ea"/>
                        <a:cs typeface="+mn-cs"/>
                      </a:endParaRPr>
                    </a:p>
                  </a:txBody>
                  <a:tcPr marL="76200" marR="762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vMerge="1">
                  <a:txBody>
                    <a:bodyPr/>
                    <a:lstStyle/>
                    <a:p>
                      <a:endParaRPr lang="en-US"/>
                    </a:p>
                  </a:txBody>
                  <a:tcPr/>
                </a:tc>
                <a:extLst>
                  <a:ext uri="{0D108BD9-81ED-4DB2-BD59-A6C34878D82A}">
                    <a16:rowId xmlns:a16="http://schemas.microsoft.com/office/drawing/2014/main" val="2080904033"/>
                  </a:ext>
                </a:extLst>
              </a:tr>
              <a:tr h="388822">
                <a:tc>
                  <a:txBody>
                    <a:bodyPr/>
                    <a:lstStyle/>
                    <a:p>
                      <a:pPr>
                        <a:buNone/>
                      </a:pPr>
                      <a:r>
                        <a:rPr lang="en-US" sz="1000" b="1" dirty="0" err="1">
                          <a:effectLst/>
                        </a:rPr>
                        <a:t>LwIP</a:t>
                      </a:r>
                      <a:endParaRPr lang="en-US" sz="1000" b="1" dirty="0">
                        <a:effectLst/>
                      </a:endParaRPr>
                    </a:p>
                  </a:txBody>
                  <a:tcPr marL="76200" marR="762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gridSpan="2">
                  <a:txBody>
                    <a:bodyPr/>
                    <a:lstStyle/>
                    <a:p>
                      <a:pPr>
                        <a:buNone/>
                      </a:pPr>
                      <a:r>
                        <a:rPr lang="en-US" sz="1000" kern="1200" dirty="0">
                          <a:solidFill>
                            <a:schemeClr val="dk1"/>
                          </a:solidFill>
                          <a:effectLst/>
                        </a:rPr>
                        <a:t>Measure Ethernet stack efficiency through startup, network service latency, socket performance, and TCP/UDP throughput.</a:t>
                      </a:r>
                      <a:endParaRPr lang="en-US" sz="1000" kern="1200" dirty="0">
                        <a:solidFill>
                          <a:schemeClr val="dk1"/>
                        </a:solidFill>
                        <a:effectLst/>
                        <a:latin typeface="+mn-lt"/>
                        <a:ea typeface="+mn-ea"/>
                        <a:cs typeface="+mn-cs"/>
                      </a:endParaRPr>
                    </a:p>
                  </a:txBody>
                  <a:tcPr marL="76200" marR="7620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hMerge="1">
                  <a:txBody>
                    <a:bodyPr/>
                    <a:lstStyle/>
                    <a:p>
                      <a:pPr>
                        <a:buNone/>
                      </a:pPr>
                      <a:endParaRPr lang="en-US" sz="1000" dirty="0">
                        <a:effectLst/>
                      </a:endParaRPr>
                    </a:p>
                  </a:txBody>
                  <a:tcPr marL="10978" marR="10978" marT="2744" marB="2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FCFD"/>
                    </a:solidFill>
                  </a:tcPr>
                </a:tc>
                <a:tc vMerge="1">
                  <a:txBody>
                    <a:bodyPr/>
                    <a:lstStyle/>
                    <a:p>
                      <a:endParaRPr lang="en-US"/>
                    </a:p>
                  </a:txBody>
                  <a:tcPr/>
                </a:tc>
                <a:extLst>
                  <a:ext uri="{0D108BD9-81ED-4DB2-BD59-A6C34878D82A}">
                    <a16:rowId xmlns:a16="http://schemas.microsoft.com/office/drawing/2014/main" val="3314037307"/>
                  </a:ext>
                </a:extLst>
              </a:tr>
            </a:tbl>
          </a:graphicData>
        </a:graphic>
      </p:graphicFrame>
    </p:spTree>
    <p:extLst>
      <p:ext uri="{BB962C8B-B14F-4D97-AF65-F5344CB8AC3E}">
        <p14:creationId xmlns:p14="http://schemas.microsoft.com/office/powerpoint/2010/main" val="3757741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D642A-5CEF-74F5-E95F-65A9C8C5B9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E2AA25-B3EB-35B4-68D3-C2A943105D4C}"/>
              </a:ext>
            </a:extLst>
          </p:cNvPr>
          <p:cNvSpPr>
            <a:spLocks noGrp="1"/>
          </p:cNvSpPr>
          <p:nvPr>
            <p:ph type="title"/>
          </p:nvPr>
        </p:nvSpPr>
        <p:spPr/>
        <p:txBody>
          <a:bodyPr/>
          <a:lstStyle/>
          <a:p>
            <a:r>
              <a:rPr lang="en-US"/>
              <a:t>ST Competitors MW Benchmark: RTOS</a:t>
            </a:r>
            <a:br>
              <a:rPr lang="en-US"/>
            </a:br>
            <a:r>
              <a:rPr lang="en-US" sz="2400" b="1">
                <a:solidFill>
                  <a:schemeClr val="accent2"/>
                </a:solidFill>
              </a:rPr>
              <a:t>Objective Performance comparison</a:t>
            </a:r>
            <a:endParaRPr lang="en-US" sz="2400"/>
          </a:p>
        </p:txBody>
      </p:sp>
      <p:sp>
        <p:nvSpPr>
          <p:cNvPr id="4" name="TextBox 3">
            <a:extLst>
              <a:ext uri="{FF2B5EF4-FFF2-40B4-BE49-F238E27FC236}">
                <a16:creationId xmlns:a16="http://schemas.microsoft.com/office/drawing/2014/main" id="{8165AB69-65AB-9E7C-B001-A9C4D225B9BE}"/>
              </a:ext>
            </a:extLst>
          </p:cNvPr>
          <p:cNvSpPr txBox="1"/>
          <p:nvPr/>
        </p:nvSpPr>
        <p:spPr>
          <a:xfrm>
            <a:off x="300037" y="2195459"/>
            <a:ext cx="10615613" cy="2708434"/>
          </a:xfrm>
          <a:prstGeom prst="rect">
            <a:avLst/>
          </a:prstGeom>
          <a:noFill/>
        </p:spPr>
        <p:txBody>
          <a:bodyPr wrap="square" lIns="91440" tIns="45720" rIns="91440" bIns="45720" rtlCol="0" anchor="t">
            <a:spAutoFit/>
          </a:bodyPr>
          <a:lstStyle/>
          <a:p>
            <a:r>
              <a:rPr lang="en-US" sz="1000"/>
              <a:t>This benchmark analysis was based on a series of tests from the Thread Metric benchmark suite, formerly offered by Microsoft and now offered by the Eclipse Foundation</a:t>
            </a:r>
            <a:r>
              <a:rPr lang="en-US" sz="1000" baseline="30000"/>
              <a:t>(*)</a:t>
            </a:r>
            <a:r>
              <a:rPr lang="en-US" sz="1000"/>
              <a:t>. The Thread Metric benchmark suite is under MIT license and can be found on GitHub here: </a:t>
            </a:r>
            <a:r>
              <a:rPr lang="en-US" sz="1000">
                <a:hlinkClick r:id="rId2"/>
              </a:rPr>
              <a:t>Thread Metric Benchmark Suite</a:t>
            </a:r>
            <a:r>
              <a:rPr lang="en-US" sz="1000"/>
              <a:t>.</a:t>
            </a:r>
          </a:p>
          <a:p>
            <a:endParaRPr lang="fr-FR" sz="1000" b="1">
              <a:solidFill>
                <a:schemeClr val="accent1">
                  <a:lumMod val="75000"/>
                  <a:lumOff val="25000"/>
                </a:schemeClr>
              </a:solidFill>
            </a:endParaRPr>
          </a:p>
          <a:p>
            <a:r>
              <a:rPr lang="en-US" sz="1000"/>
              <a:t>The Thread Metric benchmark suite consists of eight tests, For this study, we have selected the following </a:t>
            </a:r>
            <a:r>
              <a:rPr lang="en-US" sz="1000" b="1"/>
              <a:t>three</a:t>
            </a:r>
            <a:r>
              <a:rPr lang="en-US" sz="1000"/>
              <a:t> </a:t>
            </a:r>
            <a:r>
              <a:rPr lang="en-US" sz="1000" b="1"/>
              <a:t>Thread Metric RTOS performance tests</a:t>
            </a:r>
            <a:r>
              <a:rPr lang="en-US" sz="1000"/>
              <a:t>:</a:t>
            </a:r>
            <a:endParaRPr lang="en-US" sz="1000">
              <a:cs typeface="Arial"/>
            </a:endParaRPr>
          </a:p>
          <a:p>
            <a:endParaRPr lang="en-US" sz="1000">
              <a:cs typeface="Arial"/>
            </a:endParaRPr>
          </a:p>
          <a:p>
            <a:pPr marL="285750" indent="-285750">
              <a:buFont typeface="Wingdings" panose="05000000000000000000" pitchFamily="2" charset="2"/>
              <a:buChar char="§"/>
            </a:pPr>
            <a:r>
              <a:rPr lang="fr-FR" sz="1000" b="1" u="sng"/>
              <a:t>Basic </a:t>
            </a:r>
            <a:r>
              <a:rPr lang="fr-FR" sz="1000" b="1" u="sng" err="1"/>
              <a:t>Processing</a:t>
            </a:r>
            <a:r>
              <a:rPr lang="fr-FR" sz="1000" b="1" u="sng"/>
              <a:t>: </a:t>
            </a:r>
            <a:r>
              <a:rPr lang="en-US" sz="1000"/>
              <a:t>The test uses two threads: a </a:t>
            </a:r>
            <a:r>
              <a:rPr lang="en-US" sz="1000">
                <a:solidFill>
                  <a:schemeClr val="accent2"/>
                </a:solidFill>
              </a:rPr>
              <a:t>low-priority counting thread </a:t>
            </a:r>
            <a:r>
              <a:rPr lang="en-US" sz="1000"/>
              <a:t>that continuously updates a global counter, and a </a:t>
            </a:r>
            <a:r>
              <a:rPr lang="en-US" sz="1000">
                <a:solidFill>
                  <a:schemeClr val="accent2"/>
                </a:solidFill>
              </a:rPr>
              <a:t>high-priority reporting thread </a:t>
            </a:r>
            <a:r>
              <a:rPr lang="en-US" sz="1000"/>
              <a:t>that sleeps for 30 seconds before reporting the counter difference to monitor system performance.</a:t>
            </a:r>
            <a:endParaRPr lang="en-US" sz="1000">
              <a:cs typeface="Arial"/>
            </a:endParaRPr>
          </a:p>
          <a:p>
            <a:pPr marL="285750" indent="-285750">
              <a:buFont typeface="Wingdings" panose="05000000000000000000" pitchFamily="2" charset="2"/>
              <a:buChar char="§"/>
            </a:pPr>
            <a:endParaRPr lang="en-US" sz="1000"/>
          </a:p>
          <a:p>
            <a:pPr marL="285750" indent="-285750">
              <a:buFont typeface="Wingdings" panose="05000000000000000000" pitchFamily="2" charset="2"/>
              <a:buChar char="§"/>
            </a:pPr>
            <a:r>
              <a:rPr lang="fr-FR" sz="1000" b="1" u="sng" err="1"/>
              <a:t>Cooperative</a:t>
            </a:r>
            <a:r>
              <a:rPr lang="fr-FR" sz="1000" b="1" u="sng"/>
              <a:t> </a:t>
            </a:r>
            <a:r>
              <a:rPr lang="fr-FR" sz="1000" b="1" u="sng" err="1"/>
              <a:t>Processing</a:t>
            </a:r>
            <a:r>
              <a:rPr lang="fr-FR" sz="1000" b="1" u="sng"/>
              <a:t>: </a:t>
            </a:r>
            <a:r>
              <a:rPr lang="en-US" sz="1000"/>
              <a:t>The test runs with six threads: </a:t>
            </a:r>
            <a:r>
              <a:rPr lang="en-US" sz="1000">
                <a:solidFill>
                  <a:schemeClr val="accent2"/>
                </a:solidFill>
              </a:rPr>
              <a:t>five cooperative threads of equal priority </a:t>
            </a:r>
            <a:r>
              <a:rPr lang="en-US" sz="1000"/>
              <a:t>that yield control before incrementing their counters, and </a:t>
            </a:r>
            <a:r>
              <a:rPr lang="en-US" sz="1000">
                <a:solidFill>
                  <a:schemeClr val="accent2"/>
                </a:solidFill>
              </a:rPr>
              <a:t>one high-priority reporting thread </a:t>
            </a:r>
            <a:r>
              <a:rPr lang="en-US" sz="1000"/>
              <a:t>that sleeps for 30 seconds before reporting the counters.</a:t>
            </a:r>
            <a:endParaRPr lang="en-US" sz="1000">
              <a:cs typeface="Arial"/>
            </a:endParaRPr>
          </a:p>
          <a:p>
            <a:pPr marL="285750" indent="-285750">
              <a:buFont typeface="Wingdings" panose="05000000000000000000" pitchFamily="2" charset="2"/>
              <a:buChar char="§"/>
            </a:pPr>
            <a:endParaRPr lang="fr-FR" sz="1000"/>
          </a:p>
          <a:p>
            <a:pPr marL="285750" indent="-285750">
              <a:buFont typeface="Wingdings" panose="05000000000000000000" pitchFamily="2" charset="2"/>
              <a:buChar char="§"/>
            </a:pPr>
            <a:r>
              <a:rPr lang="fr-FR" sz="1000" b="1" u="sng" err="1"/>
              <a:t>Preemptive</a:t>
            </a:r>
            <a:r>
              <a:rPr lang="fr-FR" sz="1000" b="1" u="sng"/>
              <a:t> </a:t>
            </a:r>
            <a:r>
              <a:rPr lang="fr-FR" sz="1000" b="1" u="sng" err="1"/>
              <a:t>Scheduling</a:t>
            </a:r>
            <a:r>
              <a:rPr lang="fr-FR" sz="1000" b="1" u="sng"/>
              <a:t>: </a:t>
            </a:r>
            <a:r>
              <a:rPr lang="en-US" sz="1000"/>
              <a:t>The test runs with six threads: </a:t>
            </a:r>
            <a:r>
              <a:rPr lang="en-US" sz="1000">
                <a:solidFill>
                  <a:schemeClr val="accent2"/>
                </a:solidFill>
              </a:rPr>
              <a:t>five preemptive threads with ascending priorities </a:t>
            </a:r>
            <a:r>
              <a:rPr lang="en-US" sz="1000"/>
              <a:t>where each resumes the next higher-priority thread before incrementing its counter and suspending itself (except the lowest-priority thread), and </a:t>
            </a:r>
            <a:r>
              <a:rPr lang="en-US" sz="1000">
                <a:solidFill>
                  <a:schemeClr val="accent2"/>
                </a:solidFill>
              </a:rPr>
              <a:t>a high-priority reporting thread </a:t>
            </a:r>
            <a:r>
              <a:rPr lang="en-US" sz="1000"/>
              <a:t>that sleeps for 30 seconds before reporting the counters.</a:t>
            </a:r>
            <a:endParaRPr lang="en-US" sz="1000">
              <a:cs typeface="Arial"/>
            </a:endParaRPr>
          </a:p>
          <a:p>
            <a:pPr marL="285750" indent="-285750">
              <a:buFont typeface="Wingdings" panose="05000000000000000000" pitchFamily="2" charset="2"/>
              <a:buChar char="§"/>
            </a:pPr>
            <a:endParaRPr lang="en-US" sz="1000"/>
          </a:p>
          <a:p>
            <a:r>
              <a:rPr lang="en-US" sz="1000"/>
              <a:t>These performed analyses are in line with the defined test plan in </a:t>
            </a:r>
            <a:r>
              <a:rPr lang="en-US" sz="1000" u="sng">
                <a:solidFill>
                  <a:srgbClr val="00B0F0"/>
                </a:solidFill>
              </a:rPr>
              <a:t>slide2</a:t>
            </a:r>
            <a:endParaRPr lang="en-US" sz="1000">
              <a:cs typeface="Arial"/>
            </a:endParaRPr>
          </a:p>
          <a:p>
            <a:endParaRPr lang="en-US" sz="1000">
              <a:cs typeface="Arial"/>
            </a:endParaRPr>
          </a:p>
          <a:p>
            <a:r>
              <a:rPr lang="en-US" sz="1000"/>
              <a:t>(*) Source: white paper available at </a:t>
            </a:r>
            <a:r>
              <a:rPr lang="en-US" sz="1000">
                <a:solidFill>
                  <a:srgbClr val="000000"/>
                </a:solidFill>
                <a:ea typeface="+mn-lt"/>
                <a:cs typeface="+mn-lt"/>
                <a:hlinkClick r:id="rId3"/>
              </a:rPr>
              <a:t>RTOS 2024 Performance Report</a:t>
            </a:r>
            <a:r>
              <a:rPr lang="en-US" sz="1000">
                <a:solidFill>
                  <a:srgbClr val="000000"/>
                </a:solidFill>
                <a:ea typeface="+mn-lt"/>
                <a:cs typeface="+mn-lt"/>
              </a:rPr>
              <a:t> </a:t>
            </a:r>
            <a:endParaRPr lang="en-US" sz="1000">
              <a:cs typeface="Arial"/>
            </a:endParaRPr>
          </a:p>
        </p:txBody>
      </p:sp>
      <p:sp>
        <p:nvSpPr>
          <p:cNvPr id="2" name="Slide Number Placeholder 1">
            <a:extLst>
              <a:ext uri="{FF2B5EF4-FFF2-40B4-BE49-F238E27FC236}">
                <a16:creationId xmlns:a16="http://schemas.microsoft.com/office/drawing/2014/main" id="{6A4FB6DA-E7E2-FE9E-0B67-F522EC197165}"/>
              </a:ext>
            </a:extLst>
          </p:cNvPr>
          <p:cNvSpPr>
            <a:spLocks noGrp="1"/>
          </p:cNvSpPr>
          <p:nvPr>
            <p:ph type="sldNum" sz="quarter" idx="12"/>
          </p:nvPr>
        </p:nvSpPr>
        <p:spPr/>
        <p:txBody>
          <a:bodyPr/>
          <a:lstStyle/>
          <a:p>
            <a:fld id="{40A7B169-58CE-4E65-B1F9-ACF9E46440C2}" type="slidenum">
              <a:rPr lang="en-US" smtClean="0"/>
              <a:t>9</a:t>
            </a:fld>
            <a:endParaRPr lang="en-US"/>
          </a:p>
        </p:txBody>
      </p:sp>
    </p:spTree>
    <p:extLst>
      <p:ext uri="{BB962C8B-B14F-4D97-AF65-F5344CB8AC3E}">
        <p14:creationId xmlns:p14="http://schemas.microsoft.com/office/powerpoint/2010/main" val="1971225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FC7A50F-CE73-3879-EF88-4A6B3262D9A2}"/>
              </a:ext>
            </a:extLst>
          </p:cNvPr>
          <p:cNvSpPr>
            <a:spLocks noGrp="1"/>
          </p:cNvSpPr>
          <p:nvPr>
            <p:ph type="title"/>
          </p:nvPr>
        </p:nvSpPr>
        <p:spPr/>
        <p:txBody>
          <a:bodyPr/>
          <a:lstStyle/>
          <a:p>
            <a:r>
              <a:rPr lang="en-US"/>
              <a:t>ST Competitors MW Benchmark: RTOS</a:t>
            </a:r>
            <a:br>
              <a:rPr lang="en-US"/>
            </a:br>
            <a:r>
              <a:rPr lang="en-US" sz="2400" b="1">
                <a:solidFill>
                  <a:schemeClr val="accent2"/>
                </a:solidFill>
              </a:rPr>
              <a:t>Flowcharts</a:t>
            </a:r>
            <a:endParaRPr lang="en-US" sz="2400"/>
          </a:p>
        </p:txBody>
      </p:sp>
      <p:cxnSp>
        <p:nvCxnSpPr>
          <p:cNvPr id="2" name="Straight Connector 1">
            <a:extLst>
              <a:ext uri="{FF2B5EF4-FFF2-40B4-BE49-F238E27FC236}">
                <a16:creationId xmlns:a16="http://schemas.microsoft.com/office/drawing/2014/main" id="{A19E3E3E-1D45-8E5D-5385-31E05AD9F2F6}"/>
              </a:ext>
            </a:extLst>
          </p:cNvPr>
          <p:cNvCxnSpPr>
            <a:cxnSpLocks/>
          </p:cNvCxnSpPr>
          <p:nvPr/>
        </p:nvCxnSpPr>
        <p:spPr>
          <a:xfrm>
            <a:off x="3970350" y="1710200"/>
            <a:ext cx="0" cy="4058902"/>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cxnSp>
        <p:nvCxnSpPr>
          <p:cNvPr id="7" name="Straight Connector 6">
            <a:extLst>
              <a:ext uri="{FF2B5EF4-FFF2-40B4-BE49-F238E27FC236}">
                <a16:creationId xmlns:a16="http://schemas.microsoft.com/office/drawing/2014/main" id="{A329CDBB-C795-2060-3866-F1991233B949}"/>
              </a:ext>
            </a:extLst>
          </p:cNvPr>
          <p:cNvCxnSpPr>
            <a:cxnSpLocks/>
          </p:cNvCxnSpPr>
          <p:nvPr/>
        </p:nvCxnSpPr>
        <p:spPr>
          <a:xfrm>
            <a:off x="7972374" y="1710200"/>
            <a:ext cx="0" cy="4058902"/>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grpSp>
        <p:nvGrpSpPr>
          <p:cNvPr id="239" name="Group 238">
            <a:extLst>
              <a:ext uri="{FF2B5EF4-FFF2-40B4-BE49-F238E27FC236}">
                <a16:creationId xmlns:a16="http://schemas.microsoft.com/office/drawing/2014/main" id="{FB04BE68-52B0-48B2-8166-062D4681A15F}"/>
              </a:ext>
            </a:extLst>
          </p:cNvPr>
          <p:cNvGrpSpPr/>
          <p:nvPr/>
        </p:nvGrpSpPr>
        <p:grpSpPr>
          <a:xfrm>
            <a:off x="182880" y="2001219"/>
            <a:ext cx="3913435" cy="2669500"/>
            <a:chOff x="154589" y="3110008"/>
            <a:chExt cx="3913435" cy="2669500"/>
          </a:xfrm>
        </p:grpSpPr>
        <p:sp>
          <p:nvSpPr>
            <p:cNvPr id="211" name="TextBox 25">
              <a:extLst>
                <a:ext uri="{FF2B5EF4-FFF2-40B4-BE49-F238E27FC236}">
                  <a16:creationId xmlns:a16="http://schemas.microsoft.com/office/drawing/2014/main" id="{8B0A9B64-6CFA-F227-0317-297EB400DCFA}"/>
                </a:ext>
              </a:extLst>
            </p:cNvPr>
            <p:cNvSpPr txBox="1"/>
            <p:nvPr/>
          </p:nvSpPr>
          <p:spPr>
            <a:xfrm>
              <a:off x="1975253" y="3350454"/>
              <a:ext cx="1615604"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t>Clock frequency: </a:t>
              </a:r>
              <a:r>
                <a:rPr lang="fr-FR" sz="600">
                  <a:solidFill>
                    <a:srgbClr val="03234B"/>
                  </a:solidFill>
                </a:rPr>
                <a:t>TI:48MHz , NXP:150MHz , Renesas:200MHz</a:t>
              </a:r>
              <a:endParaRPr lang="fr-FR" sz="600"/>
            </a:p>
          </p:txBody>
        </p:sp>
        <p:grpSp>
          <p:nvGrpSpPr>
            <p:cNvPr id="236" name="Group 235">
              <a:extLst>
                <a:ext uri="{FF2B5EF4-FFF2-40B4-BE49-F238E27FC236}">
                  <a16:creationId xmlns:a16="http://schemas.microsoft.com/office/drawing/2014/main" id="{A4F598E6-48C8-19B9-B0D4-9CAD8AA3096B}"/>
                </a:ext>
              </a:extLst>
            </p:cNvPr>
            <p:cNvGrpSpPr/>
            <p:nvPr/>
          </p:nvGrpSpPr>
          <p:grpSpPr>
            <a:xfrm>
              <a:off x="154589" y="3110008"/>
              <a:ext cx="3913435" cy="2669500"/>
              <a:chOff x="154589" y="3110008"/>
              <a:chExt cx="3913435" cy="2669500"/>
            </a:xfrm>
          </p:grpSpPr>
          <p:grpSp>
            <p:nvGrpSpPr>
              <p:cNvPr id="155" name="Group 154">
                <a:extLst>
                  <a:ext uri="{FF2B5EF4-FFF2-40B4-BE49-F238E27FC236}">
                    <a16:creationId xmlns:a16="http://schemas.microsoft.com/office/drawing/2014/main" id="{BA98643A-05F4-3516-874A-99EC8D1FC6F6}"/>
                  </a:ext>
                </a:extLst>
              </p:cNvPr>
              <p:cNvGrpSpPr/>
              <p:nvPr/>
            </p:nvGrpSpPr>
            <p:grpSpPr>
              <a:xfrm>
                <a:off x="154589" y="3110008"/>
                <a:ext cx="2847013" cy="2669500"/>
                <a:chOff x="2767175" y="1195569"/>
                <a:chExt cx="2847013" cy="2669500"/>
              </a:xfrm>
            </p:grpSpPr>
            <p:sp>
              <p:nvSpPr>
                <p:cNvPr id="65" name="Oval 64">
                  <a:extLst>
                    <a:ext uri="{FF2B5EF4-FFF2-40B4-BE49-F238E27FC236}">
                      <a16:creationId xmlns:a16="http://schemas.microsoft.com/office/drawing/2014/main" id="{0C4D630A-B43E-04A6-8A55-67E9AFC22CDD}"/>
                    </a:ext>
                  </a:extLst>
                </p:cNvPr>
                <p:cNvSpPr/>
                <p:nvPr/>
              </p:nvSpPr>
              <p:spPr>
                <a:xfrm>
                  <a:off x="3689111" y="1195569"/>
                  <a:ext cx="507257" cy="183850"/>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fr-FR" sz="600">
                      <a:solidFill>
                        <a:schemeClr val="tx1"/>
                      </a:solidFill>
                    </a:rPr>
                    <a:t>Start</a:t>
                  </a:r>
                  <a:endParaRPr lang="en-US" sz="600"/>
                </a:p>
              </p:txBody>
            </p:sp>
            <p:grpSp>
              <p:nvGrpSpPr>
                <p:cNvPr id="154" name="Group 153">
                  <a:extLst>
                    <a:ext uri="{FF2B5EF4-FFF2-40B4-BE49-F238E27FC236}">
                      <a16:creationId xmlns:a16="http://schemas.microsoft.com/office/drawing/2014/main" id="{F7068D27-2D32-4F4A-1726-7B9B0E36E7A6}"/>
                    </a:ext>
                  </a:extLst>
                </p:cNvPr>
                <p:cNvGrpSpPr/>
                <p:nvPr/>
              </p:nvGrpSpPr>
              <p:grpSpPr>
                <a:xfrm>
                  <a:off x="2767175" y="1379419"/>
                  <a:ext cx="2847013" cy="2485650"/>
                  <a:chOff x="2767175" y="1379419"/>
                  <a:chExt cx="2847013" cy="2485650"/>
                </a:xfrm>
              </p:grpSpPr>
              <p:grpSp>
                <p:nvGrpSpPr>
                  <p:cNvPr id="53" name="Group 52">
                    <a:extLst>
                      <a:ext uri="{FF2B5EF4-FFF2-40B4-BE49-F238E27FC236}">
                        <a16:creationId xmlns:a16="http://schemas.microsoft.com/office/drawing/2014/main" id="{2163B254-223B-C9CA-AC4C-E1926E97E45B}"/>
                      </a:ext>
                    </a:extLst>
                  </p:cNvPr>
                  <p:cNvGrpSpPr/>
                  <p:nvPr/>
                </p:nvGrpSpPr>
                <p:grpSpPr>
                  <a:xfrm>
                    <a:off x="2767175" y="1379419"/>
                    <a:ext cx="2847013" cy="2485650"/>
                    <a:chOff x="3296902" y="1020405"/>
                    <a:chExt cx="5720281" cy="3553976"/>
                  </a:xfrm>
                </p:grpSpPr>
                <p:cxnSp>
                  <p:nvCxnSpPr>
                    <p:cNvPr id="9" name="Straight Arrow Connector 8">
                      <a:extLst>
                        <a:ext uri="{FF2B5EF4-FFF2-40B4-BE49-F238E27FC236}">
                          <a16:creationId xmlns:a16="http://schemas.microsoft.com/office/drawing/2014/main" id="{CEA0EA0A-EF5A-6766-3923-0B7963E85BA0}"/>
                        </a:ext>
                      </a:extLst>
                    </p:cNvPr>
                    <p:cNvCxnSpPr>
                      <a:cxnSpLocks/>
                      <a:stCxn id="65" idx="4"/>
                      <a:endCxn id="10" idx="0"/>
                    </p:cNvCxnSpPr>
                    <p:nvPr/>
                  </p:nvCxnSpPr>
                  <p:spPr>
                    <a:xfrm>
                      <a:off x="5658873" y="1020405"/>
                      <a:ext cx="6516" cy="17534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0" name="Rectangle 9">
                      <a:extLst>
                        <a:ext uri="{FF2B5EF4-FFF2-40B4-BE49-F238E27FC236}">
                          <a16:creationId xmlns:a16="http://schemas.microsoft.com/office/drawing/2014/main" id="{DD18B367-E3CE-5712-5723-6A3387195432}"/>
                        </a:ext>
                      </a:extLst>
                    </p:cNvPr>
                    <p:cNvSpPr/>
                    <p:nvPr/>
                  </p:nvSpPr>
                  <p:spPr>
                    <a:xfrm>
                      <a:off x="4741430" y="1195753"/>
                      <a:ext cx="1847917" cy="20511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r>
                        <a:rPr lang="fr-FR" sz="600" err="1">
                          <a:solidFill>
                            <a:schemeClr val="tx1"/>
                          </a:solidFill>
                        </a:rPr>
                        <a:t>Clock</a:t>
                      </a:r>
                      <a:r>
                        <a:rPr lang="fr-FR" sz="600">
                          <a:solidFill>
                            <a:schemeClr val="tx1"/>
                          </a:solidFill>
                        </a:rPr>
                        <a:t> configuration</a:t>
                      </a:r>
                    </a:p>
                    <a:p>
                      <a:pPr algn="ctr">
                        <a:buClr>
                          <a:schemeClr val="bg1"/>
                        </a:buClr>
                      </a:pPr>
                      <a:endParaRPr lang="fr-FR" sz="600">
                        <a:solidFill>
                          <a:schemeClr val="tx1"/>
                        </a:solidFill>
                        <a:cs typeface="Arial"/>
                      </a:endParaRPr>
                    </a:p>
                  </p:txBody>
                </p:sp>
                <p:sp>
                  <p:nvSpPr>
                    <p:cNvPr id="11" name="TextBox 10">
                      <a:extLst>
                        <a:ext uri="{FF2B5EF4-FFF2-40B4-BE49-F238E27FC236}">
                          <a16:creationId xmlns:a16="http://schemas.microsoft.com/office/drawing/2014/main" id="{B0BF3398-5AB5-7DCD-0A91-DE581EFC4485}"/>
                        </a:ext>
                      </a:extLst>
                    </p:cNvPr>
                    <p:cNvSpPr txBox="1"/>
                    <p:nvPr/>
                  </p:nvSpPr>
                  <p:spPr>
                    <a:xfrm>
                      <a:off x="7111265" y="1966168"/>
                      <a:ext cx="1454775" cy="264035"/>
                    </a:xfrm>
                    <a:prstGeom prst="rect">
                      <a:avLst/>
                    </a:prstGeom>
                    <a:noFill/>
                  </p:spPr>
                  <p:txBody>
                    <a:bodyPr wrap="square">
                      <a:spAutoFit/>
                    </a:bodyPr>
                    <a:lstStyle/>
                    <a:p>
                      <a:pPr lvl="0">
                        <a:defRPr/>
                      </a:pPr>
                      <a:r>
                        <a:rPr kumimoji="0" lang="fr-FR" sz="600" i="0" u="none" strike="noStrike" kern="1200" cap="none" spc="0" normalizeH="0" baseline="0" noProof="0">
                          <a:ln>
                            <a:noFill/>
                          </a:ln>
                          <a:solidFill>
                            <a:srgbClr val="03234B"/>
                          </a:solidFill>
                          <a:effectLst/>
                          <a:uLnTx/>
                          <a:uFillTx/>
                          <a:latin typeface="Arial"/>
                          <a:ea typeface="+mn-ea"/>
                          <a:cs typeface="+mn-cs"/>
                        </a:rPr>
                        <a:t>LOW </a:t>
                      </a:r>
                      <a:r>
                        <a:rPr kumimoji="0" lang="fr-FR" sz="600" i="0" u="none" strike="noStrike" kern="1200" cap="none" spc="0" normalizeH="0" baseline="0" noProof="0" err="1">
                          <a:ln>
                            <a:noFill/>
                          </a:ln>
                          <a:solidFill>
                            <a:srgbClr val="03234B"/>
                          </a:solidFill>
                          <a:effectLst/>
                          <a:uLnTx/>
                          <a:uFillTx/>
                          <a:latin typeface="Arial"/>
                          <a:ea typeface="+mn-ea"/>
                          <a:cs typeface="+mn-cs"/>
                        </a:rPr>
                        <a:t>Priority</a:t>
                      </a:r>
                      <a:endParaRPr kumimoji="0" lang="en-US" sz="600" i="0" u="none" strike="noStrike" kern="1200" cap="none" spc="0" normalizeH="0" baseline="0" noProof="0">
                        <a:ln>
                          <a:noFill/>
                        </a:ln>
                        <a:solidFill>
                          <a:srgbClr val="03234B"/>
                        </a:solidFill>
                        <a:effectLst/>
                        <a:uLnTx/>
                        <a:uFillTx/>
                        <a:latin typeface="Arial"/>
                        <a:ea typeface="+mn-ea"/>
                        <a:cs typeface="+mn-cs"/>
                      </a:endParaRPr>
                    </a:p>
                  </p:txBody>
                </p:sp>
                <p:grpSp>
                  <p:nvGrpSpPr>
                    <p:cNvPr id="12" name="Group 11">
                      <a:extLst>
                        <a:ext uri="{FF2B5EF4-FFF2-40B4-BE49-F238E27FC236}">
                          <a16:creationId xmlns:a16="http://schemas.microsoft.com/office/drawing/2014/main" id="{49A8F1CD-F1F9-C0DB-9AD1-A0226F1AAE68}"/>
                        </a:ext>
                      </a:extLst>
                    </p:cNvPr>
                    <p:cNvGrpSpPr/>
                    <p:nvPr/>
                  </p:nvGrpSpPr>
                  <p:grpSpPr>
                    <a:xfrm>
                      <a:off x="4621463" y="1997986"/>
                      <a:ext cx="2502215" cy="959564"/>
                      <a:chOff x="4598364" y="1814808"/>
                      <a:chExt cx="2502215" cy="959564"/>
                    </a:xfrm>
                  </p:grpSpPr>
                  <p:sp>
                    <p:nvSpPr>
                      <p:cNvPr id="13" name="Rectangle 12">
                        <a:extLst>
                          <a:ext uri="{FF2B5EF4-FFF2-40B4-BE49-F238E27FC236}">
                            <a16:creationId xmlns:a16="http://schemas.microsoft.com/office/drawing/2014/main" id="{2A192D36-5750-4A64-A6F3-7A681525C8C8}"/>
                          </a:ext>
                        </a:extLst>
                      </p:cNvPr>
                      <p:cNvSpPr/>
                      <p:nvPr/>
                    </p:nvSpPr>
                    <p:spPr>
                      <a:xfrm>
                        <a:off x="4605834" y="1814808"/>
                        <a:ext cx="2087851" cy="21143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rPr>
                          <a:t>Create</a:t>
                        </a:r>
                        <a:r>
                          <a:rPr lang="fr-FR" sz="600">
                            <a:solidFill>
                              <a:schemeClr val="tx1"/>
                            </a:solidFill>
                          </a:rPr>
                          <a:t> </a:t>
                        </a:r>
                        <a:r>
                          <a:rPr lang="fr-FR" sz="600" err="1">
                            <a:solidFill>
                              <a:schemeClr val="tx1"/>
                            </a:solidFill>
                          </a:rPr>
                          <a:t>Counting</a:t>
                        </a:r>
                        <a:r>
                          <a:rPr lang="fr-FR" sz="600">
                            <a:solidFill>
                              <a:schemeClr val="tx1"/>
                            </a:solidFill>
                          </a:rPr>
                          <a:t> Thread</a:t>
                        </a:r>
                        <a:endParaRPr lang="en-US" sz="600">
                          <a:solidFill>
                            <a:schemeClr val="tx1"/>
                          </a:solidFill>
                        </a:endParaRPr>
                      </a:p>
                    </p:txBody>
                  </p:sp>
                  <p:cxnSp>
                    <p:nvCxnSpPr>
                      <p:cNvPr id="14" name="Straight Arrow Connector 13">
                        <a:extLst>
                          <a:ext uri="{FF2B5EF4-FFF2-40B4-BE49-F238E27FC236}">
                            <a16:creationId xmlns:a16="http://schemas.microsoft.com/office/drawing/2014/main" id="{229274E1-3942-E368-2E17-5F10462474B2}"/>
                          </a:ext>
                        </a:extLst>
                      </p:cNvPr>
                      <p:cNvCxnSpPr>
                        <a:cxnSpLocks/>
                        <a:stCxn id="13" idx="2"/>
                        <a:endCxn id="16" idx="0"/>
                      </p:cNvCxnSpPr>
                      <p:nvPr/>
                    </p:nvCxnSpPr>
                    <p:spPr>
                      <a:xfrm flipH="1">
                        <a:off x="5642290" y="2026238"/>
                        <a:ext cx="7470" cy="185754"/>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5" name="Straight Arrow Connector 14">
                        <a:extLst>
                          <a:ext uri="{FF2B5EF4-FFF2-40B4-BE49-F238E27FC236}">
                            <a16:creationId xmlns:a16="http://schemas.microsoft.com/office/drawing/2014/main" id="{4EE4B89E-8E6E-36A5-6C96-7398233E9BA0}"/>
                          </a:ext>
                        </a:extLst>
                      </p:cNvPr>
                      <p:cNvCxnSpPr>
                        <a:cxnSpLocks/>
                        <a:stCxn id="13" idx="3"/>
                        <a:endCxn id="11" idx="1"/>
                      </p:cNvCxnSpPr>
                      <p:nvPr/>
                    </p:nvCxnSpPr>
                    <p:spPr>
                      <a:xfrm flipV="1">
                        <a:off x="6693686" y="1915007"/>
                        <a:ext cx="394481" cy="5516"/>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6" name="Rectangle 15">
                        <a:extLst>
                          <a:ext uri="{FF2B5EF4-FFF2-40B4-BE49-F238E27FC236}">
                            <a16:creationId xmlns:a16="http://schemas.microsoft.com/office/drawing/2014/main" id="{9AAF2765-8A53-1D21-F375-6FABD35B9C35}"/>
                          </a:ext>
                        </a:extLst>
                      </p:cNvPr>
                      <p:cNvSpPr/>
                      <p:nvPr/>
                    </p:nvSpPr>
                    <p:spPr>
                      <a:xfrm>
                        <a:off x="4598364" y="2211991"/>
                        <a:ext cx="2087851" cy="20107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Create</a:t>
                        </a:r>
                        <a:r>
                          <a:rPr lang="fr-FR" sz="600">
                            <a:solidFill>
                              <a:schemeClr val="tx1"/>
                            </a:solidFill>
                            <a:cs typeface="Arial"/>
                          </a:rPr>
                          <a:t> </a:t>
                        </a:r>
                        <a:r>
                          <a:rPr lang="fr-FR" sz="600" err="1">
                            <a:solidFill>
                              <a:schemeClr val="tx1"/>
                            </a:solidFill>
                            <a:cs typeface="Arial"/>
                          </a:rPr>
                          <a:t>Reporting</a:t>
                        </a:r>
                        <a:r>
                          <a:rPr lang="fr-FR" sz="600">
                            <a:solidFill>
                              <a:schemeClr val="tx1"/>
                            </a:solidFill>
                            <a:cs typeface="Arial"/>
                          </a:rPr>
                          <a:t> Thread</a:t>
                        </a:r>
                      </a:p>
                    </p:txBody>
                  </p:sp>
                  <p:cxnSp>
                    <p:nvCxnSpPr>
                      <p:cNvPr id="17" name="Straight Arrow Connector 16">
                        <a:extLst>
                          <a:ext uri="{FF2B5EF4-FFF2-40B4-BE49-F238E27FC236}">
                            <a16:creationId xmlns:a16="http://schemas.microsoft.com/office/drawing/2014/main" id="{EDDCFB71-C945-14FC-A365-CD40C5DF116F}"/>
                          </a:ext>
                        </a:extLst>
                      </p:cNvPr>
                      <p:cNvCxnSpPr>
                        <a:cxnSpLocks/>
                        <a:stCxn id="16" idx="3"/>
                        <a:endCxn id="51" idx="1"/>
                      </p:cNvCxnSpPr>
                      <p:nvPr/>
                    </p:nvCxnSpPr>
                    <p:spPr>
                      <a:xfrm flipV="1">
                        <a:off x="6686215" y="2311059"/>
                        <a:ext cx="401951" cy="1467"/>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8" name="Rectangle 17">
                        <a:extLst>
                          <a:ext uri="{FF2B5EF4-FFF2-40B4-BE49-F238E27FC236}">
                            <a16:creationId xmlns:a16="http://schemas.microsoft.com/office/drawing/2014/main" id="{3C49B966-22DB-C4F2-09B9-CD02AE295134}"/>
                          </a:ext>
                        </a:extLst>
                      </p:cNvPr>
                      <p:cNvSpPr/>
                      <p:nvPr/>
                    </p:nvSpPr>
                    <p:spPr>
                      <a:xfrm>
                        <a:off x="4781563" y="2592405"/>
                        <a:ext cx="1736392" cy="18196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cs typeface="Arial"/>
                          </a:rPr>
                          <a:t>Start the </a:t>
                        </a:r>
                        <a:r>
                          <a:rPr lang="fr-FR" sz="600" err="1">
                            <a:solidFill>
                              <a:schemeClr val="tx1"/>
                            </a:solidFill>
                            <a:cs typeface="Arial"/>
                          </a:rPr>
                          <a:t>scheduler</a:t>
                        </a:r>
                        <a:endParaRPr lang="fr-FR" sz="600">
                          <a:solidFill>
                            <a:schemeClr val="tx1"/>
                          </a:solidFill>
                          <a:cs typeface="Arial"/>
                        </a:endParaRPr>
                      </a:p>
                    </p:txBody>
                  </p:sp>
                  <p:cxnSp>
                    <p:nvCxnSpPr>
                      <p:cNvPr id="19" name="Straight Arrow Connector 18">
                        <a:extLst>
                          <a:ext uri="{FF2B5EF4-FFF2-40B4-BE49-F238E27FC236}">
                            <a16:creationId xmlns:a16="http://schemas.microsoft.com/office/drawing/2014/main" id="{957DCD5C-B363-FBE7-0BF0-78C98C2FB981}"/>
                          </a:ext>
                        </a:extLst>
                      </p:cNvPr>
                      <p:cNvCxnSpPr>
                        <a:cxnSpLocks/>
                        <a:stCxn id="16" idx="2"/>
                        <a:endCxn id="18" idx="0"/>
                      </p:cNvCxnSpPr>
                      <p:nvPr/>
                    </p:nvCxnSpPr>
                    <p:spPr>
                      <a:xfrm>
                        <a:off x="5642290" y="2413061"/>
                        <a:ext cx="7470" cy="179344"/>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0" name="Straight Arrow Connector 19">
                        <a:extLst>
                          <a:ext uri="{FF2B5EF4-FFF2-40B4-BE49-F238E27FC236}">
                            <a16:creationId xmlns:a16="http://schemas.microsoft.com/office/drawing/2014/main" id="{30A90B33-2B04-4547-0408-8BF121288F95}"/>
                          </a:ext>
                        </a:extLst>
                      </p:cNvPr>
                      <p:cNvCxnSpPr>
                        <a:cxnSpLocks/>
                        <a:stCxn id="18" idx="3"/>
                        <a:endCxn id="25" idx="1"/>
                      </p:cNvCxnSpPr>
                      <p:nvPr/>
                    </p:nvCxnSpPr>
                    <p:spPr>
                      <a:xfrm flipV="1">
                        <a:off x="6517955" y="2676149"/>
                        <a:ext cx="582624" cy="723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sp>
                  <p:nvSpPr>
                    <p:cNvPr id="21" name="Rectangle 20">
                      <a:extLst>
                        <a:ext uri="{FF2B5EF4-FFF2-40B4-BE49-F238E27FC236}">
                          <a16:creationId xmlns:a16="http://schemas.microsoft.com/office/drawing/2014/main" id="{776C64A8-1B43-507B-A7F5-9C78B0AB9900}"/>
                        </a:ext>
                      </a:extLst>
                    </p:cNvPr>
                    <p:cNvSpPr/>
                    <p:nvPr/>
                  </p:nvSpPr>
                  <p:spPr>
                    <a:xfrm>
                      <a:off x="4458542" y="1591802"/>
                      <a:ext cx="2400662" cy="20511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Initialize</a:t>
                      </a:r>
                      <a:r>
                        <a:rPr lang="fr-FR" sz="600">
                          <a:solidFill>
                            <a:schemeClr val="tx1"/>
                          </a:solidFill>
                          <a:cs typeface="Arial"/>
                        </a:rPr>
                        <a:t> a global </a:t>
                      </a:r>
                      <a:r>
                        <a:rPr lang="fr-FR" sz="600" err="1">
                          <a:solidFill>
                            <a:schemeClr val="tx1"/>
                          </a:solidFill>
                          <a:cs typeface="Arial"/>
                        </a:rPr>
                        <a:t>counter</a:t>
                      </a:r>
                      <a:r>
                        <a:rPr lang="fr-FR" sz="600">
                          <a:solidFill>
                            <a:schemeClr val="tx1"/>
                          </a:solidFill>
                          <a:cs typeface="Arial"/>
                        </a:rPr>
                        <a:t> to 0</a:t>
                      </a:r>
                    </a:p>
                  </p:txBody>
                </p:sp>
                <p:cxnSp>
                  <p:nvCxnSpPr>
                    <p:cNvPr id="22" name="Straight Arrow Connector 21">
                      <a:extLst>
                        <a:ext uri="{FF2B5EF4-FFF2-40B4-BE49-F238E27FC236}">
                          <a16:creationId xmlns:a16="http://schemas.microsoft.com/office/drawing/2014/main" id="{7131853A-70BB-6209-F1CC-59B5D2F217BF}"/>
                        </a:ext>
                      </a:extLst>
                    </p:cNvPr>
                    <p:cNvCxnSpPr>
                      <a:cxnSpLocks/>
                      <a:stCxn id="10" idx="2"/>
                      <a:endCxn id="21" idx="0"/>
                    </p:cNvCxnSpPr>
                    <p:nvPr/>
                  </p:nvCxnSpPr>
                  <p:spPr>
                    <a:xfrm flipH="1">
                      <a:off x="5658873" y="1400869"/>
                      <a:ext cx="6516" cy="19093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3" name="Straight Arrow Connector 22">
                      <a:extLst>
                        <a:ext uri="{FF2B5EF4-FFF2-40B4-BE49-F238E27FC236}">
                          <a16:creationId xmlns:a16="http://schemas.microsoft.com/office/drawing/2014/main" id="{7CF84F4B-778F-048D-5303-7A5794508145}"/>
                        </a:ext>
                      </a:extLst>
                    </p:cNvPr>
                    <p:cNvCxnSpPr>
                      <a:cxnSpLocks/>
                      <a:stCxn id="21" idx="2"/>
                      <a:endCxn id="13" idx="0"/>
                    </p:cNvCxnSpPr>
                    <p:nvPr/>
                  </p:nvCxnSpPr>
                  <p:spPr>
                    <a:xfrm>
                      <a:off x="5658873" y="1796918"/>
                      <a:ext cx="13986" cy="20106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4" name="Straight Arrow Connector 23">
                      <a:extLst>
                        <a:ext uri="{FF2B5EF4-FFF2-40B4-BE49-F238E27FC236}">
                          <a16:creationId xmlns:a16="http://schemas.microsoft.com/office/drawing/2014/main" id="{04C0A23C-FBC2-9703-DB99-3C48895F7965}"/>
                        </a:ext>
                      </a:extLst>
                    </p:cNvPr>
                    <p:cNvCxnSpPr>
                      <a:cxnSpLocks/>
                      <a:stCxn id="10" idx="3"/>
                      <a:endCxn id="211" idx="1"/>
                    </p:cNvCxnSpPr>
                    <p:nvPr/>
                  </p:nvCxnSpPr>
                  <p:spPr>
                    <a:xfrm>
                      <a:off x="6589348" y="1298310"/>
                      <a:ext cx="365672" cy="104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5" name="TextBox 24">
                      <a:extLst>
                        <a:ext uri="{FF2B5EF4-FFF2-40B4-BE49-F238E27FC236}">
                          <a16:creationId xmlns:a16="http://schemas.microsoft.com/office/drawing/2014/main" id="{219B2E58-8326-A7A6-B06B-88C76178139B}"/>
                        </a:ext>
                      </a:extLst>
                    </p:cNvPr>
                    <p:cNvSpPr txBox="1"/>
                    <p:nvPr/>
                  </p:nvSpPr>
                  <p:spPr>
                    <a:xfrm>
                      <a:off x="7123678" y="2727310"/>
                      <a:ext cx="1893505" cy="264035"/>
                    </a:xfrm>
                    <a:prstGeom prst="rect">
                      <a:avLst/>
                    </a:prstGeom>
                    <a:noFill/>
                  </p:spPr>
                  <p:txBody>
                    <a:bodyPr wrap="square">
                      <a:spAutoFit/>
                    </a:bodyPr>
                    <a:lstStyle/>
                    <a:p>
                      <a:pPr lvl="0">
                        <a:defRPr/>
                      </a:pPr>
                      <a:r>
                        <a:rPr kumimoji="0" lang="fr-FR" sz="600" i="0" u="none" strike="noStrike" kern="1200" cap="none" spc="0" normalizeH="0" baseline="0" noProof="0">
                          <a:ln>
                            <a:noFill/>
                          </a:ln>
                          <a:solidFill>
                            <a:srgbClr val="03234B"/>
                          </a:solidFill>
                          <a:effectLst/>
                          <a:uLnTx/>
                          <a:uFillTx/>
                          <a:latin typeface="Arial"/>
                          <a:ea typeface="+mn-ea"/>
                          <a:cs typeface="+mn-cs"/>
                        </a:rPr>
                        <a:t>1 ms time slice/</a:t>
                      </a:r>
                      <a:r>
                        <a:rPr kumimoji="0" lang="fr-FR" sz="600" i="0" u="none" strike="noStrike" kern="1200" cap="none" spc="0" normalizeH="0" baseline="0" noProof="0" err="1">
                          <a:ln>
                            <a:noFill/>
                          </a:ln>
                          <a:solidFill>
                            <a:srgbClr val="03234B"/>
                          </a:solidFill>
                          <a:effectLst/>
                          <a:uLnTx/>
                          <a:uFillTx/>
                          <a:latin typeface="Arial"/>
                          <a:ea typeface="+mn-ea"/>
                          <a:cs typeface="+mn-cs"/>
                        </a:rPr>
                        <a:t>task</a:t>
                      </a:r>
                      <a:endParaRPr kumimoji="0" lang="en-US" sz="600" i="0" u="none" strike="noStrike" kern="1200" cap="none" spc="0" normalizeH="0" baseline="0" noProof="0">
                        <a:ln>
                          <a:noFill/>
                        </a:ln>
                        <a:solidFill>
                          <a:srgbClr val="03234B"/>
                        </a:solidFill>
                        <a:effectLst/>
                        <a:uLnTx/>
                        <a:uFillTx/>
                        <a:latin typeface="Arial"/>
                        <a:ea typeface="+mn-ea"/>
                        <a:cs typeface="+mn-cs"/>
                      </a:endParaRPr>
                    </a:p>
                  </p:txBody>
                </p:sp>
                <p:grpSp>
                  <p:nvGrpSpPr>
                    <p:cNvPr id="30" name="Group 29">
                      <a:extLst>
                        <a:ext uri="{FF2B5EF4-FFF2-40B4-BE49-F238E27FC236}">
                          <a16:creationId xmlns:a16="http://schemas.microsoft.com/office/drawing/2014/main" id="{DB5E78A1-2DAF-A504-CA78-1862E9C05E6C}"/>
                        </a:ext>
                      </a:extLst>
                    </p:cNvPr>
                    <p:cNvGrpSpPr/>
                    <p:nvPr/>
                  </p:nvGrpSpPr>
                  <p:grpSpPr>
                    <a:xfrm>
                      <a:off x="3296902" y="3291965"/>
                      <a:ext cx="1971153" cy="1282416"/>
                      <a:chOff x="3296902" y="3291965"/>
                      <a:chExt cx="1971153" cy="1282416"/>
                    </a:xfrm>
                  </p:grpSpPr>
                  <p:grpSp>
                    <p:nvGrpSpPr>
                      <p:cNvPr id="31" name="Group 30">
                        <a:extLst>
                          <a:ext uri="{FF2B5EF4-FFF2-40B4-BE49-F238E27FC236}">
                            <a16:creationId xmlns:a16="http://schemas.microsoft.com/office/drawing/2014/main" id="{1A28C0F7-3FAD-4832-8784-0E562A43E1DB}"/>
                          </a:ext>
                        </a:extLst>
                      </p:cNvPr>
                      <p:cNvGrpSpPr/>
                      <p:nvPr/>
                    </p:nvGrpSpPr>
                    <p:grpSpPr>
                      <a:xfrm>
                        <a:off x="3331826" y="3291965"/>
                        <a:ext cx="1901307" cy="678701"/>
                        <a:chOff x="5434707" y="1543050"/>
                        <a:chExt cx="1901307" cy="678701"/>
                      </a:xfrm>
                    </p:grpSpPr>
                    <p:sp>
                      <p:nvSpPr>
                        <p:cNvPr id="34" name="Rectangle 33">
                          <a:extLst>
                            <a:ext uri="{FF2B5EF4-FFF2-40B4-BE49-F238E27FC236}">
                              <a16:creationId xmlns:a16="http://schemas.microsoft.com/office/drawing/2014/main" id="{FD0CE940-45D3-71F7-8C91-E2F44D1081CB}"/>
                            </a:ext>
                          </a:extLst>
                        </p:cNvPr>
                        <p:cNvSpPr/>
                        <p:nvPr/>
                      </p:nvSpPr>
                      <p:spPr>
                        <a:xfrm>
                          <a:off x="5445237" y="1543050"/>
                          <a:ext cx="1880246" cy="16522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rPr>
                            <a:t>Start </a:t>
                          </a:r>
                          <a:r>
                            <a:rPr lang="fr-FR" sz="600" err="1">
                              <a:solidFill>
                                <a:schemeClr val="tx1"/>
                              </a:solidFill>
                            </a:rPr>
                            <a:t>Counting</a:t>
                          </a:r>
                          <a:r>
                            <a:rPr lang="fr-FR" sz="600">
                              <a:solidFill>
                                <a:schemeClr val="tx1"/>
                              </a:solidFill>
                            </a:rPr>
                            <a:t> Thread</a:t>
                          </a:r>
                          <a:endParaRPr lang="en-US" sz="600">
                            <a:solidFill>
                              <a:schemeClr val="tx1"/>
                            </a:solidFill>
                          </a:endParaRPr>
                        </a:p>
                      </p:txBody>
                    </p:sp>
                    <p:cxnSp>
                      <p:nvCxnSpPr>
                        <p:cNvPr id="35" name="Straight Arrow Connector 34">
                          <a:extLst>
                            <a:ext uri="{FF2B5EF4-FFF2-40B4-BE49-F238E27FC236}">
                              <a16:creationId xmlns:a16="http://schemas.microsoft.com/office/drawing/2014/main" id="{72439F0D-F986-6DDF-AFA2-6DFC452BD642}"/>
                            </a:ext>
                          </a:extLst>
                        </p:cNvPr>
                        <p:cNvCxnSpPr>
                          <a:cxnSpLocks/>
                          <a:stCxn id="34" idx="2"/>
                          <a:endCxn id="36" idx="0"/>
                        </p:cNvCxnSpPr>
                        <p:nvPr/>
                      </p:nvCxnSpPr>
                      <p:spPr>
                        <a:xfrm>
                          <a:off x="6385361" y="1708279"/>
                          <a:ext cx="0" cy="174034"/>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6" name="Rectangle 35">
                          <a:extLst>
                            <a:ext uri="{FF2B5EF4-FFF2-40B4-BE49-F238E27FC236}">
                              <a16:creationId xmlns:a16="http://schemas.microsoft.com/office/drawing/2014/main" id="{8A91C5AA-7997-6CDA-AF6E-DA43A099A30E}"/>
                            </a:ext>
                          </a:extLst>
                        </p:cNvPr>
                        <p:cNvSpPr/>
                        <p:nvPr/>
                      </p:nvSpPr>
                      <p:spPr>
                        <a:xfrm>
                          <a:off x="5434707" y="1882312"/>
                          <a:ext cx="1901307" cy="16130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Initialize</a:t>
                          </a:r>
                          <a:r>
                            <a:rPr lang="fr-FR" sz="600">
                              <a:solidFill>
                                <a:schemeClr val="tx1"/>
                              </a:solidFill>
                              <a:cs typeface="Arial"/>
                            </a:rPr>
                            <a:t> an </a:t>
                          </a:r>
                          <a:r>
                            <a:rPr lang="fr-FR" sz="600" err="1">
                              <a:solidFill>
                                <a:schemeClr val="tx1"/>
                              </a:solidFill>
                              <a:cs typeface="Arial"/>
                            </a:rPr>
                            <a:t>array</a:t>
                          </a:r>
                          <a:r>
                            <a:rPr lang="fr-FR" sz="600">
                              <a:solidFill>
                                <a:schemeClr val="tx1"/>
                              </a:solidFill>
                              <a:cs typeface="Arial"/>
                            </a:rPr>
                            <a:t> to 0</a:t>
                          </a:r>
                        </a:p>
                      </p:txBody>
                    </p:sp>
                    <p:cxnSp>
                      <p:nvCxnSpPr>
                        <p:cNvPr id="37" name="Straight Arrow Connector 36">
                          <a:extLst>
                            <a:ext uri="{FF2B5EF4-FFF2-40B4-BE49-F238E27FC236}">
                              <a16:creationId xmlns:a16="http://schemas.microsoft.com/office/drawing/2014/main" id="{74220749-CB81-FB95-55B3-C6110834D751}"/>
                            </a:ext>
                          </a:extLst>
                        </p:cNvPr>
                        <p:cNvCxnSpPr>
                          <a:cxnSpLocks/>
                          <a:stCxn id="36" idx="2"/>
                          <a:endCxn id="32" idx="0"/>
                        </p:cNvCxnSpPr>
                        <p:nvPr/>
                      </p:nvCxnSpPr>
                      <p:spPr>
                        <a:xfrm>
                          <a:off x="6385361" y="2043614"/>
                          <a:ext cx="0" cy="178137"/>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sp>
                    <p:nvSpPr>
                      <p:cNvPr id="32" name="Rectangle 31">
                        <a:extLst>
                          <a:ext uri="{FF2B5EF4-FFF2-40B4-BE49-F238E27FC236}">
                            <a16:creationId xmlns:a16="http://schemas.microsoft.com/office/drawing/2014/main" id="{2B2E7CDC-C418-267F-EF50-2A9279913826}"/>
                          </a:ext>
                        </a:extLst>
                      </p:cNvPr>
                      <p:cNvSpPr/>
                      <p:nvPr/>
                    </p:nvSpPr>
                    <p:spPr>
                      <a:xfrm>
                        <a:off x="3296902" y="3970666"/>
                        <a:ext cx="1971153" cy="14331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a:solidFill>
                              <a:schemeClr val="tx1"/>
                            </a:solidFill>
                          </a:rPr>
                          <a:t>Update </a:t>
                        </a:r>
                        <a:r>
                          <a:rPr lang="fr-FR" sz="600" err="1">
                            <a:solidFill>
                              <a:schemeClr val="tx1"/>
                            </a:solidFill>
                          </a:rPr>
                          <a:t>array</a:t>
                        </a:r>
                        <a:r>
                          <a:rPr lang="fr-FR" sz="600">
                            <a:solidFill>
                              <a:schemeClr val="tx1"/>
                            </a:solidFill>
                          </a:rPr>
                          <a:t> </a:t>
                        </a:r>
                        <a:r>
                          <a:rPr lang="fr-FR" sz="600" err="1">
                            <a:solidFill>
                              <a:schemeClr val="tx1"/>
                            </a:solidFill>
                          </a:rPr>
                          <a:t>elements</a:t>
                        </a:r>
                        <a:endParaRPr lang="fr-FR" sz="600">
                          <a:solidFill>
                            <a:schemeClr val="tx1"/>
                          </a:solidFill>
                        </a:endParaRPr>
                      </a:p>
                      <a:p>
                        <a:pPr algn="ctr">
                          <a:buClr>
                            <a:schemeClr val="bg1"/>
                          </a:buClr>
                        </a:pPr>
                        <a:endParaRPr lang="fr-FR" sz="600">
                          <a:solidFill>
                            <a:schemeClr val="tx1"/>
                          </a:solidFill>
                          <a:cs typeface="Arial"/>
                        </a:endParaRPr>
                      </a:p>
                    </p:txBody>
                  </p:sp>
                  <p:sp>
                    <p:nvSpPr>
                      <p:cNvPr id="33" name="Rectangle 32">
                        <a:extLst>
                          <a:ext uri="{FF2B5EF4-FFF2-40B4-BE49-F238E27FC236}">
                            <a16:creationId xmlns:a16="http://schemas.microsoft.com/office/drawing/2014/main" id="{D2BC1A2E-1705-9C7B-6B72-8D5CDAEAAE79}"/>
                          </a:ext>
                        </a:extLst>
                      </p:cNvPr>
                      <p:cNvSpPr/>
                      <p:nvPr/>
                    </p:nvSpPr>
                    <p:spPr>
                      <a:xfrm>
                        <a:off x="3322258" y="4287755"/>
                        <a:ext cx="1936231" cy="28662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err="1">
                            <a:solidFill>
                              <a:schemeClr val="tx1"/>
                            </a:solidFill>
                          </a:rPr>
                          <a:t>Increment</a:t>
                        </a:r>
                        <a:r>
                          <a:rPr lang="fr-FR" sz="600">
                            <a:solidFill>
                              <a:schemeClr val="tx1"/>
                            </a:solidFill>
                          </a:rPr>
                          <a:t> the global </a:t>
                        </a:r>
                        <a:r>
                          <a:rPr lang="fr-FR" sz="600" err="1">
                            <a:solidFill>
                              <a:schemeClr val="tx1"/>
                            </a:solidFill>
                          </a:rPr>
                          <a:t>counter</a:t>
                        </a:r>
                        <a:endParaRPr lang="fr-FR" sz="600">
                          <a:solidFill>
                            <a:schemeClr val="tx1"/>
                          </a:solidFill>
                        </a:endParaRPr>
                      </a:p>
                      <a:p>
                        <a:pPr algn="ctr">
                          <a:buClr>
                            <a:schemeClr val="bg1"/>
                          </a:buClr>
                        </a:pPr>
                        <a:endParaRPr lang="fr-FR" sz="600">
                          <a:solidFill>
                            <a:schemeClr val="tx1"/>
                          </a:solidFill>
                          <a:cs typeface="Arial"/>
                        </a:endParaRPr>
                      </a:p>
                    </p:txBody>
                  </p:sp>
                </p:grpSp>
                <p:cxnSp>
                  <p:nvCxnSpPr>
                    <p:cNvPr id="38" name="Straight Arrow Connector 37">
                      <a:extLst>
                        <a:ext uri="{FF2B5EF4-FFF2-40B4-BE49-F238E27FC236}">
                          <a16:creationId xmlns:a16="http://schemas.microsoft.com/office/drawing/2014/main" id="{DB5923AC-3F53-D511-3308-6581772364CE}"/>
                        </a:ext>
                      </a:extLst>
                    </p:cNvPr>
                    <p:cNvCxnSpPr>
                      <a:cxnSpLocks/>
                      <a:stCxn id="32" idx="2"/>
                      <a:endCxn id="33" idx="0"/>
                    </p:cNvCxnSpPr>
                    <p:nvPr/>
                  </p:nvCxnSpPr>
                  <p:spPr>
                    <a:xfrm>
                      <a:off x="4282480" y="4113979"/>
                      <a:ext cx="7894" cy="17377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39" name="Connector: Elbow 38">
                      <a:extLst>
                        <a:ext uri="{FF2B5EF4-FFF2-40B4-BE49-F238E27FC236}">
                          <a16:creationId xmlns:a16="http://schemas.microsoft.com/office/drawing/2014/main" id="{647848BF-922C-B267-B7D9-DE9F86CC5F6F}"/>
                        </a:ext>
                      </a:extLst>
                    </p:cNvPr>
                    <p:cNvCxnSpPr>
                      <a:cxnSpLocks/>
                      <a:stCxn id="33" idx="2"/>
                      <a:endCxn id="32" idx="3"/>
                    </p:cNvCxnSpPr>
                    <p:nvPr/>
                  </p:nvCxnSpPr>
                  <p:spPr>
                    <a:xfrm rot="5400000" flipH="1" flipV="1">
                      <a:off x="4513184" y="3819510"/>
                      <a:ext cx="532058" cy="977681"/>
                    </a:xfrm>
                    <a:prstGeom prst="bentConnector4">
                      <a:avLst>
                        <a:gd name="adj1" fmla="val -19838"/>
                        <a:gd name="adj2" fmla="val 146979"/>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B2CB2704-D25A-9B84-DCB9-03B911B0BE1C}"/>
                        </a:ext>
                      </a:extLst>
                    </p:cNvPr>
                    <p:cNvGrpSpPr/>
                    <p:nvPr/>
                  </p:nvGrpSpPr>
                  <p:grpSpPr>
                    <a:xfrm>
                      <a:off x="6589347" y="3277972"/>
                      <a:ext cx="2148747" cy="1296407"/>
                      <a:chOff x="2159373" y="3277972"/>
                      <a:chExt cx="2148747" cy="1296407"/>
                    </a:xfrm>
                  </p:grpSpPr>
                  <p:grpSp>
                    <p:nvGrpSpPr>
                      <p:cNvPr id="41" name="Group 40">
                        <a:extLst>
                          <a:ext uri="{FF2B5EF4-FFF2-40B4-BE49-F238E27FC236}">
                            <a16:creationId xmlns:a16="http://schemas.microsoft.com/office/drawing/2014/main" id="{02CEDE51-8A87-E86A-644E-4F0654C8BD71}"/>
                          </a:ext>
                        </a:extLst>
                      </p:cNvPr>
                      <p:cNvGrpSpPr/>
                      <p:nvPr/>
                    </p:nvGrpSpPr>
                    <p:grpSpPr>
                      <a:xfrm>
                        <a:off x="2159373" y="3277972"/>
                        <a:ext cx="2133391" cy="673450"/>
                        <a:chOff x="4262254" y="1529057"/>
                        <a:chExt cx="2133391" cy="673450"/>
                      </a:xfrm>
                    </p:grpSpPr>
                    <p:sp>
                      <p:nvSpPr>
                        <p:cNvPr id="44" name="Rectangle 43">
                          <a:extLst>
                            <a:ext uri="{FF2B5EF4-FFF2-40B4-BE49-F238E27FC236}">
                              <a16:creationId xmlns:a16="http://schemas.microsoft.com/office/drawing/2014/main" id="{FE84502B-02DD-6767-91BF-7035CC26643F}"/>
                            </a:ext>
                          </a:extLst>
                        </p:cNvPr>
                        <p:cNvSpPr/>
                        <p:nvPr/>
                      </p:nvSpPr>
                      <p:spPr>
                        <a:xfrm>
                          <a:off x="4331331" y="1529057"/>
                          <a:ext cx="1982798" cy="1652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rPr>
                            <a:t>Start </a:t>
                          </a:r>
                          <a:r>
                            <a:rPr lang="fr-FR" sz="600" err="1">
                              <a:solidFill>
                                <a:schemeClr val="tx1"/>
                              </a:solidFill>
                            </a:rPr>
                            <a:t>Reporting</a:t>
                          </a:r>
                          <a:r>
                            <a:rPr lang="fr-FR" sz="600">
                              <a:solidFill>
                                <a:schemeClr val="tx1"/>
                              </a:solidFill>
                            </a:rPr>
                            <a:t> Thread</a:t>
                          </a:r>
                          <a:endParaRPr lang="en-US" sz="600">
                            <a:solidFill>
                              <a:schemeClr val="tx1"/>
                            </a:solidFill>
                          </a:endParaRPr>
                        </a:p>
                      </p:txBody>
                    </p:sp>
                    <p:cxnSp>
                      <p:nvCxnSpPr>
                        <p:cNvPr id="45" name="Straight Arrow Connector 44">
                          <a:extLst>
                            <a:ext uri="{FF2B5EF4-FFF2-40B4-BE49-F238E27FC236}">
                              <a16:creationId xmlns:a16="http://schemas.microsoft.com/office/drawing/2014/main" id="{2A9BE9CF-DB81-F022-FC90-9EBD10DE0C26}"/>
                            </a:ext>
                          </a:extLst>
                        </p:cNvPr>
                        <p:cNvCxnSpPr>
                          <a:cxnSpLocks/>
                          <a:stCxn id="44" idx="2"/>
                          <a:endCxn id="46" idx="0"/>
                        </p:cNvCxnSpPr>
                        <p:nvPr/>
                      </p:nvCxnSpPr>
                      <p:spPr>
                        <a:xfrm>
                          <a:off x="5322731" y="1694284"/>
                          <a:ext cx="6219" cy="16922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46" name="Rectangle 45">
                          <a:extLst>
                            <a:ext uri="{FF2B5EF4-FFF2-40B4-BE49-F238E27FC236}">
                              <a16:creationId xmlns:a16="http://schemas.microsoft.com/office/drawing/2014/main" id="{FEECACB0-8308-515F-05DA-9010FE08689F}"/>
                            </a:ext>
                          </a:extLst>
                        </p:cNvPr>
                        <p:cNvSpPr/>
                        <p:nvPr/>
                      </p:nvSpPr>
                      <p:spPr>
                        <a:xfrm>
                          <a:off x="4262254" y="1863507"/>
                          <a:ext cx="2133391" cy="1652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Initialize</a:t>
                          </a:r>
                          <a:r>
                            <a:rPr lang="fr-FR" sz="600">
                              <a:solidFill>
                                <a:schemeClr val="tx1"/>
                              </a:solidFill>
                              <a:cs typeface="Arial"/>
                            </a:rPr>
                            <a:t> </a:t>
                          </a:r>
                          <a:r>
                            <a:rPr lang="fr-FR" sz="600" err="1">
                              <a:solidFill>
                                <a:schemeClr val="tx1"/>
                              </a:solidFill>
                              <a:cs typeface="Arial"/>
                            </a:rPr>
                            <a:t>last_counter</a:t>
                          </a:r>
                          <a:r>
                            <a:rPr lang="fr-FR" sz="600">
                              <a:solidFill>
                                <a:schemeClr val="tx1"/>
                              </a:solidFill>
                              <a:cs typeface="Arial"/>
                            </a:rPr>
                            <a:t> to 0</a:t>
                          </a:r>
                        </a:p>
                      </p:txBody>
                    </p:sp>
                    <p:cxnSp>
                      <p:nvCxnSpPr>
                        <p:cNvPr id="47" name="Straight Arrow Connector 46">
                          <a:extLst>
                            <a:ext uri="{FF2B5EF4-FFF2-40B4-BE49-F238E27FC236}">
                              <a16:creationId xmlns:a16="http://schemas.microsoft.com/office/drawing/2014/main" id="{8396B468-ABF2-1053-0DE9-A761B86B6AAE}"/>
                            </a:ext>
                          </a:extLst>
                        </p:cNvPr>
                        <p:cNvCxnSpPr>
                          <a:cxnSpLocks/>
                          <a:stCxn id="46" idx="2"/>
                          <a:endCxn id="42" idx="0"/>
                        </p:cNvCxnSpPr>
                        <p:nvPr/>
                      </p:nvCxnSpPr>
                      <p:spPr>
                        <a:xfrm>
                          <a:off x="5328951" y="2028734"/>
                          <a:ext cx="14223" cy="173773"/>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sp>
                    <p:nvSpPr>
                      <p:cNvPr id="42" name="Rectangle 41">
                        <a:extLst>
                          <a:ext uri="{FF2B5EF4-FFF2-40B4-BE49-F238E27FC236}">
                            <a16:creationId xmlns:a16="http://schemas.microsoft.com/office/drawing/2014/main" id="{FEA8931B-CD30-EFE7-E7BB-328FF626A21D}"/>
                          </a:ext>
                        </a:extLst>
                      </p:cNvPr>
                      <p:cNvSpPr/>
                      <p:nvPr/>
                    </p:nvSpPr>
                    <p:spPr>
                      <a:xfrm>
                        <a:off x="2173596" y="3951422"/>
                        <a:ext cx="2133392" cy="16255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err="1">
                            <a:solidFill>
                              <a:schemeClr val="tx1"/>
                            </a:solidFill>
                          </a:rPr>
                          <a:t>Sleep</a:t>
                        </a:r>
                        <a:r>
                          <a:rPr lang="fr-FR" sz="600">
                            <a:solidFill>
                              <a:schemeClr val="tx1"/>
                            </a:solidFill>
                          </a:rPr>
                          <a:t> for 30 s</a:t>
                        </a:r>
                      </a:p>
                      <a:p>
                        <a:pPr algn="ctr">
                          <a:buClr>
                            <a:schemeClr val="bg1"/>
                          </a:buClr>
                        </a:pPr>
                        <a:endParaRPr lang="fr-FR" sz="600">
                          <a:solidFill>
                            <a:schemeClr val="tx1"/>
                          </a:solidFill>
                          <a:cs typeface="Arial"/>
                        </a:endParaRPr>
                      </a:p>
                    </p:txBody>
                  </p:sp>
                  <p:sp>
                    <p:nvSpPr>
                      <p:cNvPr id="43" name="Rectangle 42">
                        <a:extLst>
                          <a:ext uri="{FF2B5EF4-FFF2-40B4-BE49-F238E27FC236}">
                            <a16:creationId xmlns:a16="http://schemas.microsoft.com/office/drawing/2014/main" id="{29F5C068-5E6D-47AA-00F8-BB006D37074A}"/>
                          </a:ext>
                        </a:extLst>
                      </p:cNvPr>
                      <p:cNvSpPr/>
                      <p:nvPr/>
                    </p:nvSpPr>
                    <p:spPr>
                      <a:xfrm>
                        <a:off x="2173596" y="4287752"/>
                        <a:ext cx="2134524"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err="1">
                            <a:solidFill>
                              <a:schemeClr val="tx1"/>
                            </a:solidFill>
                          </a:rPr>
                          <a:t>Print</a:t>
                        </a:r>
                        <a:r>
                          <a:rPr lang="fr-FR" sz="600">
                            <a:solidFill>
                              <a:schemeClr val="tx1"/>
                            </a:solidFill>
                          </a:rPr>
                          <a:t> :global </a:t>
                        </a:r>
                        <a:r>
                          <a:rPr lang="fr-FR" sz="600" err="1">
                            <a:solidFill>
                              <a:schemeClr val="tx1"/>
                            </a:solidFill>
                          </a:rPr>
                          <a:t>counter</a:t>
                        </a:r>
                        <a:r>
                          <a:rPr lang="fr-FR" sz="600">
                            <a:solidFill>
                              <a:schemeClr val="tx1"/>
                            </a:solidFill>
                          </a:rPr>
                          <a:t> – last </a:t>
                        </a:r>
                        <a:r>
                          <a:rPr lang="fr-FR" sz="600" err="1">
                            <a:solidFill>
                              <a:schemeClr val="tx1"/>
                            </a:solidFill>
                          </a:rPr>
                          <a:t>counter</a:t>
                        </a:r>
                        <a:endParaRPr lang="fr-FR" sz="600">
                          <a:solidFill>
                            <a:schemeClr val="tx1"/>
                          </a:solidFill>
                        </a:endParaRPr>
                      </a:p>
                      <a:p>
                        <a:pPr algn="ctr">
                          <a:buClr>
                            <a:schemeClr val="bg1"/>
                          </a:buClr>
                        </a:pPr>
                        <a:endParaRPr lang="fr-FR" sz="600">
                          <a:solidFill>
                            <a:schemeClr val="tx1"/>
                          </a:solidFill>
                          <a:cs typeface="Arial"/>
                        </a:endParaRPr>
                      </a:p>
                    </p:txBody>
                  </p:sp>
                </p:grpSp>
                <p:cxnSp>
                  <p:nvCxnSpPr>
                    <p:cNvPr id="48" name="Connector: Elbow 47">
                      <a:extLst>
                        <a:ext uri="{FF2B5EF4-FFF2-40B4-BE49-F238E27FC236}">
                          <a16:creationId xmlns:a16="http://schemas.microsoft.com/office/drawing/2014/main" id="{2E80439B-68A3-206B-2FBC-4B4EE33D6076}"/>
                        </a:ext>
                      </a:extLst>
                    </p:cNvPr>
                    <p:cNvCxnSpPr>
                      <a:cxnSpLocks/>
                      <a:stCxn id="43" idx="2"/>
                      <a:endCxn id="42" idx="1"/>
                    </p:cNvCxnSpPr>
                    <p:nvPr/>
                  </p:nvCxnSpPr>
                  <p:spPr>
                    <a:xfrm rot="5400000" flipH="1">
                      <a:off x="6866363" y="3769909"/>
                      <a:ext cx="541679" cy="1067262"/>
                    </a:xfrm>
                    <a:prstGeom prst="bentConnector4">
                      <a:avLst>
                        <a:gd name="adj1" fmla="val -18228"/>
                        <a:gd name="adj2" fmla="val 143036"/>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64C9ACD-BB36-3972-C3E5-B78771128BCC}"/>
                        </a:ext>
                      </a:extLst>
                    </p:cNvPr>
                    <p:cNvCxnSpPr>
                      <a:cxnSpLocks/>
                      <a:stCxn id="46" idx="3"/>
                      <a:endCxn id="220" idx="1"/>
                    </p:cNvCxnSpPr>
                    <p:nvPr/>
                  </p:nvCxnSpPr>
                  <p:spPr>
                    <a:xfrm>
                      <a:off x="8722737" y="3695036"/>
                      <a:ext cx="294443" cy="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51" name="TextBox 50">
                      <a:extLst>
                        <a:ext uri="{FF2B5EF4-FFF2-40B4-BE49-F238E27FC236}">
                          <a16:creationId xmlns:a16="http://schemas.microsoft.com/office/drawing/2014/main" id="{A380353F-4FF3-002A-9D2C-E3EE08BA8725}"/>
                        </a:ext>
                      </a:extLst>
                    </p:cNvPr>
                    <p:cNvSpPr txBox="1"/>
                    <p:nvPr/>
                  </p:nvSpPr>
                  <p:spPr>
                    <a:xfrm>
                      <a:off x="7111265" y="2362220"/>
                      <a:ext cx="1325833" cy="264035"/>
                    </a:xfrm>
                    <a:prstGeom prst="rect">
                      <a:avLst/>
                    </a:prstGeom>
                    <a:noFill/>
                  </p:spPr>
                  <p:txBody>
                    <a:bodyPr wrap="square">
                      <a:spAutoFit/>
                    </a:bodyPr>
                    <a:lstStyle/>
                    <a:p>
                      <a:pPr lvl="0">
                        <a:defRPr/>
                      </a:pPr>
                      <a:r>
                        <a:rPr kumimoji="0" lang="fr-FR" sz="600" i="0" u="none" strike="noStrike" kern="1200" cap="none" spc="0" normalizeH="0" baseline="0" noProof="0">
                          <a:ln>
                            <a:noFill/>
                          </a:ln>
                          <a:solidFill>
                            <a:srgbClr val="03234B"/>
                          </a:solidFill>
                          <a:effectLst/>
                          <a:uLnTx/>
                          <a:uFillTx/>
                          <a:latin typeface="Arial"/>
                          <a:ea typeface="+mn-ea"/>
                          <a:cs typeface="+mn-cs"/>
                        </a:rPr>
                        <a:t>HIGH </a:t>
                      </a:r>
                      <a:r>
                        <a:rPr kumimoji="0" lang="fr-FR" sz="600" i="0" u="none" strike="noStrike" kern="1200" cap="none" spc="0" normalizeH="0" baseline="0" noProof="0" err="1">
                          <a:ln>
                            <a:noFill/>
                          </a:ln>
                          <a:solidFill>
                            <a:srgbClr val="03234B"/>
                          </a:solidFill>
                          <a:effectLst/>
                          <a:uLnTx/>
                          <a:uFillTx/>
                          <a:latin typeface="Arial"/>
                          <a:ea typeface="+mn-ea"/>
                          <a:cs typeface="+mn-cs"/>
                        </a:rPr>
                        <a:t>Priority</a:t>
                      </a:r>
                      <a:endParaRPr kumimoji="0" lang="en-US" sz="600" i="0" u="none" strike="noStrike" kern="1200" cap="none" spc="0" normalizeH="0" baseline="0" noProof="0">
                        <a:ln>
                          <a:noFill/>
                        </a:ln>
                        <a:solidFill>
                          <a:srgbClr val="03234B"/>
                        </a:solidFill>
                        <a:effectLst/>
                        <a:uLnTx/>
                        <a:uFillTx/>
                        <a:latin typeface="Arial"/>
                        <a:ea typeface="+mn-ea"/>
                        <a:cs typeface="+mn-cs"/>
                      </a:endParaRPr>
                    </a:p>
                  </p:txBody>
                </p:sp>
                <p:cxnSp>
                  <p:nvCxnSpPr>
                    <p:cNvPr id="52" name="Straight Arrow Connector 51">
                      <a:extLst>
                        <a:ext uri="{FF2B5EF4-FFF2-40B4-BE49-F238E27FC236}">
                          <a16:creationId xmlns:a16="http://schemas.microsoft.com/office/drawing/2014/main" id="{D1E09399-C6B4-7570-A4EE-C03C4C987201}"/>
                        </a:ext>
                      </a:extLst>
                    </p:cNvPr>
                    <p:cNvCxnSpPr>
                      <a:cxnSpLocks/>
                      <a:stCxn id="42" idx="2"/>
                      <a:endCxn id="43" idx="0"/>
                    </p:cNvCxnSpPr>
                    <p:nvPr/>
                  </p:nvCxnSpPr>
                  <p:spPr>
                    <a:xfrm>
                      <a:off x="7670267" y="4113979"/>
                      <a:ext cx="567" cy="173773"/>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cxnSp>
                <p:nvCxnSpPr>
                  <p:cNvPr id="88" name="Connector: Elbow 87">
                    <a:extLst>
                      <a:ext uri="{FF2B5EF4-FFF2-40B4-BE49-F238E27FC236}">
                        <a16:creationId xmlns:a16="http://schemas.microsoft.com/office/drawing/2014/main" id="{01E374D7-6D34-5B97-36D2-0007EA5935AF}"/>
                      </a:ext>
                    </a:extLst>
                  </p:cNvPr>
                  <p:cNvCxnSpPr>
                    <a:cxnSpLocks/>
                    <a:stCxn id="18" idx="2"/>
                    <a:endCxn id="44" idx="0"/>
                  </p:cNvCxnSpPr>
                  <p:nvPr/>
                </p:nvCxnSpPr>
                <p:spPr>
                  <a:xfrm rot="16200000" flipH="1">
                    <a:off x="4329623" y="2354336"/>
                    <a:ext cx="224103" cy="983946"/>
                  </a:xfrm>
                  <a:prstGeom prst="bentConnector3">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07" name="Connector: Elbow 106">
                    <a:extLst>
                      <a:ext uri="{FF2B5EF4-FFF2-40B4-BE49-F238E27FC236}">
                        <a16:creationId xmlns:a16="http://schemas.microsoft.com/office/drawing/2014/main" id="{9CEE0540-5AE3-7A94-CBD3-E272FFB2C792}"/>
                      </a:ext>
                    </a:extLst>
                  </p:cNvPr>
                  <p:cNvCxnSpPr>
                    <a:cxnSpLocks/>
                    <a:stCxn id="18" idx="2"/>
                    <a:endCxn id="34" idx="0"/>
                  </p:cNvCxnSpPr>
                  <p:nvPr/>
                </p:nvCxnSpPr>
                <p:spPr>
                  <a:xfrm rot="5400000">
                    <a:off x="3486757" y="2505204"/>
                    <a:ext cx="233890" cy="691999"/>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grpSp>
          <p:sp>
            <p:nvSpPr>
              <p:cNvPr id="220" name="TextBox 219">
                <a:extLst>
                  <a:ext uri="{FF2B5EF4-FFF2-40B4-BE49-F238E27FC236}">
                    <a16:creationId xmlns:a16="http://schemas.microsoft.com/office/drawing/2014/main" id="{B48AE100-0127-11E7-FDC8-CA4269DCB658}"/>
                  </a:ext>
                </a:extLst>
              </p:cNvPr>
              <p:cNvSpPr txBox="1"/>
              <p:nvPr/>
            </p:nvSpPr>
            <p:spPr>
              <a:xfrm>
                <a:off x="3001601" y="5025994"/>
                <a:ext cx="1066423" cy="276999"/>
              </a:xfrm>
              <a:prstGeom prst="rect">
                <a:avLst/>
              </a:prstGeom>
              <a:noFill/>
            </p:spPr>
            <p:txBody>
              <a:bodyPr wrap="square">
                <a:spAutoFit/>
              </a:bodyPr>
              <a:lstStyle/>
              <a:p>
                <a:pPr>
                  <a:defRPr/>
                </a:pPr>
                <a:r>
                  <a:rPr lang="fr-FR" sz="600" err="1">
                    <a:solidFill>
                      <a:srgbClr val="03234B"/>
                    </a:solidFill>
                  </a:rPr>
                  <a:t>counter</a:t>
                </a:r>
                <a:r>
                  <a:rPr lang="fr-FR" sz="600">
                    <a:solidFill>
                      <a:srgbClr val="03234B"/>
                    </a:solidFill>
                  </a:rPr>
                  <a:t> holding </a:t>
                </a:r>
                <a:r>
                  <a:rPr lang="fr-FR" sz="600" err="1">
                    <a:solidFill>
                      <a:srgbClr val="03234B"/>
                    </a:solidFill>
                  </a:rPr>
                  <a:t>previous</a:t>
                </a:r>
                <a:r>
                  <a:rPr lang="fr-FR" sz="600">
                    <a:solidFill>
                      <a:srgbClr val="03234B"/>
                    </a:solidFill>
                  </a:rPr>
                  <a:t> </a:t>
                </a:r>
              </a:p>
              <a:p>
                <a:pPr>
                  <a:defRPr/>
                </a:pPr>
                <a:r>
                  <a:rPr lang="fr-FR" sz="600">
                    <a:solidFill>
                      <a:srgbClr val="03234B"/>
                    </a:solidFill>
                  </a:rPr>
                  <a:t>Counter value</a:t>
                </a:r>
              </a:p>
            </p:txBody>
          </p:sp>
        </p:grpSp>
      </p:grpSp>
      <p:sp>
        <p:nvSpPr>
          <p:cNvPr id="234" name="Rectangle: Folded Corner 233">
            <a:extLst>
              <a:ext uri="{FF2B5EF4-FFF2-40B4-BE49-F238E27FC236}">
                <a16:creationId xmlns:a16="http://schemas.microsoft.com/office/drawing/2014/main" id="{CA5674D1-DC55-0F90-597B-5B3D5126B8DE}"/>
              </a:ext>
            </a:extLst>
          </p:cNvPr>
          <p:cNvSpPr/>
          <p:nvPr/>
        </p:nvSpPr>
        <p:spPr>
          <a:xfrm>
            <a:off x="2340431" y="5054608"/>
            <a:ext cx="1629919" cy="785172"/>
          </a:xfrm>
          <a:prstGeom prst="foldedCorner">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fr-FR" sz="700">
                <a:solidFill>
                  <a:srgbClr val="03234B"/>
                </a:solidFill>
              </a:rPr>
              <a:t>Thread </a:t>
            </a:r>
            <a:r>
              <a:rPr lang="fr-FR" sz="700" err="1">
                <a:solidFill>
                  <a:srgbClr val="03234B"/>
                </a:solidFill>
              </a:rPr>
              <a:t>blocked</a:t>
            </a:r>
            <a:r>
              <a:rPr lang="fr-FR" sz="700">
                <a:solidFill>
                  <a:srgbClr val="03234B"/>
                </a:solidFill>
              </a:rPr>
              <a:t> for 30s  and </a:t>
            </a:r>
            <a:r>
              <a:rPr lang="fr-FR" sz="700" err="1">
                <a:solidFill>
                  <a:srgbClr val="03234B"/>
                </a:solidFill>
              </a:rPr>
              <a:t>only</a:t>
            </a:r>
            <a:endParaRPr lang="fr-FR" sz="700">
              <a:solidFill>
                <a:srgbClr val="03234B"/>
              </a:solidFill>
            </a:endParaRPr>
          </a:p>
          <a:p>
            <a:pPr lvl="0">
              <a:defRPr/>
            </a:pPr>
            <a:r>
              <a:rPr lang="fr-FR" sz="700">
                <a:solidFill>
                  <a:srgbClr val="03234B"/>
                </a:solidFill>
              </a:rPr>
              <a:t>Thread0 runs and </a:t>
            </a:r>
            <a:r>
              <a:rPr lang="fr-FR" sz="700" err="1">
                <a:solidFill>
                  <a:srgbClr val="03234B"/>
                </a:solidFill>
              </a:rPr>
              <a:t>loop</a:t>
            </a:r>
            <a:r>
              <a:rPr lang="fr-FR" sz="700">
                <a:solidFill>
                  <a:srgbClr val="03234B"/>
                </a:solidFill>
              </a:rPr>
              <a:t> back </a:t>
            </a:r>
            <a:r>
              <a:rPr lang="fr-FR" sz="700" err="1">
                <a:solidFill>
                  <a:srgbClr val="03234B"/>
                </a:solidFill>
              </a:rPr>
              <a:t>again</a:t>
            </a:r>
            <a:r>
              <a:rPr lang="fr-FR" sz="700">
                <a:solidFill>
                  <a:srgbClr val="03234B"/>
                </a:solidFill>
              </a:rPr>
              <a:t> </a:t>
            </a:r>
          </a:p>
          <a:p>
            <a:pPr lvl="0">
              <a:defRPr/>
            </a:pPr>
            <a:r>
              <a:rPr lang="fr-FR" sz="700">
                <a:solidFill>
                  <a:srgbClr val="03234B"/>
                </a:solidFill>
              </a:rPr>
              <a:t>To </a:t>
            </a:r>
            <a:r>
              <a:rPr lang="fr-FR" sz="700" err="1">
                <a:solidFill>
                  <a:srgbClr val="03234B"/>
                </a:solidFill>
              </a:rPr>
              <a:t>sleep</a:t>
            </a:r>
            <a:r>
              <a:rPr lang="fr-FR" sz="700">
                <a:solidFill>
                  <a:srgbClr val="03234B"/>
                </a:solidFill>
              </a:rPr>
              <a:t> for 30s</a:t>
            </a:r>
            <a:endParaRPr lang="en-US" sz="700">
              <a:solidFill>
                <a:srgbClr val="03234B"/>
              </a:solidFill>
            </a:endParaRPr>
          </a:p>
        </p:txBody>
      </p:sp>
      <p:cxnSp>
        <p:nvCxnSpPr>
          <p:cNvPr id="235" name="Connector: Curved 234">
            <a:extLst>
              <a:ext uri="{FF2B5EF4-FFF2-40B4-BE49-F238E27FC236}">
                <a16:creationId xmlns:a16="http://schemas.microsoft.com/office/drawing/2014/main" id="{029350F1-2F55-C60B-C72A-926429925E8E}"/>
              </a:ext>
            </a:extLst>
          </p:cNvPr>
          <p:cNvCxnSpPr>
            <a:cxnSpLocks/>
            <a:stCxn id="43" idx="3"/>
            <a:endCxn id="234" idx="1"/>
          </p:cNvCxnSpPr>
          <p:nvPr/>
        </p:nvCxnSpPr>
        <p:spPr>
          <a:xfrm flipH="1">
            <a:off x="2340431" y="4570485"/>
            <a:ext cx="550558" cy="876709"/>
          </a:xfrm>
          <a:prstGeom prst="curvedConnector5">
            <a:avLst>
              <a:gd name="adj1" fmla="val -41522"/>
              <a:gd name="adj2" fmla="val 33327"/>
              <a:gd name="adj3" fmla="val 141522"/>
            </a:avLst>
          </a:prstGeom>
          <a:ln w="12700">
            <a:headEnd type="none" w="lg" len="lg"/>
            <a:tailEnd type="triangle"/>
          </a:ln>
        </p:spPr>
        <p:style>
          <a:lnRef idx="1">
            <a:schemeClr val="accent4"/>
          </a:lnRef>
          <a:fillRef idx="0">
            <a:schemeClr val="accent4"/>
          </a:fillRef>
          <a:effectRef idx="0">
            <a:schemeClr val="accent4"/>
          </a:effectRef>
          <a:fontRef idx="minor">
            <a:schemeClr val="tx1"/>
          </a:fontRef>
        </p:style>
      </p:cxnSp>
      <p:sp>
        <p:nvSpPr>
          <p:cNvPr id="241" name="TextBox 240">
            <a:extLst>
              <a:ext uri="{FF2B5EF4-FFF2-40B4-BE49-F238E27FC236}">
                <a16:creationId xmlns:a16="http://schemas.microsoft.com/office/drawing/2014/main" id="{5FE6A444-1B0A-FB38-01EB-2F9BC532E7D1}"/>
              </a:ext>
            </a:extLst>
          </p:cNvPr>
          <p:cNvSpPr txBox="1"/>
          <p:nvPr/>
        </p:nvSpPr>
        <p:spPr>
          <a:xfrm>
            <a:off x="577589" y="1656263"/>
            <a:ext cx="2068968" cy="246221"/>
          </a:xfrm>
          <a:prstGeom prst="rect">
            <a:avLst/>
          </a:prstGeom>
          <a:noFill/>
        </p:spPr>
        <p:txBody>
          <a:bodyPr wrap="square">
            <a:spAutoFit/>
          </a:bodyPr>
          <a:lstStyle/>
          <a:p>
            <a:r>
              <a:rPr lang="fr-FR" sz="1000" b="1">
                <a:solidFill>
                  <a:schemeClr val="accent2"/>
                </a:solidFill>
              </a:rPr>
              <a:t>Basic </a:t>
            </a:r>
            <a:r>
              <a:rPr lang="fr-FR" sz="1000" b="1" err="1">
                <a:solidFill>
                  <a:schemeClr val="accent2"/>
                </a:solidFill>
              </a:rPr>
              <a:t>Processing</a:t>
            </a:r>
            <a:r>
              <a:rPr lang="fr-FR" sz="1000" b="1">
                <a:solidFill>
                  <a:schemeClr val="accent2"/>
                </a:solidFill>
              </a:rPr>
              <a:t> </a:t>
            </a:r>
            <a:r>
              <a:rPr lang="fr-FR" sz="1000" b="1" err="1">
                <a:solidFill>
                  <a:schemeClr val="accent2"/>
                </a:solidFill>
              </a:rPr>
              <a:t>Flowchart</a:t>
            </a:r>
            <a:endParaRPr lang="en-US" sz="1000">
              <a:solidFill>
                <a:schemeClr val="accent2"/>
              </a:solidFill>
            </a:endParaRPr>
          </a:p>
        </p:txBody>
      </p:sp>
      <p:cxnSp>
        <p:nvCxnSpPr>
          <p:cNvPr id="516" name="Connector: Elbow 515">
            <a:extLst>
              <a:ext uri="{FF2B5EF4-FFF2-40B4-BE49-F238E27FC236}">
                <a16:creationId xmlns:a16="http://schemas.microsoft.com/office/drawing/2014/main" id="{AF90BDEB-0A7F-87E0-850B-88DA5EB67E4C}"/>
              </a:ext>
            </a:extLst>
          </p:cNvPr>
          <p:cNvCxnSpPr>
            <a:cxnSpLocks/>
          </p:cNvCxnSpPr>
          <p:nvPr/>
        </p:nvCxnSpPr>
        <p:spPr>
          <a:xfrm rot="16200000" flipH="1">
            <a:off x="5273730" y="3653028"/>
            <a:ext cx="348729" cy="327840"/>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nvGrpSpPr>
          <p:cNvPr id="615" name="Group 614">
            <a:extLst>
              <a:ext uri="{FF2B5EF4-FFF2-40B4-BE49-F238E27FC236}">
                <a16:creationId xmlns:a16="http://schemas.microsoft.com/office/drawing/2014/main" id="{4A633BE6-505F-06F6-0D97-FFEA3742C584}"/>
              </a:ext>
            </a:extLst>
          </p:cNvPr>
          <p:cNvGrpSpPr/>
          <p:nvPr/>
        </p:nvGrpSpPr>
        <p:grpSpPr>
          <a:xfrm>
            <a:off x="4296593" y="2006862"/>
            <a:ext cx="3480240" cy="2600562"/>
            <a:chOff x="4296593" y="2940312"/>
            <a:chExt cx="3480240" cy="2600562"/>
          </a:xfrm>
        </p:grpSpPr>
        <p:cxnSp>
          <p:nvCxnSpPr>
            <p:cNvPr id="331" name="Connector: Elbow 330">
              <a:extLst>
                <a:ext uri="{FF2B5EF4-FFF2-40B4-BE49-F238E27FC236}">
                  <a16:creationId xmlns:a16="http://schemas.microsoft.com/office/drawing/2014/main" id="{DD97927A-03C3-0C55-41B0-8E3FF5C257AC}"/>
                </a:ext>
              </a:extLst>
            </p:cNvPr>
            <p:cNvCxnSpPr>
              <a:cxnSpLocks/>
              <a:stCxn id="314" idx="2"/>
              <a:endCxn id="4" idx="0"/>
            </p:cNvCxnSpPr>
            <p:nvPr/>
          </p:nvCxnSpPr>
          <p:spPr>
            <a:xfrm rot="16200000" flipH="1">
              <a:off x="6159347" y="3700857"/>
              <a:ext cx="321849" cy="2072195"/>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453" name="Connector: Elbow 452">
              <a:extLst>
                <a:ext uri="{FF2B5EF4-FFF2-40B4-BE49-F238E27FC236}">
                  <a16:creationId xmlns:a16="http://schemas.microsoft.com/office/drawing/2014/main" id="{C6208ED7-D2C8-5847-49B4-6F8C76C04BED}"/>
                </a:ext>
              </a:extLst>
            </p:cNvPr>
            <p:cNvCxnSpPr>
              <a:cxnSpLocks/>
              <a:stCxn id="314" idx="2"/>
              <a:endCxn id="291" idx="0"/>
            </p:cNvCxnSpPr>
            <p:nvPr/>
          </p:nvCxnSpPr>
          <p:spPr>
            <a:xfrm rot="5400000">
              <a:off x="4785130" y="4431234"/>
              <a:ext cx="354245" cy="643845"/>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nvGrpSpPr>
            <p:cNvPr id="557" name="Group 556">
              <a:extLst>
                <a:ext uri="{FF2B5EF4-FFF2-40B4-BE49-F238E27FC236}">
                  <a16:creationId xmlns:a16="http://schemas.microsoft.com/office/drawing/2014/main" id="{9BCF7189-3336-64C7-BB0E-3F8DB8F9618C}"/>
                </a:ext>
              </a:extLst>
            </p:cNvPr>
            <p:cNvGrpSpPr/>
            <p:nvPr/>
          </p:nvGrpSpPr>
          <p:grpSpPr>
            <a:xfrm>
              <a:off x="4296593" y="2940312"/>
              <a:ext cx="3480240" cy="2600562"/>
              <a:chOff x="4259060" y="3172019"/>
              <a:chExt cx="3480240" cy="2600562"/>
            </a:xfrm>
          </p:grpSpPr>
          <p:grpSp>
            <p:nvGrpSpPr>
              <p:cNvPr id="535" name="Group 534">
                <a:extLst>
                  <a:ext uri="{FF2B5EF4-FFF2-40B4-BE49-F238E27FC236}">
                    <a16:creationId xmlns:a16="http://schemas.microsoft.com/office/drawing/2014/main" id="{0CACA6A9-3713-3755-E5DD-9DDE3139EF03}"/>
                  </a:ext>
                </a:extLst>
              </p:cNvPr>
              <p:cNvGrpSpPr/>
              <p:nvPr/>
            </p:nvGrpSpPr>
            <p:grpSpPr>
              <a:xfrm>
                <a:off x="4259060" y="3172019"/>
                <a:ext cx="3059774" cy="2600562"/>
                <a:chOff x="4266539" y="2788208"/>
                <a:chExt cx="3059774" cy="2600562"/>
              </a:xfrm>
            </p:grpSpPr>
            <p:grpSp>
              <p:nvGrpSpPr>
                <p:cNvPr id="534" name="Group 533">
                  <a:extLst>
                    <a:ext uri="{FF2B5EF4-FFF2-40B4-BE49-F238E27FC236}">
                      <a16:creationId xmlns:a16="http://schemas.microsoft.com/office/drawing/2014/main" id="{B6C9997A-37C8-F559-C7F9-84462205673F}"/>
                    </a:ext>
                  </a:extLst>
                </p:cNvPr>
                <p:cNvGrpSpPr/>
                <p:nvPr/>
              </p:nvGrpSpPr>
              <p:grpSpPr>
                <a:xfrm>
                  <a:off x="4266539" y="2788208"/>
                  <a:ext cx="3059774" cy="2600562"/>
                  <a:chOff x="4266539" y="2788208"/>
                  <a:chExt cx="3059774" cy="2600562"/>
                </a:xfrm>
              </p:grpSpPr>
              <p:grpSp>
                <p:nvGrpSpPr>
                  <p:cNvPr id="473" name="Group 472">
                    <a:extLst>
                      <a:ext uri="{FF2B5EF4-FFF2-40B4-BE49-F238E27FC236}">
                        <a16:creationId xmlns:a16="http://schemas.microsoft.com/office/drawing/2014/main" id="{DC74EFCC-94B0-FF7E-0D25-0D5C920A45B5}"/>
                      </a:ext>
                    </a:extLst>
                  </p:cNvPr>
                  <p:cNvGrpSpPr/>
                  <p:nvPr/>
                </p:nvGrpSpPr>
                <p:grpSpPr>
                  <a:xfrm>
                    <a:off x="4266539" y="2788208"/>
                    <a:ext cx="3059774" cy="2600562"/>
                    <a:chOff x="5534053" y="2048821"/>
                    <a:chExt cx="3059774" cy="2600562"/>
                  </a:xfrm>
                </p:grpSpPr>
                <p:grpSp>
                  <p:nvGrpSpPr>
                    <p:cNvPr id="471" name="Group 470">
                      <a:extLst>
                        <a:ext uri="{FF2B5EF4-FFF2-40B4-BE49-F238E27FC236}">
                          <a16:creationId xmlns:a16="http://schemas.microsoft.com/office/drawing/2014/main" id="{A31F1162-C654-7776-AFA2-955904BF0F63}"/>
                        </a:ext>
                      </a:extLst>
                    </p:cNvPr>
                    <p:cNvGrpSpPr/>
                    <p:nvPr/>
                  </p:nvGrpSpPr>
                  <p:grpSpPr>
                    <a:xfrm>
                      <a:off x="5534053" y="2232670"/>
                      <a:ext cx="3059774" cy="2416713"/>
                      <a:chOff x="5769681" y="1125499"/>
                      <a:chExt cx="3059774" cy="2416713"/>
                    </a:xfrm>
                  </p:grpSpPr>
                  <p:grpSp>
                    <p:nvGrpSpPr>
                      <p:cNvPr id="250" name="Group 249">
                        <a:extLst>
                          <a:ext uri="{FF2B5EF4-FFF2-40B4-BE49-F238E27FC236}">
                            <a16:creationId xmlns:a16="http://schemas.microsoft.com/office/drawing/2014/main" id="{3BB822EB-317B-C7EA-71C9-3179F932AA8D}"/>
                          </a:ext>
                        </a:extLst>
                      </p:cNvPr>
                      <p:cNvGrpSpPr/>
                      <p:nvPr/>
                    </p:nvGrpSpPr>
                    <p:grpSpPr>
                      <a:xfrm>
                        <a:off x="5769681" y="1125499"/>
                        <a:ext cx="2539863" cy="2416713"/>
                        <a:chOff x="4405088" y="825825"/>
                        <a:chExt cx="3618787" cy="4280228"/>
                      </a:xfrm>
                    </p:grpSpPr>
                    <p:sp>
                      <p:nvSpPr>
                        <p:cNvPr id="252" name="TextBox 251">
                          <a:extLst>
                            <a:ext uri="{FF2B5EF4-FFF2-40B4-BE49-F238E27FC236}">
                              <a16:creationId xmlns:a16="http://schemas.microsoft.com/office/drawing/2014/main" id="{5A22909C-E974-C397-92AE-8D285C636D5B}"/>
                            </a:ext>
                          </a:extLst>
                        </p:cNvPr>
                        <p:cNvSpPr txBox="1"/>
                        <p:nvPr/>
                      </p:nvSpPr>
                      <p:spPr>
                        <a:xfrm>
                          <a:off x="7109619" y="2630315"/>
                          <a:ext cx="914256" cy="327061"/>
                        </a:xfrm>
                        <a:prstGeom prst="rect">
                          <a:avLst/>
                        </a:prstGeom>
                        <a:noFill/>
                      </p:spPr>
                      <p:txBody>
                        <a:bodyPr wrap="square">
                          <a:spAutoFit/>
                        </a:bodyPr>
                        <a:lstStyle/>
                        <a:p>
                          <a:pPr lvl="0">
                            <a:defRPr/>
                          </a:pPr>
                          <a:r>
                            <a:rPr kumimoji="0" lang="fr-FR" sz="600" i="0" u="none" strike="noStrike" kern="1200" cap="none" spc="0" normalizeH="0" baseline="0" noProof="0">
                              <a:ln>
                                <a:noFill/>
                              </a:ln>
                              <a:solidFill>
                                <a:srgbClr val="03234B"/>
                              </a:solidFill>
                              <a:effectLst/>
                              <a:uLnTx/>
                              <a:uFillTx/>
                              <a:latin typeface="Arial"/>
                              <a:ea typeface="+mn-ea"/>
                              <a:cs typeface="+mn-cs"/>
                            </a:rPr>
                            <a:t>HIGH </a:t>
                          </a:r>
                          <a:r>
                            <a:rPr kumimoji="0" lang="fr-FR" sz="600" i="0" u="none" strike="noStrike" kern="1200" cap="none" spc="0" normalizeH="0" baseline="0" noProof="0" err="1">
                              <a:ln>
                                <a:noFill/>
                              </a:ln>
                              <a:solidFill>
                                <a:srgbClr val="03234B"/>
                              </a:solidFill>
                              <a:effectLst/>
                              <a:uLnTx/>
                              <a:uFillTx/>
                              <a:latin typeface="Arial"/>
                              <a:ea typeface="+mn-ea"/>
                              <a:cs typeface="+mn-cs"/>
                            </a:rPr>
                            <a:t>Priority</a:t>
                          </a:r>
                          <a:endParaRPr kumimoji="0" lang="en-US" sz="600" i="0" u="none" strike="noStrike" kern="1200" cap="none" spc="0" normalizeH="0" baseline="0" noProof="0">
                            <a:ln>
                              <a:noFill/>
                            </a:ln>
                            <a:solidFill>
                              <a:srgbClr val="03234B"/>
                            </a:solidFill>
                            <a:effectLst/>
                            <a:uLnTx/>
                            <a:uFillTx/>
                            <a:latin typeface="Arial"/>
                            <a:ea typeface="+mn-ea"/>
                            <a:cs typeface="+mn-cs"/>
                          </a:endParaRPr>
                        </a:p>
                      </p:txBody>
                    </p:sp>
                    <p:grpSp>
                      <p:nvGrpSpPr>
                        <p:cNvPr id="253" name="Group 252">
                          <a:extLst>
                            <a:ext uri="{FF2B5EF4-FFF2-40B4-BE49-F238E27FC236}">
                              <a16:creationId xmlns:a16="http://schemas.microsoft.com/office/drawing/2014/main" id="{F1B904CB-FD5A-1E03-EE1E-547C4481D648}"/>
                            </a:ext>
                          </a:extLst>
                        </p:cNvPr>
                        <p:cNvGrpSpPr/>
                        <p:nvPr/>
                      </p:nvGrpSpPr>
                      <p:grpSpPr>
                        <a:xfrm>
                          <a:off x="4405088" y="825825"/>
                          <a:ext cx="2704531" cy="4280228"/>
                          <a:chOff x="4405088" y="825825"/>
                          <a:chExt cx="2704531" cy="4280228"/>
                        </a:xfrm>
                      </p:grpSpPr>
                      <p:cxnSp>
                        <p:nvCxnSpPr>
                          <p:cNvPr id="255" name="Straight Arrow Connector 254">
                            <a:extLst>
                              <a:ext uri="{FF2B5EF4-FFF2-40B4-BE49-F238E27FC236}">
                                <a16:creationId xmlns:a16="http://schemas.microsoft.com/office/drawing/2014/main" id="{5A584362-084C-FB31-4394-15F8B99B4051}"/>
                              </a:ext>
                            </a:extLst>
                          </p:cNvPr>
                          <p:cNvCxnSpPr>
                            <a:cxnSpLocks/>
                            <a:stCxn id="415" idx="4"/>
                            <a:endCxn id="256" idx="0"/>
                          </p:cNvCxnSpPr>
                          <p:nvPr/>
                        </p:nvCxnSpPr>
                        <p:spPr>
                          <a:xfrm>
                            <a:off x="5807083" y="825825"/>
                            <a:ext cx="5112" cy="31263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56" name="Rectangle 255">
                            <a:extLst>
                              <a:ext uri="{FF2B5EF4-FFF2-40B4-BE49-F238E27FC236}">
                                <a16:creationId xmlns:a16="http://schemas.microsoft.com/office/drawing/2014/main" id="{C5A02DD0-D09D-B5E7-4A68-94B7A19CD0D0}"/>
                              </a:ext>
                            </a:extLst>
                          </p:cNvPr>
                          <p:cNvSpPr/>
                          <p:nvPr/>
                        </p:nvSpPr>
                        <p:spPr>
                          <a:xfrm>
                            <a:off x="5168983" y="1138460"/>
                            <a:ext cx="1286424" cy="26527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r>
                              <a:rPr lang="fr-FR" sz="600" err="1">
                                <a:solidFill>
                                  <a:schemeClr val="tx1"/>
                                </a:solidFill>
                              </a:rPr>
                              <a:t>Clock</a:t>
                            </a:r>
                            <a:r>
                              <a:rPr lang="fr-FR" sz="600">
                                <a:solidFill>
                                  <a:schemeClr val="tx1"/>
                                </a:solidFill>
                              </a:rPr>
                              <a:t> configuration</a:t>
                            </a:r>
                          </a:p>
                          <a:p>
                            <a:pPr algn="ctr">
                              <a:buClr>
                                <a:schemeClr val="bg1"/>
                              </a:buClr>
                            </a:pPr>
                            <a:endParaRPr lang="fr-FR" sz="600">
                              <a:solidFill>
                                <a:schemeClr val="tx1"/>
                              </a:solidFill>
                              <a:cs typeface="Arial"/>
                            </a:endParaRPr>
                          </a:p>
                        </p:txBody>
                      </p:sp>
                      <p:grpSp>
                        <p:nvGrpSpPr>
                          <p:cNvPr id="257" name="Group 256">
                            <a:extLst>
                              <a:ext uri="{FF2B5EF4-FFF2-40B4-BE49-F238E27FC236}">
                                <a16:creationId xmlns:a16="http://schemas.microsoft.com/office/drawing/2014/main" id="{34077F8A-3E23-D74D-A92A-9847D92EEBB2}"/>
                              </a:ext>
                            </a:extLst>
                          </p:cNvPr>
                          <p:cNvGrpSpPr/>
                          <p:nvPr/>
                        </p:nvGrpSpPr>
                        <p:grpSpPr>
                          <a:xfrm>
                            <a:off x="4862207" y="2130469"/>
                            <a:ext cx="2247412" cy="1266757"/>
                            <a:chOff x="4839108" y="1947291"/>
                            <a:chExt cx="2247412" cy="1266757"/>
                          </a:xfrm>
                        </p:grpSpPr>
                        <p:sp>
                          <p:nvSpPr>
                            <p:cNvPr id="309" name="Rectangle 308">
                              <a:extLst>
                                <a:ext uri="{FF2B5EF4-FFF2-40B4-BE49-F238E27FC236}">
                                  <a16:creationId xmlns:a16="http://schemas.microsoft.com/office/drawing/2014/main" id="{185E7ECB-1707-8FF2-144B-EACF4DD8B088}"/>
                                </a:ext>
                              </a:extLst>
                            </p:cNvPr>
                            <p:cNvSpPr/>
                            <p:nvPr/>
                          </p:nvSpPr>
                          <p:spPr>
                            <a:xfrm>
                              <a:off x="4839113" y="1947291"/>
                              <a:ext cx="1899965" cy="28001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rPr>
                                <a:t>Create</a:t>
                              </a:r>
                              <a:r>
                                <a:rPr lang="fr-FR" sz="600">
                                  <a:solidFill>
                                    <a:schemeClr val="tx1"/>
                                  </a:solidFill>
                                </a:rPr>
                                <a:t> 5 threads</a:t>
                              </a:r>
                              <a:endParaRPr lang="en-US" sz="600">
                                <a:solidFill>
                                  <a:schemeClr val="tx1"/>
                                </a:solidFill>
                              </a:endParaRPr>
                            </a:p>
                          </p:txBody>
                        </p:sp>
                        <p:cxnSp>
                          <p:nvCxnSpPr>
                            <p:cNvPr id="310" name="Straight Arrow Connector 309">
                              <a:extLst>
                                <a:ext uri="{FF2B5EF4-FFF2-40B4-BE49-F238E27FC236}">
                                  <a16:creationId xmlns:a16="http://schemas.microsoft.com/office/drawing/2014/main" id="{8D554D0F-9784-16ED-6337-7B76E5F68E32}"/>
                                </a:ext>
                              </a:extLst>
                            </p:cNvPr>
                            <p:cNvCxnSpPr>
                              <a:cxnSpLocks/>
                              <a:stCxn id="309" idx="2"/>
                              <a:endCxn id="312" idx="0"/>
                            </p:cNvCxnSpPr>
                            <p:nvPr/>
                          </p:nvCxnSpPr>
                          <p:spPr>
                            <a:xfrm flipH="1">
                              <a:off x="5789094" y="2227310"/>
                              <a:ext cx="1" cy="22730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311" name="Straight Arrow Connector 310">
                              <a:extLst>
                                <a:ext uri="{FF2B5EF4-FFF2-40B4-BE49-F238E27FC236}">
                                  <a16:creationId xmlns:a16="http://schemas.microsoft.com/office/drawing/2014/main" id="{D86C3550-C1D1-C108-BFAA-E5C92E14D84C}"/>
                                </a:ext>
                              </a:extLst>
                            </p:cNvPr>
                            <p:cNvCxnSpPr>
                              <a:cxnSpLocks/>
                              <a:stCxn id="309" idx="3"/>
                              <a:endCxn id="545" idx="1"/>
                            </p:cNvCxnSpPr>
                            <p:nvPr/>
                          </p:nvCxnSpPr>
                          <p:spPr>
                            <a:xfrm>
                              <a:off x="6739079" y="2087301"/>
                              <a:ext cx="342928" cy="109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12" name="Rectangle 311">
                              <a:extLst>
                                <a:ext uri="{FF2B5EF4-FFF2-40B4-BE49-F238E27FC236}">
                                  <a16:creationId xmlns:a16="http://schemas.microsoft.com/office/drawing/2014/main" id="{9EBBD5E8-B275-3C2A-21E2-8FD6FCC06FE4}"/>
                                </a:ext>
                              </a:extLst>
                            </p:cNvPr>
                            <p:cNvSpPr/>
                            <p:nvPr/>
                          </p:nvSpPr>
                          <p:spPr>
                            <a:xfrm>
                              <a:off x="4839110" y="2454619"/>
                              <a:ext cx="1899966" cy="281205"/>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Create</a:t>
                              </a:r>
                              <a:r>
                                <a:rPr lang="fr-FR" sz="600">
                                  <a:solidFill>
                                    <a:schemeClr val="tx1"/>
                                  </a:solidFill>
                                  <a:cs typeface="Arial"/>
                                </a:rPr>
                                <a:t> </a:t>
                              </a:r>
                              <a:r>
                                <a:rPr lang="fr-FR" sz="600" err="1">
                                  <a:solidFill>
                                    <a:schemeClr val="tx1"/>
                                  </a:solidFill>
                                  <a:cs typeface="Arial"/>
                                </a:rPr>
                                <a:t>Reporting</a:t>
                              </a:r>
                              <a:r>
                                <a:rPr lang="fr-FR" sz="600">
                                  <a:solidFill>
                                    <a:schemeClr val="tx1"/>
                                  </a:solidFill>
                                  <a:cs typeface="Arial"/>
                                </a:rPr>
                                <a:t> Thread</a:t>
                              </a:r>
                            </a:p>
                          </p:txBody>
                        </p:sp>
                        <p:cxnSp>
                          <p:nvCxnSpPr>
                            <p:cNvPr id="313" name="Straight Arrow Connector 312">
                              <a:extLst>
                                <a:ext uri="{FF2B5EF4-FFF2-40B4-BE49-F238E27FC236}">
                                  <a16:creationId xmlns:a16="http://schemas.microsoft.com/office/drawing/2014/main" id="{D595FBF1-2D9A-357A-83CC-98BBF2197534}"/>
                                </a:ext>
                              </a:extLst>
                            </p:cNvPr>
                            <p:cNvCxnSpPr>
                              <a:cxnSpLocks/>
                              <a:stCxn id="312" idx="3"/>
                              <a:endCxn id="252" idx="1"/>
                            </p:cNvCxnSpPr>
                            <p:nvPr/>
                          </p:nvCxnSpPr>
                          <p:spPr>
                            <a:xfrm>
                              <a:off x="6739076" y="2595223"/>
                              <a:ext cx="347444" cy="15446"/>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14" name="Rectangle 313">
                              <a:extLst>
                                <a:ext uri="{FF2B5EF4-FFF2-40B4-BE49-F238E27FC236}">
                                  <a16:creationId xmlns:a16="http://schemas.microsoft.com/office/drawing/2014/main" id="{92EA3056-3951-CC3E-677B-A3E57896AD84}"/>
                                </a:ext>
                              </a:extLst>
                            </p:cNvPr>
                            <p:cNvSpPr/>
                            <p:nvPr/>
                          </p:nvSpPr>
                          <p:spPr>
                            <a:xfrm>
                              <a:off x="4839108" y="2934029"/>
                              <a:ext cx="1899966" cy="28001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cs typeface="Arial"/>
                                </a:rPr>
                                <a:t>Start the </a:t>
                              </a:r>
                              <a:r>
                                <a:rPr lang="fr-FR" sz="600" err="1">
                                  <a:solidFill>
                                    <a:schemeClr val="tx1"/>
                                  </a:solidFill>
                                  <a:cs typeface="Arial"/>
                                </a:rPr>
                                <a:t>scheduler</a:t>
                              </a:r>
                              <a:endParaRPr lang="fr-FR" sz="600">
                                <a:solidFill>
                                  <a:schemeClr val="tx1"/>
                                </a:solidFill>
                                <a:cs typeface="Arial"/>
                              </a:endParaRPr>
                            </a:p>
                          </p:txBody>
                        </p:sp>
                        <p:cxnSp>
                          <p:nvCxnSpPr>
                            <p:cNvPr id="315" name="Straight Arrow Connector 314">
                              <a:extLst>
                                <a:ext uri="{FF2B5EF4-FFF2-40B4-BE49-F238E27FC236}">
                                  <a16:creationId xmlns:a16="http://schemas.microsoft.com/office/drawing/2014/main" id="{177691FF-C88C-DBA8-FBD2-66084626D64E}"/>
                                </a:ext>
                              </a:extLst>
                            </p:cNvPr>
                            <p:cNvCxnSpPr>
                              <a:cxnSpLocks/>
                              <a:stCxn id="312" idx="2"/>
                              <a:endCxn id="314" idx="0"/>
                            </p:cNvCxnSpPr>
                            <p:nvPr/>
                          </p:nvCxnSpPr>
                          <p:spPr>
                            <a:xfrm flipH="1">
                              <a:off x="5789092" y="2735824"/>
                              <a:ext cx="1" cy="19820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316" name="Straight Arrow Connector 315">
                              <a:extLst>
                                <a:ext uri="{FF2B5EF4-FFF2-40B4-BE49-F238E27FC236}">
                                  <a16:creationId xmlns:a16="http://schemas.microsoft.com/office/drawing/2014/main" id="{79320D05-5327-9A40-1FDC-17C6FD03D2D9}"/>
                                </a:ext>
                              </a:extLst>
                            </p:cNvPr>
                            <p:cNvCxnSpPr>
                              <a:cxnSpLocks/>
                              <a:stCxn id="314" idx="3"/>
                              <a:endCxn id="553" idx="1"/>
                            </p:cNvCxnSpPr>
                            <p:nvPr/>
                          </p:nvCxnSpPr>
                          <p:spPr>
                            <a:xfrm>
                              <a:off x="6739074" y="3074040"/>
                              <a:ext cx="287568" cy="950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sp>
                        <p:nvSpPr>
                          <p:cNvPr id="258" name="Rectangle 257">
                            <a:extLst>
                              <a:ext uri="{FF2B5EF4-FFF2-40B4-BE49-F238E27FC236}">
                                <a16:creationId xmlns:a16="http://schemas.microsoft.com/office/drawing/2014/main" id="{01C9612C-F783-8538-B3EC-7BBBBF08C411}"/>
                              </a:ext>
                            </a:extLst>
                          </p:cNvPr>
                          <p:cNvSpPr/>
                          <p:nvPr/>
                        </p:nvSpPr>
                        <p:spPr>
                          <a:xfrm>
                            <a:off x="4862212" y="1639060"/>
                            <a:ext cx="1899965"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Initialize</a:t>
                            </a:r>
                            <a:r>
                              <a:rPr lang="fr-FR" sz="600">
                                <a:solidFill>
                                  <a:schemeClr val="tx1"/>
                                </a:solidFill>
                                <a:cs typeface="Arial"/>
                              </a:rPr>
                              <a:t> 5 global </a:t>
                            </a:r>
                            <a:r>
                              <a:rPr lang="fr-FR" sz="600" err="1">
                                <a:solidFill>
                                  <a:schemeClr val="tx1"/>
                                </a:solidFill>
                                <a:cs typeface="Arial"/>
                              </a:rPr>
                              <a:t>counters</a:t>
                            </a:r>
                            <a:r>
                              <a:rPr lang="fr-FR" sz="600">
                                <a:solidFill>
                                  <a:schemeClr val="tx1"/>
                                </a:solidFill>
                                <a:cs typeface="Arial"/>
                              </a:rPr>
                              <a:t> to 0</a:t>
                            </a:r>
                          </a:p>
                        </p:txBody>
                      </p:sp>
                      <p:cxnSp>
                        <p:nvCxnSpPr>
                          <p:cNvPr id="259" name="Straight Arrow Connector 258">
                            <a:extLst>
                              <a:ext uri="{FF2B5EF4-FFF2-40B4-BE49-F238E27FC236}">
                                <a16:creationId xmlns:a16="http://schemas.microsoft.com/office/drawing/2014/main" id="{AA433A47-27BA-F3AC-96A1-4816C19677E2}"/>
                              </a:ext>
                            </a:extLst>
                          </p:cNvPr>
                          <p:cNvCxnSpPr>
                            <a:cxnSpLocks/>
                            <a:stCxn id="256" idx="2"/>
                            <a:endCxn id="258" idx="0"/>
                          </p:cNvCxnSpPr>
                          <p:nvPr/>
                        </p:nvCxnSpPr>
                        <p:spPr>
                          <a:xfrm flipH="1">
                            <a:off x="5812194" y="1403738"/>
                            <a:ext cx="1" cy="23532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60" name="Straight Arrow Connector 259">
                            <a:extLst>
                              <a:ext uri="{FF2B5EF4-FFF2-40B4-BE49-F238E27FC236}">
                                <a16:creationId xmlns:a16="http://schemas.microsoft.com/office/drawing/2014/main" id="{11AF47CE-0835-7E0E-E4F1-106E880CD922}"/>
                              </a:ext>
                            </a:extLst>
                          </p:cNvPr>
                          <p:cNvCxnSpPr>
                            <a:cxnSpLocks/>
                            <a:stCxn id="258" idx="2"/>
                            <a:endCxn id="309" idx="0"/>
                          </p:cNvCxnSpPr>
                          <p:nvPr/>
                        </p:nvCxnSpPr>
                        <p:spPr>
                          <a:xfrm>
                            <a:off x="5812194" y="1925686"/>
                            <a:ext cx="0" cy="204783"/>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61" name="Straight Arrow Connector 260">
                            <a:extLst>
                              <a:ext uri="{FF2B5EF4-FFF2-40B4-BE49-F238E27FC236}">
                                <a16:creationId xmlns:a16="http://schemas.microsoft.com/office/drawing/2014/main" id="{2750C1EF-9BB3-C63F-24C4-BB40CF4A70D8}"/>
                              </a:ext>
                            </a:extLst>
                          </p:cNvPr>
                          <p:cNvCxnSpPr>
                            <a:cxnSpLocks/>
                            <a:stCxn id="256" idx="3"/>
                            <a:endCxn id="536" idx="1"/>
                          </p:cNvCxnSpPr>
                          <p:nvPr/>
                        </p:nvCxnSpPr>
                        <p:spPr>
                          <a:xfrm flipV="1">
                            <a:off x="6455406" y="1265045"/>
                            <a:ext cx="606407" cy="6054"/>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64" name="Straight Arrow Connector 263">
                            <a:extLst>
                              <a:ext uri="{FF2B5EF4-FFF2-40B4-BE49-F238E27FC236}">
                                <a16:creationId xmlns:a16="http://schemas.microsoft.com/office/drawing/2014/main" id="{F1565307-D3E3-F4FE-9495-A4DC8444CC1F}"/>
                              </a:ext>
                            </a:extLst>
                          </p:cNvPr>
                          <p:cNvCxnSpPr>
                            <a:cxnSpLocks/>
                            <a:stCxn id="258" idx="3"/>
                            <a:endCxn id="540" idx="1"/>
                          </p:cNvCxnSpPr>
                          <p:nvPr/>
                        </p:nvCxnSpPr>
                        <p:spPr>
                          <a:xfrm flipV="1">
                            <a:off x="6762178" y="1774734"/>
                            <a:ext cx="342928" cy="763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nvGrpSpPr>
                          <p:cNvPr id="286" name="Group 285">
                            <a:extLst>
                              <a:ext uri="{FF2B5EF4-FFF2-40B4-BE49-F238E27FC236}">
                                <a16:creationId xmlns:a16="http://schemas.microsoft.com/office/drawing/2014/main" id="{66E6EF20-727F-1152-8D73-EE22A0FFFF2F}"/>
                              </a:ext>
                            </a:extLst>
                          </p:cNvPr>
                          <p:cNvGrpSpPr/>
                          <p:nvPr/>
                        </p:nvGrpSpPr>
                        <p:grpSpPr>
                          <a:xfrm>
                            <a:off x="4405088" y="4024622"/>
                            <a:ext cx="979508" cy="1081431"/>
                            <a:chOff x="6932737" y="4003341"/>
                            <a:chExt cx="979507" cy="1081433"/>
                          </a:xfrm>
                        </p:grpSpPr>
                        <p:grpSp>
                          <p:nvGrpSpPr>
                            <p:cNvPr id="289" name="Group 288">
                              <a:extLst>
                                <a:ext uri="{FF2B5EF4-FFF2-40B4-BE49-F238E27FC236}">
                                  <a16:creationId xmlns:a16="http://schemas.microsoft.com/office/drawing/2014/main" id="{0876476F-F2FD-74E2-4DE5-DED30383F86D}"/>
                                </a:ext>
                              </a:extLst>
                            </p:cNvPr>
                            <p:cNvGrpSpPr/>
                            <p:nvPr/>
                          </p:nvGrpSpPr>
                          <p:grpSpPr>
                            <a:xfrm>
                              <a:off x="6932737" y="4003341"/>
                              <a:ext cx="979507" cy="622182"/>
                              <a:chOff x="9027792" y="2262057"/>
                              <a:chExt cx="979507" cy="622182"/>
                            </a:xfrm>
                          </p:grpSpPr>
                          <p:sp>
                            <p:nvSpPr>
                              <p:cNvPr id="291" name="Rectangle 290">
                                <a:extLst>
                                  <a:ext uri="{FF2B5EF4-FFF2-40B4-BE49-F238E27FC236}">
                                    <a16:creationId xmlns:a16="http://schemas.microsoft.com/office/drawing/2014/main" id="{4DBFFC20-E0BE-A4A8-0192-A5C4040BCDE2}"/>
                                  </a:ext>
                                </a:extLst>
                              </p:cNvPr>
                              <p:cNvSpPr/>
                              <p:nvPr/>
                            </p:nvSpPr>
                            <p:spPr>
                              <a:xfrm>
                                <a:off x="9027792" y="2262057"/>
                                <a:ext cx="979507" cy="19469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rPr>
                                  <a:t>Start Thread i</a:t>
                                </a:r>
                                <a:endParaRPr lang="en-US" sz="600">
                                  <a:solidFill>
                                    <a:schemeClr val="tx1"/>
                                  </a:solidFill>
                                </a:endParaRPr>
                              </a:p>
                            </p:txBody>
                          </p:sp>
                          <p:cxnSp>
                            <p:nvCxnSpPr>
                              <p:cNvPr id="292" name="Straight Arrow Connector 291">
                                <a:extLst>
                                  <a:ext uri="{FF2B5EF4-FFF2-40B4-BE49-F238E27FC236}">
                                    <a16:creationId xmlns:a16="http://schemas.microsoft.com/office/drawing/2014/main" id="{ECB671E1-87DF-A8C1-2F12-106931232D8E}"/>
                                  </a:ext>
                                </a:extLst>
                              </p:cNvPr>
                              <p:cNvCxnSpPr>
                                <a:cxnSpLocks/>
                                <a:stCxn id="291" idx="2"/>
                                <a:endCxn id="293" idx="0"/>
                              </p:cNvCxnSpPr>
                              <p:nvPr/>
                            </p:nvCxnSpPr>
                            <p:spPr>
                              <a:xfrm>
                                <a:off x="9517551" y="2456748"/>
                                <a:ext cx="0" cy="23201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93" name="Rectangle 292">
                                <a:extLst>
                                  <a:ext uri="{FF2B5EF4-FFF2-40B4-BE49-F238E27FC236}">
                                    <a16:creationId xmlns:a16="http://schemas.microsoft.com/office/drawing/2014/main" id="{71B6F1BC-1B92-847F-7AF7-6BE35F029BA7}"/>
                                  </a:ext>
                                </a:extLst>
                              </p:cNvPr>
                              <p:cNvSpPr/>
                              <p:nvPr/>
                            </p:nvSpPr>
                            <p:spPr>
                              <a:xfrm>
                                <a:off x="9027792" y="2688763"/>
                                <a:ext cx="979507" cy="19547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Task</a:t>
                                </a:r>
                                <a:r>
                                  <a:rPr lang="fr-FR" sz="600">
                                    <a:solidFill>
                                      <a:schemeClr val="tx1"/>
                                    </a:solidFill>
                                    <a:cs typeface="Arial"/>
                                  </a:rPr>
                                  <a:t> </a:t>
                                </a:r>
                                <a:r>
                                  <a:rPr lang="fr-FR" sz="600" err="1">
                                    <a:solidFill>
                                      <a:schemeClr val="tx1"/>
                                    </a:solidFill>
                                    <a:cs typeface="Arial"/>
                                  </a:rPr>
                                  <a:t>Yield</a:t>
                                </a:r>
                                <a:endParaRPr lang="fr-FR" sz="600">
                                  <a:solidFill>
                                    <a:schemeClr val="tx1"/>
                                  </a:solidFill>
                                  <a:cs typeface="Arial"/>
                                </a:endParaRPr>
                              </a:p>
                            </p:txBody>
                          </p:sp>
                        </p:grpSp>
                        <p:sp>
                          <p:nvSpPr>
                            <p:cNvPr id="290" name="Rectangle 289">
                              <a:extLst>
                                <a:ext uri="{FF2B5EF4-FFF2-40B4-BE49-F238E27FC236}">
                                  <a16:creationId xmlns:a16="http://schemas.microsoft.com/office/drawing/2014/main" id="{D14B8F2D-B2DB-4FAE-8F5C-CE53CF29C8AD}"/>
                                </a:ext>
                              </a:extLst>
                            </p:cNvPr>
                            <p:cNvSpPr/>
                            <p:nvPr/>
                          </p:nvSpPr>
                          <p:spPr>
                            <a:xfrm>
                              <a:off x="6932737" y="4890083"/>
                              <a:ext cx="979507" cy="19469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err="1">
                                  <a:solidFill>
                                    <a:schemeClr val="tx1"/>
                                  </a:solidFill>
                                </a:rPr>
                                <a:t>Increment</a:t>
                              </a:r>
                              <a:r>
                                <a:rPr lang="fr-FR" sz="600">
                                  <a:solidFill>
                                    <a:schemeClr val="tx1"/>
                                  </a:solidFill>
                                </a:rPr>
                                <a:t> Ci</a:t>
                              </a:r>
                            </a:p>
                            <a:p>
                              <a:pPr algn="ctr">
                                <a:buClr>
                                  <a:schemeClr val="bg1"/>
                                </a:buClr>
                              </a:pPr>
                              <a:endParaRPr lang="fr-FR" sz="600">
                                <a:solidFill>
                                  <a:schemeClr val="tx1"/>
                                </a:solidFill>
                                <a:cs typeface="Arial"/>
                              </a:endParaRPr>
                            </a:p>
                          </p:txBody>
                        </p:sp>
                      </p:grpSp>
                    </p:grpSp>
                  </p:grpSp>
                  <p:cxnSp>
                    <p:nvCxnSpPr>
                      <p:cNvPr id="323" name="Connector: Elbow 322">
                        <a:extLst>
                          <a:ext uri="{FF2B5EF4-FFF2-40B4-BE49-F238E27FC236}">
                            <a16:creationId xmlns:a16="http://schemas.microsoft.com/office/drawing/2014/main" id="{25F37FD4-5645-F400-0015-2D720DE2AD52}"/>
                          </a:ext>
                        </a:extLst>
                      </p:cNvPr>
                      <p:cNvCxnSpPr>
                        <a:cxnSpLocks/>
                        <a:stCxn id="28" idx="2"/>
                        <a:endCxn id="27" idx="1"/>
                      </p:cNvCxnSpPr>
                      <p:nvPr/>
                    </p:nvCxnSpPr>
                    <p:spPr>
                      <a:xfrm rot="5400000" flipH="1">
                        <a:off x="8451337" y="3098209"/>
                        <a:ext cx="261906" cy="494330"/>
                      </a:xfrm>
                      <a:prstGeom prst="bentConnector4">
                        <a:avLst>
                          <a:gd name="adj1" fmla="val -87283"/>
                          <a:gd name="adj2" fmla="val 146245"/>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sp>
                  <p:nvSpPr>
                    <p:cNvPr id="415" name="Oval 414">
                      <a:extLst>
                        <a:ext uri="{FF2B5EF4-FFF2-40B4-BE49-F238E27FC236}">
                          <a16:creationId xmlns:a16="http://schemas.microsoft.com/office/drawing/2014/main" id="{070D6A9A-B4F5-EB6C-C604-214165E39C2C}"/>
                        </a:ext>
                      </a:extLst>
                    </p:cNvPr>
                    <p:cNvSpPr/>
                    <p:nvPr/>
                  </p:nvSpPr>
                  <p:spPr>
                    <a:xfrm>
                      <a:off x="6264420" y="2048821"/>
                      <a:ext cx="507257" cy="183850"/>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fr-FR" sz="600">
                          <a:solidFill>
                            <a:schemeClr val="tx1"/>
                          </a:solidFill>
                        </a:rPr>
                        <a:t>Start</a:t>
                      </a:r>
                      <a:endParaRPr lang="en-US" sz="600"/>
                    </a:p>
                  </p:txBody>
                </p:sp>
              </p:grpSp>
              <p:sp>
                <p:nvSpPr>
                  <p:cNvPr id="513" name="Rectangle 512">
                    <a:extLst>
                      <a:ext uri="{FF2B5EF4-FFF2-40B4-BE49-F238E27FC236}">
                        <a16:creationId xmlns:a16="http://schemas.microsoft.com/office/drawing/2014/main" id="{CD2625DF-89CB-F8E1-B338-ACAC90F8F6E0}"/>
                      </a:ext>
                    </a:extLst>
                  </p:cNvPr>
                  <p:cNvSpPr/>
                  <p:nvPr/>
                </p:nvSpPr>
                <p:spPr>
                  <a:xfrm>
                    <a:off x="5207829" y="4772659"/>
                    <a:ext cx="748261" cy="1099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rPr>
                      <a:t>Start Thread i+1</a:t>
                    </a:r>
                    <a:endParaRPr lang="en-US" sz="600">
                      <a:solidFill>
                        <a:schemeClr val="tx1"/>
                      </a:solidFill>
                    </a:endParaRPr>
                  </a:p>
                </p:txBody>
              </p:sp>
              <p:sp>
                <p:nvSpPr>
                  <p:cNvPr id="514" name="Rectangle 513">
                    <a:extLst>
                      <a:ext uri="{FF2B5EF4-FFF2-40B4-BE49-F238E27FC236}">
                        <a16:creationId xmlns:a16="http://schemas.microsoft.com/office/drawing/2014/main" id="{2E12F4B5-E7CA-9F42-B672-01DF1688E875}"/>
                      </a:ext>
                    </a:extLst>
                  </p:cNvPr>
                  <p:cNvSpPr/>
                  <p:nvPr/>
                </p:nvSpPr>
                <p:spPr>
                  <a:xfrm>
                    <a:off x="5207829" y="5013587"/>
                    <a:ext cx="748261" cy="11037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Task</a:t>
                    </a:r>
                    <a:r>
                      <a:rPr lang="fr-FR" sz="600">
                        <a:solidFill>
                          <a:schemeClr val="tx1"/>
                        </a:solidFill>
                        <a:cs typeface="Arial"/>
                      </a:rPr>
                      <a:t> </a:t>
                    </a:r>
                    <a:r>
                      <a:rPr lang="fr-FR" sz="600" err="1">
                        <a:solidFill>
                          <a:schemeClr val="tx1"/>
                        </a:solidFill>
                        <a:cs typeface="Arial"/>
                      </a:rPr>
                      <a:t>Yield</a:t>
                    </a:r>
                    <a:endParaRPr lang="fr-FR" sz="600">
                      <a:solidFill>
                        <a:schemeClr val="tx1"/>
                      </a:solidFill>
                      <a:cs typeface="Arial"/>
                    </a:endParaRPr>
                  </a:p>
                </p:txBody>
              </p:sp>
              <p:sp>
                <p:nvSpPr>
                  <p:cNvPr id="515" name="Rectangle 514">
                    <a:extLst>
                      <a:ext uri="{FF2B5EF4-FFF2-40B4-BE49-F238E27FC236}">
                        <a16:creationId xmlns:a16="http://schemas.microsoft.com/office/drawing/2014/main" id="{570EC1D2-F9FD-31BD-0EEB-E2128822F00A}"/>
                      </a:ext>
                    </a:extLst>
                  </p:cNvPr>
                  <p:cNvSpPr/>
                  <p:nvPr/>
                </p:nvSpPr>
                <p:spPr>
                  <a:xfrm>
                    <a:off x="5207829" y="5273334"/>
                    <a:ext cx="748261" cy="1099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err="1">
                        <a:solidFill>
                          <a:schemeClr val="tx1"/>
                        </a:solidFill>
                      </a:rPr>
                      <a:t>Increment</a:t>
                    </a:r>
                    <a:r>
                      <a:rPr lang="fr-FR" sz="600">
                        <a:solidFill>
                          <a:schemeClr val="tx1"/>
                        </a:solidFill>
                      </a:rPr>
                      <a:t> Ci+1</a:t>
                    </a:r>
                  </a:p>
                  <a:p>
                    <a:pPr algn="ctr">
                      <a:buClr>
                        <a:schemeClr val="bg1"/>
                      </a:buClr>
                    </a:pPr>
                    <a:endParaRPr lang="fr-FR" sz="600">
                      <a:solidFill>
                        <a:schemeClr val="tx1"/>
                      </a:solidFill>
                      <a:cs typeface="Arial"/>
                    </a:endParaRPr>
                  </a:p>
                </p:txBody>
              </p:sp>
              <p:cxnSp>
                <p:nvCxnSpPr>
                  <p:cNvPr id="520" name="Straight Arrow Connector 519">
                    <a:extLst>
                      <a:ext uri="{FF2B5EF4-FFF2-40B4-BE49-F238E27FC236}">
                        <a16:creationId xmlns:a16="http://schemas.microsoft.com/office/drawing/2014/main" id="{B9C7A12E-128D-C43F-0E05-FB193C9A9063}"/>
                      </a:ext>
                    </a:extLst>
                  </p:cNvPr>
                  <p:cNvCxnSpPr>
                    <a:cxnSpLocks/>
                    <a:stCxn id="513" idx="2"/>
                    <a:endCxn id="514" idx="0"/>
                  </p:cNvCxnSpPr>
                  <p:nvPr/>
                </p:nvCxnSpPr>
                <p:spPr>
                  <a:xfrm>
                    <a:off x="5581960" y="4882586"/>
                    <a:ext cx="0" cy="13100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23" name="Connector: Elbow 522">
                    <a:extLst>
                      <a:ext uri="{FF2B5EF4-FFF2-40B4-BE49-F238E27FC236}">
                        <a16:creationId xmlns:a16="http://schemas.microsoft.com/office/drawing/2014/main" id="{88798EC8-4632-8A91-EB30-0A801813AAD0}"/>
                      </a:ext>
                    </a:extLst>
                  </p:cNvPr>
                  <p:cNvCxnSpPr>
                    <a:cxnSpLocks/>
                    <a:stCxn id="514" idx="3"/>
                    <a:endCxn id="290" idx="1"/>
                  </p:cNvCxnSpPr>
                  <p:nvPr/>
                </p:nvCxnSpPr>
                <p:spPr>
                  <a:xfrm flipH="1">
                    <a:off x="4266539" y="5068772"/>
                    <a:ext cx="1689551" cy="265042"/>
                  </a:xfrm>
                  <a:prstGeom prst="bentConnector5">
                    <a:avLst>
                      <a:gd name="adj1" fmla="val -13530"/>
                      <a:gd name="adj2" fmla="val 50042"/>
                      <a:gd name="adj3" fmla="val 107329"/>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527" name="Connector: Elbow 526">
                    <a:extLst>
                      <a:ext uri="{FF2B5EF4-FFF2-40B4-BE49-F238E27FC236}">
                        <a16:creationId xmlns:a16="http://schemas.microsoft.com/office/drawing/2014/main" id="{80BA85E5-0668-9FA6-BDB6-15B275A8F8EF}"/>
                      </a:ext>
                    </a:extLst>
                  </p:cNvPr>
                  <p:cNvCxnSpPr>
                    <a:cxnSpLocks/>
                    <a:stCxn id="515" idx="3"/>
                    <a:endCxn id="293" idx="1"/>
                  </p:cNvCxnSpPr>
                  <p:nvPr/>
                </p:nvCxnSpPr>
                <p:spPr>
                  <a:xfrm flipH="1" flipV="1">
                    <a:off x="4266539" y="5074288"/>
                    <a:ext cx="1689551" cy="254010"/>
                  </a:xfrm>
                  <a:prstGeom prst="bentConnector5">
                    <a:avLst>
                      <a:gd name="adj1" fmla="val -13530"/>
                      <a:gd name="adj2" fmla="val -56915"/>
                      <a:gd name="adj3" fmla="val 11353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sp>
              <p:nvSpPr>
                <p:cNvPr id="532" name="TextBox 531">
                  <a:extLst>
                    <a:ext uri="{FF2B5EF4-FFF2-40B4-BE49-F238E27FC236}">
                      <a16:creationId xmlns:a16="http://schemas.microsoft.com/office/drawing/2014/main" id="{4993543D-F512-9A2E-82D0-99EE0C24EC20}"/>
                    </a:ext>
                  </a:extLst>
                </p:cNvPr>
                <p:cNvSpPr txBox="1"/>
                <p:nvPr/>
              </p:nvSpPr>
              <p:spPr>
                <a:xfrm>
                  <a:off x="5892045" y="4922294"/>
                  <a:ext cx="461312" cy="184666"/>
                </a:xfrm>
                <a:prstGeom prst="rect">
                  <a:avLst/>
                </a:prstGeom>
                <a:noFill/>
              </p:spPr>
              <p:txBody>
                <a:bodyPr wrap="square" rtlCol="0">
                  <a:spAutoFit/>
                </a:bodyPr>
                <a:lstStyle/>
                <a:p>
                  <a:pPr algn="l"/>
                  <a:r>
                    <a:rPr lang="en-US" sz="600">
                      <a:solidFill>
                        <a:schemeClr val="accent2"/>
                      </a:solidFill>
                    </a:rPr>
                    <a:t>i+1 = 4</a:t>
                  </a:r>
                </a:p>
              </p:txBody>
            </p:sp>
            <p:sp>
              <p:nvSpPr>
                <p:cNvPr id="533" name="TextBox 532">
                  <a:extLst>
                    <a:ext uri="{FF2B5EF4-FFF2-40B4-BE49-F238E27FC236}">
                      <a16:creationId xmlns:a16="http://schemas.microsoft.com/office/drawing/2014/main" id="{945E5918-BA90-2DAE-6AFD-AF39EF1544B6}"/>
                    </a:ext>
                  </a:extLst>
                </p:cNvPr>
                <p:cNvSpPr txBox="1"/>
                <p:nvPr/>
              </p:nvSpPr>
              <p:spPr>
                <a:xfrm>
                  <a:off x="5900519" y="5189831"/>
                  <a:ext cx="461312" cy="184666"/>
                </a:xfrm>
                <a:prstGeom prst="rect">
                  <a:avLst/>
                </a:prstGeom>
                <a:noFill/>
              </p:spPr>
              <p:txBody>
                <a:bodyPr wrap="square" rtlCol="0">
                  <a:spAutoFit/>
                </a:bodyPr>
                <a:lstStyle/>
                <a:p>
                  <a:pPr algn="l"/>
                  <a:r>
                    <a:rPr lang="en-US" sz="600">
                      <a:solidFill>
                        <a:schemeClr val="accent2"/>
                      </a:solidFill>
                    </a:rPr>
                    <a:t>i+1 = 4</a:t>
                  </a:r>
                </a:p>
              </p:txBody>
            </p:sp>
          </p:grpSp>
          <p:sp>
            <p:nvSpPr>
              <p:cNvPr id="536" name="TextBox 25">
                <a:extLst>
                  <a:ext uri="{FF2B5EF4-FFF2-40B4-BE49-F238E27FC236}">
                    <a16:creationId xmlns:a16="http://schemas.microsoft.com/office/drawing/2014/main" id="{5E6C045A-C49A-D24C-99F6-9CA0B516FF9E}"/>
                  </a:ext>
                </a:extLst>
              </p:cNvPr>
              <p:cNvSpPr txBox="1"/>
              <p:nvPr/>
            </p:nvSpPr>
            <p:spPr>
              <a:xfrm>
                <a:off x="6123696" y="3465363"/>
                <a:ext cx="1615604"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t>Clock frequency: </a:t>
                </a:r>
                <a:r>
                  <a:rPr lang="fr-FR" sz="600">
                    <a:solidFill>
                      <a:srgbClr val="03234B"/>
                    </a:solidFill>
                  </a:rPr>
                  <a:t>TI:48MHz , NXP:150MHz , Renesas:480MHz</a:t>
                </a:r>
                <a:endParaRPr lang="fr-FR" sz="600"/>
              </a:p>
            </p:txBody>
          </p:sp>
          <p:sp>
            <p:nvSpPr>
              <p:cNvPr id="540" name="TextBox 539">
                <a:extLst>
                  <a:ext uri="{FF2B5EF4-FFF2-40B4-BE49-F238E27FC236}">
                    <a16:creationId xmlns:a16="http://schemas.microsoft.com/office/drawing/2014/main" id="{6CED809F-E329-0B4F-B76C-2508E53DF835}"/>
                  </a:ext>
                </a:extLst>
              </p:cNvPr>
              <p:cNvSpPr txBox="1"/>
              <p:nvPr/>
            </p:nvSpPr>
            <p:spPr>
              <a:xfrm>
                <a:off x="6154081" y="3799312"/>
                <a:ext cx="554655" cy="184666"/>
              </a:xfrm>
              <a:prstGeom prst="rect">
                <a:avLst/>
              </a:prstGeom>
              <a:noFill/>
            </p:spPr>
            <p:txBody>
              <a:bodyPr wrap="square">
                <a:spAutoFit/>
              </a:bodyPr>
              <a:lstStyle/>
              <a:p>
                <a:pPr>
                  <a:defRPr/>
                </a:pPr>
                <a:r>
                  <a:rPr lang="fr-FR" sz="600">
                    <a:solidFill>
                      <a:srgbClr val="03234B"/>
                    </a:solidFill>
                  </a:rPr>
                  <a:t>c0 to c4</a:t>
                </a:r>
                <a:endParaRPr lang="en-US" sz="600">
                  <a:solidFill>
                    <a:srgbClr val="03234B"/>
                  </a:solidFill>
                </a:endParaRPr>
              </a:p>
            </p:txBody>
          </p:sp>
          <p:sp>
            <p:nvSpPr>
              <p:cNvPr id="545" name="TextBox 544">
                <a:extLst>
                  <a:ext uri="{FF2B5EF4-FFF2-40B4-BE49-F238E27FC236}">
                    <a16:creationId xmlns:a16="http://schemas.microsoft.com/office/drawing/2014/main" id="{DFE3E8AE-B5B7-4BF3-6C44-652F5BF0228D}"/>
                  </a:ext>
                </a:extLst>
              </p:cNvPr>
              <p:cNvSpPr txBox="1"/>
              <p:nvPr/>
            </p:nvSpPr>
            <p:spPr>
              <a:xfrm>
                <a:off x="6154081" y="4079841"/>
                <a:ext cx="807802" cy="184666"/>
              </a:xfrm>
              <a:prstGeom prst="rect">
                <a:avLst/>
              </a:prstGeom>
              <a:noFill/>
            </p:spPr>
            <p:txBody>
              <a:bodyPr wrap="square">
                <a:spAutoFit/>
              </a:bodyPr>
              <a:lstStyle/>
              <a:p>
                <a:pPr lvl="0">
                  <a:defRPr/>
                </a:pPr>
                <a:r>
                  <a:rPr kumimoji="0" lang="fr-FR" sz="600" i="0" u="none" strike="noStrike" kern="1200" cap="none" spc="0" normalizeH="0" baseline="0" noProof="0" err="1">
                    <a:ln>
                      <a:noFill/>
                    </a:ln>
                    <a:solidFill>
                      <a:srgbClr val="03234B"/>
                    </a:solidFill>
                    <a:effectLst/>
                    <a:uLnTx/>
                    <a:uFillTx/>
                    <a:latin typeface="Arial"/>
                    <a:ea typeface="+mn-ea"/>
                    <a:cs typeface="+mn-cs"/>
                  </a:rPr>
                  <a:t>same</a:t>
                </a:r>
                <a:r>
                  <a:rPr kumimoji="0" lang="fr-FR" sz="600" i="0" u="none" strike="noStrike" kern="1200" cap="none" spc="0" normalizeH="0" baseline="0" noProof="0">
                    <a:ln>
                      <a:noFill/>
                    </a:ln>
                    <a:solidFill>
                      <a:srgbClr val="03234B"/>
                    </a:solidFill>
                    <a:effectLst/>
                    <a:uLnTx/>
                    <a:uFillTx/>
                    <a:latin typeface="Arial"/>
                    <a:ea typeface="+mn-ea"/>
                    <a:cs typeface="+mn-cs"/>
                  </a:rPr>
                  <a:t> </a:t>
                </a:r>
                <a:r>
                  <a:rPr kumimoji="0" lang="fr-FR" sz="600" i="0" u="none" strike="noStrike" kern="1200" cap="none" spc="0" normalizeH="0" baseline="0" noProof="0" err="1">
                    <a:ln>
                      <a:noFill/>
                    </a:ln>
                    <a:solidFill>
                      <a:srgbClr val="03234B"/>
                    </a:solidFill>
                    <a:effectLst/>
                    <a:uLnTx/>
                    <a:uFillTx/>
                    <a:latin typeface="Arial"/>
                    <a:ea typeface="+mn-ea"/>
                    <a:cs typeface="+mn-cs"/>
                  </a:rPr>
                  <a:t>low</a:t>
                </a:r>
                <a:r>
                  <a:rPr kumimoji="0" lang="fr-FR" sz="600" i="0" u="none" strike="noStrike" kern="1200" cap="none" spc="0" normalizeH="0" baseline="0" noProof="0">
                    <a:ln>
                      <a:noFill/>
                    </a:ln>
                    <a:solidFill>
                      <a:srgbClr val="03234B"/>
                    </a:solidFill>
                    <a:effectLst/>
                    <a:uLnTx/>
                    <a:uFillTx/>
                    <a:latin typeface="Arial"/>
                    <a:ea typeface="+mn-ea"/>
                    <a:cs typeface="+mn-cs"/>
                  </a:rPr>
                  <a:t> </a:t>
                </a:r>
                <a:r>
                  <a:rPr kumimoji="0" lang="fr-FR" sz="600" i="0" u="none" strike="noStrike" kern="1200" cap="none" spc="0" normalizeH="0" baseline="0" noProof="0" err="1">
                    <a:ln>
                      <a:noFill/>
                    </a:ln>
                    <a:solidFill>
                      <a:srgbClr val="03234B"/>
                    </a:solidFill>
                    <a:effectLst/>
                    <a:uLnTx/>
                    <a:uFillTx/>
                    <a:latin typeface="Arial"/>
                    <a:ea typeface="+mn-ea"/>
                    <a:cs typeface="+mn-cs"/>
                  </a:rPr>
                  <a:t>priority</a:t>
                </a:r>
                <a:endParaRPr kumimoji="0" lang="en-US" sz="600" i="0" u="none" strike="noStrike" kern="1200" cap="none" spc="0" normalizeH="0" baseline="0" noProof="0">
                  <a:ln>
                    <a:noFill/>
                  </a:ln>
                  <a:solidFill>
                    <a:srgbClr val="03234B"/>
                  </a:solidFill>
                  <a:effectLst/>
                  <a:uLnTx/>
                  <a:uFillTx/>
                  <a:latin typeface="Arial"/>
                  <a:ea typeface="+mn-ea"/>
                  <a:cs typeface="+mn-cs"/>
                </a:endParaRPr>
              </a:p>
            </p:txBody>
          </p:sp>
          <p:sp>
            <p:nvSpPr>
              <p:cNvPr id="553" name="TextBox 552">
                <a:extLst>
                  <a:ext uri="{FF2B5EF4-FFF2-40B4-BE49-F238E27FC236}">
                    <a16:creationId xmlns:a16="http://schemas.microsoft.com/office/drawing/2014/main" id="{A11414C0-C7EE-BEC6-DC90-1FEA8F6C6890}"/>
                  </a:ext>
                </a:extLst>
              </p:cNvPr>
              <p:cNvSpPr txBox="1"/>
              <p:nvPr/>
            </p:nvSpPr>
            <p:spPr>
              <a:xfrm>
                <a:off x="6115222" y="4641723"/>
                <a:ext cx="942407" cy="184666"/>
              </a:xfrm>
              <a:prstGeom prst="rect">
                <a:avLst/>
              </a:prstGeom>
              <a:noFill/>
            </p:spPr>
            <p:txBody>
              <a:bodyPr wrap="square">
                <a:spAutoFit/>
              </a:bodyPr>
              <a:lstStyle/>
              <a:p>
                <a:pPr lvl="0">
                  <a:defRPr/>
                </a:pPr>
                <a:r>
                  <a:rPr kumimoji="0" lang="fr-FR" sz="600" i="0" u="none" strike="noStrike" kern="1200" cap="none" spc="0" normalizeH="0" baseline="0" noProof="0">
                    <a:ln>
                      <a:noFill/>
                    </a:ln>
                    <a:solidFill>
                      <a:srgbClr val="03234B"/>
                    </a:solidFill>
                    <a:effectLst/>
                    <a:uLnTx/>
                    <a:uFillTx/>
                    <a:latin typeface="Arial"/>
                    <a:ea typeface="+mn-ea"/>
                    <a:cs typeface="+mn-cs"/>
                  </a:rPr>
                  <a:t>1 ms time slice/</a:t>
                </a:r>
                <a:r>
                  <a:rPr kumimoji="0" lang="fr-FR" sz="600" i="0" u="none" strike="noStrike" kern="1200" cap="none" spc="0" normalizeH="0" baseline="0" noProof="0" err="1">
                    <a:ln>
                      <a:noFill/>
                    </a:ln>
                    <a:solidFill>
                      <a:srgbClr val="03234B"/>
                    </a:solidFill>
                    <a:effectLst/>
                    <a:uLnTx/>
                    <a:uFillTx/>
                    <a:latin typeface="Arial"/>
                    <a:ea typeface="+mn-ea"/>
                    <a:cs typeface="+mn-cs"/>
                  </a:rPr>
                  <a:t>task</a:t>
                </a:r>
                <a:endParaRPr kumimoji="0" lang="en-US" sz="600" i="0" u="none" strike="noStrike" kern="1200" cap="none" spc="0" normalizeH="0" baseline="0" noProof="0">
                  <a:ln>
                    <a:noFill/>
                  </a:ln>
                  <a:solidFill>
                    <a:srgbClr val="03234B"/>
                  </a:solidFill>
                  <a:effectLst/>
                  <a:uLnTx/>
                  <a:uFillTx/>
                  <a:latin typeface="Arial"/>
                  <a:ea typeface="+mn-ea"/>
                  <a:cs typeface="+mn-cs"/>
                </a:endParaRPr>
              </a:p>
            </p:txBody>
          </p:sp>
        </p:grpSp>
      </p:grpSp>
      <p:sp>
        <p:nvSpPr>
          <p:cNvPr id="558" name="TextBox 557">
            <a:extLst>
              <a:ext uri="{FF2B5EF4-FFF2-40B4-BE49-F238E27FC236}">
                <a16:creationId xmlns:a16="http://schemas.microsoft.com/office/drawing/2014/main" id="{0F6E02D1-8090-24B7-24CA-7E04E6AFC1E7}"/>
              </a:ext>
            </a:extLst>
          </p:cNvPr>
          <p:cNvSpPr txBox="1"/>
          <p:nvPr/>
        </p:nvSpPr>
        <p:spPr>
          <a:xfrm>
            <a:off x="4617428" y="1659612"/>
            <a:ext cx="2416332" cy="246221"/>
          </a:xfrm>
          <a:prstGeom prst="rect">
            <a:avLst/>
          </a:prstGeom>
          <a:noFill/>
        </p:spPr>
        <p:txBody>
          <a:bodyPr wrap="square">
            <a:spAutoFit/>
          </a:bodyPr>
          <a:lstStyle/>
          <a:p>
            <a:r>
              <a:rPr lang="fr-FR" sz="1000" b="1" err="1">
                <a:solidFill>
                  <a:schemeClr val="accent2"/>
                </a:solidFill>
              </a:rPr>
              <a:t>Cooperative</a:t>
            </a:r>
            <a:r>
              <a:rPr lang="fr-FR" sz="1000" b="1">
                <a:solidFill>
                  <a:schemeClr val="accent2"/>
                </a:solidFill>
              </a:rPr>
              <a:t> </a:t>
            </a:r>
            <a:r>
              <a:rPr lang="fr-FR" sz="1000" b="1" err="1">
                <a:solidFill>
                  <a:schemeClr val="accent2"/>
                </a:solidFill>
              </a:rPr>
              <a:t>Processing</a:t>
            </a:r>
            <a:r>
              <a:rPr lang="fr-FR" sz="1000" b="1">
                <a:solidFill>
                  <a:schemeClr val="accent2"/>
                </a:solidFill>
              </a:rPr>
              <a:t> </a:t>
            </a:r>
            <a:r>
              <a:rPr lang="fr-FR" sz="1000" b="1" err="1">
                <a:solidFill>
                  <a:schemeClr val="accent2"/>
                </a:solidFill>
              </a:rPr>
              <a:t>Flowchart</a:t>
            </a:r>
            <a:endParaRPr lang="en-US" sz="1000">
              <a:solidFill>
                <a:schemeClr val="accent2"/>
              </a:solidFill>
            </a:endParaRPr>
          </a:p>
        </p:txBody>
      </p:sp>
      <p:grpSp>
        <p:nvGrpSpPr>
          <p:cNvPr id="560" name="Group 559">
            <a:extLst>
              <a:ext uri="{FF2B5EF4-FFF2-40B4-BE49-F238E27FC236}">
                <a16:creationId xmlns:a16="http://schemas.microsoft.com/office/drawing/2014/main" id="{4308C2D1-A77E-ED6D-0AF9-4EAE88C7DA7C}"/>
              </a:ext>
            </a:extLst>
          </p:cNvPr>
          <p:cNvGrpSpPr/>
          <p:nvPr/>
        </p:nvGrpSpPr>
        <p:grpSpPr>
          <a:xfrm>
            <a:off x="8265483" y="2111302"/>
            <a:ext cx="3845555" cy="2606422"/>
            <a:chOff x="4223358" y="3172019"/>
            <a:chExt cx="3789987" cy="2606422"/>
          </a:xfrm>
        </p:grpSpPr>
        <p:grpSp>
          <p:nvGrpSpPr>
            <p:cNvPr id="561" name="Group 560">
              <a:extLst>
                <a:ext uri="{FF2B5EF4-FFF2-40B4-BE49-F238E27FC236}">
                  <a16:creationId xmlns:a16="http://schemas.microsoft.com/office/drawing/2014/main" id="{407E3BD5-5C90-4CE6-8BB3-EDDABBFE8049}"/>
                </a:ext>
              </a:extLst>
            </p:cNvPr>
            <p:cNvGrpSpPr/>
            <p:nvPr/>
          </p:nvGrpSpPr>
          <p:grpSpPr>
            <a:xfrm>
              <a:off x="4223358" y="3172019"/>
              <a:ext cx="3789987" cy="2606422"/>
              <a:chOff x="4230837" y="2788208"/>
              <a:chExt cx="3789987" cy="2606422"/>
            </a:xfrm>
          </p:grpSpPr>
          <p:grpSp>
            <p:nvGrpSpPr>
              <p:cNvPr id="566" name="Group 565">
                <a:extLst>
                  <a:ext uri="{FF2B5EF4-FFF2-40B4-BE49-F238E27FC236}">
                    <a16:creationId xmlns:a16="http://schemas.microsoft.com/office/drawing/2014/main" id="{9893E63B-EE7C-FF6A-F091-6CD75BF085E6}"/>
                  </a:ext>
                </a:extLst>
              </p:cNvPr>
              <p:cNvGrpSpPr/>
              <p:nvPr/>
            </p:nvGrpSpPr>
            <p:grpSpPr>
              <a:xfrm>
                <a:off x="4230837" y="2788208"/>
                <a:ext cx="3789987" cy="2606422"/>
                <a:chOff x="4230837" y="2788208"/>
                <a:chExt cx="3789987" cy="2606422"/>
              </a:xfrm>
            </p:grpSpPr>
            <p:grpSp>
              <p:nvGrpSpPr>
                <p:cNvPr id="569" name="Group 568">
                  <a:extLst>
                    <a:ext uri="{FF2B5EF4-FFF2-40B4-BE49-F238E27FC236}">
                      <a16:creationId xmlns:a16="http://schemas.microsoft.com/office/drawing/2014/main" id="{899EC129-AD6B-F6A1-7086-581D24CD27DB}"/>
                    </a:ext>
                  </a:extLst>
                </p:cNvPr>
                <p:cNvGrpSpPr/>
                <p:nvPr/>
              </p:nvGrpSpPr>
              <p:grpSpPr>
                <a:xfrm>
                  <a:off x="4230837" y="2788208"/>
                  <a:ext cx="3789987" cy="2606422"/>
                  <a:chOff x="5498351" y="2048821"/>
                  <a:chExt cx="3789987" cy="2606422"/>
                </a:xfrm>
              </p:grpSpPr>
              <p:grpSp>
                <p:nvGrpSpPr>
                  <p:cNvPr id="576" name="Group 575">
                    <a:extLst>
                      <a:ext uri="{FF2B5EF4-FFF2-40B4-BE49-F238E27FC236}">
                        <a16:creationId xmlns:a16="http://schemas.microsoft.com/office/drawing/2014/main" id="{71456D67-8823-4542-FD68-500D8A51451F}"/>
                      </a:ext>
                    </a:extLst>
                  </p:cNvPr>
                  <p:cNvGrpSpPr/>
                  <p:nvPr/>
                </p:nvGrpSpPr>
                <p:grpSpPr>
                  <a:xfrm>
                    <a:off x="5498351" y="2232670"/>
                    <a:ext cx="3789987" cy="2422573"/>
                    <a:chOff x="5733979" y="1125499"/>
                    <a:chExt cx="3789987" cy="2422573"/>
                  </a:xfrm>
                </p:grpSpPr>
                <p:grpSp>
                  <p:nvGrpSpPr>
                    <p:cNvPr id="578" name="Group 577">
                      <a:extLst>
                        <a:ext uri="{FF2B5EF4-FFF2-40B4-BE49-F238E27FC236}">
                          <a16:creationId xmlns:a16="http://schemas.microsoft.com/office/drawing/2014/main" id="{85252F69-466F-EDF3-8E59-6617AC396DCF}"/>
                        </a:ext>
                      </a:extLst>
                    </p:cNvPr>
                    <p:cNvGrpSpPr/>
                    <p:nvPr/>
                  </p:nvGrpSpPr>
                  <p:grpSpPr>
                    <a:xfrm>
                      <a:off x="8552373" y="2949327"/>
                      <a:ext cx="971593" cy="598744"/>
                      <a:chOff x="2897734" y="3217933"/>
                      <a:chExt cx="971593" cy="1060430"/>
                    </a:xfrm>
                  </p:grpSpPr>
                  <p:cxnSp>
                    <p:nvCxnSpPr>
                      <p:cNvPr id="605" name="Straight Arrow Connector 604">
                        <a:extLst>
                          <a:ext uri="{FF2B5EF4-FFF2-40B4-BE49-F238E27FC236}">
                            <a16:creationId xmlns:a16="http://schemas.microsoft.com/office/drawing/2014/main" id="{207EC21F-DE24-0A26-0F42-FCA9338C8D97}"/>
                          </a:ext>
                        </a:extLst>
                      </p:cNvPr>
                      <p:cNvCxnSpPr>
                        <a:cxnSpLocks/>
                        <a:stCxn id="610" idx="2"/>
                        <a:endCxn id="607" idx="0"/>
                      </p:cNvCxnSpPr>
                      <p:nvPr/>
                    </p:nvCxnSpPr>
                    <p:spPr>
                      <a:xfrm flipH="1">
                        <a:off x="3375786" y="3848712"/>
                        <a:ext cx="1" cy="23123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nvGrpSpPr>
                      <p:cNvPr id="606" name="Group 605">
                        <a:extLst>
                          <a:ext uri="{FF2B5EF4-FFF2-40B4-BE49-F238E27FC236}">
                            <a16:creationId xmlns:a16="http://schemas.microsoft.com/office/drawing/2014/main" id="{FAEC6A3A-40A0-7ACF-55D3-F6AF52028496}"/>
                          </a:ext>
                        </a:extLst>
                      </p:cNvPr>
                      <p:cNvGrpSpPr/>
                      <p:nvPr/>
                    </p:nvGrpSpPr>
                    <p:grpSpPr>
                      <a:xfrm>
                        <a:off x="2897734" y="3217933"/>
                        <a:ext cx="971593" cy="630779"/>
                        <a:chOff x="4992789" y="1476649"/>
                        <a:chExt cx="971593" cy="630779"/>
                      </a:xfrm>
                    </p:grpSpPr>
                    <p:sp>
                      <p:nvSpPr>
                        <p:cNvPr id="608" name="Rectangle 607">
                          <a:extLst>
                            <a:ext uri="{FF2B5EF4-FFF2-40B4-BE49-F238E27FC236}">
                              <a16:creationId xmlns:a16="http://schemas.microsoft.com/office/drawing/2014/main" id="{D6B85FFE-B52C-25AC-0708-D0D03A0C4548}"/>
                            </a:ext>
                          </a:extLst>
                        </p:cNvPr>
                        <p:cNvSpPr/>
                        <p:nvPr/>
                      </p:nvSpPr>
                      <p:spPr>
                        <a:xfrm>
                          <a:off x="4992789" y="1476649"/>
                          <a:ext cx="971593" cy="195475"/>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rPr>
                            <a:t>Start </a:t>
                          </a:r>
                          <a:r>
                            <a:rPr lang="fr-FR" sz="600" err="1">
                              <a:solidFill>
                                <a:schemeClr val="tx1"/>
                              </a:solidFill>
                            </a:rPr>
                            <a:t>Reporting</a:t>
                          </a:r>
                          <a:r>
                            <a:rPr lang="fr-FR" sz="600">
                              <a:solidFill>
                                <a:schemeClr val="tx1"/>
                              </a:solidFill>
                            </a:rPr>
                            <a:t> Thread</a:t>
                          </a:r>
                          <a:endParaRPr lang="en-US" sz="600">
                            <a:solidFill>
                              <a:schemeClr val="tx1"/>
                            </a:solidFill>
                          </a:endParaRPr>
                        </a:p>
                      </p:txBody>
                    </p:sp>
                    <p:cxnSp>
                      <p:nvCxnSpPr>
                        <p:cNvPr id="609" name="Straight Arrow Connector 608">
                          <a:extLst>
                            <a:ext uri="{FF2B5EF4-FFF2-40B4-BE49-F238E27FC236}">
                              <a16:creationId xmlns:a16="http://schemas.microsoft.com/office/drawing/2014/main" id="{801A8ECB-DDA4-03A6-491C-46600F53C2A7}"/>
                            </a:ext>
                          </a:extLst>
                        </p:cNvPr>
                        <p:cNvCxnSpPr>
                          <a:cxnSpLocks/>
                          <a:stCxn id="608" idx="2"/>
                          <a:endCxn id="610" idx="0"/>
                        </p:cNvCxnSpPr>
                        <p:nvPr/>
                      </p:nvCxnSpPr>
                      <p:spPr>
                        <a:xfrm flipH="1">
                          <a:off x="5470842" y="1672124"/>
                          <a:ext cx="7743" cy="23982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610" name="Rectangle 609">
                          <a:extLst>
                            <a:ext uri="{FF2B5EF4-FFF2-40B4-BE49-F238E27FC236}">
                              <a16:creationId xmlns:a16="http://schemas.microsoft.com/office/drawing/2014/main" id="{C410A889-9E56-341D-ECCE-3B1C934DCE9E}"/>
                            </a:ext>
                          </a:extLst>
                        </p:cNvPr>
                        <p:cNvSpPr/>
                        <p:nvPr/>
                      </p:nvSpPr>
                      <p:spPr>
                        <a:xfrm>
                          <a:off x="5096711" y="1911953"/>
                          <a:ext cx="748260" cy="195475"/>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rPr>
                            <a:t>Sleep</a:t>
                          </a:r>
                          <a:r>
                            <a:rPr lang="fr-FR" sz="600">
                              <a:solidFill>
                                <a:schemeClr val="tx1"/>
                              </a:solidFill>
                            </a:rPr>
                            <a:t> for 30 s</a:t>
                          </a:r>
                        </a:p>
                      </p:txBody>
                    </p:sp>
                  </p:grpSp>
                  <p:sp>
                    <p:nvSpPr>
                      <p:cNvPr id="607" name="Rectangle 606">
                        <a:extLst>
                          <a:ext uri="{FF2B5EF4-FFF2-40B4-BE49-F238E27FC236}">
                            <a16:creationId xmlns:a16="http://schemas.microsoft.com/office/drawing/2014/main" id="{0E003E4F-CA50-E090-7FFB-8406DC5D9F9F}"/>
                          </a:ext>
                        </a:extLst>
                      </p:cNvPr>
                      <p:cNvSpPr/>
                      <p:nvPr/>
                    </p:nvSpPr>
                    <p:spPr>
                      <a:xfrm>
                        <a:off x="2956573" y="4079944"/>
                        <a:ext cx="838425" cy="19841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err="1">
                            <a:solidFill>
                              <a:schemeClr val="tx1"/>
                            </a:solidFill>
                            <a:cs typeface="Arial"/>
                          </a:rPr>
                          <a:t>Print</a:t>
                        </a:r>
                        <a:r>
                          <a:rPr lang="fr-FR" sz="600">
                            <a:solidFill>
                              <a:schemeClr val="tx1"/>
                            </a:solidFill>
                            <a:cs typeface="Arial"/>
                          </a:rPr>
                          <a:t> the 5 </a:t>
                        </a:r>
                        <a:r>
                          <a:rPr lang="fr-FR" sz="600" err="1">
                            <a:solidFill>
                              <a:schemeClr val="tx1"/>
                            </a:solidFill>
                            <a:cs typeface="Arial"/>
                          </a:rPr>
                          <a:t>counters</a:t>
                        </a:r>
                        <a:endParaRPr lang="fr-FR" sz="600">
                          <a:solidFill>
                            <a:schemeClr val="tx1"/>
                          </a:solidFill>
                          <a:cs typeface="Arial"/>
                        </a:endParaRPr>
                      </a:p>
                      <a:p>
                        <a:pPr algn="ctr">
                          <a:buClr>
                            <a:schemeClr val="bg1"/>
                          </a:buClr>
                        </a:pPr>
                        <a:endParaRPr lang="fr-FR" sz="600">
                          <a:solidFill>
                            <a:schemeClr val="tx1"/>
                          </a:solidFill>
                          <a:cs typeface="Arial"/>
                        </a:endParaRPr>
                      </a:p>
                    </p:txBody>
                  </p:sp>
                </p:grpSp>
                <p:grpSp>
                  <p:nvGrpSpPr>
                    <p:cNvPr id="579" name="Group 578">
                      <a:extLst>
                        <a:ext uri="{FF2B5EF4-FFF2-40B4-BE49-F238E27FC236}">
                          <a16:creationId xmlns:a16="http://schemas.microsoft.com/office/drawing/2014/main" id="{0EB6D248-DB40-5472-9E74-108EBE45C07B}"/>
                        </a:ext>
                      </a:extLst>
                    </p:cNvPr>
                    <p:cNvGrpSpPr/>
                    <p:nvPr/>
                  </p:nvGrpSpPr>
                  <p:grpSpPr>
                    <a:xfrm>
                      <a:off x="5733979" y="1125499"/>
                      <a:ext cx="2575565" cy="2352956"/>
                      <a:chOff x="4354220" y="825825"/>
                      <a:chExt cx="3669655" cy="4167308"/>
                    </a:xfrm>
                  </p:grpSpPr>
                  <p:sp>
                    <p:nvSpPr>
                      <p:cNvPr id="581" name="TextBox 580">
                        <a:extLst>
                          <a:ext uri="{FF2B5EF4-FFF2-40B4-BE49-F238E27FC236}">
                            <a16:creationId xmlns:a16="http://schemas.microsoft.com/office/drawing/2014/main" id="{3994F153-F535-6F8D-325F-0CE837A804E6}"/>
                          </a:ext>
                        </a:extLst>
                      </p:cNvPr>
                      <p:cNvSpPr txBox="1"/>
                      <p:nvPr/>
                    </p:nvSpPr>
                    <p:spPr>
                      <a:xfrm>
                        <a:off x="7109619" y="2630315"/>
                        <a:ext cx="914256" cy="327061"/>
                      </a:xfrm>
                      <a:prstGeom prst="rect">
                        <a:avLst/>
                      </a:prstGeom>
                      <a:noFill/>
                    </p:spPr>
                    <p:txBody>
                      <a:bodyPr wrap="square">
                        <a:spAutoFit/>
                      </a:bodyPr>
                      <a:lstStyle/>
                      <a:p>
                        <a:pPr lvl="0">
                          <a:defRPr/>
                        </a:pPr>
                        <a:r>
                          <a:rPr kumimoji="0" lang="fr-FR" sz="600" i="0" u="none" strike="noStrike" kern="1200" cap="none" spc="0" normalizeH="0" baseline="0" noProof="0">
                            <a:ln>
                              <a:noFill/>
                            </a:ln>
                            <a:solidFill>
                              <a:srgbClr val="03234B"/>
                            </a:solidFill>
                            <a:effectLst/>
                            <a:uLnTx/>
                            <a:uFillTx/>
                            <a:latin typeface="Arial"/>
                            <a:ea typeface="+mn-ea"/>
                            <a:cs typeface="+mn-cs"/>
                          </a:rPr>
                          <a:t>HIGH </a:t>
                        </a:r>
                        <a:r>
                          <a:rPr kumimoji="0" lang="fr-FR" sz="600" i="0" u="none" strike="noStrike" kern="1200" cap="none" spc="0" normalizeH="0" baseline="0" noProof="0" err="1">
                            <a:ln>
                              <a:noFill/>
                            </a:ln>
                            <a:solidFill>
                              <a:srgbClr val="03234B"/>
                            </a:solidFill>
                            <a:effectLst/>
                            <a:uLnTx/>
                            <a:uFillTx/>
                            <a:latin typeface="Arial"/>
                            <a:ea typeface="+mn-ea"/>
                            <a:cs typeface="+mn-cs"/>
                          </a:rPr>
                          <a:t>Priority</a:t>
                        </a:r>
                        <a:endParaRPr kumimoji="0" lang="en-US" sz="600" i="0" u="none" strike="noStrike" kern="1200" cap="none" spc="0" normalizeH="0" baseline="0" noProof="0">
                          <a:ln>
                            <a:noFill/>
                          </a:ln>
                          <a:solidFill>
                            <a:srgbClr val="03234B"/>
                          </a:solidFill>
                          <a:effectLst/>
                          <a:uLnTx/>
                          <a:uFillTx/>
                          <a:latin typeface="Arial"/>
                          <a:ea typeface="+mn-ea"/>
                          <a:cs typeface="+mn-cs"/>
                        </a:endParaRPr>
                      </a:p>
                    </p:txBody>
                  </p:sp>
                  <p:grpSp>
                    <p:nvGrpSpPr>
                      <p:cNvPr id="582" name="Group 581">
                        <a:extLst>
                          <a:ext uri="{FF2B5EF4-FFF2-40B4-BE49-F238E27FC236}">
                            <a16:creationId xmlns:a16="http://schemas.microsoft.com/office/drawing/2014/main" id="{7F4EFF92-500B-3F46-49C7-AE7BD9D77FF9}"/>
                          </a:ext>
                        </a:extLst>
                      </p:cNvPr>
                      <p:cNvGrpSpPr/>
                      <p:nvPr/>
                    </p:nvGrpSpPr>
                    <p:grpSpPr>
                      <a:xfrm>
                        <a:off x="4354220" y="825825"/>
                        <a:ext cx="2755399" cy="4167308"/>
                        <a:chOff x="4354220" y="825825"/>
                        <a:chExt cx="2755399" cy="4167308"/>
                      </a:xfrm>
                    </p:grpSpPr>
                    <p:cxnSp>
                      <p:nvCxnSpPr>
                        <p:cNvPr id="583" name="Straight Arrow Connector 582">
                          <a:extLst>
                            <a:ext uri="{FF2B5EF4-FFF2-40B4-BE49-F238E27FC236}">
                              <a16:creationId xmlns:a16="http://schemas.microsoft.com/office/drawing/2014/main" id="{42A5BC37-418B-9690-AB88-EA2B49CEFA44}"/>
                            </a:ext>
                          </a:extLst>
                        </p:cNvPr>
                        <p:cNvCxnSpPr>
                          <a:cxnSpLocks/>
                          <a:stCxn id="577" idx="4"/>
                          <a:endCxn id="584" idx="0"/>
                        </p:cNvCxnSpPr>
                        <p:nvPr/>
                      </p:nvCxnSpPr>
                      <p:spPr>
                        <a:xfrm>
                          <a:off x="5807083" y="825825"/>
                          <a:ext cx="5112" cy="31263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584" name="Rectangle 583">
                          <a:extLst>
                            <a:ext uri="{FF2B5EF4-FFF2-40B4-BE49-F238E27FC236}">
                              <a16:creationId xmlns:a16="http://schemas.microsoft.com/office/drawing/2014/main" id="{C93CD85F-56FA-045A-E8EE-B892E8244687}"/>
                            </a:ext>
                          </a:extLst>
                        </p:cNvPr>
                        <p:cNvSpPr/>
                        <p:nvPr/>
                      </p:nvSpPr>
                      <p:spPr>
                        <a:xfrm>
                          <a:off x="5168983" y="1138460"/>
                          <a:ext cx="1286424" cy="26527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r>
                            <a:rPr lang="fr-FR" sz="600" err="1">
                              <a:solidFill>
                                <a:schemeClr val="tx1"/>
                              </a:solidFill>
                            </a:rPr>
                            <a:t>Clock</a:t>
                          </a:r>
                          <a:r>
                            <a:rPr lang="fr-FR" sz="600">
                              <a:solidFill>
                                <a:schemeClr val="tx1"/>
                              </a:solidFill>
                            </a:rPr>
                            <a:t> configuration</a:t>
                          </a:r>
                        </a:p>
                        <a:p>
                          <a:pPr algn="ctr">
                            <a:buClr>
                              <a:schemeClr val="bg1"/>
                            </a:buClr>
                          </a:pPr>
                          <a:endParaRPr lang="fr-FR" sz="600">
                            <a:solidFill>
                              <a:schemeClr val="tx1"/>
                            </a:solidFill>
                            <a:cs typeface="Arial"/>
                          </a:endParaRPr>
                        </a:p>
                      </p:txBody>
                    </p:sp>
                    <p:grpSp>
                      <p:nvGrpSpPr>
                        <p:cNvPr id="585" name="Group 584">
                          <a:extLst>
                            <a:ext uri="{FF2B5EF4-FFF2-40B4-BE49-F238E27FC236}">
                              <a16:creationId xmlns:a16="http://schemas.microsoft.com/office/drawing/2014/main" id="{EAB8A361-A8BE-8EEE-AD30-BF72D421CA8B}"/>
                            </a:ext>
                          </a:extLst>
                        </p:cNvPr>
                        <p:cNvGrpSpPr/>
                        <p:nvPr/>
                      </p:nvGrpSpPr>
                      <p:grpSpPr>
                        <a:xfrm>
                          <a:off x="4862207" y="2130469"/>
                          <a:ext cx="2247412" cy="1266757"/>
                          <a:chOff x="4839108" y="1947291"/>
                          <a:chExt cx="2247412" cy="1266757"/>
                        </a:xfrm>
                      </p:grpSpPr>
                      <p:sp>
                        <p:nvSpPr>
                          <p:cNvPr id="597" name="Rectangle 596">
                            <a:extLst>
                              <a:ext uri="{FF2B5EF4-FFF2-40B4-BE49-F238E27FC236}">
                                <a16:creationId xmlns:a16="http://schemas.microsoft.com/office/drawing/2014/main" id="{004A3DFD-EF1F-50F7-DE9C-63A2F2947DC5}"/>
                              </a:ext>
                            </a:extLst>
                          </p:cNvPr>
                          <p:cNvSpPr/>
                          <p:nvPr/>
                        </p:nvSpPr>
                        <p:spPr>
                          <a:xfrm>
                            <a:off x="4839113" y="1947291"/>
                            <a:ext cx="1899965" cy="28001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rPr>
                              <a:t>Create</a:t>
                            </a:r>
                            <a:r>
                              <a:rPr lang="fr-FR" sz="600">
                                <a:solidFill>
                                  <a:schemeClr val="tx1"/>
                                </a:solidFill>
                              </a:rPr>
                              <a:t> 5 threads</a:t>
                            </a:r>
                            <a:endParaRPr lang="en-US" sz="600">
                              <a:solidFill>
                                <a:schemeClr val="tx1"/>
                              </a:solidFill>
                            </a:endParaRPr>
                          </a:p>
                        </p:txBody>
                      </p:sp>
                      <p:cxnSp>
                        <p:nvCxnSpPr>
                          <p:cNvPr id="598" name="Straight Arrow Connector 597">
                            <a:extLst>
                              <a:ext uri="{FF2B5EF4-FFF2-40B4-BE49-F238E27FC236}">
                                <a16:creationId xmlns:a16="http://schemas.microsoft.com/office/drawing/2014/main" id="{7D159022-6FEF-6B3A-5528-03C507BB9D26}"/>
                              </a:ext>
                            </a:extLst>
                          </p:cNvPr>
                          <p:cNvCxnSpPr>
                            <a:cxnSpLocks/>
                            <a:stCxn id="597" idx="2"/>
                            <a:endCxn id="600" idx="0"/>
                          </p:cNvCxnSpPr>
                          <p:nvPr/>
                        </p:nvCxnSpPr>
                        <p:spPr>
                          <a:xfrm flipH="1">
                            <a:off x="5789094" y="2227310"/>
                            <a:ext cx="1" cy="22730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99" name="Straight Arrow Connector 598">
                            <a:extLst>
                              <a:ext uri="{FF2B5EF4-FFF2-40B4-BE49-F238E27FC236}">
                                <a16:creationId xmlns:a16="http://schemas.microsoft.com/office/drawing/2014/main" id="{09CFA696-A088-1391-8D92-AF72A952B471}"/>
                              </a:ext>
                            </a:extLst>
                          </p:cNvPr>
                          <p:cNvCxnSpPr>
                            <a:cxnSpLocks/>
                            <a:stCxn id="597" idx="3"/>
                            <a:endCxn id="564" idx="1"/>
                          </p:cNvCxnSpPr>
                          <p:nvPr/>
                        </p:nvCxnSpPr>
                        <p:spPr>
                          <a:xfrm>
                            <a:off x="6739079" y="2087301"/>
                            <a:ext cx="342928" cy="963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600" name="Rectangle 599">
                            <a:extLst>
                              <a:ext uri="{FF2B5EF4-FFF2-40B4-BE49-F238E27FC236}">
                                <a16:creationId xmlns:a16="http://schemas.microsoft.com/office/drawing/2014/main" id="{028246DB-2AE2-AEC2-66D7-717BFF343CD0}"/>
                              </a:ext>
                            </a:extLst>
                          </p:cNvPr>
                          <p:cNvSpPr/>
                          <p:nvPr/>
                        </p:nvSpPr>
                        <p:spPr>
                          <a:xfrm>
                            <a:off x="4839110" y="2454619"/>
                            <a:ext cx="1899966" cy="281205"/>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Create</a:t>
                            </a:r>
                            <a:r>
                              <a:rPr lang="fr-FR" sz="600">
                                <a:solidFill>
                                  <a:schemeClr val="tx1"/>
                                </a:solidFill>
                                <a:cs typeface="Arial"/>
                              </a:rPr>
                              <a:t> </a:t>
                            </a:r>
                            <a:r>
                              <a:rPr lang="fr-FR" sz="600" err="1">
                                <a:solidFill>
                                  <a:schemeClr val="tx1"/>
                                </a:solidFill>
                                <a:cs typeface="Arial"/>
                              </a:rPr>
                              <a:t>Reporting</a:t>
                            </a:r>
                            <a:r>
                              <a:rPr lang="fr-FR" sz="600">
                                <a:solidFill>
                                  <a:schemeClr val="tx1"/>
                                </a:solidFill>
                                <a:cs typeface="Arial"/>
                              </a:rPr>
                              <a:t> Thread</a:t>
                            </a:r>
                          </a:p>
                        </p:txBody>
                      </p:sp>
                      <p:cxnSp>
                        <p:nvCxnSpPr>
                          <p:cNvPr id="601" name="Straight Arrow Connector 600">
                            <a:extLst>
                              <a:ext uri="{FF2B5EF4-FFF2-40B4-BE49-F238E27FC236}">
                                <a16:creationId xmlns:a16="http://schemas.microsoft.com/office/drawing/2014/main" id="{625319E4-4244-5CC3-F1F7-54239EBF338E}"/>
                              </a:ext>
                            </a:extLst>
                          </p:cNvPr>
                          <p:cNvCxnSpPr>
                            <a:cxnSpLocks/>
                            <a:stCxn id="600" idx="3"/>
                            <a:endCxn id="581" idx="1"/>
                          </p:cNvCxnSpPr>
                          <p:nvPr/>
                        </p:nvCxnSpPr>
                        <p:spPr>
                          <a:xfrm>
                            <a:off x="6739076" y="2595223"/>
                            <a:ext cx="347444" cy="15446"/>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602" name="Rectangle 601">
                            <a:extLst>
                              <a:ext uri="{FF2B5EF4-FFF2-40B4-BE49-F238E27FC236}">
                                <a16:creationId xmlns:a16="http://schemas.microsoft.com/office/drawing/2014/main" id="{6ECDDCFC-2206-E4AD-33BB-CC5A845EEFCD}"/>
                              </a:ext>
                            </a:extLst>
                          </p:cNvPr>
                          <p:cNvSpPr/>
                          <p:nvPr/>
                        </p:nvSpPr>
                        <p:spPr>
                          <a:xfrm>
                            <a:off x="4839108" y="2934029"/>
                            <a:ext cx="1899966" cy="28001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cs typeface="Arial"/>
                              </a:rPr>
                              <a:t>Suspend thread 1,2,3,4</a:t>
                            </a:r>
                          </a:p>
                        </p:txBody>
                      </p:sp>
                      <p:cxnSp>
                        <p:nvCxnSpPr>
                          <p:cNvPr id="603" name="Straight Arrow Connector 602">
                            <a:extLst>
                              <a:ext uri="{FF2B5EF4-FFF2-40B4-BE49-F238E27FC236}">
                                <a16:creationId xmlns:a16="http://schemas.microsoft.com/office/drawing/2014/main" id="{C7E1539C-2063-23D0-433C-C0B0A5F0CBE1}"/>
                              </a:ext>
                            </a:extLst>
                          </p:cNvPr>
                          <p:cNvCxnSpPr>
                            <a:cxnSpLocks/>
                            <a:stCxn id="600" idx="2"/>
                            <a:endCxn id="602" idx="0"/>
                          </p:cNvCxnSpPr>
                          <p:nvPr/>
                        </p:nvCxnSpPr>
                        <p:spPr>
                          <a:xfrm flipH="1">
                            <a:off x="5789092" y="2735824"/>
                            <a:ext cx="1" cy="19820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04" name="Straight Arrow Connector 603">
                            <a:extLst>
                              <a:ext uri="{FF2B5EF4-FFF2-40B4-BE49-F238E27FC236}">
                                <a16:creationId xmlns:a16="http://schemas.microsoft.com/office/drawing/2014/main" id="{3E8BC113-CC7C-3076-1261-B338AF3DCC11}"/>
                              </a:ext>
                            </a:extLst>
                          </p:cNvPr>
                          <p:cNvCxnSpPr>
                            <a:cxnSpLocks/>
                            <a:stCxn id="602" idx="3"/>
                            <a:endCxn id="565" idx="1"/>
                          </p:cNvCxnSpPr>
                          <p:nvPr/>
                        </p:nvCxnSpPr>
                        <p:spPr>
                          <a:xfrm flipV="1">
                            <a:off x="6739074" y="3068792"/>
                            <a:ext cx="317868" cy="524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sp>
                      <p:nvSpPr>
                        <p:cNvPr id="586" name="Rectangle 585">
                          <a:extLst>
                            <a:ext uri="{FF2B5EF4-FFF2-40B4-BE49-F238E27FC236}">
                              <a16:creationId xmlns:a16="http://schemas.microsoft.com/office/drawing/2014/main" id="{F2E7CC57-65B2-F917-78D2-FF9375D9F53A}"/>
                            </a:ext>
                          </a:extLst>
                        </p:cNvPr>
                        <p:cNvSpPr/>
                        <p:nvPr/>
                      </p:nvSpPr>
                      <p:spPr>
                        <a:xfrm>
                          <a:off x="4862212" y="1639060"/>
                          <a:ext cx="1899965"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Initialize</a:t>
                          </a:r>
                          <a:r>
                            <a:rPr lang="fr-FR" sz="600">
                              <a:solidFill>
                                <a:schemeClr val="tx1"/>
                              </a:solidFill>
                              <a:cs typeface="Arial"/>
                            </a:rPr>
                            <a:t> 5 global </a:t>
                          </a:r>
                          <a:r>
                            <a:rPr lang="fr-FR" sz="600" err="1">
                              <a:solidFill>
                                <a:schemeClr val="tx1"/>
                              </a:solidFill>
                              <a:cs typeface="Arial"/>
                            </a:rPr>
                            <a:t>counters</a:t>
                          </a:r>
                          <a:r>
                            <a:rPr lang="fr-FR" sz="600">
                              <a:solidFill>
                                <a:schemeClr val="tx1"/>
                              </a:solidFill>
                              <a:cs typeface="Arial"/>
                            </a:rPr>
                            <a:t> to 0</a:t>
                          </a:r>
                        </a:p>
                      </p:txBody>
                    </p:sp>
                    <p:cxnSp>
                      <p:nvCxnSpPr>
                        <p:cNvPr id="587" name="Straight Arrow Connector 586">
                          <a:extLst>
                            <a:ext uri="{FF2B5EF4-FFF2-40B4-BE49-F238E27FC236}">
                              <a16:creationId xmlns:a16="http://schemas.microsoft.com/office/drawing/2014/main" id="{530E3569-9676-0A76-7778-DBF979AA1AEC}"/>
                            </a:ext>
                          </a:extLst>
                        </p:cNvPr>
                        <p:cNvCxnSpPr>
                          <a:cxnSpLocks/>
                          <a:stCxn id="584" idx="2"/>
                          <a:endCxn id="586" idx="0"/>
                        </p:cNvCxnSpPr>
                        <p:nvPr/>
                      </p:nvCxnSpPr>
                      <p:spPr>
                        <a:xfrm flipH="1">
                          <a:off x="5812194" y="1403738"/>
                          <a:ext cx="1" cy="23532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88" name="Straight Arrow Connector 587">
                          <a:extLst>
                            <a:ext uri="{FF2B5EF4-FFF2-40B4-BE49-F238E27FC236}">
                              <a16:creationId xmlns:a16="http://schemas.microsoft.com/office/drawing/2014/main" id="{A48C2F0C-CC64-5248-456D-9A59F49A4F71}"/>
                            </a:ext>
                          </a:extLst>
                        </p:cNvPr>
                        <p:cNvCxnSpPr>
                          <a:cxnSpLocks/>
                          <a:stCxn id="586" idx="2"/>
                          <a:endCxn id="597" idx="0"/>
                        </p:cNvCxnSpPr>
                        <p:nvPr/>
                      </p:nvCxnSpPr>
                      <p:spPr>
                        <a:xfrm>
                          <a:off x="5812194" y="1925686"/>
                          <a:ext cx="0" cy="204783"/>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89" name="Straight Arrow Connector 588">
                          <a:extLst>
                            <a:ext uri="{FF2B5EF4-FFF2-40B4-BE49-F238E27FC236}">
                              <a16:creationId xmlns:a16="http://schemas.microsoft.com/office/drawing/2014/main" id="{7A3FE451-E63D-AC0D-AEB9-DFFB26BA664A}"/>
                            </a:ext>
                          </a:extLst>
                        </p:cNvPr>
                        <p:cNvCxnSpPr>
                          <a:cxnSpLocks/>
                          <a:stCxn id="584" idx="3"/>
                          <a:endCxn id="562" idx="1"/>
                        </p:cNvCxnSpPr>
                        <p:nvPr/>
                      </p:nvCxnSpPr>
                      <p:spPr>
                        <a:xfrm flipV="1">
                          <a:off x="6455406" y="1265045"/>
                          <a:ext cx="606407" cy="6054"/>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90" name="Straight Arrow Connector 589">
                          <a:extLst>
                            <a:ext uri="{FF2B5EF4-FFF2-40B4-BE49-F238E27FC236}">
                              <a16:creationId xmlns:a16="http://schemas.microsoft.com/office/drawing/2014/main" id="{E6F45579-7034-7457-D3BC-3204A288E506}"/>
                            </a:ext>
                          </a:extLst>
                        </p:cNvPr>
                        <p:cNvCxnSpPr>
                          <a:cxnSpLocks/>
                          <a:stCxn id="586" idx="3"/>
                          <a:endCxn id="563" idx="1"/>
                        </p:cNvCxnSpPr>
                        <p:nvPr/>
                      </p:nvCxnSpPr>
                      <p:spPr>
                        <a:xfrm flipV="1">
                          <a:off x="6762178" y="1774734"/>
                          <a:ext cx="342928" cy="763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nvGrpSpPr>
                        <p:cNvPr id="591" name="Group 590">
                          <a:extLst>
                            <a:ext uri="{FF2B5EF4-FFF2-40B4-BE49-F238E27FC236}">
                              <a16:creationId xmlns:a16="http://schemas.microsoft.com/office/drawing/2014/main" id="{2972599A-075B-B5D4-5400-3755CDDCA36E}"/>
                            </a:ext>
                          </a:extLst>
                        </p:cNvPr>
                        <p:cNvGrpSpPr/>
                        <p:nvPr/>
                      </p:nvGrpSpPr>
                      <p:grpSpPr>
                        <a:xfrm>
                          <a:off x="4354220" y="3945886"/>
                          <a:ext cx="1066114" cy="1047247"/>
                          <a:chOff x="6881870" y="3924605"/>
                          <a:chExt cx="1066113" cy="1047249"/>
                        </a:xfrm>
                      </p:grpSpPr>
                      <p:grpSp>
                        <p:nvGrpSpPr>
                          <p:cNvPr id="592" name="Group 591">
                            <a:extLst>
                              <a:ext uri="{FF2B5EF4-FFF2-40B4-BE49-F238E27FC236}">
                                <a16:creationId xmlns:a16="http://schemas.microsoft.com/office/drawing/2014/main" id="{653A4DB6-1498-DD5C-A8FB-9EBD9C1E4EF0}"/>
                              </a:ext>
                            </a:extLst>
                          </p:cNvPr>
                          <p:cNvGrpSpPr/>
                          <p:nvPr/>
                        </p:nvGrpSpPr>
                        <p:grpSpPr>
                          <a:xfrm>
                            <a:off x="6881870" y="3924605"/>
                            <a:ext cx="1066113" cy="601652"/>
                            <a:chOff x="8976925" y="2183321"/>
                            <a:chExt cx="1066113" cy="601652"/>
                          </a:xfrm>
                        </p:grpSpPr>
                        <p:sp>
                          <p:nvSpPr>
                            <p:cNvPr id="594" name="Rectangle 593">
                              <a:extLst>
                                <a:ext uri="{FF2B5EF4-FFF2-40B4-BE49-F238E27FC236}">
                                  <a16:creationId xmlns:a16="http://schemas.microsoft.com/office/drawing/2014/main" id="{D8E7EF82-0CBC-3318-0A36-02882DE194FA}"/>
                                </a:ext>
                              </a:extLst>
                            </p:cNvPr>
                            <p:cNvSpPr/>
                            <p:nvPr/>
                          </p:nvSpPr>
                          <p:spPr>
                            <a:xfrm>
                              <a:off x="9020229" y="2183321"/>
                              <a:ext cx="979507" cy="19469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rPr>
                                <a:t>Start Thread i</a:t>
                              </a:r>
                              <a:endParaRPr lang="en-US" sz="600">
                                <a:solidFill>
                                  <a:schemeClr val="tx1"/>
                                </a:solidFill>
                              </a:endParaRPr>
                            </a:p>
                          </p:txBody>
                        </p:sp>
                        <p:sp>
                          <p:nvSpPr>
                            <p:cNvPr id="596" name="Rectangle 595">
                              <a:extLst>
                                <a:ext uri="{FF2B5EF4-FFF2-40B4-BE49-F238E27FC236}">
                                  <a16:creationId xmlns:a16="http://schemas.microsoft.com/office/drawing/2014/main" id="{F4BE4E07-F595-F162-8241-0A033F18C1FA}"/>
                                </a:ext>
                              </a:extLst>
                            </p:cNvPr>
                            <p:cNvSpPr/>
                            <p:nvPr/>
                          </p:nvSpPr>
                          <p:spPr>
                            <a:xfrm>
                              <a:off x="8976925" y="2589498"/>
                              <a:ext cx="1066113" cy="195475"/>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Resume</a:t>
                              </a:r>
                              <a:r>
                                <a:rPr lang="fr-FR" sz="600">
                                  <a:solidFill>
                                    <a:schemeClr val="tx1"/>
                                  </a:solidFill>
                                  <a:cs typeface="Arial"/>
                                </a:rPr>
                                <a:t> thread i</a:t>
                              </a:r>
                            </a:p>
                          </p:txBody>
                        </p:sp>
                      </p:grpSp>
                      <p:sp>
                        <p:nvSpPr>
                          <p:cNvPr id="593" name="Rectangle 592">
                            <a:extLst>
                              <a:ext uri="{FF2B5EF4-FFF2-40B4-BE49-F238E27FC236}">
                                <a16:creationId xmlns:a16="http://schemas.microsoft.com/office/drawing/2014/main" id="{005E473B-4423-D8E6-3D42-FE380892C2FA}"/>
                              </a:ext>
                            </a:extLst>
                          </p:cNvPr>
                          <p:cNvSpPr/>
                          <p:nvPr/>
                        </p:nvSpPr>
                        <p:spPr>
                          <a:xfrm>
                            <a:off x="6917585" y="4777163"/>
                            <a:ext cx="979507" cy="19469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err="1">
                                <a:solidFill>
                                  <a:schemeClr val="tx1"/>
                                </a:solidFill>
                              </a:rPr>
                              <a:t>Increment</a:t>
                            </a:r>
                            <a:r>
                              <a:rPr lang="fr-FR" sz="600">
                                <a:solidFill>
                                  <a:schemeClr val="tx1"/>
                                </a:solidFill>
                              </a:rPr>
                              <a:t> Ci</a:t>
                            </a:r>
                          </a:p>
                          <a:p>
                            <a:pPr algn="ctr">
                              <a:buClr>
                                <a:schemeClr val="bg1"/>
                              </a:buClr>
                            </a:pPr>
                            <a:endParaRPr lang="fr-FR" sz="600">
                              <a:solidFill>
                                <a:schemeClr val="tx1"/>
                              </a:solidFill>
                              <a:cs typeface="Arial"/>
                            </a:endParaRPr>
                          </a:p>
                        </p:txBody>
                      </p:sp>
                    </p:grpSp>
                  </p:grpSp>
                </p:grpSp>
                <p:cxnSp>
                  <p:nvCxnSpPr>
                    <p:cNvPr id="580" name="Connector: Elbow 579">
                      <a:extLst>
                        <a:ext uri="{FF2B5EF4-FFF2-40B4-BE49-F238E27FC236}">
                          <a16:creationId xmlns:a16="http://schemas.microsoft.com/office/drawing/2014/main" id="{4E8CD3D6-9DEF-3EF0-B5CD-161C2AF62EB3}"/>
                        </a:ext>
                      </a:extLst>
                    </p:cNvPr>
                    <p:cNvCxnSpPr>
                      <a:cxnSpLocks/>
                      <a:stCxn id="607" idx="2"/>
                      <a:endCxn id="610" idx="1"/>
                    </p:cNvCxnSpPr>
                    <p:nvPr/>
                  </p:nvCxnSpPr>
                  <p:spPr>
                    <a:xfrm rot="5400000" flipH="1">
                      <a:off x="8694473" y="3212119"/>
                      <a:ext cx="297776" cy="374130"/>
                    </a:xfrm>
                    <a:prstGeom prst="bentConnector4">
                      <a:avLst>
                        <a:gd name="adj1" fmla="val -76769"/>
                        <a:gd name="adj2" fmla="val 151569"/>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sp>
                <p:nvSpPr>
                  <p:cNvPr id="577" name="Oval 576">
                    <a:extLst>
                      <a:ext uri="{FF2B5EF4-FFF2-40B4-BE49-F238E27FC236}">
                        <a16:creationId xmlns:a16="http://schemas.microsoft.com/office/drawing/2014/main" id="{8BFE0CFF-115E-C532-DFBE-AD380ECC119A}"/>
                      </a:ext>
                    </a:extLst>
                  </p:cNvPr>
                  <p:cNvSpPr/>
                  <p:nvPr/>
                </p:nvSpPr>
                <p:spPr>
                  <a:xfrm>
                    <a:off x="6264420" y="2048821"/>
                    <a:ext cx="507257" cy="183850"/>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fr-FR" sz="600">
                        <a:solidFill>
                          <a:schemeClr val="tx1"/>
                        </a:solidFill>
                      </a:rPr>
                      <a:t>Start</a:t>
                    </a:r>
                    <a:endParaRPr lang="en-US" sz="600"/>
                  </a:p>
                </p:txBody>
              </p:sp>
            </p:grpSp>
            <p:sp>
              <p:nvSpPr>
                <p:cNvPr id="570" name="Rectangle 569">
                  <a:extLst>
                    <a:ext uri="{FF2B5EF4-FFF2-40B4-BE49-F238E27FC236}">
                      <a16:creationId xmlns:a16="http://schemas.microsoft.com/office/drawing/2014/main" id="{F568A45B-DA39-6A29-7378-7614DA5237A1}"/>
                    </a:ext>
                  </a:extLst>
                </p:cNvPr>
                <p:cNvSpPr/>
                <p:nvPr/>
              </p:nvSpPr>
              <p:spPr>
                <a:xfrm>
                  <a:off x="5657511" y="4769997"/>
                  <a:ext cx="748261" cy="1099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rPr>
                    <a:t>Start Thread i+1</a:t>
                  </a:r>
                  <a:endParaRPr lang="en-US" sz="600">
                    <a:solidFill>
                      <a:schemeClr val="tx1"/>
                    </a:solidFill>
                  </a:endParaRPr>
                </a:p>
              </p:txBody>
            </p:sp>
            <p:sp>
              <p:nvSpPr>
                <p:cNvPr id="571" name="Rectangle 570">
                  <a:extLst>
                    <a:ext uri="{FF2B5EF4-FFF2-40B4-BE49-F238E27FC236}">
                      <a16:creationId xmlns:a16="http://schemas.microsoft.com/office/drawing/2014/main" id="{5754A0AC-8497-66B4-C8AA-85E653223C49}"/>
                    </a:ext>
                  </a:extLst>
                </p:cNvPr>
                <p:cNvSpPr/>
                <p:nvPr/>
              </p:nvSpPr>
              <p:spPr>
                <a:xfrm>
                  <a:off x="5609192" y="5008841"/>
                  <a:ext cx="844901" cy="11037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cs typeface="Arial"/>
                    </a:rPr>
                    <a:t>Resume</a:t>
                  </a:r>
                  <a:r>
                    <a:rPr lang="fr-FR" sz="600">
                      <a:solidFill>
                        <a:schemeClr val="tx1"/>
                      </a:solidFill>
                      <a:cs typeface="Arial"/>
                    </a:rPr>
                    <a:t> thread i+1</a:t>
                  </a:r>
                </a:p>
              </p:txBody>
            </p:sp>
            <p:sp>
              <p:nvSpPr>
                <p:cNvPr id="572" name="Rectangle 571">
                  <a:extLst>
                    <a:ext uri="{FF2B5EF4-FFF2-40B4-BE49-F238E27FC236}">
                      <a16:creationId xmlns:a16="http://schemas.microsoft.com/office/drawing/2014/main" id="{97304618-BFAF-4982-8BDD-6D9D551F21EE}"/>
                    </a:ext>
                  </a:extLst>
                </p:cNvPr>
                <p:cNvSpPr/>
                <p:nvPr/>
              </p:nvSpPr>
              <p:spPr>
                <a:xfrm>
                  <a:off x="5657511" y="5270672"/>
                  <a:ext cx="748261" cy="1099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err="1">
                      <a:solidFill>
                        <a:schemeClr val="tx1"/>
                      </a:solidFill>
                    </a:rPr>
                    <a:t>Increment</a:t>
                  </a:r>
                  <a:r>
                    <a:rPr lang="fr-FR" sz="600">
                      <a:solidFill>
                        <a:schemeClr val="tx1"/>
                      </a:solidFill>
                    </a:rPr>
                    <a:t> Ci+1</a:t>
                  </a:r>
                </a:p>
                <a:p>
                  <a:pPr algn="ctr">
                    <a:buClr>
                      <a:schemeClr val="bg1"/>
                    </a:buClr>
                  </a:pPr>
                  <a:endParaRPr lang="fr-FR" sz="600">
                    <a:solidFill>
                      <a:schemeClr val="tx1"/>
                    </a:solidFill>
                    <a:cs typeface="Arial"/>
                  </a:endParaRPr>
                </a:p>
              </p:txBody>
            </p:sp>
            <p:cxnSp>
              <p:nvCxnSpPr>
                <p:cNvPr id="573" name="Straight Arrow Connector 572">
                  <a:extLst>
                    <a:ext uri="{FF2B5EF4-FFF2-40B4-BE49-F238E27FC236}">
                      <a16:creationId xmlns:a16="http://schemas.microsoft.com/office/drawing/2014/main" id="{68E67782-472D-A6CD-8973-99F213FD49D6}"/>
                    </a:ext>
                  </a:extLst>
                </p:cNvPr>
                <p:cNvCxnSpPr>
                  <a:cxnSpLocks/>
                  <a:stCxn id="570" idx="2"/>
                  <a:endCxn id="571" idx="0"/>
                </p:cNvCxnSpPr>
                <p:nvPr/>
              </p:nvCxnSpPr>
              <p:spPr>
                <a:xfrm>
                  <a:off x="6031642" y="4879924"/>
                  <a:ext cx="1" cy="128917"/>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75" name="Connector: Elbow 574">
                  <a:extLst>
                    <a:ext uri="{FF2B5EF4-FFF2-40B4-BE49-F238E27FC236}">
                      <a16:creationId xmlns:a16="http://schemas.microsoft.com/office/drawing/2014/main" id="{F4D4D4FC-5D94-B48E-9423-74AE9F27FE90}"/>
                    </a:ext>
                  </a:extLst>
                </p:cNvPr>
                <p:cNvCxnSpPr>
                  <a:cxnSpLocks/>
                  <a:stCxn id="593" idx="2"/>
                  <a:endCxn id="596" idx="1"/>
                </p:cNvCxnSpPr>
                <p:nvPr/>
              </p:nvCxnSpPr>
              <p:spPr>
                <a:xfrm rot="5400000" flipH="1">
                  <a:off x="4261849" y="4987230"/>
                  <a:ext cx="306779" cy="368803"/>
                </a:xfrm>
                <a:prstGeom prst="bentConnector4">
                  <a:avLst>
                    <a:gd name="adj1" fmla="val -74516"/>
                    <a:gd name="adj2" fmla="val 161984"/>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sp>
            <p:nvSpPr>
              <p:cNvPr id="567" name="TextBox 566">
                <a:extLst>
                  <a:ext uri="{FF2B5EF4-FFF2-40B4-BE49-F238E27FC236}">
                    <a16:creationId xmlns:a16="http://schemas.microsoft.com/office/drawing/2014/main" id="{87451FE9-AAB6-C98B-48FB-6AA2BD519A8B}"/>
                  </a:ext>
                </a:extLst>
              </p:cNvPr>
              <p:cNvSpPr txBox="1"/>
              <p:nvPr/>
            </p:nvSpPr>
            <p:spPr>
              <a:xfrm>
                <a:off x="6281405" y="4879496"/>
                <a:ext cx="748260" cy="169277"/>
              </a:xfrm>
              <a:prstGeom prst="rect">
                <a:avLst/>
              </a:prstGeom>
              <a:noFill/>
            </p:spPr>
            <p:txBody>
              <a:bodyPr wrap="square" rtlCol="0">
                <a:spAutoFit/>
              </a:bodyPr>
              <a:lstStyle/>
              <a:p>
                <a:pPr algn="l"/>
                <a:r>
                  <a:rPr lang="en-US" sz="500">
                    <a:solidFill>
                      <a:schemeClr val="accent2"/>
                    </a:solidFill>
                  </a:rPr>
                  <a:t>To Next thread</a:t>
                </a:r>
              </a:p>
            </p:txBody>
          </p:sp>
          <p:sp>
            <p:nvSpPr>
              <p:cNvPr id="568" name="TextBox 567">
                <a:extLst>
                  <a:ext uri="{FF2B5EF4-FFF2-40B4-BE49-F238E27FC236}">
                    <a16:creationId xmlns:a16="http://schemas.microsoft.com/office/drawing/2014/main" id="{940173A6-5E73-3DE5-3D8F-8A075DBEA140}"/>
                  </a:ext>
                </a:extLst>
              </p:cNvPr>
              <p:cNvSpPr txBox="1"/>
              <p:nvPr/>
            </p:nvSpPr>
            <p:spPr>
              <a:xfrm>
                <a:off x="6252710" y="5142175"/>
                <a:ext cx="776955" cy="169277"/>
              </a:xfrm>
              <a:prstGeom prst="rect">
                <a:avLst/>
              </a:prstGeom>
              <a:noFill/>
            </p:spPr>
            <p:txBody>
              <a:bodyPr wrap="square" rtlCol="0">
                <a:spAutoFit/>
              </a:bodyPr>
              <a:lstStyle/>
              <a:p>
                <a:r>
                  <a:rPr lang="en-US" sz="500">
                    <a:solidFill>
                      <a:schemeClr val="accent2"/>
                    </a:solidFill>
                  </a:rPr>
                  <a:t>From Next thread</a:t>
                </a:r>
              </a:p>
            </p:txBody>
          </p:sp>
        </p:grpSp>
        <p:sp>
          <p:nvSpPr>
            <p:cNvPr id="562" name="TextBox 25">
              <a:extLst>
                <a:ext uri="{FF2B5EF4-FFF2-40B4-BE49-F238E27FC236}">
                  <a16:creationId xmlns:a16="http://schemas.microsoft.com/office/drawing/2014/main" id="{D07B68E0-1511-AEEB-3A59-B9E2F06D36C8}"/>
                </a:ext>
              </a:extLst>
            </p:cNvPr>
            <p:cNvSpPr txBox="1"/>
            <p:nvPr/>
          </p:nvSpPr>
          <p:spPr>
            <a:xfrm>
              <a:off x="6123696" y="3465363"/>
              <a:ext cx="1615604"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600"/>
                <a:t>Clock frequency: </a:t>
              </a:r>
              <a:r>
                <a:rPr lang="fr-FR" sz="600">
                  <a:solidFill>
                    <a:srgbClr val="03234B"/>
                  </a:solidFill>
                </a:rPr>
                <a:t>TI:48MHz , NXP:150MHz , Renesas:200MHz</a:t>
              </a:r>
              <a:endParaRPr lang="fr-FR" sz="600"/>
            </a:p>
          </p:txBody>
        </p:sp>
        <p:sp>
          <p:nvSpPr>
            <p:cNvPr id="563" name="TextBox 562">
              <a:extLst>
                <a:ext uri="{FF2B5EF4-FFF2-40B4-BE49-F238E27FC236}">
                  <a16:creationId xmlns:a16="http://schemas.microsoft.com/office/drawing/2014/main" id="{56D3E7A4-0465-F5F4-FCDA-98C36811702F}"/>
                </a:ext>
              </a:extLst>
            </p:cNvPr>
            <p:cNvSpPr txBox="1"/>
            <p:nvPr/>
          </p:nvSpPr>
          <p:spPr>
            <a:xfrm>
              <a:off x="6154081" y="3799312"/>
              <a:ext cx="554655" cy="184666"/>
            </a:xfrm>
            <a:prstGeom prst="rect">
              <a:avLst/>
            </a:prstGeom>
            <a:noFill/>
          </p:spPr>
          <p:txBody>
            <a:bodyPr wrap="square">
              <a:spAutoFit/>
            </a:bodyPr>
            <a:lstStyle/>
            <a:p>
              <a:pPr>
                <a:defRPr/>
              </a:pPr>
              <a:r>
                <a:rPr lang="fr-FR" sz="600">
                  <a:solidFill>
                    <a:srgbClr val="03234B"/>
                  </a:solidFill>
                </a:rPr>
                <a:t>c0 to c4</a:t>
              </a:r>
              <a:endParaRPr lang="en-US" sz="600">
                <a:solidFill>
                  <a:srgbClr val="03234B"/>
                </a:solidFill>
              </a:endParaRPr>
            </a:p>
          </p:txBody>
        </p:sp>
        <p:sp>
          <p:nvSpPr>
            <p:cNvPr id="564" name="TextBox 563">
              <a:extLst>
                <a:ext uri="{FF2B5EF4-FFF2-40B4-BE49-F238E27FC236}">
                  <a16:creationId xmlns:a16="http://schemas.microsoft.com/office/drawing/2014/main" id="{03822777-0AB2-CF67-5116-E390C76F9236}"/>
                </a:ext>
              </a:extLst>
            </p:cNvPr>
            <p:cNvSpPr txBox="1"/>
            <p:nvPr/>
          </p:nvSpPr>
          <p:spPr>
            <a:xfrm>
              <a:off x="6154081" y="4084661"/>
              <a:ext cx="1632590" cy="184666"/>
            </a:xfrm>
            <a:prstGeom prst="rect">
              <a:avLst/>
            </a:prstGeom>
            <a:noFill/>
          </p:spPr>
          <p:txBody>
            <a:bodyPr wrap="square">
              <a:spAutoFit/>
            </a:bodyPr>
            <a:lstStyle/>
            <a:p>
              <a:pPr lvl="0">
                <a:defRPr/>
              </a:pPr>
              <a:r>
                <a:rPr lang="fr-FR" sz="600" err="1">
                  <a:solidFill>
                    <a:srgbClr val="03234B"/>
                  </a:solidFill>
                </a:rPr>
                <a:t>ascending</a:t>
              </a:r>
              <a:r>
                <a:rPr lang="fr-FR" sz="600">
                  <a:solidFill>
                    <a:srgbClr val="03234B"/>
                  </a:solidFill>
                </a:rPr>
                <a:t> </a:t>
              </a:r>
              <a:r>
                <a:rPr lang="fr-FR" sz="600" err="1">
                  <a:solidFill>
                    <a:srgbClr val="03234B"/>
                  </a:solidFill>
                </a:rPr>
                <a:t>priorities</a:t>
              </a:r>
              <a:r>
                <a:rPr lang="fr-FR" sz="600">
                  <a:solidFill>
                    <a:srgbClr val="03234B"/>
                  </a:solidFill>
                </a:rPr>
                <a:t> ,</a:t>
              </a:r>
              <a:r>
                <a:rPr lang="fr-FR" sz="600" err="1">
                  <a:solidFill>
                    <a:srgbClr val="03234B"/>
                  </a:solidFill>
                </a:rPr>
                <a:t>from</a:t>
              </a:r>
              <a:r>
                <a:rPr lang="fr-FR" sz="600">
                  <a:solidFill>
                    <a:srgbClr val="03234B"/>
                  </a:solidFill>
                </a:rPr>
                <a:t> </a:t>
              </a:r>
              <a:r>
                <a:rPr lang="fr-FR" sz="600" err="1">
                  <a:solidFill>
                    <a:srgbClr val="03234B"/>
                  </a:solidFill>
                </a:rPr>
                <a:t>lowest</a:t>
              </a:r>
              <a:r>
                <a:rPr lang="fr-FR" sz="600">
                  <a:solidFill>
                    <a:srgbClr val="03234B"/>
                  </a:solidFill>
                </a:rPr>
                <a:t> to </a:t>
              </a:r>
              <a:r>
                <a:rPr lang="fr-FR" sz="600" err="1">
                  <a:solidFill>
                    <a:srgbClr val="03234B"/>
                  </a:solidFill>
                </a:rPr>
                <a:t>highest</a:t>
              </a:r>
              <a:endParaRPr kumimoji="0" lang="en-US" sz="600" i="0" u="none" strike="noStrike" kern="1200" cap="none" spc="0" normalizeH="0" baseline="0" noProof="0">
                <a:ln>
                  <a:noFill/>
                </a:ln>
                <a:solidFill>
                  <a:srgbClr val="03234B"/>
                </a:solidFill>
                <a:effectLst/>
                <a:uLnTx/>
                <a:uFillTx/>
                <a:latin typeface="Arial"/>
                <a:ea typeface="+mn-ea"/>
                <a:cs typeface="+mn-cs"/>
              </a:endParaRPr>
            </a:p>
          </p:txBody>
        </p:sp>
        <p:sp>
          <p:nvSpPr>
            <p:cNvPr id="565" name="TextBox 564">
              <a:extLst>
                <a:ext uri="{FF2B5EF4-FFF2-40B4-BE49-F238E27FC236}">
                  <a16:creationId xmlns:a16="http://schemas.microsoft.com/office/drawing/2014/main" id="{3FF9BF68-D82A-D079-321A-3192FC1E524D}"/>
                </a:ext>
              </a:extLst>
            </p:cNvPr>
            <p:cNvSpPr txBox="1"/>
            <p:nvPr/>
          </p:nvSpPr>
          <p:spPr>
            <a:xfrm>
              <a:off x="6136488" y="4587226"/>
              <a:ext cx="1314262" cy="276999"/>
            </a:xfrm>
            <a:prstGeom prst="rect">
              <a:avLst/>
            </a:prstGeom>
            <a:noFill/>
          </p:spPr>
          <p:txBody>
            <a:bodyPr wrap="square">
              <a:spAutoFit/>
            </a:bodyPr>
            <a:lstStyle/>
            <a:p>
              <a:pPr lvl="0">
                <a:defRPr/>
              </a:pPr>
              <a:r>
                <a:rPr lang="fr-FR" sz="600">
                  <a:solidFill>
                    <a:srgbClr val="03234B"/>
                  </a:solidFill>
                </a:rPr>
                <a:t>Suspend Threads 1 </a:t>
              </a:r>
              <a:r>
                <a:rPr lang="fr-FR" sz="600" err="1">
                  <a:solidFill>
                    <a:srgbClr val="03234B"/>
                  </a:solidFill>
                </a:rPr>
                <a:t>through</a:t>
              </a:r>
              <a:r>
                <a:rPr lang="fr-FR" sz="600">
                  <a:solidFill>
                    <a:srgbClr val="03234B"/>
                  </a:solidFill>
                </a:rPr>
                <a:t> 4 ;start </a:t>
              </a:r>
              <a:r>
                <a:rPr lang="fr-FR" sz="600" err="1">
                  <a:solidFill>
                    <a:srgbClr val="03234B"/>
                  </a:solidFill>
                </a:rPr>
                <a:t>with</a:t>
              </a:r>
              <a:r>
                <a:rPr lang="fr-FR" sz="600">
                  <a:solidFill>
                    <a:srgbClr val="03234B"/>
                  </a:solidFill>
                </a:rPr>
                <a:t> Thread 0 active</a:t>
              </a:r>
              <a:endParaRPr lang="en-US" sz="600">
                <a:solidFill>
                  <a:srgbClr val="03234B"/>
                </a:solidFill>
              </a:endParaRPr>
            </a:p>
          </p:txBody>
        </p:sp>
      </p:grpSp>
      <p:cxnSp>
        <p:nvCxnSpPr>
          <p:cNvPr id="672" name="Connector: Elbow 671">
            <a:extLst>
              <a:ext uri="{FF2B5EF4-FFF2-40B4-BE49-F238E27FC236}">
                <a16:creationId xmlns:a16="http://schemas.microsoft.com/office/drawing/2014/main" id="{D78AFBE8-D97C-02D3-B8A4-66DEC59DF190}"/>
              </a:ext>
            </a:extLst>
          </p:cNvPr>
          <p:cNvCxnSpPr>
            <a:cxnSpLocks/>
          </p:cNvCxnSpPr>
          <p:nvPr/>
        </p:nvCxnSpPr>
        <p:spPr>
          <a:xfrm rot="16200000" flipH="1">
            <a:off x="10263610" y="2772180"/>
            <a:ext cx="353802" cy="2303489"/>
          </a:xfrm>
          <a:prstGeom prst="bentConnector3">
            <a:avLst>
              <a:gd name="adj1" fmla="val 43269"/>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73" name="Connector: Elbow 672">
            <a:extLst>
              <a:ext uri="{FF2B5EF4-FFF2-40B4-BE49-F238E27FC236}">
                <a16:creationId xmlns:a16="http://schemas.microsoft.com/office/drawing/2014/main" id="{46CC556D-E546-B6D0-465E-6333FBE0F678}"/>
              </a:ext>
            </a:extLst>
          </p:cNvPr>
          <p:cNvCxnSpPr>
            <a:cxnSpLocks/>
          </p:cNvCxnSpPr>
          <p:nvPr/>
        </p:nvCxnSpPr>
        <p:spPr>
          <a:xfrm rot="5400000">
            <a:off x="8809296" y="3577341"/>
            <a:ext cx="309789" cy="649154"/>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90" name="Connector: Elbow 689">
            <a:extLst>
              <a:ext uri="{FF2B5EF4-FFF2-40B4-BE49-F238E27FC236}">
                <a16:creationId xmlns:a16="http://schemas.microsoft.com/office/drawing/2014/main" id="{1107F850-2E10-0760-75C2-9C64A0BEB5E9}"/>
              </a:ext>
            </a:extLst>
          </p:cNvPr>
          <p:cNvCxnSpPr>
            <a:cxnSpLocks/>
          </p:cNvCxnSpPr>
          <p:nvPr/>
        </p:nvCxnSpPr>
        <p:spPr>
          <a:xfrm flipV="1">
            <a:off x="9013741" y="4093091"/>
            <a:ext cx="1052548" cy="248244"/>
          </a:xfrm>
          <a:prstGeom prst="bentConnector4">
            <a:avLst>
              <a:gd name="adj1" fmla="val 32227"/>
              <a:gd name="adj2" fmla="val 146043"/>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97" name="Straight Arrow Connector 696">
            <a:extLst>
              <a:ext uri="{FF2B5EF4-FFF2-40B4-BE49-F238E27FC236}">
                <a16:creationId xmlns:a16="http://schemas.microsoft.com/office/drawing/2014/main" id="{896525F0-82BE-FFEF-6247-3ED940252BA0}"/>
              </a:ext>
            </a:extLst>
          </p:cNvPr>
          <p:cNvCxnSpPr>
            <a:cxnSpLocks/>
          </p:cNvCxnSpPr>
          <p:nvPr/>
        </p:nvCxnSpPr>
        <p:spPr>
          <a:xfrm>
            <a:off x="10488740" y="4387120"/>
            <a:ext cx="157149" cy="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705" name="Straight Arrow Connector 704">
            <a:extLst>
              <a:ext uri="{FF2B5EF4-FFF2-40B4-BE49-F238E27FC236}">
                <a16:creationId xmlns:a16="http://schemas.microsoft.com/office/drawing/2014/main" id="{04AD4620-FBA8-455E-0803-49DC383CDB05}"/>
              </a:ext>
            </a:extLst>
          </p:cNvPr>
          <p:cNvCxnSpPr>
            <a:cxnSpLocks/>
          </p:cNvCxnSpPr>
          <p:nvPr/>
        </p:nvCxnSpPr>
        <p:spPr>
          <a:xfrm flipH="1">
            <a:off x="10440419" y="4645710"/>
            <a:ext cx="175085" cy="302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709" name="Rectangle 708">
            <a:extLst>
              <a:ext uri="{FF2B5EF4-FFF2-40B4-BE49-F238E27FC236}">
                <a16:creationId xmlns:a16="http://schemas.microsoft.com/office/drawing/2014/main" id="{11537465-5DA7-97EA-6026-AC8BC124B97E}"/>
              </a:ext>
            </a:extLst>
          </p:cNvPr>
          <p:cNvSpPr/>
          <p:nvPr/>
        </p:nvSpPr>
        <p:spPr>
          <a:xfrm>
            <a:off x="9692158" y="4833038"/>
            <a:ext cx="748261" cy="1099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600">
              <a:solidFill>
                <a:schemeClr val="tx1"/>
              </a:solidFill>
            </a:endParaRPr>
          </a:p>
          <a:p>
            <a:pPr algn="ctr">
              <a:buClr>
                <a:schemeClr val="bg1"/>
              </a:buClr>
            </a:pPr>
            <a:r>
              <a:rPr lang="fr-FR" sz="600">
                <a:solidFill>
                  <a:schemeClr val="tx1"/>
                </a:solidFill>
              </a:rPr>
              <a:t>Suspend Ci+1</a:t>
            </a:r>
          </a:p>
          <a:p>
            <a:pPr algn="ctr">
              <a:buClr>
                <a:schemeClr val="bg1"/>
              </a:buClr>
            </a:pPr>
            <a:endParaRPr lang="fr-FR" sz="600">
              <a:solidFill>
                <a:schemeClr val="tx1"/>
              </a:solidFill>
              <a:cs typeface="Arial"/>
            </a:endParaRPr>
          </a:p>
        </p:txBody>
      </p:sp>
      <p:cxnSp>
        <p:nvCxnSpPr>
          <p:cNvPr id="710" name="Straight Arrow Connector 709">
            <a:extLst>
              <a:ext uri="{FF2B5EF4-FFF2-40B4-BE49-F238E27FC236}">
                <a16:creationId xmlns:a16="http://schemas.microsoft.com/office/drawing/2014/main" id="{86CE9FCE-7C38-5BA1-C8AB-2DCD4FB94AE3}"/>
              </a:ext>
            </a:extLst>
          </p:cNvPr>
          <p:cNvCxnSpPr>
            <a:cxnSpLocks/>
            <a:endCxn id="709" idx="0"/>
          </p:cNvCxnSpPr>
          <p:nvPr/>
        </p:nvCxnSpPr>
        <p:spPr>
          <a:xfrm>
            <a:off x="10066289" y="4703693"/>
            <a:ext cx="0" cy="12934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714" name="Connector: Elbow 713">
            <a:extLst>
              <a:ext uri="{FF2B5EF4-FFF2-40B4-BE49-F238E27FC236}">
                <a16:creationId xmlns:a16="http://schemas.microsoft.com/office/drawing/2014/main" id="{7558AF7C-6753-89F8-AB2A-8C2674EE456A}"/>
              </a:ext>
            </a:extLst>
          </p:cNvPr>
          <p:cNvCxnSpPr>
            <a:cxnSpLocks/>
            <a:stCxn id="709" idx="1"/>
          </p:cNvCxnSpPr>
          <p:nvPr/>
        </p:nvCxnSpPr>
        <p:spPr>
          <a:xfrm rot="10800000">
            <a:off x="8978024" y="4593152"/>
            <a:ext cx="714135" cy="294851"/>
          </a:xfrm>
          <a:prstGeom prst="bentConnector3">
            <a:avLst>
              <a:gd name="adj1" fmla="val 500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719" name="TextBox 718">
            <a:extLst>
              <a:ext uri="{FF2B5EF4-FFF2-40B4-BE49-F238E27FC236}">
                <a16:creationId xmlns:a16="http://schemas.microsoft.com/office/drawing/2014/main" id="{4F81463F-9B7B-AA8D-713D-0F803FA5C6B2}"/>
              </a:ext>
            </a:extLst>
          </p:cNvPr>
          <p:cNvSpPr txBox="1"/>
          <p:nvPr/>
        </p:nvSpPr>
        <p:spPr>
          <a:xfrm>
            <a:off x="8468780" y="1639019"/>
            <a:ext cx="2416332" cy="246221"/>
          </a:xfrm>
          <a:prstGeom prst="rect">
            <a:avLst/>
          </a:prstGeom>
          <a:noFill/>
        </p:spPr>
        <p:txBody>
          <a:bodyPr wrap="square">
            <a:spAutoFit/>
          </a:bodyPr>
          <a:lstStyle/>
          <a:p>
            <a:r>
              <a:rPr lang="fr-FR" sz="1000" b="1" err="1">
                <a:solidFill>
                  <a:schemeClr val="accent2"/>
                </a:solidFill>
              </a:rPr>
              <a:t>Preemptive</a:t>
            </a:r>
            <a:r>
              <a:rPr lang="fr-FR" sz="1000" b="1">
                <a:solidFill>
                  <a:schemeClr val="accent2"/>
                </a:solidFill>
              </a:rPr>
              <a:t> </a:t>
            </a:r>
            <a:r>
              <a:rPr lang="fr-FR" sz="1000" b="1" err="1">
                <a:solidFill>
                  <a:schemeClr val="accent2"/>
                </a:solidFill>
              </a:rPr>
              <a:t>Scheduling</a:t>
            </a:r>
            <a:r>
              <a:rPr lang="fr-FR" sz="1000" b="1">
                <a:solidFill>
                  <a:schemeClr val="accent2"/>
                </a:solidFill>
              </a:rPr>
              <a:t> </a:t>
            </a:r>
            <a:r>
              <a:rPr lang="fr-FR" sz="1000" b="1" err="1">
                <a:solidFill>
                  <a:schemeClr val="accent2"/>
                </a:solidFill>
              </a:rPr>
              <a:t>Flowchart</a:t>
            </a:r>
            <a:endParaRPr lang="en-US" sz="1000">
              <a:solidFill>
                <a:schemeClr val="accent2"/>
              </a:solidFill>
            </a:endParaRPr>
          </a:p>
        </p:txBody>
      </p:sp>
      <p:sp>
        <p:nvSpPr>
          <p:cNvPr id="4" name="Rectangle 3">
            <a:extLst>
              <a:ext uri="{FF2B5EF4-FFF2-40B4-BE49-F238E27FC236}">
                <a16:creationId xmlns:a16="http://schemas.microsoft.com/office/drawing/2014/main" id="{60DE34B9-0355-A0ED-8335-0F0F1F4BD1A5}"/>
              </a:ext>
            </a:extLst>
          </p:cNvPr>
          <p:cNvSpPr/>
          <p:nvPr/>
        </p:nvSpPr>
        <p:spPr>
          <a:xfrm>
            <a:off x="6862038" y="3964430"/>
            <a:ext cx="988662" cy="131323"/>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a:solidFill>
                  <a:schemeClr val="tx1"/>
                </a:solidFill>
              </a:rPr>
              <a:t>Start </a:t>
            </a:r>
            <a:r>
              <a:rPr lang="fr-FR" sz="600" err="1">
                <a:solidFill>
                  <a:schemeClr val="tx1"/>
                </a:solidFill>
              </a:rPr>
              <a:t>Reporting</a:t>
            </a:r>
            <a:r>
              <a:rPr lang="fr-FR" sz="600">
                <a:solidFill>
                  <a:schemeClr val="tx1"/>
                </a:solidFill>
              </a:rPr>
              <a:t> Thread</a:t>
            </a:r>
            <a:endParaRPr lang="en-US" sz="600">
              <a:solidFill>
                <a:schemeClr val="tx1"/>
              </a:solidFill>
            </a:endParaRPr>
          </a:p>
        </p:txBody>
      </p:sp>
      <p:sp>
        <p:nvSpPr>
          <p:cNvPr id="27" name="Rectangle 26">
            <a:extLst>
              <a:ext uri="{FF2B5EF4-FFF2-40B4-BE49-F238E27FC236}">
                <a16:creationId xmlns:a16="http://schemas.microsoft.com/office/drawing/2014/main" id="{3D294EFE-613D-23EE-F357-CF10907BC3A5}"/>
              </a:ext>
            </a:extLst>
          </p:cNvPr>
          <p:cNvSpPr/>
          <p:nvPr/>
        </p:nvSpPr>
        <p:spPr>
          <a:xfrm>
            <a:off x="6862037" y="4224669"/>
            <a:ext cx="990452" cy="10992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600" err="1">
                <a:solidFill>
                  <a:schemeClr val="tx1"/>
                </a:solidFill>
              </a:rPr>
              <a:t>Sleep</a:t>
            </a:r>
            <a:r>
              <a:rPr lang="fr-FR" sz="600">
                <a:solidFill>
                  <a:schemeClr val="tx1"/>
                </a:solidFill>
              </a:rPr>
              <a:t> for 30 s</a:t>
            </a:r>
          </a:p>
        </p:txBody>
      </p:sp>
      <p:sp>
        <p:nvSpPr>
          <p:cNvPr id="28" name="Rectangle 27">
            <a:extLst>
              <a:ext uri="{FF2B5EF4-FFF2-40B4-BE49-F238E27FC236}">
                <a16:creationId xmlns:a16="http://schemas.microsoft.com/office/drawing/2014/main" id="{3D83DE14-1382-476D-3A04-DEBFFD1279FD}"/>
              </a:ext>
            </a:extLst>
          </p:cNvPr>
          <p:cNvSpPr/>
          <p:nvPr/>
        </p:nvSpPr>
        <p:spPr>
          <a:xfrm>
            <a:off x="6862036" y="4431611"/>
            <a:ext cx="988662" cy="10992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endParaRPr lang="fr-FR" sz="1400">
              <a:solidFill>
                <a:schemeClr val="tx1"/>
              </a:solidFill>
            </a:endParaRPr>
          </a:p>
          <a:p>
            <a:pPr algn="ctr">
              <a:buClr>
                <a:schemeClr val="bg1"/>
              </a:buClr>
            </a:pPr>
            <a:r>
              <a:rPr lang="fr-FR" sz="600" err="1">
                <a:solidFill>
                  <a:schemeClr val="tx1"/>
                </a:solidFill>
              </a:rPr>
              <a:t>Print</a:t>
            </a:r>
            <a:r>
              <a:rPr lang="fr-FR" sz="600">
                <a:solidFill>
                  <a:schemeClr val="tx1"/>
                </a:solidFill>
              </a:rPr>
              <a:t> the 5 </a:t>
            </a:r>
            <a:r>
              <a:rPr lang="fr-FR" sz="600" err="1">
                <a:solidFill>
                  <a:schemeClr val="tx1"/>
                </a:solidFill>
              </a:rPr>
              <a:t>counters</a:t>
            </a:r>
            <a:endParaRPr lang="fr-FR" sz="600">
              <a:solidFill>
                <a:schemeClr val="tx1"/>
              </a:solidFill>
            </a:endParaRPr>
          </a:p>
          <a:p>
            <a:pPr algn="ctr">
              <a:buClr>
                <a:schemeClr val="bg1"/>
              </a:buClr>
            </a:pPr>
            <a:endParaRPr lang="fr-FR" sz="1400">
              <a:solidFill>
                <a:schemeClr val="tx1"/>
              </a:solidFill>
              <a:cs typeface="Arial"/>
            </a:endParaRPr>
          </a:p>
        </p:txBody>
      </p:sp>
      <p:cxnSp>
        <p:nvCxnSpPr>
          <p:cNvPr id="29" name="Straight Arrow Connector 28">
            <a:extLst>
              <a:ext uri="{FF2B5EF4-FFF2-40B4-BE49-F238E27FC236}">
                <a16:creationId xmlns:a16="http://schemas.microsoft.com/office/drawing/2014/main" id="{49ED2253-0670-952D-FCD7-C55A200FD6A6}"/>
              </a:ext>
            </a:extLst>
          </p:cNvPr>
          <p:cNvCxnSpPr>
            <a:cxnSpLocks/>
            <a:stCxn id="4" idx="2"/>
            <a:endCxn id="27" idx="0"/>
          </p:cNvCxnSpPr>
          <p:nvPr/>
        </p:nvCxnSpPr>
        <p:spPr>
          <a:xfrm>
            <a:off x="7356369" y="4095753"/>
            <a:ext cx="894" cy="128916"/>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6" name="Straight Arrow Connector 55">
            <a:extLst>
              <a:ext uri="{FF2B5EF4-FFF2-40B4-BE49-F238E27FC236}">
                <a16:creationId xmlns:a16="http://schemas.microsoft.com/office/drawing/2014/main" id="{921C3C0B-52CE-F430-3F1D-24608AD38EC0}"/>
              </a:ext>
            </a:extLst>
          </p:cNvPr>
          <p:cNvCxnSpPr>
            <a:cxnSpLocks/>
            <a:endCxn id="28" idx="0"/>
          </p:cNvCxnSpPr>
          <p:nvPr/>
        </p:nvCxnSpPr>
        <p:spPr>
          <a:xfrm flipH="1">
            <a:off x="7356367" y="4287426"/>
            <a:ext cx="2" cy="14418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482" name="Straight Arrow Connector 481">
            <a:extLst>
              <a:ext uri="{FF2B5EF4-FFF2-40B4-BE49-F238E27FC236}">
                <a16:creationId xmlns:a16="http://schemas.microsoft.com/office/drawing/2014/main" id="{EB6B57CD-3AB8-B29F-B85D-044F74A5E51A}"/>
              </a:ext>
            </a:extLst>
          </p:cNvPr>
          <p:cNvCxnSpPr>
            <a:cxnSpLocks/>
            <a:stCxn id="594" idx="2"/>
            <a:endCxn id="596" idx="0"/>
          </p:cNvCxnSpPr>
          <p:nvPr/>
        </p:nvCxnSpPr>
        <p:spPr>
          <a:xfrm flipH="1">
            <a:off x="8645097" y="4166735"/>
            <a:ext cx="1" cy="11940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6" name="Slide Number Placeholder 5">
            <a:extLst>
              <a:ext uri="{FF2B5EF4-FFF2-40B4-BE49-F238E27FC236}">
                <a16:creationId xmlns:a16="http://schemas.microsoft.com/office/drawing/2014/main" id="{FEA6E330-F04F-16A0-3ED5-87BDD0533715}"/>
              </a:ext>
            </a:extLst>
          </p:cNvPr>
          <p:cNvSpPr>
            <a:spLocks noGrp="1"/>
          </p:cNvSpPr>
          <p:nvPr>
            <p:ph type="sldNum" sz="quarter" idx="12"/>
          </p:nvPr>
        </p:nvSpPr>
        <p:spPr/>
        <p:txBody>
          <a:bodyPr/>
          <a:lstStyle/>
          <a:p>
            <a:fld id="{40A7B169-58CE-4E65-B1F9-ACF9E46440C2}" type="slidenum">
              <a:rPr lang="en-US" smtClean="0"/>
              <a:t>10</a:t>
            </a:fld>
            <a:endParaRPr lang="en-US"/>
          </a:p>
        </p:txBody>
      </p:sp>
    </p:spTree>
    <p:extLst>
      <p:ext uri="{BB962C8B-B14F-4D97-AF65-F5344CB8AC3E}">
        <p14:creationId xmlns:p14="http://schemas.microsoft.com/office/powerpoint/2010/main" val="604325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E998F7-ECE9-762A-397E-337D7D35F4C3}"/>
              </a:ext>
            </a:extLst>
          </p:cNvPr>
          <p:cNvSpPr>
            <a:spLocks noGrp="1"/>
          </p:cNvSpPr>
          <p:nvPr>
            <p:ph type="title"/>
          </p:nvPr>
        </p:nvSpPr>
        <p:spPr/>
        <p:txBody>
          <a:bodyPr/>
          <a:lstStyle/>
          <a:p>
            <a:r>
              <a:rPr lang="en-US"/>
              <a:t>ST Competitors MW Benchmark: RTOS</a:t>
            </a:r>
            <a:br>
              <a:rPr lang="en-US"/>
            </a:br>
            <a:r>
              <a:rPr lang="en-US" sz="2400" b="1">
                <a:solidFill>
                  <a:schemeClr val="accent2"/>
                </a:solidFill>
              </a:rPr>
              <a:t>ST vs TI, NXP &amp; Renesas Tests</a:t>
            </a:r>
          </a:p>
        </p:txBody>
      </p:sp>
      <p:sp>
        <p:nvSpPr>
          <p:cNvPr id="5" name="TextBox 4">
            <a:extLst>
              <a:ext uri="{FF2B5EF4-FFF2-40B4-BE49-F238E27FC236}">
                <a16:creationId xmlns:a16="http://schemas.microsoft.com/office/drawing/2014/main" id="{3FA58069-0C79-3175-09BD-37A0B148BB1E}"/>
              </a:ext>
            </a:extLst>
          </p:cNvPr>
          <p:cNvSpPr txBox="1"/>
          <p:nvPr/>
        </p:nvSpPr>
        <p:spPr>
          <a:xfrm>
            <a:off x="601788" y="1149519"/>
            <a:ext cx="2871876" cy="246221"/>
          </a:xfrm>
          <a:prstGeom prst="rect">
            <a:avLst/>
          </a:prstGeom>
          <a:noFill/>
        </p:spPr>
        <p:txBody>
          <a:bodyPr wrap="square" rtlCol="0">
            <a:spAutoFit/>
          </a:bodyPr>
          <a:lstStyle/>
          <a:p>
            <a:r>
              <a:rPr lang="en-US" sz="1000" b="1" err="1">
                <a:solidFill>
                  <a:srgbClr val="0070C0"/>
                </a:solidFill>
              </a:rPr>
              <a:t>FreeRTOS</a:t>
            </a:r>
            <a:r>
              <a:rPr lang="en-US" sz="1000" b="1">
                <a:solidFill>
                  <a:srgbClr val="0070C0"/>
                </a:solidFill>
              </a:rPr>
              <a:t> performance (thread/s)</a:t>
            </a:r>
          </a:p>
        </p:txBody>
      </p:sp>
      <p:sp>
        <p:nvSpPr>
          <p:cNvPr id="10" name="TextBox 9">
            <a:extLst>
              <a:ext uri="{FF2B5EF4-FFF2-40B4-BE49-F238E27FC236}">
                <a16:creationId xmlns:a16="http://schemas.microsoft.com/office/drawing/2014/main" id="{8E49219C-7E29-860A-13F6-1CE5A094DF2D}"/>
              </a:ext>
            </a:extLst>
          </p:cNvPr>
          <p:cNvSpPr txBox="1"/>
          <p:nvPr/>
        </p:nvSpPr>
        <p:spPr>
          <a:xfrm rot="16200000">
            <a:off x="-956432" y="2216134"/>
            <a:ext cx="2412336" cy="461665"/>
          </a:xfrm>
          <a:prstGeom prst="rect">
            <a:avLst/>
          </a:prstGeom>
          <a:noFill/>
        </p:spPr>
        <p:txBody>
          <a:bodyPr vert="horz" wrap="square" lIns="91440" tIns="45720" rIns="91440" bIns="45720" anchor="t">
            <a:spAutoFit/>
          </a:bodyPr>
          <a:lstStyle/>
          <a:p>
            <a:r>
              <a:rPr lang="en-US" sz="1200" b="1">
                <a:solidFill>
                  <a:srgbClr val="0070C0"/>
                </a:solidFill>
              </a:rPr>
              <a:t>FreeRTOS 10.6.2 (TI/ Renesas)</a:t>
            </a:r>
          </a:p>
          <a:p>
            <a:r>
              <a:rPr lang="en-US" sz="1200" b="1">
                <a:solidFill>
                  <a:srgbClr val="0070C0"/>
                </a:solidFill>
              </a:rPr>
              <a:t>FreeRTOS 11.1.0 (NXP) </a:t>
            </a:r>
            <a:endParaRPr lang="en-US" sz="1200">
              <a:solidFill>
                <a:srgbClr val="0070C0"/>
              </a:solidFill>
            </a:endParaRPr>
          </a:p>
        </p:txBody>
      </p:sp>
      <p:sp>
        <p:nvSpPr>
          <p:cNvPr id="12" name="TextBox 11">
            <a:extLst>
              <a:ext uri="{FF2B5EF4-FFF2-40B4-BE49-F238E27FC236}">
                <a16:creationId xmlns:a16="http://schemas.microsoft.com/office/drawing/2014/main" id="{853E4187-FEB5-0B52-192A-35A5E979E074}"/>
              </a:ext>
            </a:extLst>
          </p:cNvPr>
          <p:cNvSpPr txBox="1"/>
          <p:nvPr/>
        </p:nvSpPr>
        <p:spPr>
          <a:xfrm rot="16200000">
            <a:off x="-730955" y="5026024"/>
            <a:ext cx="2061986" cy="276999"/>
          </a:xfrm>
          <a:prstGeom prst="rect">
            <a:avLst/>
          </a:prstGeom>
          <a:noFill/>
        </p:spPr>
        <p:txBody>
          <a:bodyPr wrap="square">
            <a:spAutoFit/>
          </a:bodyPr>
          <a:lstStyle/>
          <a:p>
            <a:r>
              <a:rPr lang="en-US" sz="1200" b="1" err="1">
                <a:solidFill>
                  <a:srgbClr val="0070C0"/>
                </a:solidFill>
              </a:rPr>
              <a:t>AzureRTOS</a:t>
            </a:r>
            <a:r>
              <a:rPr lang="en-US" sz="1200" b="1">
                <a:solidFill>
                  <a:srgbClr val="0070C0"/>
                </a:solidFill>
              </a:rPr>
              <a:t> </a:t>
            </a:r>
            <a:r>
              <a:rPr lang="en-US" sz="1200" b="1" err="1">
                <a:solidFill>
                  <a:srgbClr val="0070C0"/>
                </a:solidFill>
              </a:rPr>
              <a:t>ThreadX</a:t>
            </a:r>
            <a:r>
              <a:rPr lang="en-US" sz="1200" b="1">
                <a:solidFill>
                  <a:srgbClr val="0070C0"/>
                </a:solidFill>
              </a:rPr>
              <a:t> 6.4.0 </a:t>
            </a:r>
            <a:endParaRPr lang="en-US" sz="1200">
              <a:solidFill>
                <a:srgbClr val="0070C0"/>
              </a:solidFill>
            </a:endParaRPr>
          </a:p>
        </p:txBody>
      </p:sp>
      <p:cxnSp>
        <p:nvCxnSpPr>
          <p:cNvPr id="13" name="Straight Connector 12">
            <a:extLst>
              <a:ext uri="{FF2B5EF4-FFF2-40B4-BE49-F238E27FC236}">
                <a16:creationId xmlns:a16="http://schemas.microsoft.com/office/drawing/2014/main" id="{A487367D-B87B-E1B3-EC4D-D6C5A6C0E976}"/>
              </a:ext>
            </a:extLst>
          </p:cNvPr>
          <p:cNvCxnSpPr>
            <a:cxnSpLocks/>
          </p:cNvCxnSpPr>
          <p:nvPr/>
        </p:nvCxnSpPr>
        <p:spPr>
          <a:xfrm>
            <a:off x="0" y="4071758"/>
            <a:ext cx="12054360" cy="0"/>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sp>
        <p:nvSpPr>
          <p:cNvPr id="21" name="TextBox 20">
            <a:extLst>
              <a:ext uri="{FF2B5EF4-FFF2-40B4-BE49-F238E27FC236}">
                <a16:creationId xmlns:a16="http://schemas.microsoft.com/office/drawing/2014/main" id="{9A7E21E8-9779-B9A2-00A6-D79EA487A6FC}"/>
              </a:ext>
            </a:extLst>
          </p:cNvPr>
          <p:cNvSpPr txBox="1"/>
          <p:nvPr/>
        </p:nvSpPr>
        <p:spPr>
          <a:xfrm>
            <a:off x="535026" y="4083351"/>
            <a:ext cx="2871876" cy="246221"/>
          </a:xfrm>
          <a:prstGeom prst="rect">
            <a:avLst/>
          </a:prstGeom>
          <a:noFill/>
        </p:spPr>
        <p:txBody>
          <a:bodyPr wrap="square" rtlCol="0">
            <a:spAutoFit/>
          </a:bodyPr>
          <a:lstStyle/>
          <a:p>
            <a:r>
              <a:rPr lang="en-US" sz="1000" b="1" err="1">
                <a:solidFill>
                  <a:srgbClr val="0070C0"/>
                </a:solidFill>
              </a:rPr>
              <a:t>ThreadX</a:t>
            </a:r>
            <a:r>
              <a:rPr lang="en-US" sz="1000" b="1">
                <a:solidFill>
                  <a:srgbClr val="0070C0"/>
                </a:solidFill>
              </a:rPr>
              <a:t> performance (thread/s)</a:t>
            </a:r>
          </a:p>
        </p:txBody>
      </p:sp>
      <p:sp>
        <p:nvSpPr>
          <p:cNvPr id="22" name="TextBox 21">
            <a:extLst>
              <a:ext uri="{FF2B5EF4-FFF2-40B4-BE49-F238E27FC236}">
                <a16:creationId xmlns:a16="http://schemas.microsoft.com/office/drawing/2014/main" id="{6F6D3949-9920-7FB3-9383-A1BF6AF40B8E}"/>
              </a:ext>
            </a:extLst>
          </p:cNvPr>
          <p:cNvSpPr txBox="1"/>
          <p:nvPr/>
        </p:nvSpPr>
        <p:spPr>
          <a:xfrm>
            <a:off x="8144146" y="1145348"/>
            <a:ext cx="2871876" cy="246221"/>
          </a:xfrm>
          <a:prstGeom prst="rect">
            <a:avLst/>
          </a:prstGeom>
          <a:noFill/>
        </p:spPr>
        <p:txBody>
          <a:bodyPr wrap="square" rtlCol="0">
            <a:spAutoFit/>
          </a:bodyPr>
          <a:lstStyle/>
          <a:p>
            <a:r>
              <a:rPr lang="en-US" sz="1000" b="1" err="1">
                <a:solidFill>
                  <a:srgbClr val="0070C0"/>
                </a:solidFill>
              </a:rPr>
              <a:t>FreeRTOS</a:t>
            </a:r>
            <a:r>
              <a:rPr lang="en-US" sz="1000" b="1">
                <a:solidFill>
                  <a:srgbClr val="0070C0"/>
                </a:solidFill>
              </a:rPr>
              <a:t> Footprint</a:t>
            </a:r>
            <a:endParaRPr lang="en-US" sz="1000" b="1">
              <a:solidFill>
                <a:schemeClr val="accent2"/>
              </a:solidFill>
            </a:endParaRPr>
          </a:p>
        </p:txBody>
      </p:sp>
      <p:sp>
        <p:nvSpPr>
          <p:cNvPr id="23" name="TextBox 22">
            <a:extLst>
              <a:ext uri="{FF2B5EF4-FFF2-40B4-BE49-F238E27FC236}">
                <a16:creationId xmlns:a16="http://schemas.microsoft.com/office/drawing/2014/main" id="{4DCEA7E4-8DED-C33E-410A-E3D0D27FB43E}"/>
              </a:ext>
            </a:extLst>
          </p:cNvPr>
          <p:cNvSpPr txBox="1"/>
          <p:nvPr/>
        </p:nvSpPr>
        <p:spPr>
          <a:xfrm>
            <a:off x="8080748" y="4067680"/>
            <a:ext cx="2871876" cy="246221"/>
          </a:xfrm>
          <a:prstGeom prst="rect">
            <a:avLst/>
          </a:prstGeom>
          <a:noFill/>
        </p:spPr>
        <p:txBody>
          <a:bodyPr wrap="square" rtlCol="0">
            <a:spAutoFit/>
          </a:bodyPr>
          <a:lstStyle/>
          <a:p>
            <a:r>
              <a:rPr lang="en-US" sz="1000" b="1" err="1">
                <a:solidFill>
                  <a:srgbClr val="0070C0"/>
                </a:solidFill>
              </a:rPr>
              <a:t>ThreadX</a:t>
            </a:r>
            <a:r>
              <a:rPr lang="en-US" sz="1000" b="1">
                <a:solidFill>
                  <a:srgbClr val="0070C0"/>
                </a:solidFill>
              </a:rPr>
              <a:t> Footprint </a:t>
            </a:r>
          </a:p>
        </p:txBody>
      </p:sp>
      <p:sp>
        <p:nvSpPr>
          <p:cNvPr id="14" name="TextBox 13">
            <a:extLst>
              <a:ext uri="{FF2B5EF4-FFF2-40B4-BE49-F238E27FC236}">
                <a16:creationId xmlns:a16="http://schemas.microsoft.com/office/drawing/2014/main" id="{8F600B5F-AEAB-C0A7-752B-E82C0B3A878F}"/>
              </a:ext>
            </a:extLst>
          </p:cNvPr>
          <p:cNvSpPr txBox="1"/>
          <p:nvPr/>
        </p:nvSpPr>
        <p:spPr>
          <a:xfrm>
            <a:off x="562057" y="3379203"/>
            <a:ext cx="11393822" cy="461665"/>
          </a:xfrm>
          <a:prstGeom prst="rect">
            <a:avLst/>
          </a:prstGeom>
          <a:noFill/>
        </p:spPr>
        <p:txBody>
          <a:bodyPr wrap="square" rtlCol="0">
            <a:spAutoFit/>
          </a:bodyPr>
          <a:lstStyle/>
          <a:p>
            <a:pPr marL="171450" indent="-171450">
              <a:buFont typeface="Arial" panose="020B0604020202020204" pitchFamily="34" charset="0"/>
              <a:buChar char="•"/>
            </a:pPr>
            <a:r>
              <a:rPr lang="en-US" sz="800" dirty="0"/>
              <a:t>ST vs TI: Almost the same </a:t>
            </a:r>
            <a:r>
              <a:rPr lang="en-US" sz="800" dirty="0" err="1"/>
              <a:t>FreeRTOS</a:t>
            </a:r>
            <a:r>
              <a:rPr lang="en-US" sz="800" dirty="0"/>
              <a:t> performance, but, </a:t>
            </a:r>
            <a:r>
              <a:rPr lang="en-US" sz="800" b="1" dirty="0"/>
              <a:t>ST has slightly higher footprint due to STM32C0 clock configuration (</a:t>
            </a:r>
            <a:r>
              <a:rPr lang="en-US" sz="800" b="1" dirty="0" err="1"/>
              <a:t>HAL_RCC_ClockConfig</a:t>
            </a:r>
            <a:r>
              <a:rPr lang="en-US" sz="800" b="1" dirty="0"/>
              <a:t>() API).</a:t>
            </a:r>
          </a:p>
          <a:p>
            <a:pPr marL="171450" indent="-171450">
              <a:buFont typeface="Arial" panose="020B0604020202020204" pitchFamily="34" charset="0"/>
              <a:buChar char="•"/>
            </a:pPr>
            <a:r>
              <a:rPr lang="en-US" sz="800" dirty="0"/>
              <a:t>ST vs RA: ST has better performance in cooperative processing, and better footprint consumption than Renesas (RA uses more complex data structures).</a:t>
            </a:r>
          </a:p>
          <a:p>
            <a:pPr marL="171450" indent="-171450">
              <a:buFont typeface="Arial" panose="020B0604020202020204" pitchFamily="34" charset="0"/>
              <a:buChar char="•"/>
            </a:pPr>
            <a:r>
              <a:rPr lang="en-US" sz="800" dirty="0"/>
              <a:t>ST vs NXP: Close </a:t>
            </a:r>
            <a:r>
              <a:rPr lang="en-US" sz="800" dirty="0" err="1"/>
              <a:t>FreeRTOS</a:t>
            </a:r>
            <a:r>
              <a:rPr lang="en-US" sz="800" dirty="0"/>
              <a:t> performance and footprint consumption between ST and NXP.</a:t>
            </a:r>
          </a:p>
        </p:txBody>
      </p:sp>
      <p:sp>
        <p:nvSpPr>
          <p:cNvPr id="15" name="TextBox 14">
            <a:extLst>
              <a:ext uri="{FF2B5EF4-FFF2-40B4-BE49-F238E27FC236}">
                <a16:creationId xmlns:a16="http://schemas.microsoft.com/office/drawing/2014/main" id="{6FEBD3CD-E65F-1D52-6DB2-70F732EFA884}"/>
              </a:ext>
            </a:extLst>
          </p:cNvPr>
          <p:cNvSpPr txBox="1"/>
          <p:nvPr/>
        </p:nvSpPr>
        <p:spPr>
          <a:xfrm>
            <a:off x="601788" y="6100135"/>
            <a:ext cx="7478960" cy="461665"/>
          </a:xfrm>
          <a:prstGeom prst="rect">
            <a:avLst/>
          </a:prstGeom>
          <a:solidFill>
            <a:schemeClr val="bg1"/>
          </a:solidFill>
        </p:spPr>
        <p:txBody>
          <a:bodyPr wrap="square" rtlCol="0">
            <a:spAutoFit/>
          </a:bodyPr>
          <a:lstStyle/>
          <a:p>
            <a:pPr marL="171450" indent="-171450">
              <a:buFont typeface="Arial" panose="020B0604020202020204" pitchFamily="34" charset="0"/>
              <a:buChar char="•"/>
            </a:pPr>
            <a:r>
              <a:rPr lang="en-US" sz="800" dirty="0"/>
              <a:t>ST vs RA: ST has better performance in basic, cooperative and preemptive processing, and better footprint consumption than Renesas (RA uses more complex data structures).</a:t>
            </a:r>
          </a:p>
          <a:p>
            <a:pPr marL="171450" indent="-171450">
              <a:buFont typeface="Arial" panose="020B0604020202020204" pitchFamily="34" charset="0"/>
              <a:buChar char="•"/>
            </a:pPr>
            <a:r>
              <a:rPr lang="en-US" sz="800" dirty="0"/>
              <a:t>TI and NXP does not support </a:t>
            </a:r>
            <a:r>
              <a:rPr lang="en-US" sz="800" dirty="0" err="1"/>
              <a:t>AzureRTOS</a:t>
            </a:r>
            <a:r>
              <a:rPr lang="en-US" sz="800" dirty="0"/>
              <a:t>.</a:t>
            </a:r>
          </a:p>
        </p:txBody>
      </p:sp>
      <p:graphicFrame>
        <p:nvGraphicFramePr>
          <p:cNvPr id="16" name="Table 15">
            <a:extLst>
              <a:ext uri="{FF2B5EF4-FFF2-40B4-BE49-F238E27FC236}">
                <a16:creationId xmlns:a16="http://schemas.microsoft.com/office/drawing/2014/main" id="{255D33E6-BA60-326A-9FC8-F8517AE7E937}"/>
              </a:ext>
            </a:extLst>
          </p:cNvPr>
          <p:cNvGraphicFramePr>
            <a:graphicFrameLocks noGrp="1"/>
          </p:cNvGraphicFramePr>
          <p:nvPr>
            <p:extLst>
              <p:ext uri="{D42A27DB-BD31-4B8C-83A1-F6EECF244321}">
                <p14:modId xmlns:p14="http://schemas.microsoft.com/office/powerpoint/2010/main" val="2651160309"/>
              </p:ext>
            </p:extLst>
          </p:nvPr>
        </p:nvGraphicFramePr>
        <p:xfrm>
          <a:off x="601788" y="1415035"/>
          <a:ext cx="7336100" cy="1887017"/>
        </p:xfrm>
        <a:graphic>
          <a:graphicData uri="http://schemas.openxmlformats.org/drawingml/2006/table">
            <a:tbl>
              <a:tblPr firstRow="1" bandRow="1">
                <a:tableStyleId>{EB344D84-9AFB-497E-A393-DC336BA19D2E}</a:tableStyleId>
              </a:tblPr>
              <a:tblGrid>
                <a:gridCol w="1575380">
                  <a:extLst>
                    <a:ext uri="{9D8B030D-6E8A-4147-A177-3AD203B41FA5}">
                      <a16:colId xmlns:a16="http://schemas.microsoft.com/office/drawing/2014/main" val="1473133747"/>
                    </a:ext>
                  </a:extLst>
                </a:gridCol>
                <a:gridCol w="640080">
                  <a:extLst>
                    <a:ext uri="{9D8B030D-6E8A-4147-A177-3AD203B41FA5}">
                      <a16:colId xmlns:a16="http://schemas.microsoft.com/office/drawing/2014/main" val="4162598800"/>
                    </a:ext>
                  </a:extLst>
                </a:gridCol>
                <a:gridCol w="640080">
                  <a:extLst>
                    <a:ext uri="{9D8B030D-6E8A-4147-A177-3AD203B41FA5}">
                      <a16:colId xmlns:a16="http://schemas.microsoft.com/office/drawing/2014/main" val="3551762358"/>
                    </a:ext>
                  </a:extLst>
                </a:gridCol>
                <a:gridCol w="640080">
                  <a:extLst>
                    <a:ext uri="{9D8B030D-6E8A-4147-A177-3AD203B41FA5}">
                      <a16:colId xmlns:a16="http://schemas.microsoft.com/office/drawing/2014/main" val="3284431043"/>
                    </a:ext>
                  </a:extLst>
                </a:gridCol>
                <a:gridCol w="640080">
                  <a:extLst>
                    <a:ext uri="{9D8B030D-6E8A-4147-A177-3AD203B41FA5}">
                      <a16:colId xmlns:a16="http://schemas.microsoft.com/office/drawing/2014/main" val="1196173778"/>
                    </a:ext>
                  </a:extLst>
                </a:gridCol>
                <a:gridCol w="640080">
                  <a:extLst>
                    <a:ext uri="{9D8B030D-6E8A-4147-A177-3AD203B41FA5}">
                      <a16:colId xmlns:a16="http://schemas.microsoft.com/office/drawing/2014/main" val="983762450"/>
                    </a:ext>
                  </a:extLst>
                </a:gridCol>
                <a:gridCol w="640080">
                  <a:extLst>
                    <a:ext uri="{9D8B030D-6E8A-4147-A177-3AD203B41FA5}">
                      <a16:colId xmlns:a16="http://schemas.microsoft.com/office/drawing/2014/main" val="1888059178"/>
                    </a:ext>
                  </a:extLst>
                </a:gridCol>
                <a:gridCol w="640080">
                  <a:extLst>
                    <a:ext uri="{9D8B030D-6E8A-4147-A177-3AD203B41FA5}">
                      <a16:colId xmlns:a16="http://schemas.microsoft.com/office/drawing/2014/main" val="2713348666"/>
                    </a:ext>
                  </a:extLst>
                </a:gridCol>
                <a:gridCol w="640080">
                  <a:extLst>
                    <a:ext uri="{9D8B030D-6E8A-4147-A177-3AD203B41FA5}">
                      <a16:colId xmlns:a16="http://schemas.microsoft.com/office/drawing/2014/main" val="1620759997"/>
                    </a:ext>
                  </a:extLst>
                </a:gridCol>
                <a:gridCol w="640080">
                  <a:extLst>
                    <a:ext uri="{9D8B030D-6E8A-4147-A177-3AD203B41FA5}">
                      <a16:colId xmlns:a16="http://schemas.microsoft.com/office/drawing/2014/main" val="138472833"/>
                    </a:ext>
                  </a:extLst>
                </a:gridCol>
              </a:tblGrid>
              <a:tr h="242469">
                <a:tc>
                  <a:txBody>
                    <a:bodyPr/>
                    <a:lstStyle/>
                    <a:p>
                      <a:pPr algn="ctr"/>
                      <a:endParaRPr lang="en-US" sz="800"/>
                    </a:p>
                  </a:txBody>
                  <a:tcPr>
                    <a:lnR w="12700" cap="flat" cmpd="sng" algn="ctr">
                      <a:solidFill>
                        <a:schemeClr val="tx1"/>
                      </a:solidFill>
                      <a:prstDash val="solid"/>
                      <a:round/>
                      <a:headEnd type="none" w="med" len="med"/>
                      <a:tailEnd type="none" w="med" len="med"/>
                    </a:lnR>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 vs 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endParaRPr lang="en-US"/>
                    </a:p>
                  </a:txBody>
                  <a:tcPr/>
                </a:tc>
                <a:tc gridSpan="3">
                  <a:txBody>
                    <a:bodyPr/>
                    <a:lstStyle/>
                    <a:p>
                      <a:pPr algn="ctr"/>
                      <a:r>
                        <a:rPr lang="en-US" sz="800"/>
                        <a:t>ST vs  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endParaRPr lang="en-US"/>
                    </a:p>
                  </a:txBody>
                  <a:tcPr/>
                </a:tc>
                <a:tc gridSpan="3">
                  <a:txBody>
                    <a:bodyPr/>
                    <a:lstStyle/>
                    <a:p>
                      <a:pPr algn="ctr"/>
                      <a:r>
                        <a:rPr lang="en-US" sz="800"/>
                        <a:t>ST vs NXP</a:t>
                      </a:r>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97373398"/>
                  </a:ext>
                </a:extLst>
              </a:tr>
              <a:tr h="2424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r>
                        <a:rPr lang="fr-FR" sz="600" b="1"/>
                        <a:t>STM32C031</a:t>
                      </a:r>
                    </a:p>
                    <a:p>
                      <a:pPr algn="ctr"/>
                      <a:r>
                        <a:rPr lang="fr-FR" sz="600" b="1"/>
                        <a:t>(CM0)</a:t>
                      </a:r>
                      <a:endParaRPr lang="en-US" sz="600" b="1"/>
                    </a:p>
                  </a:txBody>
                  <a:tcPr>
                    <a:lnL w="12700" cap="flat" cmpd="sng" algn="ctr">
                      <a:solidFill>
                        <a:schemeClr val="tx1"/>
                      </a:solidFill>
                      <a:prstDash val="solid"/>
                      <a:round/>
                      <a:headEnd type="none" w="med" len="med"/>
                      <a:tailEnd type="none" w="med" len="med"/>
                    </a:lnL>
                  </a:tcPr>
                </a:tc>
                <a:tc>
                  <a:txBody>
                    <a:bodyPr/>
                    <a:lstStyle/>
                    <a:p>
                      <a:pPr algn="ctr"/>
                      <a:r>
                        <a:rPr lang="en-US" sz="600" b="1"/>
                        <a:t>MSPM0</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600" b="1"/>
                        <a:t>(CM0)</a:t>
                      </a:r>
                      <a:endParaRPr lang="en-US" sz="600" b="1"/>
                    </a:p>
                  </a:txBody>
                  <a:tcPr/>
                </a:tc>
                <a:tc>
                  <a:txBody>
                    <a:bodyPr/>
                    <a:lstStyle/>
                    <a:p>
                      <a:pPr algn="ctr"/>
                      <a:r>
                        <a:rPr lang="en-US" sz="600" b="1"/>
                        <a:t>ST vs TI</a:t>
                      </a:r>
                    </a:p>
                  </a:txBody>
                  <a:tcPr>
                    <a:lnR w="12700" cap="flat" cmpd="sng" algn="ctr">
                      <a:solidFill>
                        <a:schemeClr val="tx1"/>
                      </a:solidFill>
                      <a:prstDash val="solid"/>
                      <a:round/>
                      <a:headEnd type="none" w="med" len="med"/>
                      <a:tailEnd type="none" w="med" len="med"/>
                    </a:lnR>
                  </a:tcPr>
                </a:tc>
                <a:tc>
                  <a:txBody>
                    <a:bodyPr/>
                    <a:lstStyle/>
                    <a:p>
                      <a:pPr algn="ctr"/>
                      <a:r>
                        <a:rPr lang="en-US" sz="600" b="1"/>
                        <a:t>STM32H753</a:t>
                      </a:r>
                    </a:p>
                    <a:p>
                      <a:pPr algn="ctr"/>
                      <a:r>
                        <a:rPr lang="en-US" sz="600" b="1"/>
                        <a:t>(CM7)</a:t>
                      </a:r>
                    </a:p>
                  </a:txBody>
                  <a:tcPr marL="0" marR="0" marT="0" marB="0" anchor="ctr">
                    <a:lnL w="12700" cap="flat" cmpd="sng" algn="ctr">
                      <a:solidFill>
                        <a:schemeClr val="tx1"/>
                      </a:solidFill>
                      <a:prstDash val="solid"/>
                      <a:round/>
                      <a:headEnd type="none" w="med" len="med"/>
                      <a:tailEnd type="none" w="med" len="med"/>
                    </a:lnL>
                  </a:tcPr>
                </a:tc>
                <a:tc>
                  <a:txBody>
                    <a:bodyPr/>
                    <a:lstStyle/>
                    <a:p>
                      <a:pPr algn="ctr"/>
                      <a:r>
                        <a:rPr lang="en-US" sz="600" b="1"/>
                        <a:t>RA8M1</a:t>
                      </a:r>
                    </a:p>
                    <a:p>
                      <a:pPr algn="ctr"/>
                      <a:r>
                        <a:rPr lang="en-US" sz="600" b="1"/>
                        <a:t>(CM85)</a:t>
                      </a: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1"/>
                        <a:t>ST vs RA</a:t>
                      </a:r>
                    </a:p>
                  </a:txBody>
                  <a:tcPr marL="0" marR="0" marT="0" marB="0" anchor="ctr">
                    <a:lnR w="12700" cap="flat" cmpd="sng" algn="ctr">
                      <a:solidFill>
                        <a:schemeClr val="tx1"/>
                      </a:solidFill>
                      <a:prstDash val="solid"/>
                      <a:round/>
                      <a:headEnd type="none" w="med" len="med"/>
                      <a:tailEnd type="none" w="med" len="med"/>
                    </a:lnR>
                  </a:tcPr>
                </a:tc>
                <a:tc>
                  <a:txBody>
                    <a:bodyPr/>
                    <a:lstStyle/>
                    <a:p>
                      <a:pPr algn="ctr"/>
                      <a:r>
                        <a:rPr lang="en-US" sz="600" b="1"/>
                        <a:t>STM32U57</a:t>
                      </a:r>
                    </a:p>
                    <a:p>
                      <a:pPr algn="ctr"/>
                      <a:r>
                        <a:rPr lang="en-US" sz="600" b="1"/>
                        <a:t>(CM33)</a:t>
                      </a:r>
                    </a:p>
                  </a:txBody>
                  <a:tcPr marL="0" marR="0" marT="0" marB="0" anchor="ctr">
                    <a:lnL w="12700" cap="flat" cmpd="sng" algn="ctr">
                      <a:solidFill>
                        <a:schemeClr val="tx1"/>
                      </a:solidFill>
                      <a:prstDash val="solid"/>
                      <a:round/>
                      <a:headEnd type="none" w="med" len="med"/>
                      <a:tailEnd type="none" w="med" len="med"/>
                    </a:lnL>
                  </a:tcPr>
                </a:tc>
                <a:tc>
                  <a:txBody>
                    <a:bodyPr/>
                    <a:lstStyle/>
                    <a:p>
                      <a:pPr algn="ctr"/>
                      <a:r>
                        <a:rPr lang="en-US" sz="600" b="1"/>
                        <a:t>MCX-N9</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a:t>(CM33)</a:t>
                      </a: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1"/>
                        <a:t>ST vs NXP</a:t>
                      </a:r>
                    </a:p>
                  </a:txBody>
                  <a:tcPr marL="0" marR="0" marT="0" marB="0" anchor="ctr"/>
                </a:tc>
                <a:extLst>
                  <a:ext uri="{0D108BD9-81ED-4DB2-BD59-A6C34878D82A}">
                    <a16:rowId xmlns:a16="http://schemas.microsoft.com/office/drawing/2014/main" val="1089852517"/>
                  </a:ext>
                </a:extLst>
              </a:tr>
              <a:tr h="242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rgbClr val="002060"/>
                          </a:solidFill>
                        </a:rPr>
                        <a:t>Basic Processing Test</a:t>
                      </a:r>
                      <a:endParaRPr lang="en-US" sz="800">
                        <a:solidFill>
                          <a:srgbClr val="002060"/>
                        </a:solidFill>
                      </a:endParaRPr>
                    </a:p>
                    <a:p>
                      <a:r>
                        <a:rPr lang="en-US" sz="800" b="1">
                          <a:solidFill>
                            <a:srgbClr val="002060"/>
                          </a:solidFill>
                        </a:rPr>
                        <a:t>(Thread/s)</a:t>
                      </a:r>
                    </a:p>
                  </a:txBody>
                  <a:tcPr>
                    <a:lnR w="12700" cap="flat" cmpd="sng" algn="ctr">
                      <a:solidFill>
                        <a:schemeClr val="tx1"/>
                      </a:solidFill>
                      <a:prstDash val="solid"/>
                      <a:round/>
                      <a:headEnd type="none" w="med" len="med"/>
                      <a:tailEnd type="none" w="med" len="med"/>
                    </a:lnR>
                  </a:tcPr>
                </a:tc>
                <a:tc>
                  <a:txBody>
                    <a:bodyPr/>
                    <a:lstStyle/>
                    <a:p>
                      <a:pPr algn="ctr"/>
                      <a:r>
                        <a:rPr lang="fr-FR" sz="800"/>
                        <a:t>11 601</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11 654</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solidFill>
                            <a:srgbClr val="FF0000"/>
                          </a:solidFill>
                        </a:rPr>
                        <a:t>-0.45%</a:t>
                      </a:r>
                      <a:endParaRPr lang="en-US" sz="800" dirty="0">
                        <a:solidFill>
                          <a:srgbClr val="FF0000"/>
                        </a:solidFill>
                      </a:endParaRPr>
                    </a:p>
                  </a:txBody>
                  <a:tcPr>
                    <a:lnR w="12700" cap="flat" cmpd="sng" algn="ctr">
                      <a:solidFill>
                        <a:schemeClr val="tx1"/>
                      </a:solidFill>
                      <a:prstDash val="solid"/>
                      <a:round/>
                      <a:headEnd type="none" w="med" len="med"/>
                      <a:tailEnd type="none" w="med" len="med"/>
                    </a:lnR>
                  </a:tcPr>
                </a:tc>
                <a:tc>
                  <a:txBody>
                    <a:bodyPr/>
                    <a:lstStyle/>
                    <a:p>
                      <a:pPr algn="ctr"/>
                      <a:r>
                        <a:rPr lang="fr-FR" sz="800"/>
                        <a:t>371 403</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409 858</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a:solidFill>
                            <a:srgbClr val="FF0000"/>
                          </a:solidFill>
                        </a:rPr>
                        <a:t>-9%</a:t>
                      </a:r>
                      <a:endParaRPr lang="en-US" sz="800">
                        <a:solidFill>
                          <a:srgbClr val="FF0000"/>
                        </a:solidFill>
                      </a:endParaRPr>
                    </a:p>
                  </a:txBody>
                  <a:tcPr>
                    <a:lnR w="12700" cap="flat" cmpd="sng" algn="ctr">
                      <a:solidFill>
                        <a:schemeClr val="tx1"/>
                      </a:solidFill>
                      <a:prstDash val="solid"/>
                      <a:round/>
                      <a:headEnd type="none" w="med" len="med"/>
                      <a:tailEnd type="none" w="med" len="med"/>
                    </a:lnR>
                  </a:tcPr>
                </a:tc>
                <a:tc>
                  <a:txBody>
                    <a:bodyPr/>
                    <a:lstStyle/>
                    <a:p>
                      <a:pPr algn="ctr"/>
                      <a:r>
                        <a:rPr lang="fr-FR" sz="800"/>
                        <a:t>44 935</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44 976</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a:solidFill>
                            <a:srgbClr val="FF0000"/>
                          </a:solidFill>
                        </a:rPr>
                        <a:t>-0,09%</a:t>
                      </a:r>
                      <a:endParaRPr lang="en-US" sz="800">
                        <a:solidFill>
                          <a:srgbClr val="FF0000"/>
                        </a:solidFill>
                      </a:endParaRPr>
                    </a:p>
                  </a:txBody>
                  <a:tcPr/>
                </a:tc>
                <a:extLst>
                  <a:ext uri="{0D108BD9-81ED-4DB2-BD59-A6C34878D82A}">
                    <a16:rowId xmlns:a16="http://schemas.microsoft.com/office/drawing/2014/main" val="3361986323"/>
                  </a:ext>
                </a:extLst>
              </a:tr>
              <a:tr h="242468">
                <a:tc>
                  <a:txBody>
                    <a:bodyPr/>
                    <a:lstStyle/>
                    <a:p>
                      <a:pPr lvl="0">
                        <a:buNone/>
                      </a:pPr>
                      <a:endParaRPr lang="en-US" sz="800" b="1">
                        <a:solidFill>
                          <a:srgbClr val="002060"/>
                        </a:solidFill>
                      </a:endParaRPr>
                    </a:p>
                  </a:txBody>
                  <a:tcPr>
                    <a:lnR w="12700">
                      <a:solidFill>
                        <a:schemeClr val="tx1"/>
                      </a:solidFill>
                    </a:lnR>
                  </a:tcPr>
                </a:tc>
                <a:tc>
                  <a:txBody>
                    <a:bodyPr/>
                    <a:lstStyle/>
                    <a:p>
                      <a:pPr lvl="0" algn="ctr">
                        <a:buNone/>
                      </a:pPr>
                      <a:endParaRPr lang="fr-FR" sz="800"/>
                    </a:p>
                  </a:txBody>
                  <a:tcPr>
                    <a:lnL w="12700">
                      <a:solidFill>
                        <a:schemeClr val="tx1"/>
                      </a:solidFill>
                    </a:lnL>
                  </a:tcPr>
                </a:tc>
                <a:tc>
                  <a:txBody>
                    <a:bodyPr/>
                    <a:lstStyle/>
                    <a:p>
                      <a:pPr lvl="0" algn="ctr">
                        <a:buNone/>
                      </a:pPr>
                      <a:endParaRPr lang="fr-FR" sz="800"/>
                    </a:p>
                  </a:txBody>
                  <a:tcPr/>
                </a:tc>
                <a:tc>
                  <a:txBody>
                    <a:bodyPr/>
                    <a:lstStyle/>
                    <a:p>
                      <a:pPr marL="0" lvl="0" indent="0" algn="ctr" defTabSz="914400">
                        <a:lnSpc>
                          <a:spcPct val="100000"/>
                        </a:lnSpc>
                        <a:spcBef>
                          <a:spcPts val="0"/>
                        </a:spcBef>
                        <a:spcAft>
                          <a:spcPts val="0"/>
                        </a:spcAft>
                        <a:buNone/>
                        <a:tabLst/>
                        <a:defRPr/>
                      </a:pPr>
                      <a:endParaRPr lang="fr-FR" sz="800">
                        <a:solidFill>
                          <a:srgbClr val="FF0000"/>
                        </a:solidFill>
                      </a:endParaRPr>
                    </a:p>
                  </a:txBody>
                  <a:tcPr>
                    <a:lnR w="12700">
                      <a:solidFill>
                        <a:schemeClr val="tx1"/>
                      </a:solidFill>
                    </a:lnR>
                  </a:tcPr>
                </a:tc>
                <a:tc>
                  <a:txBody>
                    <a:bodyPr/>
                    <a:lstStyle/>
                    <a:p>
                      <a:pPr lvl="0" algn="ctr">
                        <a:buNone/>
                      </a:pPr>
                      <a:endParaRPr lang="fr-FR" sz="800"/>
                    </a:p>
                  </a:txBody>
                  <a:tcPr>
                    <a:lnL w="12700">
                      <a:solidFill>
                        <a:schemeClr val="tx1"/>
                      </a:solidFill>
                    </a:lnL>
                  </a:tcPr>
                </a:tc>
                <a:tc>
                  <a:txBody>
                    <a:bodyPr/>
                    <a:lstStyle/>
                    <a:p>
                      <a:pPr lvl="0" algn="ctr">
                        <a:buNone/>
                      </a:pPr>
                      <a:endParaRPr lang="fr-FR" sz="800"/>
                    </a:p>
                  </a:txBody>
                  <a:tcPr/>
                </a:tc>
                <a:tc>
                  <a:txBody>
                    <a:bodyPr/>
                    <a:lstStyle/>
                    <a:p>
                      <a:pPr marL="0" lvl="0" indent="0" algn="ctr" defTabSz="914400">
                        <a:lnSpc>
                          <a:spcPct val="100000"/>
                        </a:lnSpc>
                        <a:spcBef>
                          <a:spcPts val="0"/>
                        </a:spcBef>
                        <a:spcAft>
                          <a:spcPts val="0"/>
                        </a:spcAft>
                        <a:buNone/>
                        <a:tabLst/>
                        <a:defRPr/>
                      </a:pPr>
                      <a:endParaRPr lang="fr-FR" sz="800">
                        <a:solidFill>
                          <a:srgbClr val="FF0000"/>
                        </a:solidFill>
                      </a:endParaRPr>
                    </a:p>
                  </a:txBody>
                  <a:tcPr>
                    <a:lnR w="12700">
                      <a:solidFill>
                        <a:schemeClr val="tx1"/>
                      </a:solidFill>
                    </a:lnR>
                  </a:tcPr>
                </a:tc>
                <a:tc>
                  <a:txBody>
                    <a:bodyPr/>
                    <a:lstStyle/>
                    <a:p>
                      <a:pPr lvl="0" algn="ctr">
                        <a:buNone/>
                      </a:pPr>
                      <a:endParaRPr lang="fr-FR" sz="800"/>
                    </a:p>
                  </a:txBody>
                  <a:tcPr>
                    <a:lnL w="12700">
                      <a:solidFill>
                        <a:schemeClr val="tx1"/>
                      </a:solidFill>
                    </a:lnL>
                  </a:tcPr>
                </a:tc>
                <a:tc>
                  <a:txBody>
                    <a:bodyPr/>
                    <a:lstStyle/>
                    <a:p>
                      <a:pPr lvl="0" algn="ctr">
                        <a:buNone/>
                      </a:pPr>
                      <a:endParaRPr lang="fr-FR" sz="800"/>
                    </a:p>
                  </a:txBody>
                  <a:tcPr/>
                </a:tc>
                <a:tc>
                  <a:txBody>
                    <a:bodyPr/>
                    <a:lstStyle/>
                    <a:p>
                      <a:pPr marL="0" lvl="0" indent="0" algn="ctr" defTabSz="914400">
                        <a:lnSpc>
                          <a:spcPct val="100000"/>
                        </a:lnSpc>
                        <a:spcBef>
                          <a:spcPts val="0"/>
                        </a:spcBef>
                        <a:spcAft>
                          <a:spcPts val="0"/>
                        </a:spcAft>
                        <a:buNone/>
                        <a:tabLst/>
                        <a:defRPr/>
                      </a:pPr>
                      <a:endParaRPr lang="fr-FR" sz="800">
                        <a:solidFill>
                          <a:srgbClr val="FF0000"/>
                        </a:solidFill>
                      </a:endParaRPr>
                    </a:p>
                  </a:txBody>
                  <a:tcPr/>
                </a:tc>
                <a:extLst>
                  <a:ext uri="{0D108BD9-81ED-4DB2-BD59-A6C34878D82A}">
                    <a16:rowId xmlns:a16="http://schemas.microsoft.com/office/drawing/2014/main" val="889747604"/>
                  </a:ext>
                </a:extLst>
              </a:tr>
              <a:tr h="242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rgbClr val="002060"/>
                          </a:solidFill>
                        </a:rPr>
                        <a:t>Cooperative Processing Test</a:t>
                      </a:r>
                    </a:p>
                    <a:p>
                      <a:r>
                        <a:rPr lang="en-US" sz="800" b="1">
                          <a:solidFill>
                            <a:srgbClr val="002060"/>
                          </a:solidFill>
                        </a:rPr>
                        <a:t>(Thread/30s)</a:t>
                      </a:r>
                    </a:p>
                  </a:txBody>
                  <a:tcPr>
                    <a:lnR w="12700" cap="flat" cmpd="sng" algn="ctr">
                      <a:solidFill>
                        <a:schemeClr val="tx1"/>
                      </a:solidFill>
                      <a:prstDash val="solid"/>
                      <a:round/>
                      <a:headEnd type="none" w="med" len="med"/>
                      <a:tailEnd type="none" w="med" len="med"/>
                    </a:lnR>
                  </a:tcPr>
                </a:tc>
                <a:tc>
                  <a:txBody>
                    <a:bodyPr/>
                    <a:lstStyle/>
                    <a:p>
                      <a:pPr algn="ctr"/>
                      <a:r>
                        <a:rPr lang="fr-FR" sz="800"/>
                        <a:t>1 487 998</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1 384 372</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00B050"/>
                          </a:solidFill>
                        </a:rPr>
                        <a:t>+6%</a:t>
                      </a:r>
                    </a:p>
                  </a:txBody>
                  <a:tcPr>
                    <a:lnR w="12700" cap="flat" cmpd="sng" algn="ctr">
                      <a:solidFill>
                        <a:schemeClr val="tx1"/>
                      </a:solidFill>
                      <a:prstDash val="solid"/>
                      <a:round/>
                      <a:headEnd type="none" w="med" len="med"/>
                      <a:tailEnd type="none" w="med" len="med"/>
                    </a:lnR>
                  </a:tcPr>
                </a:tc>
                <a:tc>
                  <a:txBody>
                    <a:bodyPr/>
                    <a:lstStyle/>
                    <a:p>
                      <a:pPr algn="ctr"/>
                      <a:r>
                        <a:rPr lang="fr-FR" sz="800"/>
                        <a:t>18 386 498</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14 033 811</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00B050"/>
                          </a:solidFill>
                        </a:rPr>
                        <a:t>+31%</a:t>
                      </a:r>
                    </a:p>
                  </a:txBody>
                  <a:tcPr>
                    <a:lnR w="12700" cap="flat" cmpd="sng" algn="ctr">
                      <a:solidFill>
                        <a:schemeClr val="tx1"/>
                      </a:solidFill>
                      <a:prstDash val="solid"/>
                      <a:round/>
                      <a:headEnd type="none" w="med" len="med"/>
                      <a:tailEnd type="none" w="med" len="med"/>
                    </a:lnR>
                  </a:tcPr>
                </a:tc>
                <a:tc>
                  <a:txBody>
                    <a:bodyPr/>
                    <a:lstStyle/>
                    <a:p>
                      <a:pPr algn="ctr"/>
                      <a:r>
                        <a:rPr lang="fr-FR" sz="800"/>
                        <a:t>7 246 282</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6 662 997</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00B050"/>
                          </a:solidFill>
                        </a:rPr>
                        <a:t>+8%</a:t>
                      </a:r>
                    </a:p>
                  </a:txBody>
                  <a:tcPr/>
                </a:tc>
                <a:extLst>
                  <a:ext uri="{0D108BD9-81ED-4DB2-BD59-A6C34878D82A}">
                    <a16:rowId xmlns:a16="http://schemas.microsoft.com/office/drawing/2014/main" val="2065877290"/>
                  </a:ext>
                </a:extLst>
              </a:tr>
              <a:tr h="242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rgbClr val="002060"/>
                          </a:solidFill>
                        </a:rPr>
                        <a:t>Preemptive Processing Test</a:t>
                      </a:r>
                    </a:p>
                    <a:p>
                      <a:r>
                        <a:rPr lang="en-US" sz="800" b="1">
                          <a:solidFill>
                            <a:srgbClr val="002060"/>
                          </a:solidFill>
                        </a:rPr>
                        <a:t>(Thread/30s)</a:t>
                      </a:r>
                    </a:p>
                  </a:txBody>
                  <a:tcPr>
                    <a:lnR w="12700" cap="flat" cmpd="sng" algn="ctr">
                      <a:solidFill>
                        <a:schemeClr val="tx1"/>
                      </a:solidFill>
                      <a:prstDash val="solid"/>
                      <a:round/>
                      <a:headEnd type="none" w="med" len="med"/>
                      <a:tailEnd type="none" w="med" len="med"/>
                    </a:lnR>
                  </a:tcPr>
                </a:tc>
                <a:tc>
                  <a:txBody>
                    <a:bodyPr/>
                    <a:lstStyle/>
                    <a:p>
                      <a:pPr algn="ctr"/>
                      <a:r>
                        <a:rPr lang="fr-FR" sz="800"/>
                        <a:t>401 408</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396 327</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00B050"/>
                          </a:solidFill>
                        </a:rPr>
                        <a:t>+1%</a:t>
                      </a:r>
                    </a:p>
                  </a:txBody>
                  <a:tcPr>
                    <a:lnR w="12700" cap="flat" cmpd="sng" algn="ctr">
                      <a:solidFill>
                        <a:schemeClr val="tx1"/>
                      </a:solidFill>
                      <a:prstDash val="solid"/>
                      <a:round/>
                      <a:headEnd type="none" w="med" len="med"/>
                      <a:tailEnd type="none" w="med" len="med"/>
                    </a:lnR>
                  </a:tcPr>
                </a:tc>
                <a:tc>
                  <a:txBody>
                    <a:bodyPr/>
                    <a:lstStyle/>
                    <a:p>
                      <a:pPr lvl="0" algn="ctr">
                        <a:buNone/>
                      </a:pPr>
                      <a:r>
                        <a:rPr lang="en-US" sz="800" b="0" i="0" u="none" strike="noStrike" noProof="0">
                          <a:latin typeface="Arial"/>
                        </a:rPr>
                        <a:t>5414999</a:t>
                      </a:r>
                      <a:endParaRPr lang="en-US"/>
                    </a:p>
                  </a:txBody>
                  <a:tcPr>
                    <a:lnL w="12700" cap="flat" cmpd="sng" algn="ctr">
                      <a:solidFill>
                        <a:schemeClr val="tx1"/>
                      </a:solidFill>
                      <a:prstDash val="solid"/>
                      <a:round/>
                      <a:headEnd type="none" w="med" len="med"/>
                      <a:tailEnd type="none" w="med" len="med"/>
                    </a:lnL>
                  </a:tcPr>
                </a:tc>
                <a:tc>
                  <a:txBody>
                    <a:bodyPr/>
                    <a:lstStyle/>
                    <a:p>
                      <a:pPr lvl="0" algn="ctr">
                        <a:buNone/>
                      </a:pPr>
                      <a:r>
                        <a:rPr lang="en-US" sz="800" b="0" i="0" u="none" strike="noStrike" noProof="0">
                          <a:latin typeface="Arial"/>
                        </a:rPr>
                        <a:t>5444699</a:t>
                      </a:r>
                      <a:endParaRPr lang="en-US"/>
                    </a:p>
                  </a:txBody>
                  <a:tcPr/>
                </a:tc>
                <a:tc>
                  <a:txBody>
                    <a:bodyPr/>
                    <a:lstStyle/>
                    <a:p>
                      <a:pPr algn="ctr"/>
                      <a:r>
                        <a:rPr lang="en-US" sz="800">
                          <a:solidFill>
                            <a:srgbClr val="FF0000"/>
                          </a:solidFill>
                        </a:rPr>
                        <a:t>-1%</a:t>
                      </a:r>
                    </a:p>
                  </a:txBody>
                  <a:tcPr>
                    <a:lnR w="12700" cap="flat" cmpd="sng" algn="ctr">
                      <a:solidFill>
                        <a:schemeClr val="tx1"/>
                      </a:solidFill>
                      <a:prstDash val="solid"/>
                      <a:round/>
                      <a:headEnd type="none" w="med" len="med"/>
                      <a:tailEnd type="none" w="med" len="med"/>
                    </a:lnR>
                  </a:tcPr>
                </a:tc>
                <a:tc>
                  <a:txBody>
                    <a:bodyPr/>
                    <a:lstStyle/>
                    <a:p>
                      <a:pPr algn="ctr"/>
                      <a:r>
                        <a:rPr lang="fr-FR" sz="800"/>
                        <a:t>1 688 749</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1 615 521</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rgbClr val="00B050"/>
                          </a:solidFill>
                        </a:rPr>
                        <a:t>+4%</a:t>
                      </a:r>
                    </a:p>
                  </a:txBody>
                  <a:tcPr/>
                </a:tc>
                <a:extLst>
                  <a:ext uri="{0D108BD9-81ED-4DB2-BD59-A6C34878D82A}">
                    <a16:rowId xmlns:a16="http://schemas.microsoft.com/office/drawing/2014/main" val="3217506885"/>
                  </a:ext>
                </a:extLst>
              </a:tr>
            </a:tbl>
          </a:graphicData>
        </a:graphic>
      </p:graphicFrame>
      <p:graphicFrame>
        <p:nvGraphicFramePr>
          <p:cNvPr id="17" name="Table 16">
            <a:extLst>
              <a:ext uri="{FF2B5EF4-FFF2-40B4-BE49-F238E27FC236}">
                <a16:creationId xmlns:a16="http://schemas.microsoft.com/office/drawing/2014/main" id="{07CB84D8-23B4-56FF-6061-323BFBE6F73C}"/>
              </a:ext>
            </a:extLst>
          </p:cNvPr>
          <p:cNvGraphicFramePr>
            <a:graphicFrameLocks noGrp="1"/>
          </p:cNvGraphicFramePr>
          <p:nvPr>
            <p:extLst>
              <p:ext uri="{D42A27DB-BD31-4B8C-83A1-F6EECF244321}">
                <p14:modId xmlns:p14="http://schemas.microsoft.com/office/powerpoint/2010/main" val="917606970"/>
              </p:ext>
            </p:extLst>
          </p:nvPr>
        </p:nvGraphicFramePr>
        <p:xfrm>
          <a:off x="601788" y="4379743"/>
          <a:ext cx="7336100" cy="1644549"/>
        </p:xfrm>
        <a:graphic>
          <a:graphicData uri="http://schemas.openxmlformats.org/drawingml/2006/table">
            <a:tbl>
              <a:tblPr firstRow="1" bandRow="1">
                <a:tableStyleId>{EB344D84-9AFB-497E-A393-DC336BA19D2E}</a:tableStyleId>
              </a:tblPr>
              <a:tblGrid>
                <a:gridCol w="1575380">
                  <a:extLst>
                    <a:ext uri="{9D8B030D-6E8A-4147-A177-3AD203B41FA5}">
                      <a16:colId xmlns:a16="http://schemas.microsoft.com/office/drawing/2014/main" val="1473133747"/>
                    </a:ext>
                  </a:extLst>
                </a:gridCol>
                <a:gridCol w="640080">
                  <a:extLst>
                    <a:ext uri="{9D8B030D-6E8A-4147-A177-3AD203B41FA5}">
                      <a16:colId xmlns:a16="http://schemas.microsoft.com/office/drawing/2014/main" val="4162598800"/>
                    </a:ext>
                  </a:extLst>
                </a:gridCol>
                <a:gridCol w="640080">
                  <a:extLst>
                    <a:ext uri="{9D8B030D-6E8A-4147-A177-3AD203B41FA5}">
                      <a16:colId xmlns:a16="http://schemas.microsoft.com/office/drawing/2014/main" val="3551762358"/>
                    </a:ext>
                  </a:extLst>
                </a:gridCol>
                <a:gridCol w="640080">
                  <a:extLst>
                    <a:ext uri="{9D8B030D-6E8A-4147-A177-3AD203B41FA5}">
                      <a16:colId xmlns:a16="http://schemas.microsoft.com/office/drawing/2014/main" val="3284431043"/>
                    </a:ext>
                  </a:extLst>
                </a:gridCol>
                <a:gridCol w="640080">
                  <a:extLst>
                    <a:ext uri="{9D8B030D-6E8A-4147-A177-3AD203B41FA5}">
                      <a16:colId xmlns:a16="http://schemas.microsoft.com/office/drawing/2014/main" val="1196173778"/>
                    </a:ext>
                  </a:extLst>
                </a:gridCol>
                <a:gridCol w="640080">
                  <a:extLst>
                    <a:ext uri="{9D8B030D-6E8A-4147-A177-3AD203B41FA5}">
                      <a16:colId xmlns:a16="http://schemas.microsoft.com/office/drawing/2014/main" val="983762450"/>
                    </a:ext>
                  </a:extLst>
                </a:gridCol>
                <a:gridCol w="640080">
                  <a:extLst>
                    <a:ext uri="{9D8B030D-6E8A-4147-A177-3AD203B41FA5}">
                      <a16:colId xmlns:a16="http://schemas.microsoft.com/office/drawing/2014/main" val="1888059178"/>
                    </a:ext>
                  </a:extLst>
                </a:gridCol>
                <a:gridCol w="640080">
                  <a:extLst>
                    <a:ext uri="{9D8B030D-6E8A-4147-A177-3AD203B41FA5}">
                      <a16:colId xmlns:a16="http://schemas.microsoft.com/office/drawing/2014/main" val="2713348666"/>
                    </a:ext>
                  </a:extLst>
                </a:gridCol>
                <a:gridCol w="640080">
                  <a:extLst>
                    <a:ext uri="{9D8B030D-6E8A-4147-A177-3AD203B41FA5}">
                      <a16:colId xmlns:a16="http://schemas.microsoft.com/office/drawing/2014/main" val="1620759997"/>
                    </a:ext>
                  </a:extLst>
                </a:gridCol>
                <a:gridCol w="640080">
                  <a:extLst>
                    <a:ext uri="{9D8B030D-6E8A-4147-A177-3AD203B41FA5}">
                      <a16:colId xmlns:a16="http://schemas.microsoft.com/office/drawing/2014/main" val="138472833"/>
                    </a:ext>
                  </a:extLst>
                </a:gridCol>
              </a:tblGrid>
              <a:tr h="242469">
                <a:tc>
                  <a:txBody>
                    <a:bodyPr/>
                    <a:lstStyle/>
                    <a:p>
                      <a:pPr algn="ctr"/>
                      <a:endParaRPr lang="en-US" sz="800"/>
                    </a:p>
                  </a:txBody>
                  <a:tcPr>
                    <a:lnR w="12700" cap="flat" cmpd="sng" algn="ctr">
                      <a:solidFill>
                        <a:schemeClr val="tx1"/>
                      </a:solidFill>
                      <a:prstDash val="solid"/>
                      <a:round/>
                      <a:headEnd type="none" w="med" len="med"/>
                      <a:tailEnd type="none" w="med" len="med"/>
                    </a:lnR>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 vs 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endParaRPr lang="en-US"/>
                    </a:p>
                  </a:txBody>
                  <a:tcPr/>
                </a:tc>
                <a:tc gridSpan="3">
                  <a:txBody>
                    <a:bodyPr/>
                    <a:lstStyle/>
                    <a:p>
                      <a:pPr algn="ctr"/>
                      <a:r>
                        <a:rPr lang="en-US" sz="800"/>
                        <a:t>ST vs  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endParaRPr lang="en-US"/>
                    </a:p>
                  </a:txBody>
                  <a:tcPr/>
                </a:tc>
                <a:tc gridSpan="3">
                  <a:txBody>
                    <a:bodyPr/>
                    <a:lstStyle/>
                    <a:p>
                      <a:pPr algn="ctr"/>
                      <a:r>
                        <a:rPr lang="en-US" sz="800"/>
                        <a:t>ST vs NXP</a:t>
                      </a:r>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97373398"/>
                  </a:ext>
                </a:extLst>
              </a:tr>
              <a:tr h="2424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r>
                        <a:rPr lang="fr-FR" sz="600" b="1"/>
                        <a:t>STM32C031</a:t>
                      </a:r>
                    </a:p>
                    <a:p>
                      <a:pPr algn="ctr"/>
                      <a:r>
                        <a:rPr lang="fr-FR" sz="600" b="1"/>
                        <a:t>(CM0)</a:t>
                      </a:r>
                      <a:endParaRPr lang="en-US" sz="600" b="1"/>
                    </a:p>
                  </a:txBody>
                  <a:tcPr>
                    <a:lnL w="12700" cap="flat" cmpd="sng" algn="ctr">
                      <a:solidFill>
                        <a:schemeClr val="tx1"/>
                      </a:solidFill>
                      <a:prstDash val="solid"/>
                      <a:round/>
                      <a:headEnd type="none" w="med" len="med"/>
                      <a:tailEnd type="none" w="med" len="med"/>
                    </a:lnL>
                  </a:tcPr>
                </a:tc>
                <a:tc>
                  <a:txBody>
                    <a:bodyPr/>
                    <a:lstStyle/>
                    <a:p>
                      <a:pPr algn="ctr"/>
                      <a:r>
                        <a:rPr lang="en-US" sz="600" b="1"/>
                        <a:t>MSPM0</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600" b="1"/>
                        <a:t>(CM0)</a:t>
                      </a:r>
                      <a:endParaRPr lang="en-US" sz="600" b="1"/>
                    </a:p>
                  </a:txBody>
                  <a:tcPr/>
                </a:tc>
                <a:tc>
                  <a:txBody>
                    <a:bodyPr/>
                    <a:lstStyle/>
                    <a:p>
                      <a:pPr algn="ctr"/>
                      <a:r>
                        <a:rPr lang="en-US" sz="600" b="1"/>
                        <a:t>ST vs TI</a:t>
                      </a:r>
                    </a:p>
                  </a:txBody>
                  <a:tcPr>
                    <a:lnR w="12700" cap="flat" cmpd="sng" algn="ctr">
                      <a:solidFill>
                        <a:schemeClr val="tx1"/>
                      </a:solidFill>
                      <a:prstDash val="solid"/>
                      <a:round/>
                      <a:headEnd type="none" w="med" len="med"/>
                      <a:tailEnd type="none" w="med" len="med"/>
                    </a:lnR>
                  </a:tcPr>
                </a:tc>
                <a:tc>
                  <a:txBody>
                    <a:bodyPr/>
                    <a:lstStyle/>
                    <a:p>
                      <a:pPr algn="ctr"/>
                      <a:r>
                        <a:rPr lang="en-US" sz="600" b="1"/>
                        <a:t>STM32H753</a:t>
                      </a:r>
                    </a:p>
                    <a:p>
                      <a:pPr algn="ctr"/>
                      <a:r>
                        <a:rPr lang="en-US" sz="600" b="1"/>
                        <a:t>(CM7)</a:t>
                      </a:r>
                    </a:p>
                  </a:txBody>
                  <a:tcPr marL="0" marR="0" marT="0" marB="0" anchor="ctr">
                    <a:lnL w="12700" cap="flat" cmpd="sng" algn="ctr">
                      <a:solidFill>
                        <a:schemeClr val="tx1"/>
                      </a:solidFill>
                      <a:prstDash val="solid"/>
                      <a:round/>
                      <a:headEnd type="none" w="med" len="med"/>
                      <a:tailEnd type="none" w="med" len="med"/>
                    </a:lnL>
                  </a:tcPr>
                </a:tc>
                <a:tc>
                  <a:txBody>
                    <a:bodyPr/>
                    <a:lstStyle/>
                    <a:p>
                      <a:pPr algn="ctr"/>
                      <a:r>
                        <a:rPr lang="en-US" sz="600" b="1"/>
                        <a:t>RA8M1</a:t>
                      </a:r>
                    </a:p>
                    <a:p>
                      <a:pPr algn="ctr"/>
                      <a:r>
                        <a:rPr lang="en-US" sz="600" b="1"/>
                        <a:t>(CM85)</a:t>
                      </a: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1"/>
                        <a:t>ST vs RA</a:t>
                      </a:r>
                    </a:p>
                  </a:txBody>
                  <a:tcPr marL="0" marR="0" marT="0" marB="0" anchor="ctr">
                    <a:lnR w="12700" cap="flat" cmpd="sng" algn="ctr">
                      <a:solidFill>
                        <a:schemeClr val="tx1"/>
                      </a:solidFill>
                      <a:prstDash val="solid"/>
                      <a:round/>
                      <a:headEnd type="none" w="med" len="med"/>
                      <a:tailEnd type="none" w="med" len="med"/>
                    </a:lnR>
                  </a:tcPr>
                </a:tc>
                <a:tc>
                  <a:txBody>
                    <a:bodyPr/>
                    <a:lstStyle/>
                    <a:p>
                      <a:pPr algn="ctr"/>
                      <a:r>
                        <a:rPr lang="en-US" sz="600" b="1"/>
                        <a:t>STM32U57</a:t>
                      </a:r>
                    </a:p>
                    <a:p>
                      <a:pPr algn="ctr"/>
                      <a:r>
                        <a:rPr lang="en-US" sz="600" b="1"/>
                        <a:t>(CM33)</a:t>
                      </a:r>
                    </a:p>
                  </a:txBody>
                  <a:tcPr marL="0" marR="0" marT="0" marB="0" anchor="ctr">
                    <a:lnL w="12700" cap="flat" cmpd="sng" algn="ctr">
                      <a:solidFill>
                        <a:schemeClr val="tx1"/>
                      </a:solidFill>
                      <a:prstDash val="solid"/>
                      <a:round/>
                      <a:headEnd type="none" w="med" len="med"/>
                      <a:tailEnd type="none" w="med" len="med"/>
                    </a:lnL>
                  </a:tcPr>
                </a:tc>
                <a:tc>
                  <a:txBody>
                    <a:bodyPr/>
                    <a:lstStyle/>
                    <a:p>
                      <a:pPr algn="ctr"/>
                      <a:r>
                        <a:rPr lang="en-US" sz="600" b="1"/>
                        <a:t>MCX-N9</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a:t>(CM33)</a:t>
                      </a: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600" b="1"/>
                        <a:t>ST vs NXP</a:t>
                      </a:r>
                    </a:p>
                  </a:txBody>
                  <a:tcPr marL="0" marR="0" marT="0" marB="0" anchor="ctr"/>
                </a:tc>
                <a:extLst>
                  <a:ext uri="{0D108BD9-81ED-4DB2-BD59-A6C34878D82A}">
                    <a16:rowId xmlns:a16="http://schemas.microsoft.com/office/drawing/2014/main" val="1089852517"/>
                  </a:ext>
                </a:extLst>
              </a:tr>
              <a:tr h="242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rgbClr val="002060"/>
                          </a:solidFill>
                        </a:rPr>
                        <a:t>Basic Processing Test</a:t>
                      </a:r>
                      <a:endParaRPr lang="en-US" sz="800">
                        <a:solidFill>
                          <a:srgbClr val="002060"/>
                        </a:solidFill>
                      </a:endParaRPr>
                    </a:p>
                    <a:p>
                      <a:r>
                        <a:rPr lang="en-US" sz="800" b="1">
                          <a:solidFill>
                            <a:srgbClr val="002060"/>
                          </a:solidFill>
                        </a:rPr>
                        <a:t>(Thread/s)</a:t>
                      </a:r>
                    </a:p>
                  </a:txBody>
                  <a:tcPr>
                    <a:lnR w="12700" cap="flat" cmpd="sng" algn="ctr">
                      <a:solidFill>
                        <a:schemeClr val="tx1"/>
                      </a:solidFill>
                      <a:prstDash val="solid"/>
                      <a:round/>
                      <a:headEnd type="none" w="med" len="med"/>
                      <a:tailEnd type="none" w="med" len="med"/>
                    </a:lnR>
                  </a:tcPr>
                </a:tc>
                <a:tc>
                  <a:txBody>
                    <a:bodyPr/>
                    <a:lstStyle/>
                    <a:p>
                      <a:pPr algn="ctr"/>
                      <a:r>
                        <a:rPr lang="fr-FR" sz="800"/>
                        <a:t>NA</a:t>
                      </a:r>
                      <a:endParaRPr lang="en-US" sz="800"/>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lnR w="12700" cap="flat" cmpd="sng" algn="ctr">
                      <a:solidFill>
                        <a:schemeClr val="tx1"/>
                      </a:solidFill>
                      <a:prstDash val="solid"/>
                      <a:round/>
                      <a:headEnd type="none" w="med" len="med"/>
                      <a:tailEnd type="none" w="med" len="med"/>
                    </a:lnR>
                  </a:tcPr>
                </a:tc>
                <a:tc>
                  <a:txBody>
                    <a:bodyPr/>
                    <a:lstStyle/>
                    <a:p>
                      <a:pPr algn="ctr"/>
                      <a:r>
                        <a:rPr lang="fr-FR" sz="800"/>
                        <a:t>40 608</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33 886</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a:solidFill>
                            <a:srgbClr val="00B050"/>
                          </a:solidFill>
                        </a:rPr>
                        <a:t>+19%</a:t>
                      </a:r>
                      <a:endParaRPr lang="en-US" sz="800">
                        <a:solidFill>
                          <a:srgbClr val="00B050"/>
                        </a:solidFill>
                      </a:endParaRPr>
                    </a:p>
                  </a:txBody>
                  <a:tcPr>
                    <a:lnR w="12700" cap="flat" cmpd="sng" algn="ctr">
                      <a:solidFill>
                        <a:schemeClr val="tx1"/>
                      </a:solidFill>
                      <a:prstDash val="solid"/>
                      <a:round/>
                      <a:headEnd type="none" w="med" len="med"/>
                      <a:tailEnd type="none" w="med" len="med"/>
                    </a:lnR>
                  </a:tcPr>
                </a:tc>
                <a:tc>
                  <a:txBody>
                    <a:bodyPr/>
                    <a:lstStyle/>
                    <a:p>
                      <a:pPr algn="ctr"/>
                      <a:r>
                        <a:rPr lang="fr-FR" sz="800"/>
                        <a:t>NA</a:t>
                      </a:r>
                      <a:endParaRPr lang="en-US" sz="800"/>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tc>
                <a:extLst>
                  <a:ext uri="{0D108BD9-81ED-4DB2-BD59-A6C34878D82A}">
                    <a16:rowId xmlns:a16="http://schemas.microsoft.com/office/drawing/2014/main" val="3361986323"/>
                  </a:ext>
                </a:extLst>
              </a:tr>
              <a:tr h="242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rgbClr val="002060"/>
                          </a:solidFill>
                        </a:rPr>
                        <a:t>Cooperative Processing Test</a:t>
                      </a:r>
                    </a:p>
                    <a:p>
                      <a:r>
                        <a:rPr lang="en-US" sz="800" b="1">
                          <a:solidFill>
                            <a:srgbClr val="002060"/>
                          </a:solidFill>
                        </a:rPr>
                        <a:t>(Thread/30s)</a:t>
                      </a:r>
                    </a:p>
                  </a:txBody>
                  <a:tcP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lnR w="12700" cap="flat" cmpd="sng" algn="ctr">
                      <a:solidFill>
                        <a:schemeClr val="tx1"/>
                      </a:solidFill>
                      <a:prstDash val="solid"/>
                      <a:round/>
                      <a:headEnd type="none" w="med" len="med"/>
                      <a:tailEnd type="none" w="med" len="med"/>
                    </a:lnR>
                  </a:tcPr>
                </a:tc>
                <a:tc>
                  <a:txBody>
                    <a:bodyPr/>
                    <a:lstStyle/>
                    <a:p>
                      <a:pPr algn="ctr"/>
                      <a:r>
                        <a:rPr lang="fr-FR" sz="800"/>
                        <a:t>4 539 885</a:t>
                      </a:r>
                      <a:endParaRPr lang="en-US" sz="800"/>
                    </a:p>
                  </a:txBody>
                  <a:tcPr>
                    <a:lnL w="12700" cap="flat" cmpd="sng" algn="ctr">
                      <a:solidFill>
                        <a:schemeClr val="tx1"/>
                      </a:solidFill>
                      <a:prstDash val="solid"/>
                      <a:round/>
                      <a:headEnd type="none" w="med" len="med"/>
                      <a:tailEnd type="none" w="med" len="med"/>
                    </a:lnL>
                  </a:tcPr>
                </a:tc>
                <a:tc>
                  <a:txBody>
                    <a:bodyPr/>
                    <a:lstStyle/>
                    <a:p>
                      <a:pPr algn="ctr"/>
                      <a:r>
                        <a:rPr lang="fr-FR" sz="800"/>
                        <a:t>4 039 910</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00B050"/>
                          </a:solidFill>
                        </a:rPr>
                        <a:t>+16%</a:t>
                      </a:r>
                    </a:p>
                  </a:txBody>
                  <a:tcP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tc>
                <a:extLst>
                  <a:ext uri="{0D108BD9-81ED-4DB2-BD59-A6C34878D82A}">
                    <a16:rowId xmlns:a16="http://schemas.microsoft.com/office/drawing/2014/main" val="2065877290"/>
                  </a:ext>
                </a:extLst>
              </a:tr>
              <a:tr h="2424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rgbClr val="002060"/>
                          </a:solidFill>
                        </a:rPr>
                        <a:t>Preemptive Processing Test</a:t>
                      </a:r>
                    </a:p>
                    <a:p>
                      <a:r>
                        <a:rPr lang="en-US" sz="800" b="1">
                          <a:solidFill>
                            <a:srgbClr val="002060"/>
                          </a:solidFill>
                        </a:rPr>
                        <a:t>(Thread/30s)</a:t>
                      </a:r>
                    </a:p>
                  </a:txBody>
                  <a:tcP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lnR w="12700" cap="flat" cmpd="sng" algn="ctr">
                      <a:solidFill>
                        <a:schemeClr val="tx1"/>
                      </a:solidFill>
                      <a:prstDash val="solid"/>
                      <a:round/>
                      <a:headEnd type="none" w="med" len="med"/>
                      <a:tailEnd type="none" w="med" len="med"/>
                    </a:lnR>
                  </a:tcPr>
                </a:tc>
                <a:tc>
                  <a:txBody>
                    <a:bodyPr/>
                    <a:lstStyle/>
                    <a:p>
                      <a:pPr algn="ctr"/>
                      <a:r>
                        <a:rPr lang="fr-FR" sz="800"/>
                        <a:t>2 001 661</a:t>
                      </a:r>
                      <a:endParaRPr lang="en-US" sz="800"/>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a:t>1 697 061</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00B050"/>
                          </a:solidFill>
                        </a:rPr>
                        <a:t>+17%</a:t>
                      </a:r>
                    </a:p>
                  </a:txBody>
                  <a:tcP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03234B"/>
                          </a:solidFill>
                          <a:effectLst/>
                          <a:uLnTx/>
                          <a:uFillTx/>
                          <a:latin typeface="Arial"/>
                          <a:ea typeface="+mn-ea"/>
                          <a:cs typeface="+mn-cs"/>
                        </a:rPr>
                        <a:t>NA</a:t>
                      </a:r>
                      <a:endParaRPr kumimoji="0" lang="en-US" sz="800" b="0" i="0" u="none" strike="noStrike" kern="1200" cap="none" spc="0" normalizeH="0" baseline="0" noProof="0">
                        <a:ln>
                          <a:noFill/>
                        </a:ln>
                        <a:solidFill>
                          <a:srgbClr val="03234B"/>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srgbClr val="03234B"/>
                          </a:solidFill>
                          <a:effectLst/>
                          <a:uLnTx/>
                          <a:uFillTx/>
                          <a:latin typeface="Arial"/>
                          <a:ea typeface="+mn-ea"/>
                          <a:cs typeface="+mn-cs"/>
                        </a:rPr>
                        <a:t>NA</a:t>
                      </a:r>
                      <a:endParaRPr kumimoji="0" lang="en-US" sz="800" b="0" i="0" u="none" strike="noStrike" kern="1200" cap="none" spc="0" normalizeH="0" baseline="0" noProof="0" dirty="0">
                        <a:ln>
                          <a:noFill/>
                        </a:ln>
                        <a:solidFill>
                          <a:srgbClr val="03234B"/>
                        </a:solidFill>
                        <a:effectLst/>
                        <a:uLnTx/>
                        <a:uFillTx/>
                        <a:latin typeface="Arial"/>
                        <a:ea typeface="+mn-ea"/>
                        <a:cs typeface="+mn-cs"/>
                      </a:endParaRPr>
                    </a:p>
                  </a:txBody>
                  <a:tcPr/>
                </a:tc>
                <a:extLst>
                  <a:ext uri="{0D108BD9-81ED-4DB2-BD59-A6C34878D82A}">
                    <a16:rowId xmlns:a16="http://schemas.microsoft.com/office/drawing/2014/main" val="3217506885"/>
                  </a:ext>
                </a:extLst>
              </a:tr>
            </a:tbl>
          </a:graphicData>
        </a:graphic>
      </p:graphicFrame>
      <p:sp>
        <p:nvSpPr>
          <p:cNvPr id="4" name="Slide Number Placeholder 3">
            <a:extLst>
              <a:ext uri="{FF2B5EF4-FFF2-40B4-BE49-F238E27FC236}">
                <a16:creationId xmlns:a16="http://schemas.microsoft.com/office/drawing/2014/main" id="{9F15A0D4-3AFC-8E25-B967-63916C98896F}"/>
              </a:ext>
            </a:extLst>
          </p:cNvPr>
          <p:cNvSpPr>
            <a:spLocks noGrp="1"/>
          </p:cNvSpPr>
          <p:nvPr>
            <p:ph type="sldNum" sz="quarter" idx="12"/>
          </p:nvPr>
        </p:nvSpPr>
        <p:spPr/>
        <p:txBody>
          <a:bodyPr/>
          <a:lstStyle/>
          <a:p>
            <a:fld id="{40A7B169-58CE-4E65-B1F9-ACF9E46440C2}" type="slidenum">
              <a:rPr lang="en-US" smtClean="0"/>
              <a:t>11</a:t>
            </a:fld>
            <a:endParaRPr lang="en-US"/>
          </a:p>
        </p:txBody>
      </p:sp>
      <p:graphicFrame>
        <p:nvGraphicFramePr>
          <p:cNvPr id="6" name="Table 5">
            <a:extLst>
              <a:ext uri="{FF2B5EF4-FFF2-40B4-BE49-F238E27FC236}">
                <a16:creationId xmlns:a16="http://schemas.microsoft.com/office/drawing/2014/main" id="{47910A5A-7A9D-B75D-BCA8-49912B024E33}"/>
              </a:ext>
            </a:extLst>
          </p:cNvPr>
          <p:cNvGraphicFramePr>
            <a:graphicFrameLocks noGrp="1"/>
          </p:cNvGraphicFramePr>
          <p:nvPr>
            <p:extLst>
              <p:ext uri="{D42A27DB-BD31-4B8C-83A1-F6EECF244321}">
                <p14:modId xmlns:p14="http://schemas.microsoft.com/office/powerpoint/2010/main" val="403140850"/>
              </p:ext>
            </p:extLst>
          </p:nvPr>
        </p:nvGraphicFramePr>
        <p:xfrm>
          <a:off x="8059107" y="1412704"/>
          <a:ext cx="3896772" cy="1887016"/>
        </p:xfrm>
        <a:graphic>
          <a:graphicData uri="http://schemas.openxmlformats.org/drawingml/2006/table">
            <a:tbl>
              <a:tblPr firstRow="1" bandRow="1">
                <a:tableStyleId>{EB344D84-9AFB-497E-A393-DC336BA19D2E}</a:tableStyleId>
              </a:tblPr>
              <a:tblGrid>
                <a:gridCol w="934950">
                  <a:extLst>
                    <a:ext uri="{9D8B030D-6E8A-4147-A177-3AD203B41FA5}">
                      <a16:colId xmlns:a16="http://schemas.microsoft.com/office/drawing/2014/main" val="368163055"/>
                    </a:ext>
                  </a:extLst>
                </a:gridCol>
                <a:gridCol w="934950">
                  <a:extLst>
                    <a:ext uri="{9D8B030D-6E8A-4147-A177-3AD203B41FA5}">
                      <a16:colId xmlns:a16="http://schemas.microsoft.com/office/drawing/2014/main" val="1554901956"/>
                    </a:ext>
                  </a:extLst>
                </a:gridCol>
                <a:gridCol w="610133">
                  <a:extLst>
                    <a:ext uri="{9D8B030D-6E8A-4147-A177-3AD203B41FA5}">
                      <a16:colId xmlns:a16="http://schemas.microsoft.com/office/drawing/2014/main" val="291297205"/>
                    </a:ext>
                  </a:extLst>
                </a:gridCol>
                <a:gridCol w="687712">
                  <a:extLst>
                    <a:ext uri="{9D8B030D-6E8A-4147-A177-3AD203B41FA5}">
                      <a16:colId xmlns:a16="http://schemas.microsoft.com/office/drawing/2014/main" val="2023152432"/>
                    </a:ext>
                  </a:extLst>
                </a:gridCol>
                <a:gridCol w="729027">
                  <a:extLst>
                    <a:ext uri="{9D8B030D-6E8A-4147-A177-3AD203B41FA5}">
                      <a16:colId xmlns:a16="http://schemas.microsoft.com/office/drawing/2014/main" val="3885779126"/>
                    </a:ext>
                  </a:extLst>
                </a:gridCol>
              </a:tblGrid>
              <a:tr h="199786">
                <a:tc>
                  <a:txBody>
                    <a:bodyPr/>
                    <a:lstStyle/>
                    <a:p>
                      <a:r>
                        <a:rPr lang="en-US" sz="600" b="1">
                          <a:solidFill>
                            <a:schemeClr val="bg1"/>
                          </a:solidFill>
                        </a:rPr>
                        <a:t>Test</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600" b="1">
                          <a:solidFill>
                            <a:schemeClr val="bg1"/>
                          </a:solidFill>
                        </a:rPr>
                        <a:t>Footprint</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600" b="1">
                          <a:solidFill>
                            <a:schemeClr val="bg1"/>
                          </a:solidFill>
                        </a:rPr>
                        <a:t>ST vs TI</a:t>
                      </a:r>
                    </a:p>
                  </a:txBody>
                  <a:tcPr>
                    <a:lnB w="12700" cap="flat" cmpd="sng" algn="ctr">
                      <a:solidFill>
                        <a:schemeClr val="tx1"/>
                      </a:solidFill>
                      <a:prstDash val="solid"/>
                      <a:round/>
                      <a:headEnd type="none" w="med" len="med"/>
                      <a:tailEnd type="none" w="med" len="med"/>
                    </a:lnB>
                  </a:tcPr>
                </a:tc>
                <a:tc>
                  <a:txBody>
                    <a:bodyPr/>
                    <a:lstStyle/>
                    <a:p>
                      <a:pPr algn="ctr"/>
                      <a:r>
                        <a:rPr lang="en-US" sz="600" b="1">
                          <a:solidFill>
                            <a:schemeClr val="bg1"/>
                          </a:solidFill>
                        </a:rPr>
                        <a:t>ST vs RA</a:t>
                      </a:r>
                    </a:p>
                  </a:txBody>
                  <a:tcPr>
                    <a:lnB w="12700" cap="flat" cmpd="sng" algn="ctr">
                      <a:solidFill>
                        <a:schemeClr val="tx1"/>
                      </a:solidFill>
                      <a:prstDash val="solid"/>
                      <a:round/>
                      <a:headEnd type="none" w="med" len="med"/>
                      <a:tailEnd type="none" w="med" len="med"/>
                    </a:lnB>
                  </a:tcPr>
                </a:tc>
                <a:tc>
                  <a:txBody>
                    <a:bodyPr/>
                    <a:lstStyle/>
                    <a:p>
                      <a:pPr algn="ctr"/>
                      <a:r>
                        <a:rPr lang="en-US" sz="600" b="1">
                          <a:solidFill>
                            <a:schemeClr val="bg1"/>
                          </a:solidFill>
                        </a:rPr>
                        <a:t>ST vs NXP</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0288134"/>
                  </a:ext>
                </a:extLst>
              </a:tr>
              <a:tr h="18747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rgbClr val="002060"/>
                          </a:solidFill>
                          <a:latin typeface="+mn-lt"/>
                          <a:ea typeface="+mn-ea"/>
                          <a:cs typeface="+mn-cs"/>
                        </a:rPr>
                        <a:t>Basic Processing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l" defTabSz="914400" rtl="0" eaLnBrk="1" latinLnBrk="0" hangingPunct="1"/>
                      <a:r>
                        <a:rPr lang="en-US" sz="600" b="1" kern="1200" dirty="0">
                          <a:solidFill>
                            <a:schemeClr val="tx1"/>
                          </a:solidFill>
                        </a:rPr>
                        <a:t>ROM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+4%</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a:solidFill>
                            <a:schemeClr val="tx1"/>
                          </a:solidFill>
                          <a:latin typeface="+mn-lt"/>
                          <a:ea typeface="+mn-ea"/>
                          <a:cs typeface="+mn-cs"/>
                        </a:rPr>
                        <a:t>-92%</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a:solidFill>
                            <a:schemeClr val="tx1"/>
                          </a:solidFill>
                          <a:latin typeface="+mn-lt"/>
                          <a:ea typeface="+mn-ea"/>
                          <a:cs typeface="+mn-cs"/>
                        </a:rPr>
                        <a:t>0%</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844308102"/>
                  </a:ext>
                </a:extLst>
              </a:tr>
              <a:tr h="187470">
                <a:tc vMerge="1">
                  <a:txBody>
                    <a:bodyPr/>
                    <a:lstStyle/>
                    <a:p>
                      <a:endParaRPr lang="en-US"/>
                    </a:p>
                  </a:txBody>
                  <a:tcPr/>
                </a:tc>
                <a:tc>
                  <a:txBody>
                    <a:bodyPr/>
                    <a:lstStyle/>
                    <a:p>
                      <a:pPr marL="0" algn="l" defTabSz="914400" rtl="0" eaLnBrk="1" latinLnBrk="0" hangingPunct="1"/>
                      <a:r>
                        <a:rPr lang="en-US" sz="600" b="1" kern="1200" dirty="0">
                          <a:solidFill>
                            <a:schemeClr val="tx1"/>
                          </a:solidFill>
                        </a:rPr>
                        <a:t>RAM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+14%</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-84%</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a:solidFill>
                            <a:schemeClr val="tx1"/>
                          </a:solidFill>
                          <a:latin typeface="+mn-lt"/>
                          <a:ea typeface="+mn-ea"/>
                          <a:cs typeface="+mn-cs"/>
                        </a:rPr>
                        <a:t>+2%</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2508136"/>
                  </a:ext>
                </a:extLst>
              </a:tr>
              <a:tr h="18747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a:solidFill>
                          <a:schemeClr val="accent2"/>
                        </a:solidFill>
                      </a:endParaRPr>
                    </a:p>
                  </a:txBody>
                  <a:tcPr/>
                </a:tc>
                <a:tc>
                  <a:txBody>
                    <a:bodyPr/>
                    <a:lstStyle/>
                    <a:p>
                      <a:pPr marL="0" algn="l" defTabSz="914400" rtl="0" eaLnBrk="1" latinLnBrk="0" hangingPunct="1"/>
                      <a:r>
                        <a:rPr lang="en-US" sz="600" b="1" kern="1200" dirty="0">
                          <a:solidFill>
                            <a:schemeClr val="tx1"/>
                          </a:solidFill>
                        </a:rPr>
                        <a:t>Total</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FF0000"/>
                          </a:solidFill>
                          <a:latin typeface="+mn-lt"/>
                          <a:ea typeface="+mn-ea"/>
                          <a:cs typeface="+mn-cs"/>
                        </a:rPr>
                        <a:t>+17%</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00B050"/>
                          </a:solidFill>
                          <a:latin typeface="+mn-lt"/>
                          <a:ea typeface="+mn-ea"/>
                          <a:cs typeface="+mn-cs"/>
                        </a:rPr>
                        <a:t>-68%</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00B050"/>
                          </a:solidFill>
                          <a:latin typeface="+mn-lt"/>
                          <a:ea typeface="+mn-ea"/>
                          <a:cs typeface="+mn-cs"/>
                        </a:rPr>
                        <a:t>-2%</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2405651"/>
                  </a:ext>
                </a:extLst>
              </a:tr>
              <a:tr h="18747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rgbClr val="002060"/>
                          </a:solidFill>
                          <a:latin typeface="+mn-lt"/>
                          <a:ea typeface="+mn-ea"/>
                          <a:cs typeface="+mn-cs"/>
                        </a:rPr>
                        <a:t>Cooperative Processing </a:t>
                      </a:r>
                    </a:p>
                    <a:p>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914400" rtl="0" eaLnBrk="1" latinLnBrk="0" hangingPunct="1"/>
                      <a:r>
                        <a:rPr lang="en-US" sz="600" b="1" kern="1200" dirty="0">
                          <a:solidFill>
                            <a:schemeClr val="tx1"/>
                          </a:solidFill>
                        </a:rPr>
                        <a:t>ROM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+5%</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-89%</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+10%</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43959144"/>
                  </a:ext>
                </a:extLst>
              </a:tr>
              <a:tr h="187470">
                <a:tc vMerge="1">
                  <a:txBody>
                    <a:bodyPr/>
                    <a:lstStyle/>
                    <a:p>
                      <a:endParaRPr lang="en-US"/>
                    </a:p>
                  </a:txBody>
                  <a:tcPr/>
                </a:tc>
                <a:tc>
                  <a:txBody>
                    <a:bodyPr/>
                    <a:lstStyle/>
                    <a:p>
                      <a:pPr marL="0" algn="l" defTabSz="914400" rtl="0" eaLnBrk="1" latinLnBrk="0" hangingPunct="1"/>
                      <a:r>
                        <a:rPr lang="en-US" sz="600" b="1" kern="1200" dirty="0">
                          <a:solidFill>
                            <a:schemeClr val="tx1"/>
                          </a:solidFill>
                        </a:rPr>
                        <a:t>RAM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a:solidFill>
                            <a:schemeClr val="tx1"/>
                          </a:solidFill>
                          <a:latin typeface="+mn-lt"/>
                          <a:ea typeface="+mn-ea"/>
                          <a:cs typeface="+mn-cs"/>
                        </a:rPr>
                        <a:t>+12%</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-43%</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+1%</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12201"/>
                  </a:ext>
                </a:extLst>
              </a:tr>
              <a:tr h="187470">
                <a:tc vMerge="1">
                  <a:txBody>
                    <a:bodyPr/>
                    <a:lstStyle/>
                    <a:p>
                      <a:endParaRPr lang="en-US" sz="800"/>
                    </a:p>
                  </a:txBody>
                  <a:tcPr/>
                </a:tc>
                <a:tc>
                  <a:txBody>
                    <a:bodyPr/>
                    <a:lstStyle/>
                    <a:p>
                      <a:pPr marL="0" algn="l" defTabSz="914400" rtl="0" eaLnBrk="1" latinLnBrk="0" hangingPunct="1"/>
                      <a:r>
                        <a:rPr lang="en-US" sz="600" b="1" kern="1200" dirty="0">
                          <a:solidFill>
                            <a:schemeClr val="tx1"/>
                          </a:solidFill>
                        </a:rPr>
                        <a:t>Total</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FF0000"/>
                          </a:solidFill>
                          <a:latin typeface="+mn-lt"/>
                          <a:ea typeface="+mn-ea"/>
                          <a:cs typeface="+mn-cs"/>
                        </a:rPr>
                        <a:t>+13%</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00B050"/>
                          </a:solidFill>
                          <a:latin typeface="+mn-lt"/>
                          <a:ea typeface="+mn-ea"/>
                          <a:cs typeface="+mn-cs"/>
                        </a:rPr>
                        <a:t>-41%</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FF0000"/>
                          </a:solidFill>
                          <a:latin typeface="+mn-lt"/>
                          <a:ea typeface="+mn-ea"/>
                          <a:cs typeface="+mn-cs"/>
                        </a:rPr>
                        <a:t>+6%</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5604631"/>
                  </a:ext>
                </a:extLst>
              </a:tr>
              <a:tr h="18747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rgbClr val="002060"/>
                          </a:solidFill>
                          <a:latin typeface="+mn-lt"/>
                          <a:ea typeface="+mn-ea"/>
                          <a:cs typeface="+mn-cs"/>
                        </a:rPr>
                        <a:t>Preemptive Processing </a:t>
                      </a:r>
                    </a:p>
                    <a:p>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sz="600" b="1" kern="1200" dirty="0">
                          <a:solidFill>
                            <a:schemeClr val="tx1"/>
                          </a:solidFill>
                        </a:rPr>
                        <a:t>ROM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+19%</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-28%</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+8%</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69504893"/>
                  </a:ext>
                </a:extLst>
              </a:tr>
              <a:tr h="187470">
                <a:tc vMerge="1">
                  <a:txBody>
                    <a:bodyPr/>
                    <a:lstStyle/>
                    <a:p>
                      <a:endParaRPr lang="en-US"/>
                    </a:p>
                  </a:txBody>
                  <a:tcPr/>
                </a:tc>
                <a:tc>
                  <a:txBody>
                    <a:bodyPr/>
                    <a:lstStyle/>
                    <a:p>
                      <a:pPr marL="0" algn="l" defTabSz="914400" rtl="0" eaLnBrk="1" latinLnBrk="0" hangingPunct="1"/>
                      <a:r>
                        <a:rPr lang="en-US" sz="600" b="1" kern="1200" dirty="0">
                          <a:solidFill>
                            <a:schemeClr val="tx1"/>
                          </a:solidFill>
                        </a:rPr>
                        <a:t>RAM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a:solidFill>
                            <a:schemeClr val="tx1"/>
                          </a:solidFill>
                          <a:latin typeface="+mn-lt"/>
                          <a:ea typeface="+mn-ea"/>
                          <a:cs typeface="+mn-cs"/>
                        </a:rPr>
                        <a:t>+13%</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+99%</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kern="1200" dirty="0">
                          <a:solidFill>
                            <a:schemeClr val="tx1"/>
                          </a:solidFill>
                          <a:latin typeface="+mn-lt"/>
                          <a:ea typeface="+mn-ea"/>
                          <a:cs typeface="+mn-cs"/>
                        </a:rPr>
                        <a:t>+4%</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2576134"/>
                  </a:ext>
                </a:extLst>
              </a:tr>
              <a:tr h="187470">
                <a:tc vMerge="1">
                  <a:txBody>
                    <a:bodyPr/>
                    <a:lstStyle/>
                    <a:p>
                      <a:endParaRPr lang="en-US" dirty="0"/>
                    </a:p>
                  </a:txBody>
                  <a:tcPr/>
                </a:tc>
                <a:tc>
                  <a:txBody>
                    <a:bodyPr/>
                    <a:lstStyle/>
                    <a:p>
                      <a:pPr marL="0" algn="l" defTabSz="914400" rtl="0" eaLnBrk="1" latinLnBrk="0" hangingPunct="1"/>
                      <a:r>
                        <a:rPr lang="en-US" sz="600" b="1" kern="1200" dirty="0">
                          <a:solidFill>
                            <a:schemeClr val="tx1"/>
                          </a:solidFill>
                        </a:rPr>
                        <a:t>Total</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FF0000"/>
                          </a:solidFill>
                          <a:latin typeface="+mn-lt"/>
                          <a:ea typeface="+mn-ea"/>
                          <a:cs typeface="+mn-cs"/>
                        </a:rPr>
                        <a:t>+15%</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00B050"/>
                          </a:solidFill>
                          <a:latin typeface="+mn-lt"/>
                          <a:ea typeface="+mn-ea"/>
                          <a:cs typeface="+mn-cs"/>
                        </a:rPr>
                        <a:t>-73%</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FF0000"/>
                          </a:solidFill>
                          <a:latin typeface="+mn-lt"/>
                          <a:ea typeface="+mn-ea"/>
                          <a:cs typeface="+mn-cs"/>
                        </a:rPr>
                        <a:t>+8%</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1927294"/>
                  </a:ext>
                </a:extLst>
              </a:tr>
            </a:tbl>
          </a:graphicData>
        </a:graphic>
      </p:graphicFrame>
      <p:graphicFrame>
        <p:nvGraphicFramePr>
          <p:cNvPr id="7" name="Table 6">
            <a:extLst>
              <a:ext uri="{FF2B5EF4-FFF2-40B4-BE49-F238E27FC236}">
                <a16:creationId xmlns:a16="http://schemas.microsoft.com/office/drawing/2014/main" id="{2D2706FE-B9DA-0A0B-5D68-52FE64473D06}"/>
              </a:ext>
            </a:extLst>
          </p:cNvPr>
          <p:cNvGraphicFramePr>
            <a:graphicFrameLocks noGrp="1"/>
          </p:cNvGraphicFramePr>
          <p:nvPr>
            <p:extLst>
              <p:ext uri="{D42A27DB-BD31-4B8C-83A1-F6EECF244321}">
                <p14:modId xmlns:p14="http://schemas.microsoft.com/office/powerpoint/2010/main" val="1759593444"/>
              </p:ext>
            </p:extLst>
          </p:nvPr>
        </p:nvGraphicFramePr>
        <p:xfrm>
          <a:off x="8059107" y="4351093"/>
          <a:ext cx="3896772" cy="1887016"/>
        </p:xfrm>
        <a:graphic>
          <a:graphicData uri="http://schemas.openxmlformats.org/drawingml/2006/table">
            <a:tbl>
              <a:tblPr firstRow="1" bandRow="1">
                <a:tableStyleId>{EB344D84-9AFB-497E-A393-DC336BA19D2E}</a:tableStyleId>
              </a:tblPr>
              <a:tblGrid>
                <a:gridCol w="934950">
                  <a:extLst>
                    <a:ext uri="{9D8B030D-6E8A-4147-A177-3AD203B41FA5}">
                      <a16:colId xmlns:a16="http://schemas.microsoft.com/office/drawing/2014/main" val="368163055"/>
                    </a:ext>
                  </a:extLst>
                </a:gridCol>
                <a:gridCol w="934950">
                  <a:extLst>
                    <a:ext uri="{9D8B030D-6E8A-4147-A177-3AD203B41FA5}">
                      <a16:colId xmlns:a16="http://schemas.microsoft.com/office/drawing/2014/main" val="1554901956"/>
                    </a:ext>
                  </a:extLst>
                </a:gridCol>
                <a:gridCol w="610133">
                  <a:extLst>
                    <a:ext uri="{9D8B030D-6E8A-4147-A177-3AD203B41FA5}">
                      <a16:colId xmlns:a16="http://schemas.microsoft.com/office/drawing/2014/main" val="291297205"/>
                    </a:ext>
                  </a:extLst>
                </a:gridCol>
                <a:gridCol w="687712">
                  <a:extLst>
                    <a:ext uri="{9D8B030D-6E8A-4147-A177-3AD203B41FA5}">
                      <a16:colId xmlns:a16="http://schemas.microsoft.com/office/drawing/2014/main" val="2023152432"/>
                    </a:ext>
                  </a:extLst>
                </a:gridCol>
                <a:gridCol w="729027">
                  <a:extLst>
                    <a:ext uri="{9D8B030D-6E8A-4147-A177-3AD203B41FA5}">
                      <a16:colId xmlns:a16="http://schemas.microsoft.com/office/drawing/2014/main" val="3885779126"/>
                    </a:ext>
                  </a:extLst>
                </a:gridCol>
              </a:tblGrid>
              <a:tr h="199786">
                <a:tc>
                  <a:txBody>
                    <a:bodyPr/>
                    <a:lstStyle/>
                    <a:p>
                      <a:r>
                        <a:rPr lang="en-US" sz="600" b="1">
                          <a:solidFill>
                            <a:schemeClr val="bg1"/>
                          </a:solidFill>
                        </a:rPr>
                        <a:t>Test</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600" b="1">
                          <a:solidFill>
                            <a:schemeClr val="bg1"/>
                          </a:solidFill>
                        </a:rPr>
                        <a:t>Footprint</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600" b="1">
                          <a:solidFill>
                            <a:schemeClr val="bg1"/>
                          </a:solidFill>
                        </a:rPr>
                        <a:t>ST vs TI</a:t>
                      </a:r>
                    </a:p>
                  </a:txBody>
                  <a:tcPr>
                    <a:lnB w="12700" cap="flat" cmpd="sng" algn="ctr">
                      <a:solidFill>
                        <a:schemeClr val="tx1"/>
                      </a:solidFill>
                      <a:prstDash val="solid"/>
                      <a:round/>
                      <a:headEnd type="none" w="med" len="med"/>
                      <a:tailEnd type="none" w="med" len="med"/>
                    </a:lnB>
                  </a:tcPr>
                </a:tc>
                <a:tc>
                  <a:txBody>
                    <a:bodyPr/>
                    <a:lstStyle/>
                    <a:p>
                      <a:pPr algn="ctr"/>
                      <a:r>
                        <a:rPr lang="en-US" sz="600" b="1">
                          <a:solidFill>
                            <a:schemeClr val="bg1"/>
                          </a:solidFill>
                        </a:rPr>
                        <a:t>ST vs RA</a:t>
                      </a:r>
                    </a:p>
                  </a:txBody>
                  <a:tcPr>
                    <a:lnB w="12700" cap="flat" cmpd="sng" algn="ctr">
                      <a:solidFill>
                        <a:schemeClr val="tx1"/>
                      </a:solidFill>
                      <a:prstDash val="solid"/>
                      <a:round/>
                      <a:headEnd type="none" w="med" len="med"/>
                      <a:tailEnd type="none" w="med" len="med"/>
                    </a:lnB>
                  </a:tcPr>
                </a:tc>
                <a:tc>
                  <a:txBody>
                    <a:bodyPr/>
                    <a:lstStyle/>
                    <a:p>
                      <a:pPr algn="ctr"/>
                      <a:r>
                        <a:rPr lang="en-US" sz="600" b="1">
                          <a:solidFill>
                            <a:schemeClr val="bg1"/>
                          </a:solidFill>
                        </a:rPr>
                        <a:t>ST vs NXP</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0288134"/>
                  </a:ext>
                </a:extLst>
              </a:tr>
              <a:tr h="18747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rgbClr val="002060"/>
                          </a:solidFill>
                          <a:latin typeface="+mn-lt"/>
                          <a:ea typeface="+mn-ea"/>
                          <a:cs typeface="+mn-cs"/>
                        </a:rPr>
                        <a:t>Basic Processing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l" defTabSz="914400" rtl="0" eaLnBrk="1" latinLnBrk="0" hangingPunct="1"/>
                      <a:r>
                        <a:rPr lang="en-US" sz="600" b="1" kern="1200" dirty="0">
                          <a:solidFill>
                            <a:schemeClr val="tx1"/>
                          </a:solidFill>
                        </a:rPr>
                        <a:t>ROM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tx1"/>
                          </a:solidFill>
                          <a:latin typeface="+mn-lt"/>
                          <a:ea typeface="+mn-ea"/>
                          <a:cs typeface="+mn-cs"/>
                        </a:rPr>
                        <a:t>NA</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0%</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844308102"/>
                  </a:ext>
                </a:extLst>
              </a:tr>
              <a:tr h="187470">
                <a:tc vMerge="1">
                  <a:txBody>
                    <a:bodyPr/>
                    <a:lstStyle/>
                    <a:p>
                      <a:endParaRPr lang="en-US"/>
                    </a:p>
                  </a:txBody>
                  <a:tcPr/>
                </a:tc>
                <a:tc>
                  <a:txBody>
                    <a:bodyPr/>
                    <a:lstStyle/>
                    <a:p>
                      <a:pPr marL="0" algn="l" defTabSz="914400" rtl="0" eaLnBrk="1" latinLnBrk="0" hangingPunct="1"/>
                      <a:r>
                        <a:rPr lang="en-US" sz="600" b="1" kern="1200" dirty="0">
                          <a:solidFill>
                            <a:schemeClr val="tx1"/>
                          </a:solidFill>
                        </a:rPr>
                        <a:t>RAM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tx1"/>
                          </a:solidFill>
                          <a:latin typeface="+mn-lt"/>
                          <a:ea typeface="+mn-ea"/>
                          <a:cs typeface="+mn-cs"/>
                        </a:rPr>
                        <a:t>NA</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tx1"/>
                          </a:solidFill>
                          <a:latin typeface="+mn-lt"/>
                          <a:ea typeface="+mn-ea"/>
                          <a:cs typeface="+mn-cs"/>
                        </a:rPr>
                        <a:t>-68%</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2508136"/>
                  </a:ext>
                </a:extLst>
              </a:tr>
              <a:tr h="18747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a:solidFill>
                          <a:schemeClr val="accent2"/>
                        </a:solidFill>
                      </a:endParaRPr>
                    </a:p>
                  </a:txBody>
                  <a:tcPr/>
                </a:tc>
                <a:tc>
                  <a:txBody>
                    <a:bodyPr/>
                    <a:lstStyle/>
                    <a:p>
                      <a:pPr marL="0" algn="l" defTabSz="914400" rtl="0" eaLnBrk="1" latinLnBrk="0" hangingPunct="1"/>
                      <a:r>
                        <a:rPr lang="en-US" sz="600" b="1" kern="1200" dirty="0">
                          <a:solidFill>
                            <a:schemeClr val="tx1"/>
                          </a:solidFill>
                        </a:rPr>
                        <a:t>Total</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00B050"/>
                          </a:solidFill>
                          <a:latin typeface="+mn-lt"/>
                          <a:ea typeface="+mn-ea"/>
                          <a:cs typeface="+mn-cs"/>
                        </a:rPr>
                        <a:t>-45%</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2405651"/>
                  </a:ext>
                </a:extLst>
              </a:tr>
              <a:tr h="18747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rgbClr val="002060"/>
                          </a:solidFill>
                          <a:latin typeface="+mn-lt"/>
                          <a:ea typeface="+mn-ea"/>
                          <a:cs typeface="+mn-cs"/>
                        </a:rPr>
                        <a:t>Cooperative Processing </a:t>
                      </a:r>
                    </a:p>
                    <a:p>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914400" rtl="0" eaLnBrk="1" latinLnBrk="0" hangingPunct="1"/>
                      <a:r>
                        <a:rPr lang="en-US" sz="600" b="1" kern="1200" dirty="0">
                          <a:solidFill>
                            <a:schemeClr val="tx1"/>
                          </a:solidFill>
                        </a:rPr>
                        <a:t>ROM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tx1"/>
                          </a:solidFill>
                          <a:latin typeface="+mn-lt"/>
                          <a:ea typeface="+mn-ea"/>
                          <a:cs typeface="+mn-cs"/>
                        </a:rPr>
                        <a:t>+12%</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43959144"/>
                  </a:ext>
                </a:extLst>
              </a:tr>
              <a:tr h="187470">
                <a:tc vMerge="1">
                  <a:txBody>
                    <a:bodyPr/>
                    <a:lstStyle/>
                    <a:p>
                      <a:endParaRPr lang="en-US"/>
                    </a:p>
                  </a:txBody>
                  <a:tcPr/>
                </a:tc>
                <a:tc>
                  <a:txBody>
                    <a:bodyPr/>
                    <a:lstStyle/>
                    <a:p>
                      <a:pPr marL="0" algn="l" defTabSz="914400" rtl="0" eaLnBrk="1" latinLnBrk="0" hangingPunct="1"/>
                      <a:r>
                        <a:rPr lang="en-US" sz="600" b="1" kern="1200" dirty="0">
                          <a:solidFill>
                            <a:schemeClr val="tx1"/>
                          </a:solidFill>
                        </a:rPr>
                        <a:t>RAM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tx1"/>
                          </a:solidFill>
                          <a:latin typeface="+mn-lt"/>
                          <a:ea typeface="+mn-ea"/>
                          <a:cs typeface="+mn-cs"/>
                        </a:rPr>
                        <a:t>-69%</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12201"/>
                  </a:ext>
                </a:extLst>
              </a:tr>
              <a:tr h="187470">
                <a:tc vMerge="1">
                  <a:txBody>
                    <a:bodyPr/>
                    <a:lstStyle/>
                    <a:p>
                      <a:endParaRPr lang="en-US" sz="800"/>
                    </a:p>
                  </a:txBody>
                  <a:tcPr/>
                </a:tc>
                <a:tc>
                  <a:txBody>
                    <a:bodyPr/>
                    <a:lstStyle/>
                    <a:p>
                      <a:pPr marL="0" algn="l" defTabSz="914400" rtl="0" eaLnBrk="1" latinLnBrk="0" hangingPunct="1"/>
                      <a:r>
                        <a:rPr lang="en-US" sz="600" b="1" kern="1200" dirty="0">
                          <a:solidFill>
                            <a:schemeClr val="tx1"/>
                          </a:solidFill>
                        </a:rPr>
                        <a:t>Total</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00B050"/>
                          </a:solidFill>
                          <a:latin typeface="+mn-lt"/>
                          <a:ea typeface="+mn-ea"/>
                          <a:cs typeface="+mn-cs"/>
                        </a:rPr>
                        <a:t>-46%</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5604631"/>
                  </a:ext>
                </a:extLst>
              </a:tr>
              <a:tr h="18747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rgbClr val="002060"/>
                          </a:solidFill>
                          <a:latin typeface="+mn-lt"/>
                          <a:ea typeface="+mn-ea"/>
                          <a:cs typeface="+mn-cs"/>
                        </a:rPr>
                        <a:t>Preemptive Processing </a:t>
                      </a:r>
                    </a:p>
                    <a:p>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sz="600" b="1" kern="1200" dirty="0">
                          <a:solidFill>
                            <a:schemeClr val="tx1"/>
                          </a:solidFill>
                        </a:rPr>
                        <a:t>ROM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tx1"/>
                          </a:solidFill>
                          <a:latin typeface="+mn-lt"/>
                          <a:ea typeface="+mn-ea"/>
                          <a:cs typeface="+mn-cs"/>
                        </a:rPr>
                        <a:t>-34%</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69504893"/>
                  </a:ext>
                </a:extLst>
              </a:tr>
              <a:tr h="187470">
                <a:tc vMerge="1">
                  <a:txBody>
                    <a:bodyPr/>
                    <a:lstStyle/>
                    <a:p>
                      <a:endParaRPr lang="en-US"/>
                    </a:p>
                  </a:txBody>
                  <a:tcPr/>
                </a:tc>
                <a:tc>
                  <a:txBody>
                    <a:bodyPr/>
                    <a:lstStyle/>
                    <a:p>
                      <a:pPr marL="0" algn="l" defTabSz="914400" rtl="0" eaLnBrk="1" latinLnBrk="0" hangingPunct="1"/>
                      <a:r>
                        <a:rPr lang="en-US" sz="600" b="1" kern="1200" dirty="0">
                          <a:solidFill>
                            <a:schemeClr val="tx1"/>
                          </a:solidFill>
                        </a:rPr>
                        <a:t>RAM</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tx1"/>
                          </a:solidFill>
                          <a:latin typeface="+mn-lt"/>
                          <a:ea typeface="+mn-ea"/>
                          <a:cs typeface="+mn-cs"/>
                        </a:rPr>
                        <a:t>-64%</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tx1"/>
                          </a:solidFill>
                          <a:latin typeface="+mn-lt"/>
                          <a:ea typeface="+mn-ea"/>
                          <a:cs typeface="+mn-cs"/>
                        </a:rPr>
                        <a:t>NA</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2576134"/>
                  </a:ext>
                </a:extLst>
              </a:tr>
              <a:tr h="187470">
                <a:tc vMerge="1">
                  <a:txBody>
                    <a:bodyPr/>
                    <a:lstStyle/>
                    <a:p>
                      <a:endParaRPr lang="en-US" dirty="0"/>
                    </a:p>
                  </a:txBody>
                  <a:tcPr/>
                </a:tc>
                <a:tc>
                  <a:txBody>
                    <a:bodyPr/>
                    <a:lstStyle/>
                    <a:p>
                      <a:pPr marL="0" algn="l" defTabSz="914400" rtl="0" eaLnBrk="1" latinLnBrk="0" hangingPunct="1"/>
                      <a:r>
                        <a:rPr lang="en-US" sz="600" b="1" kern="1200" dirty="0">
                          <a:solidFill>
                            <a:schemeClr val="tx1"/>
                          </a:solidFill>
                        </a:rPr>
                        <a:t>Total</a:t>
                      </a:r>
                      <a:endParaRPr lang="en-US" sz="6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a:solidFill>
                            <a:schemeClr val="tx1"/>
                          </a:solidFill>
                          <a:latin typeface="+mn-lt"/>
                          <a:ea typeface="+mn-ea"/>
                          <a:cs typeface="+mn-cs"/>
                        </a:rPr>
                        <a:t>NA</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1" kern="1200" dirty="0">
                          <a:solidFill>
                            <a:srgbClr val="00B050"/>
                          </a:solidFill>
                          <a:latin typeface="+mn-lt"/>
                          <a:ea typeface="+mn-ea"/>
                          <a:cs typeface="+mn-cs"/>
                        </a:rPr>
                        <a:t>-45%</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b="0" kern="1200" dirty="0">
                          <a:solidFill>
                            <a:schemeClr val="tx1"/>
                          </a:solidFill>
                          <a:latin typeface="+mn-lt"/>
                          <a:ea typeface="+mn-ea"/>
                          <a:cs typeface="+mn-cs"/>
                        </a:rPr>
                        <a:t>NA</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1927294"/>
                  </a:ext>
                </a:extLst>
              </a:tr>
            </a:tbl>
          </a:graphicData>
        </a:graphic>
      </p:graphicFrame>
    </p:spTree>
    <p:extLst>
      <p:ext uri="{BB962C8B-B14F-4D97-AF65-F5344CB8AC3E}">
        <p14:creationId xmlns:p14="http://schemas.microsoft.com/office/powerpoint/2010/main" val="3898556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1AAAD-AA64-E64B-E3A5-ECF2CB0DB1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A16178-5415-B353-2479-8F3C9945C361}"/>
              </a:ext>
            </a:extLst>
          </p:cNvPr>
          <p:cNvSpPr>
            <a:spLocks noGrp="1"/>
          </p:cNvSpPr>
          <p:nvPr>
            <p:ph type="title"/>
          </p:nvPr>
        </p:nvSpPr>
        <p:spPr/>
        <p:txBody>
          <a:bodyPr/>
          <a:lstStyle/>
          <a:p>
            <a:r>
              <a:rPr lang="en-US"/>
              <a:t>ST Competitors MW Benchmark: File System</a:t>
            </a:r>
            <a:br>
              <a:rPr lang="en-US"/>
            </a:br>
            <a:r>
              <a:rPr lang="en-US" sz="2400" b="1">
                <a:solidFill>
                  <a:schemeClr val="accent2"/>
                </a:solidFill>
              </a:rPr>
              <a:t>Objective Performance comparison</a:t>
            </a:r>
            <a:endParaRPr lang="en-US" sz="2400"/>
          </a:p>
        </p:txBody>
      </p:sp>
      <p:sp>
        <p:nvSpPr>
          <p:cNvPr id="4" name="TextBox 3">
            <a:extLst>
              <a:ext uri="{FF2B5EF4-FFF2-40B4-BE49-F238E27FC236}">
                <a16:creationId xmlns:a16="http://schemas.microsoft.com/office/drawing/2014/main" id="{0165CD2A-4217-7024-FFAB-C94EF0DC507B}"/>
              </a:ext>
            </a:extLst>
          </p:cNvPr>
          <p:cNvSpPr txBox="1"/>
          <p:nvPr/>
        </p:nvSpPr>
        <p:spPr>
          <a:xfrm>
            <a:off x="300037" y="2136478"/>
            <a:ext cx="11401425" cy="400110"/>
          </a:xfrm>
          <a:prstGeom prst="rect">
            <a:avLst/>
          </a:prstGeom>
          <a:noFill/>
        </p:spPr>
        <p:txBody>
          <a:bodyPr wrap="square" lIns="91440" tIns="45720" rIns="91440" bIns="45720" rtlCol="0" anchor="t">
            <a:spAutoFit/>
          </a:bodyPr>
          <a:lstStyle/>
          <a:p>
            <a:r>
              <a:rPr lang="en-US" sz="1000"/>
              <a:t>This benchmark analysis was based on projects available within the ST, Renesas, and NXP firmware packages. Some updates were made in the applications to align with the scenario, memory type, and target series.</a:t>
            </a:r>
          </a:p>
        </p:txBody>
      </p:sp>
      <p:graphicFrame>
        <p:nvGraphicFramePr>
          <p:cNvPr id="2" name="Table 1">
            <a:extLst>
              <a:ext uri="{FF2B5EF4-FFF2-40B4-BE49-F238E27FC236}">
                <a16:creationId xmlns:a16="http://schemas.microsoft.com/office/drawing/2014/main" id="{0DB2E631-D6B2-2434-14CE-C322A0F1E86E}"/>
              </a:ext>
            </a:extLst>
          </p:cNvPr>
          <p:cNvGraphicFramePr>
            <a:graphicFrameLocks noGrp="1"/>
          </p:cNvGraphicFramePr>
          <p:nvPr>
            <p:extLst>
              <p:ext uri="{D42A27DB-BD31-4B8C-83A1-F6EECF244321}">
                <p14:modId xmlns:p14="http://schemas.microsoft.com/office/powerpoint/2010/main" val="4213318085"/>
              </p:ext>
            </p:extLst>
          </p:nvPr>
        </p:nvGraphicFramePr>
        <p:xfrm>
          <a:off x="380999" y="2605880"/>
          <a:ext cx="11320463" cy="2682875"/>
        </p:xfrm>
        <a:graphic>
          <a:graphicData uri="http://schemas.openxmlformats.org/drawingml/2006/table">
            <a:tbl>
              <a:tblPr firstRow="1" bandRow="1">
                <a:tableStyleId>{EB344D84-9AFB-497E-A393-DC336BA19D2E}</a:tableStyleId>
              </a:tblPr>
              <a:tblGrid>
                <a:gridCol w="2923980">
                  <a:extLst>
                    <a:ext uri="{9D8B030D-6E8A-4147-A177-3AD203B41FA5}">
                      <a16:colId xmlns:a16="http://schemas.microsoft.com/office/drawing/2014/main" val="3331586643"/>
                    </a:ext>
                  </a:extLst>
                </a:gridCol>
                <a:gridCol w="4334770">
                  <a:extLst>
                    <a:ext uri="{9D8B030D-6E8A-4147-A177-3AD203B41FA5}">
                      <a16:colId xmlns:a16="http://schemas.microsoft.com/office/drawing/2014/main" val="1069318222"/>
                    </a:ext>
                  </a:extLst>
                </a:gridCol>
                <a:gridCol w="4061713">
                  <a:extLst>
                    <a:ext uri="{9D8B030D-6E8A-4147-A177-3AD203B41FA5}">
                      <a16:colId xmlns:a16="http://schemas.microsoft.com/office/drawing/2014/main" val="911893300"/>
                    </a:ext>
                  </a:extLst>
                </a:gridCol>
              </a:tblGrid>
              <a:tr h="259715">
                <a:tc>
                  <a:txBody>
                    <a:bodyPr/>
                    <a:lstStyle/>
                    <a:p>
                      <a:pPr algn="ctr"/>
                      <a:r>
                        <a:rPr lang="en-US" sz="900"/>
                        <a:t>Test</a:t>
                      </a:r>
                    </a:p>
                  </a:txBody>
                  <a:tcPr/>
                </a:tc>
                <a:tc>
                  <a:txBody>
                    <a:bodyPr/>
                    <a:lstStyle/>
                    <a:p>
                      <a:pPr algn="ctr"/>
                      <a:r>
                        <a:rPr lang="en-US" sz="900"/>
                        <a:t>Test Description</a:t>
                      </a:r>
                    </a:p>
                  </a:txBody>
                  <a:tcPr/>
                </a:tc>
                <a:tc>
                  <a:txBody>
                    <a:bodyPr/>
                    <a:lstStyle/>
                    <a:p>
                      <a:pPr algn="ctr"/>
                      <a:r>
                        <a:rPr lang="en-US" sz="900"/>
                        <a:t>Reference project</a:t>
                      </a:r>
                    </a:p>
                  </a:txBody>
                  <a:tcPr/>
                </a:tc>
                <a:extLst>
                  <a:ext uri="{0D108BD9-81ED-4DB2-BD59-A6C34878D82A}">
                    <a16:rowId xmlns:a16="http://schemas.microsoft.com/office/drawing/2014/main" val="3545433508"/>
                  </a:ext>
                </a:extLst>
              </a:tr>
              <a:tr h="185420">
                <a:tc rowSpan="2">
                  <a:txBody>
                    <a:bodyPr/>
                    <a:lstStyle/>
                    <a:p>
                      <a:r>
                        <a:rPr lang="en-US" sz="900" kern="1200" dirty="0">
                          <a:solidFill>
                            <a:schemeClr val="dk1"/>
                          </a:solidFill>
                          <a:latin typeface="+mn-lt"/>
                          <a:ea typeface="+mn-ea"/>
                          <a:cs typeface="+mn-cs"/>
                        </a:rPr>
                        <a:t>BareMetal mode: Filex w/ SRAM internal memory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accent3"/>
                          </a:solidFill>
                        </a:rPr>
                        <a:t>STM32H743xx (CM7) vs RA8M1 (CM85) </a:t>
                      </a:r>
                      <a:endParaRPr lang="en-US" sz="900" b="0" kern="1200" dirty="0">
                        <a:solidFill>
                          <a:schemeClr val="accent3"/>
                        </a:solidFill>
                        <a:latin typeface="+mn-lt"/>
                        <a:ea typeface="+mn-ea"/>
                        <a:cs typeface="+mn-cs"/>
                      </a:endParaRPr>
                    </a:p>
                  </a:txBody>
                  <a:tcPr>
                    <a:lnB w="12700" cap="flat" cmpd="sng" algn="ctr">
                      <a:solidFill>
                        <a:schemeClr val="tx1"/>
                      </a:solidFill>
                      <a:prstDash val="solid"/>
                      <a:round/>
                      <a:headEnd type="none" w="med" len="med"/>
                      <a:tailEnd type="none" w="med" len="med"/>
                    </a:lnB>
                  </a:tcPr>
                </a:tc>
                <a:tc rowSpan="2">
                  <a:txBody>
                    <a:bodyPr/>
                    <a:lstStyle/>
                    <a:p>
                      <a:pPr marL="171450" indent="-171450">
                        <a:buFont typeface="Arial" panose="020B0604020202020204" pitchFamily="34" charset="0"/>
                        <a:buChar char="•"/>
                      </a:pPr>
                      <a:r>
                        <a:rPr lang="en-US" sz="900">
                          <a:solidFill>
                            <a:schemeClr val="tx1"/>
                          </a:solidFill>
                        </a:rPr>
                        <a:t>The test allows to assess the AzureRTOS FILEX file system operations on </a:t>
                      </a:r>
                      <a:r>
                        <a:rPr lang="en-US" sz="900" b="1">
                          <a:solidFill>
                            <a:schemeClr val="tx1"/>
                          </a:solidFill>
                        </a:rPr>
                        <a:t>SRAM internal memory </a:t>
                      </a:r>
                      <a:r>
                        <a:rPr lang="en-US" sz="900">
                          <a:solidFill>
                            <a:schemeClr val="tx1"/>
                          </a:solidFill>
                        </a:rPr>
                        <a:t>as a storage space.</a:t>
                      </a:r>
                    </a:p>
                    <a:p>
                      <a:pPr marL="171450" indent="-171450">
                        <a:buFont typeface="Arial" panose="020B0604020202020204" pitchFamily="34" charset="0"/>
                        <a:buChar char="•"/>
                      </a:pPr>
                      <a:r>
                        <a:rPr lang="en-US" sz="900">
                          <a:solidFill>
                            <a:schemeClr val="tx1"/>
                          </a:solidFill>
                        </a:rPr>
                        <a:t>File system operations to be analyzed are: </a:t>
                      </a:r>
                      <a:r>
                        <a:rPr lang="en-US" sz="900">
                          <a:solidFill>
                            <a:srgbClr val="0070C0"/>
                          </a:solidFill>
                        </a:rPr>
                        <a:t>File: Initialize, Create , write, read </a:t>
                      </a:r>
                    </a:p>
                  </a:txBody>
                  <a:tcPr>
                    <a:lnB w="12700" cap="flat" cmpd="sng" algn="ctr">
                      <a:solidFill>
                        <a:schemeClr val="tx1"/>
                      </a:solidFill>
                      <a:prstDash val="solid"/>
                      <a:round/>
                      <a:headEnd type="none" w="med" len="med"/>
                      <a:tailEnd type="none" w="med" len="med"/>
                    </a:lnB>
                  </a:tcPr>
                </a:tc>
                <a:tc>
                  <a:txBody>
                    <a:bodyPr/>
                    <a:lstStyle/>
                    <a:p>
                      <a:r>
                        <a:rPr lang="en-US" sz="900" b="1">
                          <a:solidFill>
                            <a:schemeClr val="accent3"/>
                          </a:solidFill>
                        </a:rPr>
                        <a:t>ST: </a:t>
                      </a:r>
                      <a:r>
                        <a:rPr lang="en-US" sz="900"/>
                        <a:t>STM32U5G9J-DK2\Applications\FileX\Fx_File_Edit_Standalone</a:t>
                      </a:r>
                    </a:p>
                  </a:txBody>
                  <a:tcPr/>
                </a:tc>
                <a:extLst>
                  <a:ext uri="{0D108BD9-81ED-4DB2-BD59-A6C34878D82A}">
                    <a16:rowId xmlns:a16="http://schemas.microsoft.com/office/drawing/2014/main" val="1650936974"/>
                  </a:ext>
                </a:extLst>
              </a:tr>
              <a:tr h="255049">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accent3"/>
                          </a:solidFill>
                          <a:latin typeface="+mn-lt"/>
                          <a:ea typeface="+mn-ea"/>
                          <a:cs typeface="+mn-cs"/>
                        </a:rPr>
                        <a:t>RA: </a:t>
                      </a:r>
                      <a:r>
                        <a:rPr lang="en-US" sz="900"/>
                        <a:t>baremetal_ek_ra8m1 </a:t>
                      </a:r>
                      <a:r>
                        <a:rPr lang="en-US" sz="900" i="1"/>
                        <a:t>(available in </a:t>
                      </a:r>
                      <a:r>
                        <a:rPr lang="en-US" sz="900" i="1">
                          <a:hlinkClick r:id="rId2"/>
                        </a:rPr>
                        <a:t>ra8m1-example</a:t>
                      </a:r>
                      <a:r>
                        <a:rPr lang="en-US" sz="900" i="1"/>
                        <a: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5582618"/>
                  </a:ext>
                </a:extLst>
              </a:tr>
              <a:tr h="185420">
                <a:tc rowSpan="2">
                  <a:txBody>
                    <a:bodyPr/>
                    <a:lstStyle/>
                    <a:p>
                      <a:r>
                        <a:rPr lang="en-US" sz="900" kern="1200">
                          <a:solidFill>
                            <a:schemeClr val="dk1"/>
                          </a:solidFill>
                          <a:latin typeface="+mn-lt"/>
                          <a:ea typeface="+mn-ea"/>
                          <a:cs typeface="+mn-cs"/>
                        </a:rPr>
                        <a:t>RTOS mode: Filex w/ USB disk memory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a:solidFill>
                            <a:schemeClr val="accent3"/>
                          </a:solidFill>
                        </a:rPr>
                        <a:t>STM32H573xx (CM33) vs RA6M5 (CM33)</a:t>
                      </a:r>
                      <a:endParaRPr lang="en-US" sz="900" b="0" kern="1200">
                        <a:solidFill>
                          <a:schemeClr val="accent3"/>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171450" indent="-171450">
                        <a:buFont typeface="Arial" panose="020B0604020202020204" pitchFamily="34" charset="0"/>
                        <a:buChar char="•"/>
                      </a:pPr>
                      <a:r>
                        <a:rPr lang="en-US" sz="900">
                          <a:solidFill>
                            <a:schemeClr val="tx1"/>
                          </a:solidFill>
                        </a:rPr>
                        <a:t>The test allows to assess the AzureRTOS FILEX file system operations on </a:t>
                      </a:r>
                      <a:r>
                        <a:rPr lang="en-US" sz="900" b="1">
                          <a:solidFill>
                            <a:schemeClr val="tx1"/>
                          </a:solidFill>
                        </a:rPr>
                        <a:t>USB disk</a:t>
                      </a:r>
                      <a:r>
                        <a:rPr lang="en-US" sz="900">
                          <a:solidFill>
                            <a:schemeClr val="tx1"/>
                          </a:solidFill>
                        </a:rPr>
                        <a:t> as a storage space.</a:t>
                      </a:r>
                    </a:p>
                    <a:p>
                      <a:pPr marL="171450" indent="-171450">
                        <a:buFont typeface="Arial" panose="020B0604020202020204" pitchFamily="34" charset="0"/>
                        <a:buChar char="•"/>
                      </a:pPr>
                      <a:r>
                        <a:rPr lang="en-US" sz="900">
                          <a:solidFill>
                            <a:schemeClr val="tx1"/>
                          </a:solidFill>
                        </a:rPr>
                        <a:t>File system operations to be analyzed are: </a:t>
                      </a:r>
                      <a:r>
                        <a:rPr lang="en-US" sz="900">
                          <a:solidFill>
                            <a:srgbClr val="0070C0"/>
                          </a:solidFill>
                        </a:rPr>
                        <a:t>File: Initialize, Create , write and read </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900" b="1" kern="1200">
                          <a:solidFill>
                            <a:schemeClr val="accent3"/>
                          </a:solidFill>
                          <a:latin typeface="+mn-lt"/>
                          <a:ea typeface="+mn-ea"/>
                          <a:cs typeface="+mn-cs"/>
                        </a:rPr>
                        <a:t>ST: </a:t>
                      </a:r>
                      <a:r>
                        <a:rPr lang="en-US" sz="900"/>
                        <a:t>STM32U575I-EV\Applications\USBX\Ux_Host_MSC</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72541705"/>
                  </a:ext>
                </a:extLst>
              </a:tr>
              <a:tr h="18542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accent3"/>
                          </a:solidFill>
                          <a:latin typeface="+mn-lt"/>
                          <a:ea typeface="+mn-ea"/>
                          <a:cs typeface="+mn-cs"/>
                        </a:rPr>
                        <a:t>RA: </a:t>
                      </a:r>
                      <a:r>
                        <a:rPr lang="en-US" sz="900"/>
                        <a:t>USBX_hmsc_ek_ra6m5_ep </a:t>
                      </a:r>
                      <a:r>
                        <a:rPr lang="en-US" sz="900" i="1"/>
                        <a:t>(available in </a:t>
                      </a:r>
                      <a:r>
                        <a:rPr lang="en-US" sz="900" i="1">
                          <a:hlinkClick r:id="rId3"/>
                        </a:rPr>
                        <a:t>ra6m5-example</a:t>
                      </a:r>
                      <a:r>
                        <a:rPr lang="en-US" sz="900" i="1"/>
                        <a:t>)</a:t>
                      </a:r>
                      <a:endParaRPr lang="en-US" sz="9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575234"/>
                  </a:ext>
                </a:extLst>
              </a:tr>
              <a:tr h="228600">
                <a:tc rowSpan="2">
                  <a:txBody>
                    <a:bodyPr/>
                    <a:lstStyle/>
                    <a:p>
                      <a:r>
                        <a:rPr lang="en-US" sz="900" kern="1200" dirty="0">
                          <a:solidFill>
                            <a:schemeClr val="dk1"/>
                          </a:solidFill>
                          <a:latin typeface="+mn-lt"/>
                          <a:ea typeface="+mn-ea"/>
                          <a:cs typeface="+mn-cs"/>
                        </a:rPr>
                        <a:t>BareMetal mode: </a:t>
                      </a:r>
                      <a:r>
                        <a:rPr lang="en-US" sz="900" kern="1200" dirty="0" err="1">
                          <a:solidFill>
                            <a:schemeClr val="dk1"/>
                          </a:solidFill>
                          <a:latin typeface="+mn-lt"/>
                          <a:ea typeface="+mn-ea"/>
                          <a:cs typeface="+mn-cs"/>
                        </a:rPr>
                        <a:t>FatFS</a:t>
                      </a:r>
                      <a:r>
                        <a:rPr lang="en-US" sz="900" kern="1200" dirty="0">
                          <a:solidFill>
                            <a:schemeClr val="dk1"/>
                          </a:solidFill>
                          <a:latin typeface="+mn-lt"/>
                          <a:ea typeface="+mn-ea"/>
                          <a:cs typeface="+mn-cs"/>
                        </a:rPr>
                        <a:t> w/ SRAM internal memory</a:t>
                      </a:r>
                    </a:p>
                    <a:p>
                      <a:r>
                        <a:rPr lang="en-US" sz="900" b="0" dirty="0">
                          <a:solidFill>
                            <a:schemeClr val="accent3"/>
                          </a:solidFill>
                        </a:rPr>
                        <a:t>STM32U575xx (CM33) vs MCX-N9 XX (CM33)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171450" indent="-171450">
                        <a:buFont typeface="Arial" panose="020B0604020202020204" pitchFamily="34" charset="0"/>
                        <a:buChar char="•"/>
                      </a:pPr>
                      <a:r>
                        <a:rPr lang="en-US" sz="900">
                          <a:solidFill>
                            <a:schemeClr val="tx1"/>
                          </a:solidFill>
                        </a:rPr>
                        <a:t>The test allows to assess the </a:t>
                      </a:r>
                      <a:r>
                        <a:rPr lang="en-US" sz="900" b="1">
                          <a:solidFill>
                            <a:schemeClr val="tx1"/>
                          </a:solidFill>
                        </a:rPr>
                        <a:t>FatFS</a:t>
                      </a:r>
                      <a:r>
                        <a:rPr lang="en-US" sz="900">
                          <a:solidFill>
                            <a:schemeClr val="tx1"/>
                          </a:solidFill>
                        </a:rPr>
                        <a:t> file system operations on </a:t>
                      </a:r>
                      <a:r>
                        <a:rPr lang="en-US" sz="900" b="1">
                          <a:solidFill>
                            <a:schemeClr val="tx1"/>
                          </a:solidFill>
                        </a:rPr>
                        <a:t>SRAM internal memory </a:t>
                      </a:r>
                      <a:r>
                        <a:rPr lang="en-US" sz="900">
                          <a:solidFill>
                            <a:schemeClr val="tx1"/>
                          </a:solidFill>
                        </a:rPr>
                        <a:t>as a storage space.</a:t>
                      </a:r>
                    </a:p>
                    <a:p>
                      <a:pPr marL="171450" indent="-171450">
                        <a:buFont typeface="Arial" panose="020B0604020202020204" pitchFamily="34" charset="0"/>
                        <a:buChar char="•"/>
                      </a:pPr>
                      <a:r>
                        <a:rPr lang="en-US" sz="900">
                          <a:solidFill>
                            <a:schemeClr val="tx1"/>
                          </a:solidFill>
                        </a:rPr>
                        <a:t>File system operations to be analyzed are: </a:t>
                      </a:r>
                      <a:r>
                        <a:rPr lang="en-US" sz="900">
                          <a:solidFill>
                            <a:srgbClr val="0070C0"/>
                          </a:solidFill>
                        </a:rPr>
                        <a:t>FatFS initialization, File creation, read and write. </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sz="900" b="1" kern="1200">
                          <a:solidFill>
                            <a:schemeClr val="accent3"/>
                          </a:solidFill>
                          <a:latin typeface="+mn-lt"/>
                          <a:ea typeface="+mn-ea"/>
                          <a:cs typeface="+mn-cs"/>
                        </a:rPr>
                        <a:t>ST: </a:t>
                      </a:r>
                      <a:r>
                        <a:rPr lang="en-US" sz="900" kern="1200">
                          <a:solidFill>
                            <a:schemeClr val="dk1"/>
                          </a:solidFill>
                        </a:rPr>
                        <a:t>STM32469I_EVAL/Applications/</a:t>
                      </a:r>
                      <a:r>
                        <a:rPr lang="en-US" sz="900" kern="1200">
                          <a:solidFill>
                            <a:schemeClr val="dk1"/>
                          </a:solidFill>
                          <a:hlinkClick r:id="rId4" tooltip="https://github.com/stmicroelectronics/stm32cubef4/tree/master/projects/stm32469i_eval/applications/fatfs">
                            <a:extLst>
                              <a:ext uri="{A12FA001-AC4F-418D-AE19-62706E023703}">
                                <ahyp:hlinkClr xmlns:ahyp="http://schemas.microsoft.com/office/drawing/2018/hyperlinkcolor" val="tx"/>
                              </a:ext>
                            </a:extLst>
                          </a:hlinkClick>
                        </a:rPr>
                        <a:t>FatFs</a:t>
                      </a:r>
                      <a:r>
                        <a:rPr lang="en-US" sz="900" kern="1200">
                          <a:solidFill>
                            <a:schemeClr val="dk1"/>
                          </a:solidFill>
                        </a:rPr>
                        <a:t>/FatFs_RAMDisk</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82071081"/>
                  </a:ext>
                </a:extLst>
              </a:tr>
              <a:tr h="22860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dirty="0">
                          <a:solidFill>
                            <a:schemeClr val="accent3"/>
                          </a:solidFill>
                          <a:latin typeface="+mn-lt"/>
                          <a:ea typeface="+mn-ea"/>
                          <a:cs typeface="+mn-cs"/>
                        </a:rPr>
                        <a:t>NXP: </a:t>
                      </a:r>
                      <a:r>
                        <a:rPr lang="en-US" sz="900" dirty="0"/>
                        <a:t>mcxn9xxevk\</a:t>
                      </a:r>
                      <a:r>
                        <a:rPr lang="en-US" sz="900" dirty="0" err="1"/>
                        <a:t>sdmmc_examples</a:t>
                      </a:r>
                      <a:r>
                        <a:rPr lang="en-US" sz="900" dirty="0"/>
                        <a:t>\</a:t>
                      </a:r>
                      <a:r>
                        <a:rPr lang="en-US" sz="900" dirty="0" err="1"/>
                        <a:t>sdcard_fatfs</a:t>
                      </a:r>
                      <a:endParaRPr lang="en-US" sz="9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3556173"/>
                  </a:ext>
                </a:extLst>
              </a:tr>
              <a:tr h="228600">
                <a:tc rowSpan="2">
                  <a:txBody>
                    <a:bodyPr/>
                    <a:lstStyle/>
                    <a:p>
                      <a:r>
                        <a:rPr lang="en-US" sz="900" kern="1200" dirty="0">
                          <a:solidFill>
                            <a:schemeClr val="dk1"/>
                          </a:solidFill>
                          <a:latin typeface="+mn-lt"/>
                          <a:ea typeface="+mn-ea"/>
                          <a:cs typeface="+mn-cs"/>
                        </a:rPr>
                        <a:t>BareMetal mode: </a:t>
                      </a:r>
                      <a:r>
                        <a:rPr lang="en-US" sz="900" kern="1200" dirty="0" err="1">
                          <a:solidFill>
                            <a:schemeClr val="dk1"/>
                          </a:solidFill>
                          <a:latin typeface="+mn-lt"/>
                          <a:ea typeface="+mn-ea"/>
                          <a:cs typeface="+mn-cs"/>
                        </a:rPr>
                        <a:t>FatFS</a:t>
                      </a:r>
                      <a:r>
                        <a:rPr lang="en-US" sz="900" kern="1200" dirty="0">
                          <a:solidFill>
                            <a:schemeClr val="dk1"/>
                          </a:solidFill>
                          <a:latin typeface="+mn-lt"/>
                          <a:ea typeface="+mn-ea"/>
                          <a:cs typeface="+mn-cs"/>
                        </a:rPr>
                        <a:t> w/ SD card</a:t>
                      </a:r>
                    </a:p>
                    <a:p>
                      <a:r>
                        <a:rPr lang="en-US" sz="900" b="0" dirty="0">
                          <a:solidFill>
                            <a:schemeClr val="accent3"/>
                          </a:solidFill>
                        </a:rPr>
                        <a:t>STM32U575xx (CM33) vs MCX-N9 XX (CM33)</a:t>
                      </a:r>
                    </a:p>
                  </a:txBody>
                  <a:tcPr>
                    <a:lnT w="12700" cap="flat" cmpd="sng" algn="ctr">
                      <a:solidFill>
                        <a:schemeClr val="tx1"/>
                      </a:solidFill>
                      <a:prstDash val="solid"/>
                      <a:round/>
                      <a:headEnd type="none" w="med" len="med"/>
                      <a:tailEnd type="none" w="med" len="med"/>
                    </a:lnT>
                  </a:tcPr>
                </a:tc>
                <a:tc rowSpan="2">
                  <a:txBody>
                    <a:bodyPr/>
                    <a:lstStyle/>
                    <a:p>
                      <a:pPr marL="171450" indent="-171450">
                        <a:buFont typeface="Arial" panose="020B0604020202020204" pitchFamily="34" charset="0"/>
                        <a:buChar char="•"/>
                      </a:pPr>
                      <a:r>
                        <a:rPr lang="en-US" sz="900">
                          <a:solidFill>
                            <a:schemeClr val="tx1"/>
                          </a:solidFill>
                        </a:rPr>
                        <a:t>The test allows to assess the </a:t>
                      </a:r>
                      <a:r>
                        <a:rPr lang="en-US" sz="900" b="1">
                          <a:solidFill>
                            <a:schemeClr val="tx1"/>
                          </a:solidFill>
                        </a:rPr>
                        <a:t>FatFS</a:t>
                      </a:r>
                      <a:r>
                        <a:rPr lang="en-US" sz="900">
                          <a:solidFill>
                            <a:schemeClr val="tx1"/>
                          </a:solidFill>
                        </a:rPr>
                        <a:t> file system operations on </a:t>
                      </a:r>
                      <a:r>
                        <a:rPr lang="en-US" sz="900" b="1">
                          <a:solidFill>
                            <a:schemeClr val="tx1"/>
                          </a:solidFill>
                        </a:rPr>
                        <a:t>SD card </a:t>
                      </a:r>
                      <a:r>
                        <a:rPr lang="en-US" sz="900">
                          <a:solidFill>
                            <a:schemeClr val="tx1"/>
                          </a:solidFill>
                        </a:rPr>
                        <a:t>as a storage space.</a:t>
                      </a:r>
                    </a:p>
                    <a:p>
                      <a:pPr marL="171450" indent="-171450">
                        <a:buFont typeface="Arial" panose="020B0604020202020204" pitchFamily="34" charset="0"/>
                        <a:buChar char="•"/>
                      </a:pPr>
                      <a:r>
                        <a:rPr lang="en-US" sz="900">
                          <a:solidFill>
                            <a:schemeClr val="tx1"/>
                          </a:solidFill>
                        </a:rPr>
                        <a:t>File system operations to be analyzed are: </a:t>
                      </a:r>
                      <a:r>
                        <a:rPr lang="en-US" sz="900">
                          <a:solidFill>
                            <a:srgbClr val="0070C0"/>
                          </a:solidFill>
                        </a:rPr>
                        <a:t>FatFS initialization, </a:t>
                      </a:r>
                      <a:r>
                        <a:rPr lang="en-US" sz="900" b="1">
                          <a:solidFill>
                            <a:srgbClr val="0070C0"/>
                          </a:solidFill>
                        </a:rPr>
                        <a:t>SD card initialization</a:t>
                      </a:r>
                      <a:r>
                        <a:rPr lang="en-US" sz="900">
                          <a:solidFill>
                            <a:srgbClr val="0070C0"/>
                          </a:solidFill>
                        </a:rPr>
                        <a:t>, File creation, read and write </a:t>
                      </a:r>
                    </a:p>
                  </a:txBody>
                  <a:tcPr>
                    <a:lnT w="12700" cap="flat" cmpd="sng" algn="ctr">
                      <a:solidFill>
                        <a:schemeClr val="tx1"/>
                      </a:solidFill>
                      <a:prstDash val="solid"/>
                      <a:round/>
                      <a:headEnd type="none" w="med" len="med"/>
                      <a:tailEnd type="none" w="med" len="med"/>
                    </a:lnT>
                  </a:tcPr>
                </a:tc>
                <a:tc>
                  <a:txBody>
                    <a:bodyPr/>
                    <a:lstStyle/>
                    <a:p>
                      <a:r>
                        <a:rPr lang="en-US" sz="900" b="1" kern="1200">
                          <a:solidFill>
                            <a:schemeClr val="accent3"/>
                          </a:solidFill>
                          <a:latin typeface="+mn-lt"/>
                          <a:ea typeface="+mn-ea"/>
                          <a:cs typeface="+mn-cs"/>
                        </a:rPr>
                        <a:t>ST: </a:t>
                      </a:r>
                      <a:r>
                        <a:rPr lang="en-US" sz="900"/>
                        <a:t>NUCLEO-H743ZI\Applications\FatFS\FatFS_uSD_Standalone</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51394166"/>
                  </a:ext>
                </a:extLst>
              </a:tr>
              <a:tr h="23241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dirty="0">
                          <a:solidFill>
                            <a:schemeClr val="accent3"/>
                          </a:solidFill>
                          <a:latin typeface="+mn-lt"/>
                          <a:ea typeface="+mn-ea"/>
                          <a:cs typeface="+mn-cs"/>
                        </a:rPr>
                        <a:t>NXP: </a:t>
                      </a:r>
                      <a:r>
                        <a:rPr lang="en-US" sz="900" dirty="0"/>
                        <a:t>mcxn9xxevk\</a:t>
                      </a:r>
                      <a:r>
                        <a:rPr lang="en-US" sz="900" dirty="0" err="1"/>
                        <a:t>sdmmc_examples</a:t>
                      </a:r>
                      <a:r>
                        <a:rPr lang="en-US" sz="900" dirty="0"/>
                        <a:t>\</a:t>
                      </a:r>
                      <a:r>
                        <a:rPr lang="en-US" sz="900" dirty="0" err="1"/>
                        <a:t>sdcard_fatfs</a:t>
                      </a:r>
                      <a:endParaRPr lang="en-US" sz="900" dirty="0"/>
                    </a:p>
                  </a:txBody>
                  <a:tcPr/>
                </a:tc>
                <a:extLst>
                  <a:ext uri="{0D108BD9-81ED-4DB2-BD59-A6C34878D82A}">
                    <a16:rowId xmlns:a16="http://schemas.microsoft.com/office/drawing/2014/main" val="223278376"/>
                  </a:ext>
                </a:extLst>
              </a:tr>
            </a:tbl>
          </a:graphicData>
        </a:graphic>
      </p:graphicFrame>
      <p:sp>
        <p:nvSpPr>
          <p:cNvPr id="7" name="TextBox 6">
            <a:extLst>
              <a:ext uri="{FF2B5EF4-FFF2-40B4-BE49-F238E27FC236}">
                <a16:creationId xmlns:a16="http://schemas.microsoft.com/office/drawing/2014/main" id="{1355F1F4-520F-BE08-9CBB-902617B6A0DD}"/>
              </a:ext>
            </a:extLst>
          </p:cNvPr>
          <p:cNvSpPr txBox="1"/>
          <p:nvPr/>
        </p:nvSpPr>
        <p:spPr>
          <a:xfrm rot="16200000">
            <a:off x="-552045" y="3138100"/>
            <a:ext cx="1589089" cy="276999"/>
          </a:xfrm>
          <a:prstGeom prst="rect">
            <a:avLst/>
          </a:prstGeom>
          <a:noFill/>
        </p:spPr>
        <p:txBody>
          <a:bodyPr vert="wordArtVert" wrap="square" rtlCol="0">
            <a:spAutoFit/>
          </a:bodyPr>
          <a:lstStyle/>
          <a:p>
            <a:pPr algn="l"/>
            <a:r>
              <a:rPr lang="en-US" sz="1200" dirty="0">
                <a:solidFill>
                  <a:schemeClr val="accent2"/>
                </a:solidFill>
              </a:rPr>
              <a:t>Renesas</a:t>
            </a:r>
          </a:p>
        </p:txBody>
      </p:sp>
      <p:sp>
        <p:nvSpPr>
          <p:cNvPr id="8" name="TextBox 7">
            <a:extLst>
              <a:ext uri="{FF2B5EF4-FFF2-40B4-BE49-F238E27FC236}">
                <a16:creationId xmlns:a16="http://schemas.microsoft.com/office/drawing/2014/main" id="{A238ECD7-65B5-99A1-2E8C-19EB3BDD251B}"/>
              </a:ext>
            </a:extLst>
          </p:cNvPr>
          <p:cNvSpPr txBox="1"/>
          <p:nvPr/>
        </p:nvSpPr>
        <p:spPr>
          <a:xfrm rot="16200000">
            <a:off x="-150781" y="4547275"/>
            <a:ext cx="786562" cy="276999"/>
          </a:xfrm>
          <a:prstGeom prst="rect">
            <a:avLst/>
          </a:prstGeom>
          <a:noFill/>
        </p:spPr>
        <p:txBody>
          <a:bodyPr vert="wordArtVert" wrap="square" rtlCol="0">
            <a:spAutoFit/>
          </a:bodyPr>
          <a:lstStyle/>
          <a:p>
            <a:pPr algn="l"/>
            <a:r>
              <a:rPr lang="en-US" sz="1200">
                <a:solidFill>
                  <a:schemeClr val="accent2"/>
                </a:solidFill>
              </a:rPr>
              <a:t>NXP</a:t>
            </a:r>
          </a:p>
        </p:txBody>
      </p:sp>
      <p:sp>
        <p:nvSpPr>
          <p:cNvPr id="10" name="TextBox 9">
            <a:extLst>
              <a:ext uri="{FF2B5EF4-FFF2-40B4-BE49-F238E27FC236}">
                <a16:creationId xmlns:a16="http://schemas.microsoft.com/office/drawing/2014/main" id="{2D2153E0-1BCB-B28B-6A54-15F1C422A72E}"/>
              </a:ext>
            </a:extLst>
          </p:cNvPr>
          <p:cNvSpPr txBox="1"/>
          <p:nvPr/>
        </p:nvSpPr>
        <p:spPr>
          <a:xfrm>
            <a:off x="300037" y="5288755"/>
            <a:ext cx="6286500" cy="246221"/>
          </a:xfrm>
          <a:prstGeom prst="rect">
            <a:avLst/>
          </a:prstGeom>
          <a:noFill/>
        </p:spPr>
        <p:txBody>
          <a:bodyPr wrap="square">
            <a:spAutoFit/>
          </a:bodyPr>
          <a:lstStyle/>
          <a:p>
            <a:r>
              <a:rPr lang="en-US" sz="1000" dirty="0"/>
              <a:t>These performed analyses are in line with the defined test plan in </a:t>
            </a:r>
            <a:r>
              <a:rPr lang="en-US" sz="1000" u="sng" dirty="0">
                <a:solidFill>
                  <a:schemeClr val="accent3"/>
                </a:solidFill>
              </a:rPr>
              <a:t>slide2</a:t>
            </a:r>
          </a:p>
        </p:txBody>
      </p:sp>
      <p:sp>
        <p:nvSpPr>
          <p:cNvPr id="5" name="Slide Number Placeholder 4">
            <a:extLst>
              <a:ext uri="{FF2B5EF4-FFF2-40B4-BE49-F238E27FC236}">
                <a16:creationId xmlns:a16="http://schemas.microsoft.com/office/drawing/2014/main" id="{9F9BA712-AD42-E012-DF2C-DDD9E3F65236}"/>
              </a:ext>
            </a:extLst>
          </p:cNvPr>
          <p:cNvSpPr>
            <a:spLocks noGrp="1"/>
          </p:cNvSpPr>
          <p:nvPr>
            <p:ph type="sldNum" sz="quarter" idx="12"/>
          </p:nvPr>
        </p:nvSpPr>
        <p:spPr/>
        <p:txBody>
          <a:bodyPr/>
          <a:lstStyle/>
          <a:p>
            <a:fld id="{40A7B169-58CE-4E65-B1F9-ACF9E46440C2}" type="slidenum">
              <a:rPr lang="en-US" smtClean="0"/>
              <a:t>12</a:t>
            </a:fld>
            <a:endParaRPr lang="en-US"/>
          </a:p>
        </p:txBody>
      </p:sp>
    </p:spTree>
    <p:extLst>
      <p:ext uri="{BB962C8B-B14F-4D97-AF65-F5344CB8AC3E}">
        <p14:creationId xmlns:p14="http://schemas.microsoft.com/office/powerpoint/2010/main" val="3410556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FA7AF-97A1-A27B-0504-F2011A734D4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87CD86-BDFD-6B55-EE40-47FD42E8A7AA}"/>
              </a:ext>
            </a:extLst>
          </p:cNvPr>
          <p:cNvSpPr>
            <a:spLocks noGrp="1"/>
          </p:cNvSpPr>
          <p:nvPr>
            <p:ph type="title"/>
          </p:nvPr>
        </p:nvSpPr>
        <p:spPr>
          <a:xfrm>
            <a:off x="-23666" y="0"/>
            <a:ext cx="12086557" cy="1304925"/>
          </a:xfrm>
        </p:spPr>
        <p:txBody>
          <a:bodyPr/>
          <a:lstStyle/>
          <a:p>
            <a:r>
              <a:rPr lang="en-US"/>
              <a:t>ST Competitors MW Benchmark: File System</a:t>
            </a:r>
            <a:br>
              <a:rPr lang="en-US" b="1"/>
            </a:br>
            <a:r>
              <a:rPr lang="en-US" sz="2400" b="1">
                <a:solidFill>
                  <a:schemeClr val="accent2"/>
                </a:solidFill>
              </a:rPr>
              <a:t>ST vs Renesas Flowcharts</a:t>
            </a:r>
            <a:endParaRPr lang="en-US">
              <a:solidFill>
                <a:schemeClr val="accent2"/>
              </a:solidFill>
              <a:cs typeface="Arial"/>
            </a:endParaRPr>
          </a:p>
        </p:txBody>
      </p:sp>
      <p:grpSp>
        <p:nvGrpSpPr>
          <p:cNvPr id="151" name="Group 150">
            <a:extLst>
              <a:ext uri="{FF2B5EF4-FFF2-40B4-BE49-F238E27FC236}">
                <a16:creationId xmlns:a16="http://schemas.microsoft.com/office/drawing/2014/main" id="{DDFBEF8E-3550-AC18-7333-23C907CC55BE}"/>
              </a:ext>
            </a:extLst>
          </p:cNvPr>
          <p:cNvGrpSpPr/>
          <p:nvPr/>
        </p:nvGrpSpPr>
        <p:grpSpPr>
          <a:xfrm>
            <a:off x="641824" y="1701754"/>
            <a:ext cx="4796598" cy="4232384"/>
            <a:chOff x="355259" y="1304921"/>
            <a:chExt cx="4352736" cy="3524125"/>
          </a:xfrm>
        </p:grpSpPr>
        <p:grpSp>
          <p:nvGrpSpPr>
            <p:cNvPr id="10" name="Group 9">
              <a:extLst>
                <a:ext uri="{FF2B5EF4-FFF2-40B4-BE49-F238E27FC236}">
                  <a16:creationId xmlns:a16="http://schemas.microsoft.com/office/drawing/2014/main" id="{1D103DC9-D3A7-A73E-26C4-1094C54FECFF}"/>
                </a:ext>
              </a:extLst>
            </p:cNvPr>
            <p:cNvGrpSpPr/>
            <p:nvPr/>
          </p:nvGrpSpPr>
          <p:grpSpPr>
            <a:xfrm>
              <a:off x="355259" y="1304921"/>
              <a:ext cx="3817077" cy="3524125"/>
              <a:chOff x="567772" y="1491813"/>
              <a:chExt cx="3817077" cy="3524125"/>
            </a:xfrm>
          </p:grpSpPr>
          <p:sp>
            <p:nvSpPr>
              <p:cNvPr id="17" name="TextBox 25">
                <a:extLst>
                  <a:ext uri="{FF2B5EF4-FFF2-40B4-BE49-F238E27FC236}">
                    <a16:creationId xmlns:a16="http://schemas.microsoft.com/office/drawing/2014/main" id="{8F848F4B-E1F7-7A7A-2C8D-C51EB51E3008}"/>
                  </a:ext>
                </a:extLst>
              </p:cNvPr>
              <p:cNvSpPr txBox="1"/>
              <p:nvPr/>
            </p:nvSpPr>
            <p:spPr>
              <a:xfrm>
                <a:off x="2116279" y="1862230"/>
                <a:ext cx="2268570" cy="338554"/>
              </a:xfrm>
              <a:prstGeom prst="rect">
                <a:avLst/>
              </a:prstGeom>
              <a:noFill/>
            </p:spPr>
            <p:txBody>
              <a:bodyPr rot="0" spcFirstLastPara="0" vert="horz" wrap="non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Clock frequency: </a:t>
                </a:r>
                <a:r>
                  <a:rPr lang="en-US" sz="800" b="1"/>
                  <a:t>480 MHz (</a:t>
                </a:r>
                <a:r>
                  <a:rPr lang="en-US" sz="800"/>
                  <a:t>ST and Renesas)</a:t>
                </a:r>
              </a:p>
              <a:p>
                <a:r>
                  <a:rPr lang="en-US" sz="800">
                    <a:solidFill>
                      <a:srgbClr val="03234B"/>
                    </a:solidFill>
                    <a:cs typeface="Arial"/>
                  </a:rPr>
                  <a:t>Clock source : </a:t>
                </a:r>
                <a:r>
                  <a:rPr lang="fr-FR" sz="800"/>
                  <a:t>HSI RC (ST) / PLL (Renesas)</a:t>
                </a:r>
              </a:p>
            </p:txBody>
          </p:sp>
          <p:sp>
            <p:nvSpPr>
              <p:cNvPr id="24" name="TextBox 23">
                <a:extLst>
                  <a:ext uri="{FF2B5EF4-FFF2-40B4-BE49-F238E27FC236}">
                    <a16:creationId xmlns:a16="http://schemas.microsoft.com/office/drawing/2014/main" id="{73D00F26-0BB5-E3F8-4D88-0B33B643CC66}"/>
                  </a:ext>
                </a:extLst>
              </p:cNvPr>
              <p:cNvSpPr txBox="1"/>
              <p:nvPr/>
            </p:nvSpPr>
            <p:spPr>
              <a:xfrm>
                <a:off x="2164632" y="3172619"/>
                <a:ext cx="124425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err="1">
                    <a:cs typeface="Arial"/>
                  </a:rPr>
                  <a:t>fx_ram_driver</a:t>
                </a:r>
                <a:endParaRPr lang="en-US" sz="800"/>
              </a:p>
            </p:txBody>
          </p:sp>
          <p:grpSp>
            <p:nvGrpSpPr>
              <p:cNvPr id="5" name="Group 4">
                <a:extLst>
                  <a:ext uri="{FF2B5EF4-FFF2-40B4-BE49-F238E27FC236}">
                    <a16:creationId xmlns:a16="http://schemas.microsoft.com/office/drawing/2014/main" id="{3C2237C2-05B0-3412-B1C9-2663F0E1D317}"/>
                  </a:ext>
                </a:extLst>
              </p:cNvPr>
              <p:cNvGrpSpPr/>
              <p:nvPr/>
            </p:nvGrpSpPr>
            <p:grpSpPr>
              <a:xfrm>
                <a:off x="567772" y="1491813"/>
                <a:ext cx="1644763" cy="3524125"/>
                <a:chOff x="967141" y="1243254"/>
                <a:chExt cx="2063696" cy="4319484"/>
              </a:xfrm>
            </p:grpSpPr>
            <p:sp>
              <p:nvSpPr>
                <p:cNvPr id="7" name="Rectangle 6">
                  <a:extLst>
                    <a:ext uri="{FF2B5EF4-FFF2-40B4-BE49-F238E27FC236}">
                      <a16:creationId xmlns:a16="http://schemas.microsoft.com/office/drawing/2014/main" id="{0D083BD1-3505-A58B-EF9D-C6F36B382235}"/>
                    </a:ext>
                  </a:extLst>
                </p:cNvPr>
                <p:cNvSpPr/>
                <p:nvPr/>
              </p:nvSpPr>
              <p:spPr>
                <a:xfrm>
                  <a:off x="976707" y="1783674"/>
                  <a:ext cx="1722110"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000">
                    <a:solidFill>
                      <a:schemeClr val="tx1"/>
                    </a:solidFill>
                    <a:cs typeface="Arial"/>
                  </a:endParaRPr>
                </a:p>
                <a:p>
                  <a:pPr algn="ctr"/>
                  <a:r>
                    <a:rPr lang="fr-FR" sz="800" err="1">
                      <a:solidFill>
                        <a:schemeClr val="tx1"/>
                      </a:solidFill>
                    </a:rPr>
                    <a:t>Clock</a:t>
                  </a:r>
                  <a:r>
                    <a:rPr lang="fr-FR" sz="800">
                      <a:solidFill>
                        <a:schemeClr val="tx1"/>
                      </a:solidFill>
                    </a:rPr>
                    <a:t> configuration</a:t>
                  </a:r>
                </a:p>
                <a:p>
                  <a:pPr algn="ctr"/>
                  <a:endParaRPr lang="fr-FR" sz="1000">
                    <a:solidFill>
                      <a:schemeClr val="tx1"/>
                    </a:solidFill>
                    <a:cs typeface="Arial"/>
                  </a:endParaRPr>
                </a:p>
              </p:txBody>
            </p:sp>
            <p:cxnSp>
              <p:nvCxnSpPr>
                <p:cNvPr id="9" name="Straight Arrow Connector 8">
                  <a:extLst>
                    <a:ext uri="{FF2B5EF4-FFF2-40B4-BE49-F238E27FC236}">
                      <a16:creationId xmlns:a16="http://schemas.microsoft.com/office/drawing/2014/main" id="{B24E361D-2083-059C-9F75-4A0970360E7E}"/>
                    </a:ext>
                  </a:extLst>
                </p:cNvPr>
                <p:cNvCxnSpPr>
                  <a:cxnSpLocks/>
                </p:cNvCxnSpPr>
                <p:nvPr/>
              </p:nvCxnSpPr>
              <p:spPr>
                <a:xfrm flipH="1">
                  <a:off x="1838367" y="1579648"/>
                  <a:ext cx="1" cy="21315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1" name="Straight Arrow Connector 10">
                  <a:extLst>
                    <a:ext uri="{FF2B5EF4-FFF2-40B4-BE49-F238E27FC236}">
                      <a16:creationId xmlns:a16="http://schemas.microsoft.com/office/drawing/2014/main" id="{11CC0A28-E763-58FA-18A5-F91821ECABF8}"/>
                    </a:ext>
                  </a:extLst>
                </p:cNvPr>
                <p:cNvCxnSpPr>
                  <a:cxnSpLocks/>
                </p:cNvCxnSpPr>
                <p:nvPr/>
              </p:nvCxnSpPr>
              <p:spPr>
                <a:xfrm flipH="1">
                  <a:off x="1838367" y="2060018"/>
                  <a:ext cx="1" cy="21315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3" name="Straight Arrow Connector 12">
                  <a:extLst>
                    <a:ext uri="{FF2B5EF4-FFF2-40B4-BE49-F238E27FC236}">
                      <a16:creationId xmlns:a16="http://schemas.microsoft.com/office/drawing/2014/main" id="{F87285A4-9F1A-FC3E-A91E-A21C2C3E1DA9}"/>
                    </a:ext>
                  </a:extLst>
                </p:cNvPr>
                <p:cNvCxnSpPr>
                  <a:cxnSpLocks/>
                </p:cNvCxnSpPr>
                <p:nvPr/>
              </p:nvCxnSpPr>
              <p:spPr>
                <a:xfrm>
                  <a:off x="2669602" y="1909293"/>
                  <a:ext cx="311678" cy="7"/>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0" name="Rectangle 19">
                  <a:extLst>
                    <a:ext uri="{FF2B5EF4-FFF2-40B4-BE49-F238E27FC236}">
                      <a16:creationId xmlns:a16="http://schemas.microsoft.com/office/drawing/2014/main" id="{7DE44CFC-E5CF-5EA3-69D7-DF0567D0661A}"/>
                    </a:ext>
                  </a:extLst>
                </p:cNvPr>
                <p:cNvSpPr/>
                <p:nvPr/>
              </p:nvSpPr>
              <p:spPr>
                <a:xfrm>
                  <a:off x="967141" y="2276371"/>
                  <a:ext cx="1742452" cy="27615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000">
                    <a:solidFill>
                      <a:schemeClr val="tx1"/>
                    </a:solidFill>
                    <a:cs typeface="Arial"/>
                  </a:endParaRPr>
                </a:p>
                <a:p>
                  <a:pPr algn="ctr"/>
                  <a:r>
                    <a:rPr lang="fr-FR" sz="800" err="1">
                      <a:solidFill>
                        <a:schemeClr val="tx1"/>
                      </a:solidFill>
                    </a:rPr>
                    <a:t>Filex</a:t>
                  </a:r>
                  <a:r>
                    <a:rPr lang="fr-FR" sz="800">
                      <a:solidFill>
                        <a:schemeClr val="tx1"/>
                      </a:solidFill>
                    </a:rPr>
                    <a:t> </a:t>
                  </a:r>
                  <a:r>
                    <a:rPr lang="fr-FR" sz="800" err="1">
                      <a:solidFill>
                        <a:schemeClr val="tx1"/>
                      </a:solidFill>
                    </a:rPr>
                    <a:t>initilize</a:t>
                  </a:r>
                  <a:endParaRPr lang="fr-FR" sz="800">
                    <a:solidFill>
                      <a:schemeClr val="tx1"/>
                    </a:solidFill>
                    <a:cs typeface="Arial"/>
                  </a:endParaRPr>
                </a:p>
                <a:p>
                  <a:pPr algn="ctr"/>
                  <a:endParaRPr lang="fr-FR" sz="1000">
                    <a:solidFill>
                      <a:schemeClr val="tx1"/>
                    </a:solidFill>
                    <a:cs typeface="Arial"/>
                  </a:endParaRPr>
                </a:p>
              </p:txBody>
            </p:sp>
            <p:sp>
              <p:nvSpPr>
                <p:cNvPr id="21" name="Rectangle 20">
                  <a:extLst>
                    <a:ext uri="{FF2B5EF4-FFF2-40B4-BE49-F238E27FC236}">
                      <a16:creationId xmlns:a16="http://schemas.microsoft.com/office/drawing/2014/main" id="{5FF4CD38-A6BC-52A4-CEFB-8371D326E25E}"/>
                    </a:ext>
                  </a:extLst>
                </p:cNvPr>
                <p:cNvSpPr/>
                <p:nvPr/>
              </p:nvSpPr>
              <p:spPr>
                <a:xfrm>
                  <a:off x="976707" y="2790964"/>
                  <a:ext cx="1742452" cy="29580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000">
                    <a:solidFill>
                      <a:schemeClr val="tx1"/>
                    </a:solidFill>
                    <a:cs typeface="Arial"/>
                  </a:endParaRPr>
                </a:p>
                <a:p>
                  <a:pPr algn="ctr"/>
                  <a:r>
                    <a:rPr lang="en-US" sz="800">
                      <a:solidFill>
                        <a:schemeClr val="tx1"/>
                      </a:solidFill>
                      <a:cs typeface="Arial"/>
                    </a:rPr>
                    <a:t>Format and open media </a:t>
                  </a:r>
                  <a:endParaRPr lang="fr-FR" sz="800">
                    <a:solidFill>
                      <a:schemeClr val="tx1"/>
                    </a:solidFill>
                  </a:endParaRPr>
                </a:p>
                <a:p>
                  <a:pPr algn="ctr"/>
                  <a:endParaRPr lang="fr-FR" sz="1000">
                    <a:solidFill>
                      <a:schemeClr val="tx1"/>
                    </a:solidFill>
                    <a:cs typeface="Arial"/>
                  </a:endParaRPr>
                </a:p>
              </p:txBody>
            </p:sp>
            <p:cxnSp>
              <p:nvCxnSpPr>
                <p:cNvPr id="22" name="Straight Arrow Connector 21">
                  <a:extLst>
                    <a:ext uri="{FF2B5EF4-FFF2-40B4-BE49-F238E27FC236}">
                      <a16:creationId xmlns:a16="http://schemas.microsoft.com/office/drawing/2014/main" id="{C541B9E1-1A40-F286-DE31-46F4CFA54F4C}"/>
                    </a:ext>
                  </a:extLst>
                </p:cNvPr>
                <p:cNvCxnSpPr>
                  <a:cxnSpLocks/>
                </p:cNvCxnSpPr>
                <p:nvPr/>
              </p:nvCxnSpPr>
              <p:spPr>
                <a:xfrm flipH="1">
                  <a:off x="1856745" y="2571801"/>
                  <a:ext cx="1" cy="21315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3" name="Straight Arrow Connector 22">
                  <a:extLst>
                    <a:ext uri="{FF2B5EF4-FFF2-40B4-BE49-F238E27FC236}">
                      <a16:creationId xmlns:a16="http://schemas.microsoft.com/office/drawing/2014/main" id="{210B0EAC-E619-D494-B42D-53A11FC8BF1A}"/>
                    </a:ext>
                  </a:extLst>
                </p:cNvPr>
                <p:cNvCxnSpPr>
                  <a:cxnSpLocks/>
                </p:cNvCxnSpPr>
                <p:nvPr/>
              </p:nvCxnSpPr>
              <p:spPr>
                <a:xfrm>
                  <a:off x="2719159" y="3448590"/>
                  <a:ext cx="311678" cy="7"/>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7" name="Rectangle 26">
                  <a:extLst>
                    <a:ext uri="{FF2B5EF4-FFF2-40B4-BE49-F238E27FC236}">
                      <a16:creationId xmlns:a16="http://schemas.microsoft.com/office/drawing/2014/main" id="{4D375965-0508-5B82-4368-EE180FACC11A}"/>
                    </a:ext>
                  </a:extLst>
                </p:cNvPr>
                <p:cNvSpPr/>
                <p:nvPr/>
              </p:nvSpPr>
              <p:spPr>
                <a:xfrm>
                  <a:off x="1508460" y="5276111"/>
                  <a:ext cx="791185"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End</a:t>
                  </a:r>
                  <a:endParaRPr lang="en-US" sz="800">
                    <a:solidFill>
                      <a:schemeClr val="tx1"/>
                    </a:solidFill>
                  </a:endParaRPr>
                </a:p>
              </p:txBody>
            </p:sp>
            <p:cxnSp>
              <p:nvCxnSpPr>
                <p:cNvPr id="28" name="Straight Arrow Connector 27">
                  <a:extLst>
                    <a:ext uri="{FF2B5EF4-FFF2-40B4-BE49-F238E27FC236}">
                      <a16:creationId xmlns:a16="http://schemas.microsoft.com/office/drawing/2014/main" id="{46BF186B-3684-B377-F2E8-A78CA371FF65}"/>
                    </a:ext>
                  </a:extLst>
                </p:cNvPr>
                <p:cNvCxnSpPr>
                  <a:cxnSpLocks/>
                </p:cNvCxnSpPr>
                <p:nvPr/>
              </p:nvCxnSpPr>
              <p:spPr>
                <a:xfrm flipH="1">
                  <a:off x="1847934" y="3084891"/>
                  <a:ext cx="1" cy="21315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4" name="Straight Arrow Connector 3">
                  <a:extLst>
                    <a:ext uri="{FF2B5EF4-FFF2-40B4-BE49-F238E27FC236}">
                      <a16:creationId xmlns:a16="http://schemas.microsoft.com/office/drawing/2014/main" id="{FFF116B1-2A36-C429-A42D-3C1096803E84}"/>
                    </a:ext>
                  </a:extLst>
                </p:cNvPr>
                <p:cNvCxnSpPr>
                  <a:cxnSpLocks/>
                </p:cNvCxnSpPr>
                <p:nvPr/>
              </p:nvCxnSpPr>
              <p:spPr>
                <a:xfrm flipH="1">
                  <a:off x="1894385" y="5074183"/>
                  <a:ext cx="1" cy="21315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 name="Straight Arrow Connector 5">
                  <a:extLst>
                    <a:ext uri="{FF2B5EF4-FFF2-40B4-BE49-F238E27FC236}">
                      <a16:creationId xmlns:a16="http://schemas.microsoft.com/office/drawing/2014/main" id="{9C8B28D5-C698-3CB5-5573-32E4436C3952}"/>
                    </a:ext>
                  </a:extLst>
                </p:cNvPr>
                <p:cNvCxnSpPr>
                  <a:cxnSpLocks/>
                  <a:stCxn id="20" idx="3"/>
                  <a:endCxn id="104" idx="1"/>
                </p:cNvCxnSpPr>
                <p:nvPr/>
              </p:nvCxnSpPr>
              <p:spPr>
                <a:xfrm>
                  <a:off x="2709593" y="2414450"/>
                  <a:ext cx="213787" cy="42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4" name="Rectangle 33">
                  <a:extLst>
                    <a:ext uri="{FF2B5EF4-FFF2-40B4-BE49-F238E27FC236}">
                      <a16:creationId xmlns:a16="http://schemas.microsoft.com/office/drawing/2014/main" id="{A832B822-D270-63F2-239F-83311484AB7D}"/>
                    </a:ext>
                  </a:extLst>
                </p:cNvPr>
                <p:cNvSpPr/>
                <p:nvPr/>
              </p:nvSpPr>
              <p:spPr>
                <a:xfrm>
                  <a:off x="976707" y="3305708"/>
                  <a:ext cx="1753067" cy="29102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err="1">
                      <a:solidFill>
                        <a:schemeClr val="tx1"/>
                      </a:solidFill>
                    </a:rPr>
                    <a:t>Create</a:t>
                  </a:r>
                  <a:r>
                    <a:rPr lang="fr-FR" sz="800">
                      <a:solidFill>
                        <a:schemeClr val="tx1"/>
                      </a:solidFill>
                    </a:rPr>
                    <a:t> the file</a:t>
                  </a:r>
                  <a:endParaRPr lang="en-US" sz="800"/>
                </a:p>
              </p:txBody>
            </p:sp>
            <p:cxnSp>
              <p:nvCxnSpPr>
                <p:cNvPr id="43" name="Straight Arrow Connector 42">
                  <a:extLst>
                    <a:ext uri="{FF2B5EF4-FFF2-40B4-BE49-F238E27FC236}">
                      <a16:creationId xmlns:a16="http://schemas.microsoft.com/office/drawing/2014/main" id="{0CE1412E-5975-8BD8-6E23-055947B3CD70}"/>
                    </a:ext>
                  </a:extLst>
                </p:cNvPr>
                <p:cNvCxnSpPr>
                  <a:cxnSpLocks/>
                </p:cNvCxnSpPr>
                <p:nvPr/>
              </p:nvCxnSpPr>
              <p:spPr>
                <a:xfrm flipH="1">
                  <a:off x="1855270" y="3594853"/>
                  <a:ext cx="1" cy="21315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45" name="Straight Arrow Connector 44">
                  <a:extLst>
                    <a:ext uri="{FF2B5EF4-FFF2-40B4-BE49-F238E27FC236}">
                      <a16:creationId xmlns:a16="http://schemas.microsoft.com/office/drawing/2014/main" id="{1F03E1B3-C5FB-5D4D-0003-E621346BD495}"/>
                    </a:ext>
                  </a:extLst>
                </p:cNvPr>
                <p:cNvCxnSpPr>
                  <a:cxnSpLocks/>
                </p:cNvCxnSpPr>
                <p:nvPr/>
              </p:nvCxnSpPr>
              <p:spPr>
                <a:xfrm flipH="1">
                  <a:off x="1901175" y="4595553"/>
                  <a:ext cx="1" cy="21315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47" name="Straight Arrow Connector 46">
                  <a:extLst>
                    <a:ext uri="{FF2B5EF4-FFF2-40B4-BE49-F238E27FC236}">
                      <a16:creationId xmlns:a16="http://schemas.microsoft.com/office/drawing/2014/main" id="{785319CF-BAB6-F94A-7AFF-EB89B703DE07}"/>
                    </a:ext>
                  </a:extLst>
                </p:cNvPr>
                <p:cNvCxnSpPr>
                  <a:cxnSpLocks/>
                </p:cNvCxnSpPr>
                <p:nvPr/>
              </p:nvCxnSpPr>
              <p:spPr>
                <a:xfrm flipH="1">
                  <a:off x="1873632" y="4081432"/>
                  <a:ext cx="1" cy="21315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48" name="Rectangle 47">
                  <a:extLst>
                    <a:ext uri="{FF2B5EF4-FFF2-40B4-BE49-F238E27FC236}">
                      <a16:creationId xmlns:a16="http://schemas.microsoft.com/office/drawing/2014/main" id="{5706B078-34C1-7F50-8B8E-27838AB411D2}"/>
                    </a:ext>
                  </a:extLst>
                </p:cNvPr>
                <p:cNvSpPr/>
                <p:nvPr/>
              </p:nvSpPr>
              <p:spPr>
                <a:xfrm>
                  <a:off x="976707" y="3815668"/>
                  <a:ext cx="1753066" cy="29102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rPr>
                    <a:t>Write in the file</a:t>
                  </a:r>
                  <a:endParaRPr lang="fr-FR" sz="800">
                    <a:solidFill>
                      <a:schemeClr val="tx1"/>
                    </a:solidFill>
                    <a:cs typeface="Arial"/>
                  </a:endParaRPr>
                </a:p>
              </p:txBody>
            </p:sp>
            <p:sp>
              <p:nvSpPr>
                <p:cNvPr id="49" name="Rectangle 48">
                  <a:extLst>
                    <a:ext uri="{FF2B5EF4-FFF2-40B4-BE49-F238E27FC236}">
                      <a16:creationId xmlns:a16="http://schemas.microsoft.com/office/drawing/2014/main" id="{017920BB-39D0-BC57-384D-8D4BC8C8274B}"/>
                    </a:ext>
                  </a:extLst>
                </p:cNvPr>
                <p:cNvSpPr/>
                <p:nvPr/>
              </p:nvSpPr>
              <p:spPr>
                <a:xfrm>
                  <a:off x="967142" y="4302244"/>
                  <a:ext cx="1762631" cy="29102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rPr>
                    <a:t>Read the file</a:t>
                  </a:r>
                  <a:endParaRPr lang="en-US" sz="800"/>
                </a:p>
              </p:txBody>
            </p:sp>
            <p:sp>
              <p:nvSpPr>
                <p:cNvPr id="50" name="Rectangle 49">
                  <a:extLst>
                    <a:ext uri="{FF2B5EF4-FFF2-40B4-BE49-F238E27FC236}">
                      <a16:creationId xmlns:a16="http://schemas.microsoft.com/office/drawing/2014/main" id="{61CFD005-1B8F-FECE-104E-0BB2E2772492}"/>
                    </a:ext>
                  </a:extLst>
                </p:cNvPr>
                <p:cNvSpPr/>
                <p:nvPr/>
              </p:nvSpPr>
              <p:spPr>
                <a:xfrm>
                  <a:off x="967141" y="4779636"/>
                  <a:ext cx="1762629" cy="29102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rPr>
                    <a:t>Close the file</a:t>
                  </a:r>
                  <a:endParaRPr lang="en-US" sz="800">
                    <a:solidFill>
                      <a:schemeClr val="tx1"/>
                    </a:solidFill>
                  </a:endParaRPr>
                </a:p>
              </p:txBody>
            </p:sp>
            <p:sp>
              <p:nvSpPr>
                <p:cNvPr id="2" name="Oval 1">
                  <a:extLst>
                    <a:ext uri="{FF2B5EF4-FFF2-40B4-BE49-F238E27FC236}">
                      <a16:creationId xmlns:a16="http://schemas.microsoft.com/office/drawing/2014/main" id="{4F149BB0-E95A-C262-3311-371C0A74E833}"/>
                    </a:ext>
                  </a:extLst>
                </p:cNvPr>
                <p:cNvSpPr/>
                <p:nvPr/>
              </p:nvSpPr>
              <p:spPr>
                <a:xfrm>
                  <a:off x="1491842" y="1243254"/>
                  <a:ext cx="712183" cy="340411"/>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fr-FR" sz="800">
                      <a:solidFill>
                        <a:schemeClr val="tx1"/>
                      </a:solidFill>
                    </a:rPr>
                    <a:t>Start</a:t>
                  </a:r>
                  <a:endParaRPr lang="en-US" sz="800"/>
                </a:p>
              </p:txBody>
            </p:sp>
          </p:grpSp>
        </p:grpSp>
        <p:sp>
          <p:nvSpPr>
            <p:cNvPr id="104" name="TextBox 103">
              <a:extLst>
                <a:ext uri="{FF2B5EF4-FFF2-40B4-BE49-F238E27FC236}">
                  <a16:creationId xmlns:a16="http://schemas.microsoft.com/office/drawing/2014/main" id="{23A002B2-F576-B02B-C678-70F70641EDF3}"/>
                </a:ext>
              </a:extLst>
            </p:cNvPr>
            <p:cNvSpPr txBox="1"/>
            <p:nvPr/>
          </p:nvSpPr>
          <p:spPr>
            <a:xfrm>
              <a:off x="1914379" y="2153088"/>
              <a:ext cx="2793616"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date &amp; time, sector cache, Fat cache size, Filex libraries</a:t>
              </a:r>
            </a:p>
          </p:txBody>
        </p:sp>
      </p:grpSp>
      <p:sp>
        <p:nvSpPr>
          <p:cNvPr id="152" name="TextBox 151">
            <a:extLst>
              <a:ext uri="{FF2B5EF4-FFF2-40B4-BE49-F238E27FC236}">
                <a16:creationId xmlns:a16="http://schemas.microsoft.com/office/drawing/2014/main" id="{1DBF4975-5A4B-85AF-EC34-FD23FE93FD42}"/>
              </a:ext>
            </a:extLst>
          </p:cNvPr>
          <p:cNvSpPr txBox="1"/>
          <p:nvPr/>
        </p:nvSpPr>
        <p:spPr>
          <a:xfrm>
            <a:off x="52363" y="988192"/>
            <a:ext cx="4722816" cy="461665"/>
          </a:xfrm>
          <a:prstGeom prst="rect">
            <a:avLst/>
          </a:prstGeom>
          <a:noFill/>
        </p:spPr>
        <p:txBody>
          <a:bodyPr wrap="square" rtlCol="0">
            <a:spAutoFit/>
          </a:bodyPr>
          <a:lstStyle/>
          <a:p>
            <a:r>
              <a:rPr lang="en-US" sz="1400" b="1">
                <a:solidFill>
                  <a:srgbClr val="0070C0"/>
                </a:solidFill>
              </a:rPr>
              <a:t>BareMetal mode: Filex w/ SRAM internal memory</a:t>
            </a:r>
          </a:p>
          <a:p>
            <a:r>
              <a:rPr lang="en-US" sz="1000" b="1">
                <a:solidFill>
                  <a:srgbClr val="002060"/>
                </a:solidFill>
              </a:rPr>
              <a:t>STM32H743xx (CM7) vs RA8M1 (CM85)</a:t>
            </a:r>
          </a:p>
        </p:txBody>
      </p:sp>
      <p:grpSp>
        <p:nvGrpSpPr>
          <p:cNvPr id="159" name="Group 158">
            <a:extLst>
              <a:ext uri="{FF2B5EF4-FFF2-40B4-BE49-F238E27FC236}">
                <a16:creationId xmlns:a16="http://schemas.microsoft.com/office/drawing/2014/main" id="{ADADB062-2367-6EB8-4588-48D1D746AB00}"/>
              </a:ext>
            </a:extLst>
          </p:cNvPr>
          <p:cNvGrpSpPr/>
          <p:nvPr/>
        </p:nvGrpSpPr>
        <p:grpSpPr>
          <a:xfrm>
            <a:off x="6299535" y="1716056"/>
            <a:ext cx="5310725" cy="4722844"/>
            <a:chOff x="6878841" y="1134922"/>
            <a:chExt cx="5006370" cy="4485866"/>
          </a:xfrm>
        </p:grpSpPr>
        <p:grpSp>
          <p:nvGrpSpPr>
            <p:cNvPr id="25" name="Group 24">
              <a:extLst>
                <a:ext uri="{FF2B5EF4-FFF2-40B4-BE49-F238E27FC236}">
                  <a16:creationId xmlns:a16="http://schemas.microsoft.com/office/drawing/2014/main" id="{554FB71E-6266-252E-823C-2A3AB4ABCF65}"/>
                </a:ext>
              </a:extLst>
            </p:cNvPr>
            <p:cNvGrpSpPr/>
            <p:nvPr/>
          </p:nvGrpSpPr>
          <p:grpSpPr>
            <a:xfrm>
              <a:off x="6878841" y="1134922"/>
              <a:ext cx="5006370" cy="4485866"/>
              <a:chOff x="829905" y="710584"/>
              <a:chExt cx="7648886" cy="6173991"/>
            </a:xfrm>
          </p:grpSpPr>
          <p:sp>
            <p:nvSpPr>
              <p:cNvPr id="29" name="Rectangle 28">
                <a:extLst>
                  <a:ext uri="{FF2B5EF4-FFF2-40B4-BE49-F238E27FC236}">
                    <a16:creationId xmlns:a16="http://schemas.microsoft.com/office/drawing/2014/main" id="{C93F3140-DFFC-DE14-4947-80643BEDCF67}"/>
                  </a:ext>
                </a:extLst>
              </p:cNvPr>
              <p:cNvSpPr/>
              <p:nvPr/>
            </p:nvSpPr>
            <p:spPr>
              <a:xfrm>
                <a:off x="1170205" y="1272963"/>
                <a:ext cx="1759062"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000">
                  <a:solidFill>
                    <a:schemeClr val="tx1"/>
                  </a:solidFill>
                  <a:cs typeface="Arial"/>
                </a:endParaRPr>
              </a:p>
              <a:p>
                <a:pPr algn="ctr"/>
                <a:r>
                  <a:rPr lang="fr-FR" sz="800" err="1">
                    <a:solidFill>
                      <a:schemeClr val="tx1"/>
                    </a:solidFill>
                  </a:rPr>
                  <a:t>Clock</a:t>
                </a:r>
                <a:r>
                  <a:rPr lang="fr-FR" sz="800">
                    <a:solidFill>
                      <a:schemeClr val="tx1"/>
                    </a:solidFill>
                  </a:rPr>
                  <a:t> configuration</a:t>
                </a:r>
              </a:p>
              <a:p>
                <a:pPr algn="ctr"/>
                <a:endParaRPr lang="fr-FR" sz="1000">
                  <a:solidFill>
                    <a:schemeClr val="tx1"/>
                  </a:solidFill>
                  <a:cs typeface="Arial"/>
                </a:endParaRPr>
              </a:p>
            </p:txBody>
          </p:sp>
          <p:cxnSp>
            <p:nvCxnSpPr>
              <p:cNvPr id="31" name="Straight Arrow Connector 30">
                <a:extLst>
                  <a:ext uri="{FF2B5EF4-FFF2-40B4-BE49-F238E27FC236}">
                    <a16:creationId xmlns:a16="http://schemas.microsoft.com/office/drawing/2014/main" id="{FFB778DB-1431-C207-B750-D3E0449D3A8F}"/>
                  </a:ext>
                </a:extLst>
              </p:cNvPr>
              <p:cNvCxnSpPr>
                <a:cxnSpLocks/>
              </p:cNvCxnSpPr>
              <p:nvPr/>
            </p:nvCxnSpPr>
            <p:spPr>
              <a:xfrm flipH="1">
                <a:off x="2049736" y="1054320"/>
                <a:ext cx="1" cy="21315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36" name="Straight Arrow Connector 35">
                <a:extLst>
                  <a:ext uri="{FF2B5EF4-FFF2-40B4-BE49-F238E27FC236}">
                    <a16:creationId xmlns:a16="http://schemas.microsoft.com/office/drawing/2014/main" id="{7A2949DB-9895-E0F3-CE25-610F5920E72F}"/>
                  </a:ext>
                </a:extLst>
              </p:cNvPr>
              <p:cNvCxnSpPr>
                <a:cxnSpLocks/>
                <a:stCxn id="29" idx="2"/>
              </p:cNvCxnSpPr>
              <p:nvPr/>
            </p:nvCxnSpPr>
            <p:spPr>
              <a:xfrm>
                <a:off x="2049736" y="1559590"/>
                <a:ext cx="0" cy="24393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7" name="Rectangle 36">
                <a:extLst>
                  <a:ext uri="{FF2B5EF4-FFF2-40B4-BE49-F238E27FC236}">
                    <a16:creationId xmlns:a16="http://schemas.microsoft.com/office/drawing/2014/main" id="{1A775286-F7D5-3B98-859F-944030913644}"/>
                  </a:ext>
                </a:extLst>
              </p:cNvPr>
              <p:cNvSpPr/>
              <p:nvPr/>
            </p:nvSpPr>
            <p:spPr>
              <a:xfrm>
                <a:off x="1180154" y="1745628"/>
                <a:ext cx="1759062"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rgbClr val="000000"/>
                    </a:solidFill>
                    <a:ea typeface="+mn-lt"/>
                    <a:cs typeface="+mn-lt"/>
                  </a:rPr>
                  <a:t>RTOS Kernel Start</a:t>
                </a:r>
                <a:endParaRPr lang="en-US" sz="800">
                  <a:cs typeface="Arial"/>
                </a:endParaRPr>
              </a:p>
            </p:txBody>
          </p:sp>
          <p:cxnSp>
            <p:nvCxnSpPr>
              <p:cNvPr id="38" name="Straight Arrow Connector 37">
                <a:extLst>
                  <a:ext uri="{FF2B5EF4-FFF2-40B4-BE49-F238E27FC236}">
                    <a16:creationId xmlns:a16="http://schemas.microsoft.com/office/drawing/2014/main" id="{18BF776E-9328-FA8D-6FEA-FF9BB404A467}"/>
                  </a:ext>
                </a:extLst>
              </p:cNvPr>
              <p:cNvCxnSpPr>
                <a:cxnSpLocks/>
                <a:stCxn id="37" idx="2"/>
                <a:endCxn id="39" idx="0"/>
              </p:cNvCxnSpPr>
              <p:nvPr/>
            </p:nvCxnSpPr>
            <p:spPr>
              <a:xfrm flipH="1">
                <a:off x="2044921" y="2032255"/>
                <a:ext cx="14763" cy="24453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9" name="Rectangle 38">
                <a:extLst>
                  <a:ext uri="{FF2B5EF4-FFF2-40B4-BE49-F238E27FC236}">
                    <a16:creationId xmlns:a16="http://schemas.microsoft.com/office/drawing/2014/main" id="{29642C7C-2C56-83D8-9B0C-D8AE420DEA0D}"/>
                  </a:ext>
                </a:extLst>
              </p:cNvPr>
              <p:cNvSpPr/>
              <p:nvPr/>
            </p:nvSpPr>
            <p:spPr>
              <a:xfrm>
                <a:off x="1175311" y="2276786"/>
                <a:ext cx="1739220" cy="308542"/>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1000">
                    <a:solidFill>
                      <a:schemeClr val="tx1"/>
                    </a:solidFill>
                  </a:rPr>
                  <a:t> </a:t>
                </a:r>
                <a:r>
                  <a:rPr lang="fr-FR" sz="800" err="1">
                    <a:solidFill>
                      <a:schemeClr val="tx1"/>
                    </a:solidFill>
                  </a:rPr>
                  <a:t>Filex</a:t>
                </a:r>
                <a:r>
                  <a:rPr lang="fr-FR" sz="800">
                    <a:solidFill>
                      <a:schemeClr val="tx1"/>
                    </a:solidFill>
                  </a:rPr>
                  <a:t> Init</a:t>
                </a:r>
                <a:endParaRPr lang="fr-FR" sz="800">
                  <a:solidFill>
                    <a:schemeClr val="tx1"/>
                  </a:solidFill>
                  <a:cs typeface="Arial"/>
                </a:endParaRPr>
              </a:p>
            </p:txBody>
          </p:sp>
          <p:sp>
            <p:nvSpPr>
              <p:cNvPr id="40" name="Rectangle 39">
                <a:extLst>
                  <a:ext uri="{FF2B5EF4-FFF2-40B4-BE49-F238E27FC236}">
                    <a16:creationId xmlns:a16="http://schemas.microsoft.com/office/drawing/2014/main" id="{CD9B8B29-740E-9157-98E8-A574B5782064}"/>
                  </a:ext>
                </a:extLst>
              </p:cNvPr>
              <p:cNvSpPr/>
              <p:nvPr/>
            </p:nvSpPr>
            <p:spPr>
              <a:xfrm>
                <a:off x="1180155" y="2822565"/>
                <a:ext cx="1759061" cy="280422"/>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1000">
                    <a:solidFill>
                      <a:schemeClr val="tx1"/>
                    </a:solidFill>
                  </a:rPr>
                  <a:t> </a:t>
                </a:r>
                <a:r>
                  <a:rPr lang="fr-FR" sz="800" err="1">
                    <a:solidFill>
                      <a:schemeClr val="tx1"/>
                    </a:solidFill>
                  </a:rPr>
                  <a:t>USBx</a:t>
                </a:r>
                <a:r>
                  <a:rPr lang="fr-FR" sz="800">
                    <a:solidFill>
                      <a:schemeClr val="tx1"/>
                    </a:solidFill>
                  </a:rPr>
                  <a:t> Init</a:t>
                </a:r>
              </a:p>
            </p:txBody>
          </p:sp>
          <p:cxnSp>
            <p:nvCxnSpPr>
              <p:cNvPr id="41" name="Straight Arrow Connector 40">
                <a:extLst>
                  <a:ext uri="{FF2B5EF4-FFF2-40B4-BE49-F238E27FC236}">
                    <a16:creationId xmlns:a16="http://schemas.microsoft.com/office/drawing/2014/main" id="{CDC20DF5-D587-BE0F-AC1F-27CA7DB9B2D8}"/>
                  </a:ext>
                </a:extLst>
              </p:cNvPr>
              <p:cNvCxnSpPr>
                <a:cxnSpLocks/>
                <a:stCxn id="39" idx="2"/>
                <a:endCxn id="40" idx="0"/>
              </p:cNvCxnSpPr>
              <p:nvPr/>
            </p:nvCxnSpPr>
            <p:spPr>
              <a:xfrm>
                <a:off x="2044921" y="2585328"/>
                <a:ext cx="14765" cy="23723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42" name="Straight Arrow Connector 41">
                <a:extLst>
                  <a:ext uri="{FF2B5EF4-FFF2-40B4-BE49-F238E27FC236}">
                    <a16:creationId xmlns:a16="http://schemas.microsoft.com/office/drawing/2014/main" id="{E1B3EE4D-7786-B534-708F-D7E2E5215D2F}"/>
                  </a:ext>
                </a:extLst>
              </p:cNvPr>
              <p:cNvCxnSpPr>
                <a:cxnSpLocks/>
              </p:cNvCxnSpPr>
              <p:nvPr/>
            </p:nvCxnSpPr>
            <p:spPr>
              <a:xfrm>
                <a:off x="2929267" y="1393108"/>
                <a:ext cx="311678" cy="7"/>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1" name="Straight Arrow Connector 50">
                <a:extLst>
                  <a:ext uri="{FF2B5EF4-FFF2-40B4-BE49-F238E27FC236}">
                    <a16:creationId xmlns:a16="http://schemas.microsoft.com/office/drawing/2014/main" id="{81BE1491-B494-6C14-D6C3-E0F6BFC20A97}"/>
                  </a:ext>
                </a:extLst>
              </p:cNvPr>
              <p:cNvCxnSpPr>
                <a:cxnSpLocks/>
                <a:stCxn id="40" idx="3"/>
                <a:endCxn id="53" idx="1"/>
              </p:cNvCxnSpPr>
              <p:nvPr/>
            </p:nvCxnSpPr>
            <p:spPr>
              <a:xfrm>
                <a:off x="2939216" y="2962776"/>
                <a:ext cx="350249" cy="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53" name="TextBox 39">
                <a:extLst>
                  <a:ext uri="{FF2B5EF4-FFF2-40B4-BE49-F238E27FC236}">
                    <a16:creationId xmlns:a16="http://schemas.microsoft.com/office/drawing/2014/main" id="{D2AF3015-D226-A6AA-A07B-6E5F01A3D2A3}"/>
                  </a:ext>
                </a:extLst>
              </p:cNvPr>
              <p:cNvSpPr txBox="1"/>
              <p:nvPr/>
            </p:nvSpPr>
            <p:spPr>
              <a:xfrm>
                <a:off x="3289465" y="2793336"/>
                <a:ext cx="3735289" cy="33887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USB Host</a:t>
                </a:r>
                <a:r>
                  <a:rPr lang="en-US" sz="1000"/>
                  <a:t>, </a:t>
                </a:r>
                <a:r>
                  <a:rPr lang="en-US" sz="800"/>
                  <a:t>MSC class, power USB module</a:t>
                </a:r>
              </a:p>
            </p:txBody>
          </p:sp>
          <p:sp>
            <p:nvSpPr>
              <p:cNvPr id="55" name="Rectangle 54">
                <a:extLst>
                  <a:ext uri="{FF2B5EF4-FFF2-40B4-BE49-F238E27FC236}">
                    <a16:creationId xmlns:a16="http://schemas.microsoft.com/office/drawing/2014/main" id="{0CA7B942-F321-6C8E-40B9-65AB5D098C4B}"/>
                  </a:ext>
                </a:extLst>
              </p:cNvPr>
              <p:cNvSpPr/>
              <p:nvPr/>
            </p:nvSpPr>
            <p:spPr>
              <a:xfrm>
                <a:off x="1191570" y="4809059"/>
                <a:ext cx="1759061" cy="321852"/>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err="1">
                    <a:solidFill>
                      <a:schemeClr val="tx1"/>
                    </a:solidFill>
                  </a:rPr>
                  <a:t>Create</a:t>
                </a:r>
                <a:r>
                  <a:rPr lang="fr-FR" sz="800">
                    <a:solidFill>
                      <a:schemeClr val="tx1"/>
                    </a:solidFill>
                  </a:rPr>
                  <a:t> the file</a:t>
                </a:r>
                <a:endParaRPr lang="en-US" sz="800"/>
              </a:p>
            </p:txBody>
          </p:sp>
          <p:cxnSp>
            <p:nvCxnSpPr>
              <p:cNvPr id="56" name="Straight Arrow Connector 55">
                <a:extLst>
                  <a:ext uri="{FF2B5EF4-FFF2-40B4-BE49-F238E27FC236}">
                    <a16:creationId xmlns:a16="http://schemas.microsoft.com/office/drawing/2014/main" id="{F1A19CC1-C116-5D6D-6DF0-562A6381730C}"/>
                  </a:ext>
                </a:extLst>
              </p:cNvPr>
              <p:cNvCxnSpPr>
                <a:cxnSpLocks/>
                <a:stCxn id="40" idx="2"/>
                <a:endCxn id="60" idx="0"/>
              </p:cNvCxnSpPr>
              <p:nvPr/>
            </p:nvCxnSpPr>
            <p:spPr>
              <a:xfrm flipH="1">
                <a:off x="2059685" y="3102987"/>
                <a:ext cx="2" cy="24856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57" name="Rectangle 56">
                <a:extLst>
                  <a:ext uri="{FF2B5EF4-FFF2-40B4-BE49-F238E27FC236}">
                    <a16:creationId xmlns:a16="http://schemas.microsoft.com/office/drawing/2014/main" id="{20F2C0B4-253B-44C6-7CDC-2C32544AAD99}"/>
                  </a:ext>
                </a:extLst>
              </p:cNvPr>
              <p:cNvSpPr/>
              <p:nvPr/>
            </p:nvSpPr>
            <p:spPr>
              <a:xfrm>
                <a:off x="1188571" y="5396892"/>
                <a:ext cx="1739225" cy="314742"/>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1000">
                    <a:solidFill>
                      <a:schemeClr val="tx1"/>
                    </a:solidFill>
                  </a:rPr>
                  <a:t> </a:t>
                </a:r>
                <a:r>
                  <a:rPr lang="fr-FR" sz="800">
                    <a:solidFill>
                      <a:schemeClr val="tx1"/>
                    </a:solidFill>
                  </a:rPr>
                  <a:t>Write in file</a:t>
                </a:r>
                <a:endParaRPr lang="en-US" sz="800">
                  <a:solidFill>
                    <a:schemeClr val="tx1"/>
                  </a:solidFill>
                </a:endParaRPr>
              </a:p>
            </p:txBody>
          </p:sp>
          <p:sp>
            <p:nvSpPr>
              <p:cNvPr id="58" name="Rectangle 57">
                <a:extLst>
                  <a:ext uri="{FF2B5EF4-FFF2-40B4-BE49-F238E27FC236}">
                    <a16:creationId xmlns:a16="http://schemas.microsoft.com/office/drawing/2014/main" id="{853EE051-5DA2-A4BD-4FD1-B72AA6813D38}"/>
                  </a:ext>
                </a:extLst>
              </p:cNvPr>
              <p:cNvSpPr/>
              <p:nvPr/>
            </p:nvSpPr>
            <p:spPr>
              <a:xfrm>
                <a:off x="1188576" y="6569833"/>
                <a:ext cx="1739216" cy="314742"/>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cs typeface="Arial"/>
                  </a:rPr>
                  <a:t>Close the file</a:t>
                </a:r>
              </a:p>
            </p:txBody>
          </p:sp>
          <p:sp>
            <p:nvSpPr>
              <p:cNvPr id="59" name="Rectangle 58">
                <a:extLst>
                  <a:ext uri="{FF2B5EF4-FFF2-40B4-BE49-F238E27FC236}">
                    <a16:creationId xmlns:a16="http://schemas.microsoft.com/office/drawing/2014/main" id="{1E9D9333-0B24-EA00-C8B2-ADF542E473C2}"/>
                  </a:ext>
                </a:extLst>
              </p:cNvPr>
              <p:cNvSpPr/>
              <p:nvPr/>
            </p:nvSpPr>
            <p:spPr>
              <a:xfrm>
                <a:off x="1185234" y="5992495"/>
                <a:ext cx="1729297" cy="314742"/>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cs typeface="Arial"/>
                  </a:rPr>
                  <a:t>Read the file</a:t>
                </a:r>
              </a:p>
            </p:txBody>
          </p:sp>
          <p:sp>
            <p:nvSpPr>
              <p:cNvPr id="60" name="Diamond 59">
                <a:extLst>
                  <a:ext uri="{FF2B5EF4-FFF2-40B4-BE49-F238E27FC236}">
                    <a16:creationId xmlns:a16="http://schemas.microsoft.com/office/drawing/2014/main" id="{2775A967-01A9-6C55-6F9A-268D165D9E77}"/>
                  </a:ext>
                </a:extLst>
              </p:cNvPr>
              <p:cNvSpPr/>
              <p:nvPr/>
            </p:nvSpPr>
            <p:spPr>
              <a:xfrm>
                <a:off x="829905" y="3351556"/>
                <a:ext cx="2459560" cy="585051"/>
              </a:xfrm>
              <a:prstGeom prst="diamond">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buClr>
                    <a:srgbClr val="FFFFFF"/>
                  </a:buClr>
                </a:pPr>
                <a:r>
                  <a:rPr lang="fr-FR" sz="800">
                    <a:solidFill>
                      <a:schemeClr val="tx1"/>
                    </a:solidFill>
                  </a:rPr>
                  <a:t>Is USB flash </a:t>
                </a:r>
                <a:r>
                  <a:rPr lang="fr-FR" sz="800" err="1">
                    <a:solidFill>
                      <a:schemeClr val="tx1"/>
                    </a:solidFill>
                  </a:rPr>
                  <a:t>inserted</a:t>
                </a:r>
                <a:r>
                  <a:rPr lang="fr-FR" sz="800">
                    <a:solidFill>
                      <a:schemeClr val="tx1"/>
                    </a:solidFill>
                  </a:rPr>
                  <a:t> ?</a:t>
                </a:r>
                <a:endParaRPr lang="en-US" sz="800">
                  <a:solidFill>
                    <a:schemeClr val="tx1"/>
                  </a:solidFill>
                </a:endParaRPr>
              </a:p>
            </p:txBody>
          </p:sp>
          <p:cxnSp>
            <p:nvCxnSpPr>
              <p:cNvPr id="64" name="Straight Arrow Connector 63">
                <a:extLst>
                  <a:ext uri="{FF2B5EF4-FFF2-40B4-BE49-F238E27FC236}">
                    <a16:creationId xmlns:a16="http://schemas.microsoft.com/office/drawing/2014/main" id="{7EB8CED7-FF20-7725-704A-DB48DCA0CD29}"/>
                  </a:ext>
                </a:extLst>
              </p:cNvPr>
              <p:cNvCxnSpPr>
                <a:cxnSpLocks/>
                <a:stCxn id="71" idx="2"/>
                <a:endCxn id="55" idx="0"/>
              </p:cNvCxnSpPr>
              <p:nvPr/>
            </p:nvCxnSpPr>
            <p:spPr>
              <a:xfrm>
                <a:off x="2059684" y="4573978"/>
                <a:ext cx="11417" cy="23508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5" name="Straight Arrow Connector 64">
                <a:extLst>
                  <a:ext uri="{FF2B5EF4-FFF2-40B4-BE49-F238E27FC236}">
                    <a16:creationId xmlns:a16="http://schemas.microsoft.com/office/drawing/2014/main" id="{4625174D-2C32-953B-1BEA-63F3B86F9235}"/>
                  </a:ext>
                </a:extLst>
              </p:cNvPr>
              <p:cNvCxnSpPr>
                <a:cxnSpLocks/>
                <a:stCxn id="55" idx="2"/>
                <a:endCxn id="57" idx="0"/>
              </p:cNvCxnSpPr>
              <p:nvPr/>
            </p:nvCxnSpPr>
            <p:spPr>
              <a:xfrm flipH="1">
                <a:off x="2058183" y="5130911"/>
                <a:ext cx="12918" cy="26598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6" name="Straight Arrow Connector 65">
                <a:extLst>
                  <a:ext uri="{FF2B5EF4-FFF2-40B4-BE49-F238E27FC236}">
                    <a16:creationId xmlns:a16="http://schemas.microsoft.com/office/drawing/2014/main" id="{9D17CEFE-75DF-6C18-4DB7-4F3AB7DF767E}"/>
                  </a:ext>
                </a:extLst>
              </p:cNvPr>
              <p:cNvCxnSpPr>
                <a:cxnSpLocks/>
                <a:stCxn id="57" idx="2"/>
                <a:endCxn id="59" idx="0"/>
              </p:cNvCxnSpPr>
              <p:nvPr/>
            </p:nvCxnSpPr>
            <p:spPr>
              <a:xfrm flipH="1">
                <a:off x="2049883" y="5711634"/>
                <a:ext cx="8301" cy="28086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7" name="Straight Arrow Connector 66">
                <a:extLst>
                  <a:ext uri="{FF2B5EF4-FFF2-40B4-BE49-F238E27FC236}">
                    <a16:creationId xmlns:a16="http://schemas.microsoft.com/office/drawing/2014/main" id="{115CFB4F-D731-BC75-781D-B952EEA68459}"/>
                  </a:ext>
                </a:extLst>
              </p:cNvPr>
              <p:cNvCxnSpPr>
                <a:cxnSpLocks/>
                <a:stCxn id="59" idx="2"/>
                <a:endCxn id="58" idx="0"/>
              </p:cNvCxnSpPr>
              <p:nvPr/>
            </p:nvCxnSpPr>
            <p:spPr>
              <a:xfrm>
                <a:off x="2049883" y="6307237"/>
                <a:ext cx="8301" cy="262596"/>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8" name="Connector: Elbow 67">
                <a:extLst>
                  <a:ext uri="{FF2B5EF4-FFF2-40B4-BE49-F238E27FC236}">
                    <a16:creationId xmlns:a16="http://schemas.microsoft.com/office/drawing/2014/main" id="{FB2D7D74-ADF5-A017-9974-60BE90C8801C}"/>
                  </a:ext>
                </a:extLst>
              </p:cNvPr>
              <p:cNvCxnSpPr>
                <a:cxnSpLocks/>
                <a:stCxn id="60" idx="2"/>
                <a:endCxn id="60" idx="3"/>
              </p:cNvCxnSpPr>
              <p:nvPr/>
            </p:nvCxnSpPr>
            <p:spPr>
              <a:xfrm rot="5400000" flipH="1" flipV="1">
                <a:off x="2528312" y="3175454"/>
                <a:ext cx="292526" cy="1229780"/>
              </a:xfrm>
              <a:prstGeom prst="bentConnector4">
                <a:avLst>
                  <a:gd name="adj1" fmla="val -43022"/>
                  <a:gd name="adj2" fmla="val 1284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69" name="TextBox 56">
                <a:extLst>
                  <a:ext uri="{FF2B5EF4-FFF2-40B4-BE49-F238E27FC236}">
                    <a16:creationId xmlns:a16="http://schemas.microsoft.com/office/drawing/2014/main" id="{48F95F29-AF83-D939-C063-1E43B7E6CBDB}"/>
                  </a:ext>
                </a:extLst>
              </p:cNvPr>
              <p:cNvSpPr txBox="1"/>
              <p:nvPr/>
            </p:nvSpPr>
            <p:spPr>
              <a:xfrm>
                <a:off x="1242100" y="3895393"/>
                <a:ext cx="857106" cy="2965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70" name="TextBox 69">
                <a:extLst>
                  <a:ext uri="{FF2B5EF4-FFF2-40B4-BE49-F238E27FC236}">
                    <a16:creationId xmlns:a16="http://schemas.microsoft.com/office/drawing/2014/main" id="{BD436E65-94DD-BBCF-BF63-BF6E2484830D}"/>
                  </a:ext>
                </a:extLst>
              </p:cNvPr>
              <p:cNvSpPr txBox="1"/>
              <p:nvPr/>
            </p:nvSpPr>
            <p:spPr>
              <a:xfrm>
                <a:off x="3251576" y="3729384"/>
                <a:ext cx="1140069" cy="2965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sp>
            <p:nvSpPr>
              <p:cNvPr id="71" name="Rectangle 70">
                <a:extLst>
                  <a:ext uri="{FF2B5EF4-FFF2-40B4-BE49-F238E27FC236}">
                    <a16:creationId xmlns:a16="http://schemas.microsoft.com/office/drawing/2014/main" id="{BA5400C5-6533-6C0C-1B09-6D294B4ABE49}"/>
                  </a:ext>
                </a:extLst>
              </p:cNvPr>
              <p:cNvSpPr/>
              <p:nvPr/>
            </p:nvSpPr>
            <p:spPr>
              <a:xfrm>
                <a:off x="1191570" y="4247183"/>
                <a:ext cx="1736226" cy="326795"/>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rPr>
                  <a:t>USB enumeration</a:t>
                </a:r>
                <a:endParaRPr lang="en-US" sz="800"/>
              </a:p>
            </p:txBody>
          </p:sp>
          <p:cxnSp>
            <p:nvCxnSpPr>
              <p:cNvPr id="72" name="Straight Arrow Connector 71">
                <a:extLst>
                  <a:ext uri="{FF2B5EF4-FFF2-40B4-BE49-F238E27FC236}">
                    <a16:creationId xmlns:a16="http://schemas.microsoft.com/office/drawing/2014/main" id="{D1881FA0-0968-2053-AD63-1387DF3ED39D}"/>
                  </a:ext>
                </a:extLst>
              </p:cNvPr>
              <p:cNvCxnSpPr>
                <a:cxnSpLocks/>
                <a:stCxn id="60" idx="2"/>
                <a:endCxn id="71" idx="0"/>
              </p:cNvCxnSpPr>
              <p:nvPr/>
            </p:nvCxnSpPr>
            <p:spPr>
              <a:xfrm flipH="1">
                <a:off x="2059684" y="3936607"/>
                <a:ext cx="2" cy="310576"/>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74" name="TextBox 25">
                <a:extLst>
                  <a:ext uri="{FF2B5EF4-FFF2-40B4-BE49-F238E27FC236}">
                    <a16:creationId xmlns:a16="http://schemas.microsoft.com/office/drawing/2014/main" id="{45796178-207A-93E1-2210-7E202B83B86B}"/>
                  </a:ext>
                </a:extLst>
              </p:cNvPr>
              <p:cNvSpPr txBox="1"/>
              <p:nvPr/>
            </p:nvSpPr>
            <p:spPr>
              <a:xfrm>
                <a:off x="3240944" y="1192043"/>
                <a:ext cx="4699283" cy="46595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Clock frequency: </a:t>
                </a:r>
                <a:r>
                  <a:rPr lang="en-US" sz="800" b="1"/>
                  <a:t>200 MHz (</a:t>
                </a:r>
                <a:r>
                  <a:rPr lang="en-US" sz="800"/>
                  <a:t>ST and Renesas)</a:t>
                </a:r>
              </a:p>
              <a:p>
                <a:r>
                  <a:rPr lang="en-US" sz="800">
                    <a:solidFill>
                      <a:srgbClr val="03234B"/>
                    </a:solidFill>
                    <a:cs typeface="Arial"/>
                  </a:rPr>
                  <a:t>Clock source : </a:t>
                </a:r>
                <a:r>
                  <a:rPr lang="fr-FR" sz="800"/>
                  <a:t>HSE (ST) / PLL (Renesas)</a:t>
                </a:r>
              </a:p>
            </p:txBody>
          </p:sp>
          <p:sp>
            <p:nvSpPr>
              <p:cNvPr id="75" name="TextBox 74">
                <a:extLst>
                  <a:ext uri="{FF2B5EF4-FFF2-40B4-BE49-F238E27FC236}">
                    <a16:creationId xmlns:a16="http://schemas.microsoft.com/office/drawing/2014/main" id="{EEA66864-3436-7A0D-0FD1-14172DA73107}"/>
                  </a:ext>
                </a:extLst>
              </p:cNvPr>
              <p:cNvSpPr txBox="1"/>
              <p:nvPr/>
            </p:nvSpPr>
            <p:spPr>
              <a:xfrm>
                <a:off x="3251577" y="2271002"/>
                <a:ext cx="5227214" cy="2965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date &amp; time, sector cache, Fat cache size, </a:t>
                </a:r>
                <a:r>
                  <a:rPr lang="en-US" sz="800" b="1" err="1">
                    <a:ea typeface="+mn-lt"/>
                    <a:cs typeface="+mn-lt"/>
                  </a:rPr>
                  <a:t>threadx</a:t>
                </a:r>
                <a:r>
                  <a:rPr lang="en-US" sz="800" b="1">
                    <a:ea typeface="+mn-lt"/>
                    <a:cs typeface="+mn-lt"/>
                  </a:rPr>
                  <a:t> timer</a:t>
                </a:r>
                <a:r>
                  <a:rPr lang="en-US" sz="800">
                    <a:ea typeface="+mn-lt"/>
                    <a:cs typeface="+mn-lt"/>
                  </a:rPr>
                  <a:t>, </a:t>
                </a:r>
                <a:r>
                  <a:rPr lang="en-US" sz="800"/>
                  <a:t>Filex libraries</a:t>
                </a:r>
              </a:p>
            </p:txBody>
          </p:sp>
          <p:cxnSp>
            <p:nvCxnSpPr>
              <p:cNvPr id="82" name="Straight Arrow Connector 81">
                <a:extLst>
                  <a:ext uri="{FF2B5EF4-FFF2-40B4-BE49-F238E27FC236}">
                    <a16:creationId xmlns:a16="http://schemas.microsoft.com/office/drawing/2014/main" id="{5F4A27B6-4B27-5F66-2AB3-5EB4C9ED44B1}"/>
                  </a:ext>
                </a:extLst>
              </p:cNvPr>
              <p:cNvCxnSpPr>
                <a:cxnSpLocks/>
                <a:stCxn id="39" idx="3"/>
                <a:endCxn id="75" idx="1"/>
              </p:cNvCxnSpPr>
              <p:nvPr/>
            </p:nvCxnSpPr>
            <p:spPr>
              <a:xfrm flipV="1">
                <a:off x="2914531" y="2419262"/>
                <a:ext cx="337046" cy="1179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85" name="Oval 84">
                <a:extLst>
                  <a:ext uri="{FF2B5EF4-FFF2-40B4-BE49-F238E27FC236}">
                    <a16:creationId xmlns:a16="http://schemas.microsoft.com/office/drawing/2014/main" id="{C2623964-9EC8-4383-C7AF-6B0B4B86AF94}"/>
                  </a:ext>
                </a:extLst>
              </p:cNvPr>
              <p:cNvSpPr/>
              <p:nvPr/>
            </p:nvSpPr>
            <p:spPr>
              <a:xfrm>
                <a:off x="1596504" y="710584"/>
                <a:ext cx="926362" cy="310399"/>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en-US" sz="800">
                    <a:solidFill>
                      <a:schemeClr val="tx1"/>
                    </a:solidFill>
                  </a:rPr>
                  <a:t>Start</a:t>
                </a:r>
              </a:p>
            </p:txBody>
          </p:sp>
        </p:grpSp>
        <p:sp>
          <p:nvSpPr>
            <p:cNvPr id="123" name="TextBox 39">
              <a:extLst>
                <a:ext uri="{FF2B5EF4-FFF2-40B4-BE49-F238E27FC236}">
                  <a16:creationId xmlns:a16="http://schemas.microsoft.com/office/drawing/2014/main" id="{8CCB8242-3E52-C865-A33B-1971B15C44D0}"/>
                </a:ext>
              </a:extLst>
            </p:cNvPr>
            <p:cNvSpPr txBox="1"/>
            <p:nvPr/>
          </p:nvSpPr>
          <p:spPr>
            <a:xfrm>
              <a:off x="8456921" y="4530697"/>
              <a:ext cx="2444831"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File size 25 KB</a:t>
              </a:r>
            </a:p>
          </p:txBody>
        </p:sp>
        <p:cxnSp>
          <p:nvCxnSpPr>
            <p:cNvPr id="124" name="Straight Arrow Connector 123">
              <a:extLst>
                <a:ext uri="{FF2B5EF4-FFF2-40B4-BE49-F238E27FC236}">
                  <a16:creationId xmlns:a16="http://schemas.microsoft.com/office/drawing/2014/main" id="{CA6AAA3A-525B-920A-63B6-F886C0105456}"/>
                </a:ext>
              </a:extLst>
            </p:cNvPr>
            <p:cNvCxnSpPr>
              <a:cxnSpLocks/>
              <a:stCxn id="57" idx="3"/>
              <a:endCxn id="123" idx="1"/>
            </p:cNvCxnSpPr>
            <p:nvPr/>
          </p:nvCxnSpPr>
          <p:spPr>
            <a:xfrm flipV="1">
              <a:off x="8251958" y="4638419"/>
              <a:ext cx="204963" cy="1580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54" name="TextBox 153">
              <a:extLst>
                <a:ext uri="{FF2B5EF4-FFF2-40B4-BE49-F238E27FC236}">
                  <a16:creationId xmlns:a16="http://schemas.microsoft.com/office/drawing/2014/main" id="{3C1FEB6C-C0D1-4662-C104-E588A3C4EB3C}"/>
                </a:ext>
              </a:extLst>
            </p:cNvPr>
            <p:cNvSpPr txBox="1"/>
            <p:nvPr/>
          </p:nvSpPr>
          <p:spPr>
            <a:xfrm>
              <a:off x="8507885" y="1881060"/>
              <a:ext cx="1503542" cy="221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Scheduler, tasks, priorities</a:t>
              </a:r>
            </a:p>
          </p:txBody>
        </p:sp>
      </p:grpSp>
      <p:sp>
        <p:nvSpPr>
          <p:cNvPr id="160" name="TextBox 159">
            <a:extLst>
              <a:ext uri="{FF2B5EF4-FFF2-40B4-BE49-F238E27FC236}">
                <a16:creationId xmlns:a16="http://schemas.microsoft.com/office/drawing/2014/main" id="{0763A46A-62BA-7A13-1B30-EE5E8F33FB11}"/>
              </a:ext>
            </a:extLst>
          </p:cNvPr>
          <p:cNvSpPr txBox="1"/>
          <p:nvPr/>
        </p:nvSpPr>
        <p:spPr>
          <a:xfrm>
            <a:off x="6095642" y="993515"/>
            <a:ext cx="3681836" cy="461665"/>
          </a:xfrm>
          <a:prstGeom prst="rect">
            <a:avLst/>
          </a:prstGeom>
          <a:noFill/>
        </p:spPr>
        <p:txBody>
          <a:bodyPr wrap="square" rtlCol="0">
            <a:spAutoFit/>
          </a:bodyPr>
          <a:lstStyle/>
          <a:p>
            <a:r>
              <a:rPr lang="en-US" sz="1400" b="1">
                <a:solidFill>
                  <a:srgbClr val="0070C0"/>
                </a:solidFill>
              </a:rPr>
              <a:t>RTOS mode: Filex w/ USB disk memory</a:t>
            </a:r>
          </a:p>
          <a:p>
            <a:r>
              <a:rPr lang="en-US" sz="1000" b="1">
                <a:solidFill>
                  <a:srgbClr val="002060"/>
                </a:solidFill>
              </a:rPr>
              <a:t>STM32H573xx (CM33) vs RA6M5 (CM33)</a:t>
            </a:r>
          </a:p>
        </p:txBody>
      </p:sp>
      <p:sp>
        <p:nvSpPr>
          <p:cNvPr id="214" name="Rectangle: Folded Corner 213">
            <a:extLst>
              <a:ext uri="{FF2B5EF4-FFF2-40B4-BE49-F238E27FC236}">
                <a16:creationId xmlns:a16="http://schemas.microsoft.com/office/drawing/2014/main" id="{1BA902D7-F2C9-8AFE-34DD-4E82875137EB}"/>
              </a:ext>
            </a:extLst>
          </p:cNvPr>
          <p:cNvSpPr/>
          <p:nvPr/>
        </p:nvSpPr>
        <p:spPr>
          <a:xfrm>
            <a:off x="8812149" y="4420022"/>
            <a:ext cx="1234532" cy="785172"/>
          </a:xfrm>
          <a:prstGeom prst="foldedCorner">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solidFill>
              </a:rPr>
              <a:t>USB host (MCU) identify, assign address and configure USB   </a:t>
            </a:r>
          </a:p>
          <a:p>
            <a:r>
              <a:rPr lang="en-US" sz="800">
                <a:solidFill>
                  <a:schemeClr val="tx1"/>
                </a:solidFill>
              </a:rPr>
              <a:t> device (USB disk)</a:t>
            </a:r>
          </a:p>
        </p:txBody>
      </p:sp>
      <p:cxnSp>
        <p:nvCxnSpPr>
          <p:cNvPr id="216" name="Connector: Curved 215">
            <a:extLst>
              <a:ext uri="{FF2B5EF4-FFF2-40B4-BE49-F238E27FC236}">
                <a16:creationId xmlns:a16="http://schemas.microsoft.com/office/drawing/2014/main" id="{F1E99291-3095-0600-7677-B99F8BD7F3C4}"/>
              </a:ext>
            </a:extLst>
          </p:cNvPr>
          <p:cNvCxnSpPr>
            <a:cxnSpLocks/>
            <a:stCxn id="71" idx="3"/>
            <a:endCxn id="214" idx="1"/>
          </p:cNvCxnSpPr>
          <p:nvPr/>
        </p:nvCxnSpPr>
        <p:spPr>
          <a:xfrm>
            <a:off x="7756129" y="4546398"/>
            <a:ext cx="1056020" cy="266210"/>
          </a:xfrm>
          <a:prstGeom prst="curvedConnector3">
            <a:avLst/>
          </a:prstGeom>
          <a:ln w="12700">
            <a:headEnd type="none" w="lg" len="lg"/>
            <a:tailEnd type="triangle"/>
          </a:ln>
        </p:spPr>
        <p:style>
          <a:lnRef idx="1">
            <a:schemeClr val="accent4"/>
          </a:lnRef>
          <a:fillRef idx="0">
            <a:schemeClr val="accent4"/>
          </a:fillRef>
          <a:effectRef idx="0">
            <a:schemeClr val="accent4"/>
          </a:effectRef>
          <a:fontRef idx="minor">
            <a:schemeClr val="tx1"/>
          </a:fontRef>
        </p:style>
      </p:cxnSp>
      <p:cxnSp>
        <p:nvCxnSpPr>
          <p:cNvPr id="220" name="Straight Connector 219">
            <a:extLst>
              <a:ext uri="{FF2B5EF4-FFF2-40B4-BE49-F238E27FC236}">
                <a16:creationId xmlns:a16="http://schemas.microsoft.com/office/drawing/2014/main" id="{C837D187-207D-F63C-2365-5B0889FFDFF6}"/>
              </a:ext>
            </a:extLst>
          </p:cNvPr>
          <p:cNvCxnSpPr>
            <a:cxnSpLocks/>
            <a:stCxn id="3" idx="2"/>
          </p:cNvCxnSpPr>
          <p:nvPr/>
        </p:nvCxnSpPr>
        <p:spPr>
          <a:xfrm>
            <a:off x="6019613" y="1304925"/>
            <a:ext cx="0" cy="5379339"/>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cxnSp>
        <p:nvCxnSpPr>
          <p:cNvPr id="14" name="Straight Arrow Connector 13">
            <a:extLst>
              <a:ext uri="{FF2B5EF4-FFF2-40B4-BE49-F238E27FC236}">
                <a16:creationId xmlns:a16="http://schemas.microsoft.com/office/drawing/2014/main" id="{3397273D-7932-234E-28DB-DC5F44676FB0}"/>
              </a:ext>
            </a:extLst>
          </p:cNvPr>
          <p:cNvCxnSpPr>
            <a:cxnSpLocks/>
          </p:cNvCxnSpPr>
          <p:nvPr/>
        </p:nvCxnSpPr>
        <p:spPr>
          <a:xfrm>
            <a:off x="7640079" y="2132551"/>
            <a:ext cx="204000" cy="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319" name="Straight Arrow Connector 318">
            <a:extLst>
              <a:ext uri="{FF2B5EF4-FFF2-40B4-BE49-F238E27FC236}">
                <a16:creationId xmlns:a16="http://schemas.microsoft.com/office/drawing/2014/main" id="{9C8C2EEB-BF2B-9043-C688-5F7EAC687CA8}"/>
              </a:ext>
            </a:extLst>
          </p:cNvPr>
          <p:cNvCxnSpPr>
            <a:cxnSpLocks/>
            <a:stCxn id="37" idx="3"/>
            <a:endCxn id="154" idx="1"/>
          </p:cNvCxnSpPr>
          <p:nvPr/>
        </p:nvCxnSpPr>
        <p:spPr>
          <a:xfrm>
            <a:off x="7764059" y="2617450"/>
            <a:ext cx="263555" cy="66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7036341B-2016-0118-AD32-57EF9E34987C}"/>
              </a:ext>
            </a:extLst>
          </p:cNvPr>
          <p:cNvSpPr>
            <a:spLocks noGrp="1"/>
          </p:cNvSpPr>
          <p:nvPr>
            <p:ph type="sldNum" sz="quarter" idx="12"/>
          </p:nvPr>
        </p:nvSpPr>
        <p:spPr/>
        <p:txBody>
          <a:bodyPr/>
          <a:lstStyle/>
          <a:p>
            <a:fld id="{40A7B169-58CE-4E65-B1F9-ACF9E46440C2}" type="slidenum">
              <a:rPr lang="en-US" smtClean="0"/>
              <a:t>13</a:t>
            </a:fld>
            <a:endParaRPr lang="en-US"/>
          </a:p>
        </p:txBody>
      </p:sp>
    </p:spTree>
    <p:extLst>
      <p:ext uri="{BB962C8B-B14F-4D97-AF65-F5344CB8AC3E}">
        <p14:creationId xmlns:p14="http://schemas.microsoft.com/office/powerpoint/2010/main" val="768449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A9A79-A434-B690-6C0E-3354EDC4C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82190-767A-4A57-45BB-E94736D15B13}"/>
              </a:ext>
            </a:extLst>
          </p:cNvPr>
          <p:cNvSpPr>
            <a:spLocks noGrp="1"/>
          </p:cNvSpPr>
          <p:nvPr>
            <p:ph type="title"/>
          </p:nvPr>
        </p:nvSpPr>
        <p:spPr/>
        <p:txBody>
          <a:bodyPr/>
          <a:lstStyle/>
          <a:p>
            <a:r>
              <a:rPr lang="en-US"/>
              <a:t>ST Competitors MW Benchmark: File System</a:t>
            </a:r>
            <a:br>
              <a:rPr lang="en-US" b="1"/>
            </a:br>
            <a:r>
              <a:rPr lang="en-US" sz="2400" b="1">
                <a:solidFill>
                  <a:schemeClr val="accent2"/>
                </a:solidFill>
              </a:rPr>
              <a:t>ST vs Renesas Tests</a:t>
            </a:r>
          </a:p>
        </p:txBody>
      </p:sp>
      <p:sp>
        <p:nvSpPr>
          <p:cNvPr id="4" name="Rectangle 3">
            <a:extLst>
              <a:ext uri="{FF2B5EF4-FFF2-40B4-BE49-F238E27FC236}">
                <a16:creationId xmlns:a16="http://schemas.microsoft.com/office/drawing/2014/main" id="{2EE149B4-BC9A-F889-43A1-F555B6ADDB78}"/>
              </a:ext>
            </a:extLst>
          </p:cNvPr>
          <p:cNvSpPr/>
          <p:nvPr/>
        </p:nvSpPr>
        <p:spPr>
          <a:xfrm>
            <a:off x="300037" y="5560171"/>
            <a:ext cx="4816855" cy="5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endParaRPr lang="en-US" sz="1100" b="1">
              <a:solidFill>
                <a:schemeClr val="tx1"/>
              </a:solidFill>
            </a:endParaRPr>
          </a:p>
          <a:p>
            <a:r>
              <a:rPr lang="en-US" sz="1000">
                <a:solidFill>
                  <a:schemeClr val="tx1"/>
                </a:solidFill>
              </a:rPr>
              <a:t>Renesas uses more complex structures and sets more variables, which improves code readability but increases RAM usage.</a:t>
            </a:r>
            <a:br>
              <a:rPr lang="en-US" sz="1000">
                <a:solidFill>
                  <a:schemeClr val="tx1"/>
                </a:solidFill>
              </a:rPr>
            </a:br>
            <a:endParaRPr lang="en-US" sz="1000">
              <a:solidFill>
                <a:schemeClr val="tx1"/>
              </a:solidFill>
            </a:endParaRPr>
          </a:p>
        </p:txBody>
      </p:sp>
      <p:graphicFrame>
        <p:nvGraphicFramePr>
          <p:cNvPr id="5" name="Table 4">
            <a:extLst>
              <a:ext uri="{FF2B5EF4-FFF2-40B4-BE49-F238E27FC236}">
                <a16:creationId xmlns:a16="http://schemas.microsoft.com/office/drawing/2014/main" id="{9F503C96-920B-3C9A-B025-BFA08B8D860B}"/>
              </a:ext>
            </a:extLst>
          </p:cNvPr>
          <p:cNvGraphicFramePr>
            <a:graphicFrameLocks noGrp="1"/>
          </p:cNvGraphicFramePr>
          <p:nvPr>
            <p:extLst>
              <p:ext uri="{D42A27DB-BD31-4B8C-83A1-F6EECF244321}">
                <p14:modId xmlns:p14="http://schemas.microsoft.com/office/powerpoint/2010/main" val="2456663337"/>
              </p:ext>
            </p:extLst>
          </p:nvPr>
        </p:nvGraphicFramePr>
        <p:xfrm>
          <a:off x="300037" y="1877554"/>
          <a:ext cx="4816855" cy="1212345"/>
        </p:xfrm>
        <a:graphic>
          <a:graphicData uri="http://schemas.openxmlformats.org/drawingml/2006/table">
            <a:tbl>
              <a:tblPr firstRow="1" bandRow="1">
                <a:tableStyleId>{EB344D84-9AFB-497E-A393-DC336BA19D2E}</a:tableStyleId>
              </a:tblPr>
              <a:tblGrid>
                <a:gridCol w="810436">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1285556">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STM32H743ZI</a:t>
                      </a:r>
                    </a:p>
                  </a:txBody>
                  <a:tcPr/>
                </a:tc>
                <a:tc>
                  <a:txBody>
                    <a:bodyPr/>
                    <a:lstStyle/>
                    <a:p>
                      <a:pPr algn="ctr"/>
                      <a:r>
                        <a:rPr lang="en-US" sz="800"/>
                        <a:t>RA8M1</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Initialize</a:t>
                      </a:r>
                      <a:endParaRPr lang="en-US" sz="800">
                        <a:solidFill>
                          <a:schemeClr val="tx1"/>
                        </a:solidFill>
                      </a:endParaRPr>
                    </a:p>
                  </a:txBody>
                  <a:tcPr/>
                </a:tc>
                <a:tc>
                  <a:txBody>
                    <a:bodyPr/>
                    <a:lstStyle/>
                    <a:p>
                      <a:pPr algn="ctr"/>
                      <a:r>
                        <a:rPr lang="en-US" sz="800"/>
                        <a:t>258</a:t>
                      </a:r>
                    </a:p>
                  </a:txBody>
                  <a:tcPr/>
                </a:tc>
                <a:tc>
                  <a:txBody>
                    <a:bodyPr/>
                    <a:lstStyle/>
                    <a:p>
                      <a:pPr algn="ctr"/>
                      <a:r>
                        <a:rPr lang="en-US" sz="800"/>
                        <a:t>331</a:t>
                      </a:r>
                    </a:p>
                  </a:txBody>
                  <a:tcPr/>
                </a:tc>
                <a:tc>
                  <a:txBody>
                    <a:bodyPr/>
                    <a:lstStyle/>
                    <a:p>
                      <a:pPr algn="ctr"/>
                      <a:r>
                        <a:rPr lang="en-US" sz="800" b="1">
                          <a:solidFill>
                            <a:schemeClr val="accent5"/>
                          </a:solidFill>
                        </a:rPr>
                        <a:t>-22%</a:t>
                      </a:r>
                    </a:p>
                  </a:txBody>
                  <a:tcPr/>
                </a:tc>
                <a:tc>
                  <a:txBody>
                    <a:bodyPr/>
                    <a:lstStyle/>
                    <a:p>
                      <a:pPr algn="ctr"/>
                      <a:endParaRPr lang="en-US" sz="800"/>
                    </a:p>
                  </a:txBody>
                  <a:tcPr/>
                </a:tc>
                <a:extLst>
                  <a:ext uri="{0D108BD9-81ED-4DB2-BD59-A6C34878D82A}">
                    <a16:rowId xmlns:a16="http://schemas.microsoft.com/office/drawing/2014/main" val="1089852517"/>
                  </a:ext>
                </a:extLst>
              </a:tr>
              <a:tr h="242469">
                <a:tc>
                  <a:txBody>
                    <a:bodyPr/>
                    <a:lstStyle/>
                    <a:p>
                      <a:pPr algn="ctr"/>
                      <a:r>
                        <a:rPr lang="en-US" sz="800" b="1">
                          <a:solidFill>
                            <a:schemeClr val="tx1"/>
                          </a:solidFill>
                        </a:rPr>
                        <a:t>Create</a:t>
                      </a:r>
                      <a:endParaRPr lang="en-US" sz="800">
                        <a:solidFill>
                          <a:schemeClr val="tx1"/>
                        </a:solidFill>
                      </a:endParaRPr>
                    </a:p>
                  </a:txBody>
                  <a:tcPr/>
                </a:tc>
                <a:tc>
                  <a:txBody>
                    <a:bodyPr/>
                    <a:lstStyle/>
                    <a:p>
                      <a:pPr algn="ctr"/>
                      <a:r>
                        <a:rPr lang="en-US" sz="800"/>
                        <a:t>10 928</a:t>
                      </a:r>
                    </a:p>
                  </a:txBody>
                  <a:tcPr/>
                </a:tc>
                <a:tc>
                  <a:txBody>
                    <a:bodyPr/>
                    <a:lstStyle/>
                    <a:p>
                      <a:pPr algn="ctr"/>
                      <a:r>
                        <a:rPr lang="en-US" sz="800"/>
                        <a:t>12 015</a:t>
                      </a:r>
                    </a:p>
                  </a:txBody>
                  <a:tcPr/>
                </a:tc>
                <a:tc>
                  <a:txBody>
                    <a:bodyPr/>
                    <a:lstStyle/>
                    <a:p>
                      <a:pPr algn="ctr"/>
                      <a:r>
                        <a:rPr lang="en-US" sz="800" b="1">
                          <a:solidFill>
                            <a:schemeClr val="accent5"/>
                          </a:solidFill>
                        </a:rPr>
                        <a:t>-9%</a:t>
                      </a:r>
                    </a:p>
                  </a:txBody>
                  <a:tcPr/>
                </a:tc>
                <a:tc>
                  <a:txBody>
                    <a:bodyPr/>
                    <a:lstStyle/>
                    <a:p>
                      <a:pPr algn="ctr"/>
                      <a:endParaRPr lang="en-US" sz="800"/>
                    </a:p>
                  </a:txBody>
                  <a:tcPr/>
                </a:tc>
                <a:extLst>
                  <a:ext uri="{0D108BD9-81ED-4DB2-BD59-A6C34878D82A}">
                    <a16:rowId xmlns:a16="http://schemas.microsoft.com/office/drawing/2014/main" val="2065877290"/>
                  </a:ext>
                </a:extLst>
              </a:tr>
              <a:tr h="242469">
                <a:tc>
                  <a:txBody>
                    <a:bodyPr/>
                    <a:lstStyle/>
                    <a:p>
                      <a:pPr algn="ctr"/>
                      <a:r>
                        <a:rPr lang="en-US" sz="800" b="1">
                          <a:solidFill>
                            <a:schemeClr val="tx1"/>
                          </a:solidFill>
                        </a:rPr>
                        <a:t>Write</a:t>
                      </a:r>
                      <a:endParaRPr lang="en-US" sz="800">
                        <a:solidFill>
                          <a:schemeClr val="tx1"/>
                        </a:solidFill>
                      </a:endParaRPr>
                    </a:p>
                  </a:txBody>
                  <a:tcPr/>
                </a:tc>
                <a:tc>
                  <a:txBody>
                    <a:bodyPr/>
                    <a:lstStyle/>
                    <a:p>
                      <a:pPr algn="ctr"/>
                      <a:r>
                        <a:rPr lang="en-US" sz="800"/>
                        <a:t>1 374 020</a:t>
                      </a:r>
                    </a:p>
                  </a:txBody>
                  <a:tcPr/>
                </a:tc>
                <a:tc>
                  <a:txBody>
                    <a:bodyPr/>
                    <a:lstStyle/>
                    <a:p>
                      <a:pPr algn="ctr"/>
                      <a:r>
                        <a:rPr lang="en-US" sz="800"/>
                        <a:t>1 505 481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accent5"/>
                          </a:solidFill>
                        </a:rPr>
                        <a:t>-9%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p>
                  </a:txBody>
                  <a:tcPr/>
                </a:tc>
                <a:extLst>
                  <a:ext uri="{0D108BD9-81ED-4DB2-BD59-A6C34878D82A}">
                    <a16:rowId xmlns:a16="http://schemas.microsoft.com/office/drawing/2014/main" val="3217506885"/>
                  </a:ext>
                </a:extLst>
              </a:tr>
              <a:tr h="242469">
                <a:tc>
                  <a:txBody>
                    <a:bodyPr/>
                    <a:lstStyle/>
                    <a:p>
                      <a:pPr algn="ctr"/>
                      <a:r>
                        <a:rPr lang="en-US" sz="800" b="1">
                          <a:solidFill>
                            <a:schemeClr val="tx1"/>
                          </a:solidFill>
                        </a:rPr>
                        <a:t>Read</a:t>
                      </a:r>
                      <a:endParaRPr lang="en-US" sz="800">
                        <a:solidFill>
                          <a:schemeClr val="tx1"/>
                        </a:solidFill>
                      </a:endParaRPr>
                    </a:p>
                  </a:txBody>
                  <a:tcPr/>
                </a:tc>
                <a:tc>
                  <a:txBody>
                    <a:bodyPr/>
                    <a:lstStyle/>
                    <a:p>
                      <a:pPr algn="ctr"/>
                      <a:r>
                        <a:rPr lang="en-US" sz="800"/>
                        <a:t>4 906</a:t>
                      </a:r>
                    </a:p>
                  </a:txBody>
                  <a:tcPr/>
                </a:tc>
                <a:tc>
                  <a:txBody>
                    <a:bodyPr/>
                    <a:lstStyle/>
                    <a:p>
                      <a:pPr algn="ctr"/>
                      <a:r>
                        <a:rPr lang="en-US" sz="800"/>
                        <a:t>7 273</a:t>
                      </a:r>
                    </a:p>
                  </a:txBody>
                  <a:tcPr/>
                </a:tc>
                <a:tc>
                  <a:txBody>
                    <a:bodyPr/>
                    <a:lstStyle/>
                    <a:p>
                      <a:pPr algn="ctr"/>
                      <a:r>
                        <a:rPr lang="en-US" sz="800" b="1">
                          <a:solidFill>
                            <a:schemeClr val="accent5"/>
                          </a:solidFill>
                        </a:rPr>
                        <a:t>-33%</a:t>
                      </a:r>
                    </a:p>
                  </a:txBody>
                  <a:tcPr/>
                </a:tc>
                <a:tc>
                  <a:txBody>
                    <a:bodyPr/>
                    <a:lstStyle/>
                    <a:p>
                      <a:pPr algn="ctr"/>
                      <a:endParaRPr lang="en-US" sz="800"/>
                    </a:p>
                  </a:txBody>
                  <a:tcPr/>
                </a:tc>
                <a:extLst>
                  <a:ext uri="{0D108BD9-81ED-4DB2-BD59-A6C34878D82A}">
                    <a16:rowId xmlns:a16="http://schemas.microsoft.com/office/drawing/2014/main" val="3731594885"/>
                  </a:ext>
                </a:extLst>
              </a:tr>
            </a:tbl>
          </a:graphicData>
        </a:graphic>
      </p:graphicFrame>
      <p:sp>
        <p:nvSpPr>
          <p:cNvPr id="10" name="TextBox 9">
            <a:extLst>
              <a:ext uri="{FF2B5EF4-FFF2-40B4-BE49-F238E27FC236}">
                <a16:creationId xmlns:a16="http://schemas.microsoft.com/office/drawing/2014/main" id="{374FA79E-36D8-6B4A-2C9E-549816EFF6B2}"/>
              </a:ext>
            </a:extLst>
          </p:cNvPr>
          <p:cNvSpPr txBox="1"/>
          <p:nvPr/>
        </p:nvSpPr>
        <p:spPr>
          <a:xfrm>
            <a:off x="160345" y="1145202"/>
            <a:ext cx="4550655" cy="461665"/>
          </a:xfrm>
          <a:prstGeom prst="rect">
            <a:avLst/>
          </a:prstGeom>
          <a:noFill/>
        </p:spPr>
        <p:txBody>
          <a:bodyPr wrap="square" rtlCol="0">
            <a:spAutoFit/>
          </a:bodyPr>
          <a:lstStyle/>
          <a:p>
            <a:r>
              <a:rPr lang="en-US" sz="1400" b="1" dirty="0">
                <a:solidFill>
                  <a:srgbClr val="0070C0"/>
                </a:solidFill>
              </a:rPr>
              <a:t>BareMetal mode: Filex w/ SRAM internal memory</a:t>
            </a:r>
          </a:p>
          <a:p>
            <a:r>
              <a:rPr lang="en-US" sz="1000" b="1" dirty="0">
                <a:solidFill>
                  <a:srgbClr val="002060"/>
                </a:solidFill>
              </a:rPr>
              <a:t>STM32H743xx (CM7) vs RA8M1 (CM85)</a:t>
            </a:r>
          </a:p>
        </p:txBody>
      </p:sp>
      <p:sp>
        <p:nvSpPr>
          <p:cNvPr id="12" name="TextBox 11">
            <a:extLst>
              <a:ext uri="{FF2B5EF4-FFF2-40B4-BE49-F238E27FC236}">
                <a16:creationId xmlns:a16="http://schemas.microsoft.com/office/drawing/2014/main" id="{C4B95B88-67C7-2805-7E04-61B8A316D74C}"/>
              </a:ext>
            </a:extLst>
          </p:cNvPr>
          <p:cNvSpPr txBox="1"/>
          <p:nvPr/>
        </p:nvSpPr>
        <p:spPr>
          <a:xfrm>
            <a:off x="158500" y="1582041"/>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(CPU cycle)</a:t>
            </a:r>
          </a:p>
        </p:txBody>
      </p:sp>
      <p:sp>
        <p:nvSpPr>
          <p:cNvPr id="14" name="TextBox 13">
            <a:extLst>
              <a:ext uri="{FF2B5EF4-FFF2-40B4-BE49-F238E27FC236}">
                <a16:creationId xmlns:a16="http://schemas.microsoft.com/office/drawing/2014/main" id="{CDF80C61-08F0-0BCA-3091-2F1C2591606B}"/>
              </a:ext>
            </a:extLst>
          </p:cNvPr>
          <p:cNvSpPr txBox="1"/>
          <p:nvPr/>
        </p:nvSpPr>
        <p:spPr>
          <a:xfrm>
            <a:off x="229938" y="3864447"/>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cxnSp>
        <p:nvCxnSpPr>
          <p:cNvPr id="15" name="Straight Connector 14">
            <a:extLst>
              <a:ext uri="{FF2B5EF4-FFF2-40B4-BE49-F238E27FC236}">
                <a16:creationId xmlns:a16="http://schemas.microsoft.com/office/drawing/2014/main" id="{F742397C-2CC8-4880-8512-5E7F0476F3BE}"/>
              </a:ext>
            </a:extLst>
          </p:cNvPr>
          <p:cNvCxnSpPr>
            <a:cxnSpLocks/>
          </p:cNvCxnSpPr>
          <p:nvPr/>
        </p:nvCxnSpPr>
        <p:spPr>
          <a:xfrm>
            <a:off x="5745293" y="1136049"/>
            <a:ext cx="0" cy="5379339"/>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sp>
        <p:nvSpPr>
          <p:cNvPr id="16" name="TextBox 15">
            <a:extLst>
              <a:ext uri="{FF2B5EF4-FFF2-40B4-BE49-F238E27FC236}">
                <a16:creationId xmlns:a16="http://schemas.microsoft.com/office/drawing/2014/main" id="{2F294601-7C6A-A67E-358A-12E6DCB6EB6D}"/>
              </a:ext>
            </a:extLst>
          </p:cNvPr>
          <p:cNvSpPr txBox="1"/>
          <p:nvPr/>
        </p:nvSpPr>
        <p:spPr>
          <a:xfrm>
            <a:off x="5745293" y="1175682"/>
            <a:ext cx="3681836" cy="461665"/>
          </a:xfrm>
          <a:prstGeom prst="rect">
            <a:avLst/>
          </a:prstGeom>
          <a:noFill/>
        </p:spPr>
        <p:txBody>
          <a:bodyPr wrap="square" rtlCol="0">
            <a:spAutoFit/>
          </a:bodyPr>
          <a:lstStyle/>
          <a:p>
            <a:r>
              <a:rPr lang="en-US" sz="1400" b="1">
                <a:solidFill>
                  <a:srgbClr val="0070C0"/>
                </a:solidFill>
              </a:rPr>
              <a:t>RTOS mode: Filex w/ USB disk memory</a:t>
            </a:r>
          </a:p>
          <a:p>
            <a:r>
              <a:rPr lang="en-US" sz="1000" b="1">
                <a:solidFill>
                  <a:srgbClr val="002060"/>
                </a:solidFill>
              </a:rPr>
              <a:t>STM32H573xx (CM33) vs RA5M6 (CM33)</a:t>
            </a:r>
          </a:p>
        </p:txBody>
      </p:sp>
      <p:sp>
        <p:nvSpPr>
          <p:cNvPr id="17" name="Rectangle 16">
            <a:extLst>
              <a:ext uri="{FF2B5EF4-FFF2-40B4-BE49-F238E27FC236}">
                <a16:creationId xmlns:a16="http://schemas.microsoft.com/office/drawing/2014/main" id="{2F732C25-86D8-0770-5ADC-064346A924C5}"/>
              </a:ext>
            </a:extLst>
          </p:cNvPr>
          <p:cNvSpPr/>
          <p:nvPr/>
        </p:nvSpPr>
        <p:spPr>
          <a:xfrm>
            <a:off x="300036" y="3265646"/>
            <a:ext cx="4816855" cy="5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endParaRPr lang="en-US" sz="1100" b="1">
              <a:solidFill>
                <a:schemeClr val="tx1"/>
              </a:solidFill>
            </a:endParaRPr>
          </a:p>
          <a:p>
            <a:r>
              <a:rPr lang="en-US" sz="1000">
                <a:solidFill>
                  <a:schemeClr val="tx1"/>
                </a:solidFill>
              </a:rPr>
              <a:t>Although Renesas Cortex CM85 is more performer than STM32 Cortex CM7, STM32H7 is better than RA8M1 in file operations execution time w/ internal memory. </a:t>
            </a:r>
            <a:br>
              <a:rPr lang="en-US" sz="1000">
                <a:solidFill>
                  <a:schemeClr val="tx1"/>
                </a:solidFill>
              </a:rPr>
            </a:br>
            <a:endParaRPr lang="en-US" sz="1000">
              <a:solidFill>
                <a:schemeClr val="tx1"/>
              </a:solidFill>
            </a:endParaRPr>
          </a:p>
        </p:txBody>
      </p:sp>
      <p:graphicFrame>
        <p:nvGraphicFramePr>
          <p:cNvPr id="20" name="Table 19">
            <a:extLst>
              <a:ext uri="{FF2B5EF4-FFF2-40B4-BE49-F238E27FC236}">
                <a16:creationId xmlns:a16="http://schemas.microsoft.com/office/drawing/2014/main" id="{EA039CA4-61B6-BEB4-3419-7A2CEC43EC9A}"/>
              </a:ext>
            </a:extLst>
          </p:cNvPr>
          <p:cNvGraphicFramePr>
            <a:graphicFrameLocks noGrp="1"/>
          </p:cNvGraphicFramePr>
          <p:nvPr>
            <p:extLst>
              <p:ext uri="{D42A27DB-BD31-4B8C-83A1-F6EECF244321}">
                <p14:modId xmlns:p14="http://schemas.microsoft.com/office/powerpoint/2010/main" val="1078708102"/>
              </p:ext>
            </p:extLst>
          </p:nvPr>
        </p:nvGraphicFramePr>
        <p:xfrm>
          <a:off x="6060753" y="1877554"/>
          <a:ext cx="4816855" cy="1212345"/>
        </p:xfrm>
        <a:graphic>
          <a:graphicData uri="http://schemas.openxmlformats.org/drawingml/2006/table">
            <a:tbl>
              <a:tblPr firstRow="1" bandRow="1">
                <a:tableStyleId>{EB344D84-9AFB-497E-A393-DC336BA19D2E}</a:tableStyleId>
              </a:tblPr>
              <a:tblGrid>
                <a:gridCol w="810436">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1285556">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Initialize</a:t>
                      </a:r>
                      <a:endParaRPr lang="en-US" sz="8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315</a:t>
                      </a:r>
                    </a:p>
                  </a:txBody>
                  <a:tcPr/>
                </a:tc>
                <a:tc>
                  <a:txBody>
                    <a:bodyPr/>
                    <a:lstStyle/>
                    <a:p>
                      <a:pPr algn="ctr"/>
                      <a:r>
                        <a:rPr lang="en-US" sz="800"/>
                        <a:t>445</a:t>
                      </a:r>
                    </a:p>
                  </a:txBody>
                  <a:tcPr/>
                </a:tc>
                <a:tc>
                  <a:txBody>
                    <a:bodyPr/>
                    <a:lstStyle/>
                    <a:p>
                      <a:pPr algn="ctr"/>
                      <a:r>
                        <a:rPr lang="en-US" sz="800" b="1">
                          <a:solidFill>
                            <a:schemeClr val="accent5"/>
                          </a:solidFill>
                        </a:rPr>
                        <a:t>-29%</a:t>
                      </a:r>
                    </a:p>
                  </a:txBody>
                  <a:tcPr/>
                </a:tc>
                <a:tc>
                  <a:txBody>
                    <a:bodyPr/>
                    <a:lstStyle/>
                    <a:p>
                      <a:pPr algn="ctr"/>
                      <a:endParaRPr lang="en-US" sz="800"/>
                    </a:p>
                  </a:txBody>
                  <a:tcPr/>
                </a:tc>
                <a:extLst>
                  <a:ext uri="{0D108BD9-81ED-4DB2-BD59-A6C34878D82A}">
                    <a16:rowId xmlns:a16="http://schemas.microsoft.com/office/drawing/2014/main" val="1089852517"/>
                  </a:ext>
                </a:extLst>
              </a:tr>
              <a:tr h="242469">
                <a:tc>
                  <a:txBody>
                    <a:bodyPr/>
                    <a:lstStyle/>
                    <a:p>
                      <a:pPr algn="ctr"/>
                      <a:r>
                        <a:rPr lang="en-US" sz="800" b="1">
                          <a:solidFill>
                            <a:schemeClr val="tx1"/>
                          </a:solidFill>
                        </a:rPr>
                        <a:t>Create</a:t>
                      </a:r>
                      <a:endParaRPr lang="en-US" sz="800">
                        <a:solidFill>
                          <a:schemeClr val="tx1"/>
                        </a:solidFill>
                      </a:endParaRPr>
                    </a:p>
                  </a:txBody>
                  <a:tcPr/>
                </a:tc>
                <a:tc>
                  <a:txBody>
                    <a:bodyPr/>
                    <a:lstStyle/>
                    <a:p>
                      <a:pPr algn="ctr"/>
                      <a:r>
                        <a:rPr lang="en-US" sz="800"/>
                        <a:t>400 705</a:t>
                      </a:r>
                    </a:p>
                  </a:txBody>
                  <a:tcPr/>
                </a:tc>
                <a:tc>
                  <a:txBody>
                    <a:bodyPr/>
                    <a:lstStyle/>
                    <a:p>
                      <a:pPr algn="ctr"/>
                      <a:r>
                        <a:rPr lang="en-US" sz="800"/>
                        <a:t>213 446</a:t>
                      </a:r>
                    </a:p>
                  </a:txBody>
                  <a:tcPr/>
                </a:tc>
                <a:tc>
                  <a:txBody>
                    <a:bodyPr/>
                    <a:lstStyle/>
                    <a:p>
                      <a:pPr algn="ctr"/>
                      <a:r>
                        <a:rPr lang="en-US" sz="800" b="1">
                          <a:solidFill>
                            <a:srgbClr val="FF0000"/>
                          </a:solidFill>
                        </a:rPr>
                        <a:t>+88%</a:t>
                      </a:r>
                    </a:p>
                  </a:txBody>
                  <a:tcPr/>
                </a:tc>
                <a:tc>
                  <a:txBody>
                    <a:bodyPr/>
                    <a:lstStyle/>
                    <a:p>
                      <a:pPr algn="ctr"/>
                      <a:endParaRPr lang="en-US" sz="800"/>
                    </a:p>
                  </a:txBody>
                  <a:tcPr/>
                </a:tc>
                <a:extLst>
                  <a:ext uri="{0D108BD9-81ED-4DB2-BD59-A6C34878D82A}">
                    <a16:rowId xmlns:a16="http://schemas.microsoft.com/office/drawing/2014/main" val="2065877290"/>
                  </a:ext>
                </a:extLst>
              </a:tr>
              <a:tr h="242469">
                <a:tc>
                  <a:txBody>
                    <a:bodyPr/>
                    <a:lstStyle/>
                    <a:p>
                      <a:pPr algn="ctr"/>
                      <a:r>
                        <a:rPr lang="en-US" sz="800" b="1">
                          <a:solidFill>
                            <a:schemeClr val="tx1"/>
                          </a:solidFill>
                        </a:rPr>
                        <a:t>Write</a:t>
                      </a:r>
                      <a:endParaRPr lang="en-US" sz="800">
                        <a:solidFill>
                          <a:schemeClr val="tx1"/>
                        </a:solidFill>
                      </a:endParaRPr>
                    </a:p>
                  </a:txBody>
                  <a:tcPr/>
                </a:tc>
                <a:tc>
                  <a:txBody>
                    <a:bodyPr/>
                    <a:lstStyle/>
                    <a:p>
                      <a:pPr algn="ctr"/>
                      <a:r>
                        <a:rPr lang="en-US" sz="800"/>
                        <a:t>56 294 806</a:t>
                      </a:r>
                    </a:p>
                  </a:txBody>
                  <a:tcPr/>
                </a:tc>
                <a:tc>
                  <a:txBody>
                    <a:bodyPr/>
                    <a:lstStyle/>
                    <a:p>
                      <a:pPr algn="ctr"/>
                      <a:r>
                        <a:rPr lang="en-US" sz="800"/>
                        <a:t>40 184 333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rgbClr val="FF0000"/>
                          </a:solidFill>
                        </a:rPr>
                        <a:t>+41%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p>
                  </a:txBody>
                  <a:tcPr/>
                </a:tc>
                <a:extLst>
                  <a:ext uri="{0D108BD9-81ED-4DB2-BD59-A6C34878D82A}">
                    <a16:rowId xmlns:a16="http://schemas.microsoft.com/office/drawing/2014/main" val="3217506885"/>
                  </a:ext>
                </a:extLst>
              </a:tr>
              <a:tr h="242469">
                <a:tc>
                  <a:txBody>
                    <a:bodyPr/>
                    <a:lstStyle/>
                    <a:p>
                      <a:pPr algn="ctr"/>
                      <a:r>
                        <a:rPr lang="en-US" sz="800" b="1">
                          <a:solidFill>
                            <a:schemeClr val="tx1"/>
                          </a:solidFill>
                        </a:rPr>
                        <a:t>Read</a:t>
                      </a:r>
                      <a:endParaRPr lang="en-US" sz="800">
                        <a:solidFill>
                          <a:schemeClr val="tx1"/>
                        </a:solidFill>
                      </a:endParaRPr>
                    </a:p>
                  </a:txBody>
                  <a:tcPr/>
                </a:tc>
                <a:tc>
                  <a:txBody>
                    <a:bodyPr/>
                    <a:lstStyle/>
                    <a:p>
                      <a:pPr algn="ctr"/>
                      <a:r>
                        <a:rPr lang="en-US" sz="800"/>
                        <a:t>3 996 239</a:t>
                      </a:r>
                    </a:p>
                  </a:txBody>
                  <a:tcPr/>
                </a:tc>
                <a:tc>
                  <a:txBody>
                    <a:bodyPr/>
                    <a:lstStyle/>
                    <a:p>
                      <a:pPr algn="ctr"/>
                      <a:r>
                        <a:rPr lang="en-US" sz="800"/>
                        <a:t>3 917 021</a:t>
                      </a:r>
                    </a:p>
                  </a:txBody>
                  <a:tcPr/>
                </a:tc>
                <a:tc>
                  <a:txBody>
                    <a:bodyPr/>
                    <a:lstStyle/>
                    <a:p>
                      <a:pPr algn="ctr"/>
                      <a:r>
                        <a:rPr lang="en-US" sz="800" b="1">
                          <a:solidFill>
                            <a:srgbClr val="FFC000"/>
                          </a:solidFill>
                        </a:rPr>
                        <a:t>+2%</a:t>
                      </a:r>
                    </a:p>
                  </a:txBody>
                  <a:tcPr/>
                </a:tc>
                <a:tc>
                  <a:txBody>
                    <a:bodyPr/>
                    <a:lstStyle/>
                    <a:p>
                      <a:pPr algn="l"/>
                      <a:r>
                        <a:rPr lang="en-US" sz="800"/>
                        <a:t>Almost equal</a:t>
                      </a:r>
                    </a:p>
                  </a:txBody>
                  <a:tcPr/>
                </a:tc>
                <a:extLst>
                  <a:ext uri="{0D108BD9-81ED-4DB2-BD59-A6C34878D82A}">
                    <a16:rowId xmlns:a16="http://schemas.microsoft.com/office/drawing/2014/main" val="3731594885"/>
                  </a:ext>
                </a:extLst>
              </a:tr>
            </a:tbl>
          </a:graphicData>
        </a:graphic>
      </p:graphicFrame>
      <p:sp>
        <p:nvSpPr>
          <p:cNvPr id="21" name="TextBox 20">
            <a:extLst>
              <a:ext uri="{FF2B5EF4-FFF2-40B4-BE49-F238E27FC236}">
                <a16:creationId xmlns:a16="http://schemas.microsoft.com/office/drawing/2014/main" id="{C4FA4920-8FC1-1B26-3510-4008936BCA24}"/>
              </a:ext>
            </a:extLst>
          </p:cNvPr>
          <p:cNvSpPr txBox="1"/>
          <p:nvPr/>
        </p:nvSpPr>
        <p:spPr>
          <a:xfrm>
            <a:off x="5919216" y="1582041"/>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(CPU cycle)</a:t>
            </a:r>
          </a:p>
        </p:txBody>
      </p:sp>
      <p:graphicFrame>
        <p:nvGraphicFramePr>
          <p:cNvPr id="22" name="Table 21">
            <a:extLst>
              <a:ext uri="{FF2B5EF4-FFF2-40B4-BE49-F238E27FC236}">
                <a16:creationId xmlns:a16="http://schemas.microsoft.com/office/drawing/2014/main" id="{1C401BD0-C729-9247-132F-302A89E9E1B2}"/>
              </a:ext>
            </a:extLst>
          </p:cNvPr>
          <p:cNvGraphicFramePr>
            <a:graphicFrameLocks noGrp="1"/>
          </p:cNvGraphicFramePr>
          <p:nvPr>
            <p:extLst>
              <p:ext uri="{D42A27DB-BD31-4B8C-83A1-F6EECF244321}">
                <p14:modId xmlns:p14="http://schemas.microsoft.com/office/powerpoint/2010/main" val="2847945817"/>
              </p:ext>
            </p:extLst>
          </p:nvPr>
        </p:nvGraphicFramePr>
        <p:xfrm>
          <a:off x="5989315" y="4222239"/>
          <a:ext cx="4816855" cy="969876"/>
        </p:xfrm>
        <a:graphic>
          <a:graphicData uri="http://schemas.openxmlformats.org/drawingml/2006/table">
            <a:tbl>
              <a:tblPr firstRow="1" bandRow="1">
                <a:tableStyleId>{EB344D84-9AFB-497E-A393-DC336BA19D2E}</a:tableStyleId>
              </a:tblPr>
              <a:tblGrid>
                <a:gridCol w="810436">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1285556">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marL="0" algn="l" defTabSz="914400" rtl="0" eaLnBrk="1" latinLnBrk="0" hangingPunct="1">
                        <a:buNone/>
                      </a:pPr>
                      <a:r>
                        <a:rPr lang="en-US" sz="800" b="1" kern="1200" dirty="0">
                          <a:solidFill>
                            <a:schemeClr val="dk1"/>
                          </a:solidFill>
                          <a:latin typeface="+mn-lt"/>
                          <a:ea typeface="+mn-ea"/>
                          <a:cs typeface="+mn-cs"/>
                        </a:rPr>
                        <a:t>ROM</a:t>
                      </a:r>
                    </a:p>
                  </a:txBody>
                  <a:tcPr marL="50800" marR="50800" marT="12700" marB="12700" anchor="ctr"/>
                </a:tc>
                <a:tc>
                  <a:txBody>
                    <a:bodyPr/>
                    <a:lstStyle/>
                    <a:p>
                      <a:pPr algn="r">
                        <a:buNone/>
                      </a:pPr>
                      <a:r>
                        <a:rPr lang="en-US" sz="800" kern="1200">
                          <a:solidFill>
                            <a:schemeClr val="dk1"/>
                          </a:solidFill>
                          <a:latin typeface="+mn-lt"/>
                          <a:ea typeface="+mn-ea"/>
                          <a:cs typeface="+mn-cs"/>
                        </a:rPr>
                        <a:t>80 383</a:t>
                      </a:r>
                    </a:p>
                  </a:txBody>
                  <a:tcPr marL="50800" marR="50800" marT="12700" marB="12700" anchor="ctr"/>
                </a:tc>
                <a:tc>
                  <a:txBody>
                    <a:bodyPr/>
                    <a:lstStyle/>
                    <a:p>
                      <a:pPr algn="r">
                        <a:buNone/>
                      </a:pPr>
                      <a:r>
                        <a:rPr lang="en-US" sz="800" kern="1200">
                          <a:solidFill>
                            <a:schemeClr val="dk1"/>
                          </a:solidFill>
                          <a:latin typeface="+mn-lt"/>
                          <a:ea typeface="+mn-ea"/>
                          <a:cs typeface="+mn-cs"/>
                        </a:rPr>
                        <a:t>111 036</a:t>
                      </a:r>
                    </a:p>
                  </a:txBody>
                  <a:tcPr marL="50800" marR="50800" marT="12700" marB="12700" anchor="ctr"/>
                </a:tc>
                <a:tc>
                  <a:txBody>
                    <a:bodyPr/>
                    <a:lstStyle/>
                    <a:p>
                      <a:pPr algn="ctr">
                        <a:buNone/>
                      </a:pPr>
                      <a:r>
                        <a:rPr lang="en-US" sz="800" b="1" kern="1200" dirty="0">
                          <a:solidFill>
                            <a:srgbClr val="00B050"/>
                          </a:solidFill>
                          <a:latin typeface="+mn-lt"/>
                          <a:ea typeface="+mn-ea"/>
                          <a:cs typeface="+mn-cs"/>
                        </a:rPr>
                        <a:t>-28%</a:t>
                      </a:r>
                    </a:p>
                  </a:txBody>
                  <a:tcPr marL="50800" marR="50800" marT="12700" marB="12700" anchor="ctr"/>
                </a:tc>
                <a:tc>
                  <a:txBody>
                    <a:bodyPr/>
                    <a:lstStyle/>
                    <a:p>
                      <a:pPr algn="ctr"/>
                      <a:endParaRPr lang="en-US" sz="800" kern="1200" dirty="0">
                        <a:solidFill>
                          <a:schemeClr val="dk1"/>
                        </a:solidFill>
                        <a:latin typeface="+mn-lt"/>
                        <a:ea typeface="+mn-ea"/>
                        <a:cs typeface="+mn-cs"/>
                      </a:endParaRPr>
                    </a:p>
                  </a:txBody>
                  <a:tcPr/>
                </a:tc>
                <a:extLst>
                  <a:ext uri="{0D108BD9-81ED-4DB2-BD59-A6C34878D82A}">
                    <a16:rowId xmlns:a16="http://schemas.microsoft.com/office/drawing/2014/main" val="2065877290"/>
                  </a:ext>
                </a:extLst>
              </a:tr>
              <a:tr h="242469">
                <a:tc>
                  <a:txBody>
                    <a:bodyPr/>
                    <a:lstStyle/>
                    <a:p>
                      <a:pPr marL="0" algn="l" defTabSz="914400" rtl="0" eaLnBrk="1" latinLnBrk="0" hangingPunct="1">
                        <a:buNone/>
                      </a:pPr>
                      <a:r>
                        <a:rPr lang="en-US" sz="800" b="1" kern="1200" dirty="0">
                          <a:solidFill>
                            <a:schemeClr val="dk1"/>
                          </a:solidFill>
                          <a:latin typeface="+mn-lt"/>
                          <a:ea typeface="+mn-ea"/>
                          <a:cs typeface="+mn-cs"/>
                        </a:rPr>
                        <a:t>RAM</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r">
                        <a:buNone/>
                      </a:pPr>
                      <a:r>
                        <a:rPr lang="en-US" sz="800" kern="1200" dirty="0">
                          <a:solidFill>
                            <a:schemeClr val="dk1"/>
                          </a:solidFill>
                          <a:latin typeface="+mn-lt"/>
                          <a:ea typeface="+mn-ea"/>
                          <a:cs typeface="+mn-cs"/>
                        </a:rPr>
                        <a:t>108 109</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r">
                        <a:buNone/>
                      </a:pPr>
                      <a:r>
                        <a:rPr lang="en-US" sz="800" kern="1200" dirty="0">
                          <a:solidFill>
                            <a:schemeClr val="dk1"/>
                          </a:solidFill>
                          <a:latin typeface="+mn-lt"/>
                          <a:ea typeface="+mn-ea"/>
                          <a:cs typeface="+mn-cs"/>
                        </a:rPr>
                        <a:t>142 928</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ctr">
                        <a:buNone/>
                      </a:pPr>
                      <a:r>
                        <a:rPr lang="en-US" sz="800" b="1" kern="1200" dirty="0">
                          <a:solidFill>
                            <a:srgbClr val="00B050"/>
                          </a:solidFill>
                          <a:latin typeface="+mn-lt"/>
                          <a:ea typeface="+mn-ea"/>
                          <a:cs typeface="+mn-cs"/>
                        </a:rPr>
                        <a:t>-24%</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kern="1200" dirty="0">
                        <a:solidFill>
                          <a:schemeClr val="dk1"/>
                        </a:solidFill>
                        <a:latin typeface="+mn-lt"/>
                        <a:ea typeface="+mn-ea"/>
                        <a:cs typeface="+mn-cs"/>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42469">
                <a:tc>
                  <a:txBody>
                    <a:bodyPr/>
                    <a:lstStyle/>
                    <a:p>
                      <a:pPr marL="0" algn="l" defTabSz="914400" rtl="0" eaLnBrk="1" latinLnBrk="0" hangingPunct="1">
                        <a:buNone/>
                      </a:pPr>
                      <a:r>
                        <a:rPr lang="en-US" sz="800" b="1" kern="1200" dirty="0">
                          <a:solidFill>
                            <a:schemeClr val="dk1"/>
                          </a:solidFill>
                          <a:latin typeface="+mn-lt"/>
                          <a:ea typeface="+mn-ea"/>
                          <a:cs typeface="+mn-cs"/>
                        </a:rPr>
                        <a:t>Total</a:t>
                      </a:r>
                    </a:p>
                  </a:txBody>
                  <a:tcPr marL="50800" marR="508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US" sz="800" kern="1200" dirty="0">
                          <a:solidFill>
                            <a:schemeClr val="dk1"/>
                          </a:solidFill>
                          <a:latin typeface="+mn-lt"/>
                          <a:ea typeface="+mn-ea"/>
                          <a:cs typeface="+mn-cs"/>
                        </a:rPr>
                        <a:t>188 492</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US" sz="800" kern="1200" dirty="0">
                          <a:solidFill>
                            <a:schemeClr val="dk1"/>
                          </a:solidFill>
                          <a:latin typeface="+mn-lt"/>
                          <a:ea typeface="+mn-ea"/>
                          <a:cs typeface="+mn-cs"/>
                        </a:rPr>
                        <a:t>253 959</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kern="1200" dirty="0">
                          <a:solidFill>
                            <a:srgbClr val="00B050"/>
                          </a:solidFill>
                          <a:latin typeface="+mn-lt"/>
                          <a:ea typeface="+mn-ea"/>
                          <a:cs typeface="+mn-cs"/>
                        </a:rPr>
                        <a:t>-26%</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800" kern="1200" dirty="0">
                        <a:solidFill>
                          <a:schemeClr val="dk1"/>
                        </a:solidFill>
                        <a:latin typeface="+mn-lt"/>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23" name="TextBox 22">
            <a:extLst>
              <a:ext uri="{FF2B5EF4-FFF2-40B4-BE49-F238E27FC236}">
                <a16:creationId xmlns:a16="http://schemas.microsoft.com/office/drawing/2014/main" id="{4F89A62D-0365-8B9F-B9CB-717C8E8C5438}"/>
              </a:ext>
            </a:extLst>
          </p:cNvPr>
          <p:cNvSpPr txBox="1"/>
          <p:nvPr/>
        </p:nvSpPr>
        <p:spPr>
          <a:xfrm>
            <a:off x="5919216" y="3864447"/>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sp>
        <p:nvSpPr>
          <p:cNvPr id="26" name="Rectangle 25">
            <a:extLst>
              <a:ext uri="{FF2B5EF4-FFF2-40B4-BE49-F238E27FC236}">
                <a16:creationId xmlns:a16="http://schemas.microsoft.com/office/drawing/2014/main" id="{B76207B9-9831-1C3F-2F3F-B71FD798AC50}"/>
              </a:ext>
            </a:extLst>
          </p:cNvPr>
          <p:cNvSpPr/>
          <p:nvPr/>
        </p:nvSpPr>
        <p:spPr>
          <a:xfrm>
            <a:off x="6060754" y="3265646"/>
            <a:ext cx="4816854" cy="5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endParaRPr lang="en-US" sz="1100" b="1">
              <a:solidFill>
                <a:schemeClr val="tx1"/>
              </a:solidFill>
            </a:endParaRPr>
          </a:p>
          <a:p>
            <a:r>
              <a:rPr lang="en-US" sz="1000">
                <a:solidFill>
                  <a:schemeClr val="tx1"/>
                </a:solidFill>
              </a:rPr>
              <a:t>Although ST and Renesas products have the same Cortex CM33, Renesas is better performing w/ external memory than ST.</a:t>
            </a:r>
          </a:p>
          <a:p>
            <a:br>
              <a:rPr lang="en-US" sz="1000"/>
            </a:br>
            <a:endParaRPr lang="en-US" sz="1000">
              <a:solidFill>
                <a:srgbClr val="002060"/>
              </a:solidFill>
            </a:endParaRPr>
          </a:p>
        </p:txBody>
      </p:sp>
      <p:sp>
        <p:nvSpPr>
          <p:cNvPr id="29" name="Rectangle 28">
            <a:extLst>
              <a:ext uri="{FF2B5EF4-FFF2-40B4-BE49-F238E27FC236}">
                <a16:creationId xmlns:a16="http://schemas.microsoft.com/office/drawing/2014/main" id="{520AC7CC-B6CA-132F-5398-38E932FE8FEE}"/>
              </a:ext>
            </a:extLst>
          </p:cNvPr>
          <p:cNvSpPr/>
          <p:nvPr/>
        </p:nvSpPr>
        <p:spPr>
          <a:xfrm>
            <a:off x="5989315" y="5560171"/>
            <a:ext cx="4816855" cy="5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Renesas uses more complex structures and sets more variables, which improves code readability but increases RAM usage.</a:t>
            </a:r>
            <a:br>
              <a:rPr lang="en-US" sz="1000">
                <a:solidFill>
                  <a:schemeClr val="tx1"/>
                </a:solidFill>
              </a:rPr>
            </a:br>
            <a:endParaRPr lang="en-US" sz="1000">
              <a:solidFill>
                <a:schemeClr val="tx1"/>
              </a:solidFill>
            </a:endParaRPr>
          </a:p>
        </p:txBody>
      </p:sp>
      <p:graphicFrame>
        <p:nvGraphicFramePr>
          <p:cNvPr id="3" name="Table 2">
            <a:extLst>
              <a:ext uri="{FF2B5EF4-FFF2-40B4-BE49-F238E27FC236}">
                <a16:creationId xmlns:a16="http://schemas.microsoft.com/office/drawing/2014/main" id="{EBB43DE4-EB1C-33D7-8053-9A6DE0A57317}"/>
              </a:ext>
            </a:extLst>
          </p:cNvPr>
          <p:cNvGraphicFramePr>
            <a:graphicFrameLocks noGrp="1"/>
          </p:cNvGraphicFramePr>
          <p:nvPr>
            <p:extLst>
              <p:ext uri="{D42A27DB-BD31-4B8C-83A1-F6EECF244321}">
                <p14:modId xmlns:p14="http://schemas.microsoft.com/office/powerpoint/2010/main" val="235226263"/>
              </p:ext>
            </p:extLst>
          </p:nvPr>
        </p:nvGraphicFramePr>
        <p:xfrm>
          <a:off x="300035" y="4153750"/>
          <a:ext cx="4816855" cy="971410"/>
        </p:xfrm>
        <a:graphic>
          <a:graphicData uri="http://schemas.openxmlformats.org/drawingml/2006/table">
            <a:tbl>
              <a:tblPr firstRow="1" bandRow="1">
                <a:tableStyleId>{EB344D84-9AFB-497E-A393-DC336BA19D2E}</a:tableStyleId>
              </a:tblPr>
              <a:tblGrid>
                <a:gridCol w="810436">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1285556">
                  <a:extLst>
                    <a:ext uri="{9D8B030D-6E8A-4147-A177-3AD203B41FA5}">
                      <a16:colId xmlns:a16="http://schemas.microsoft.com/office/drawing/2014/main" val="4253733116"/>
                    </a:ext>
                  </a:extLst>
                </a:gridCol>
              </a:tblGrid>
              <a:tr h="244003">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STM32H743ZI</a:t>
                      </a:r>
                    </a:p>
                  </a:txBody>
                  <a:tcPr/>
                </a:tc>
                <a:tc>
                  <a:txBody>
                    <a:bodyPr/>
                    <a:lstStyle/>
                    <a:p>
                      <a:pPr algn="ctr"/>
                      <a:r>
                        <a:rPr lang="en-US" sz="800"/>
                        <a:t>RA8M1</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marL="0" algn="l" defTabSz="914400" rtl="0" eaLnBrk="1" latinLnBrk="0" hangingPunct="1">
                        <a:buNone/>
                      </a:pPr>
                      <a:r>
                        <a:rPr lang="en-US" sz="800" b="1" kern="1200" dirty="0">
                          <a:solidFill>
                            <a:schemeClr val="dk1"/>
                          </a:solidFill>
                          <a:latin typeface="+mn-lt"/>
                          <a:ea typeface="+mn-ea"/>
                          <a:cs typeface="+mn-cs"/>
                        </a:rPr>
                        <a:t>ROM</a:t>
                      </a:r>
                    </a:p>
                  </a:txBody>
                  <a:tcPr marL="50800" marR="50800" marT="12700" marB="12700" anchor="ctr"/>
                </a:tc>
                <a:tc>
                  <a:txBody>
                    <a:bodyPr/>
                    <a:lstStyle/>
                    <a:p>
                      <a:pPr marL="0" algn="ctr" defTabSz="914400" rtl="0" eaLnBrk="1" latinLnBrk="0" hangingPunct="1">
                        <a:buNone/>
                      </a:pPr>
                      <a:r>
                        <a:rPr lang="en-US" sz="800" kern="1200">
                          <a:solidFill>
                            <a:schemeClr val="dk1"/>
                          </a:solidFill>
                          <a:latin typeface="+mn-lt"/>
                          <a:ea typeface="+mn-ea"/>
                          <a:cs typeface="+mn-cs"/>
                        </a:rPr>
                        <a:t>21 904</a:t>
                      </a:r>
                    </a:p>
                  </a:txBody>
                  <a:tcPr marL="50800" marR="50800" marT="12700" marB="12700" anchor="ctr"/>
                </a:tc>
                <a:tc>
                  <a:txBody>
                    <a:bodyPr/>
                    <a:lstStyle/>
                    <a:p>
                      <a:pPr marL="0" algn="ctr" defTabSz="914400" rtl="0" eaLnBrk="1" latinLnBrk="0" hangingPunct="1">
                        <a:buNone/>
                      </a:pPr>
                      <a:r>
                        <a:rPr lang="en-US" sz="800" kern="1200" dirty="0">
                          <a:solidFill>
                            <a:schemeClr val="dk1"/>
                          </a:solidFill>
                          <a:latin typeface="+mn-lt"/>
                          <a:ea typeface="+mn-ea"/>
                          <a:cs typeface="+mn-cs"/>
                        </a:rPr>
                        <a:t>19 356</a:t>
                      </a:r>
                    </a:p>
                  </a:txBody>
                  <a:tcPr marL="50800" marR="50800" marT="12700" marB="12700" anchor="ctr"/>
                </a:tc>
                <a:tc>
                  <a:txBody>
                    <a:bodyPr/>
                    <a:lstStyle/>
                    <a:p>
                      <a:pPr marL="0" algn="ctr" defTabSz="914400" rtl="0" eaLnBrk="1" latinLnBrk="0" hangingPunct="1">
                        <a:buNone/>
                      </a:pPr>
                      <a:r>
                        <a:rPr lang="en-US" sz="800" b="1" kern="1200" dirty="0">
                          <a:solidFill>
                            <a:srgbClr val="FF0000"/>
                          </a:solidFill>
                          <a:latin typeface="+mn-lt"/>
                          <a:ea typeface="+mn-ea"/>
                          <a:cs typeface="+mn-cs"/>
                        </a:rPr>
                        <a:t>+13%</a:t>
                      </a:r>
                    </a:p>
                  </a:txBody>
                  <a:tcPr marL="50800" marR="50800" marT="12700" marB="12700" anchor="ctr"/>
                </a:tc>
                <a:tc>
                  <a:txBody>
                    <a:bodyPr/>
                    <a:lstStyle/>
                    <a:p>
                      <a:pPr algn="ctr"/>
                      <a:endParaRPr lang="en-US" sz="800" dirty="0"/>
                    </a:p>
                  </a:txBody>
                  <a:tcPr/>
                </a:tc>
                <a:extLst>
                  <a:ext uri="{0D108BD9-81ED-4DB2-BD59-A6C34878D82A}">
                    <a16:rowId xmlns:a16="http://schemas.microsoft.com/office/drawing/2014/main" val="2065877290"/>
                  </a:ext>
                </a:extLst>
              </a:tr>
              <a:tr h="242469">
                <a:tc>
                  <a:txBody>
                    <a:bodyPr/>
                    <a:lstStyle/>
                    <a:p>
                      <a:pPr marL="0" algn="l" defTabSz="914400" rtl="0" eaLnBrk="1" latinLnBrk="0" hangingPunct="1">
                        <a:buNone/>
                      </a:pPr>
                      <a:r>
                        <a:rPr lang="en-US" sz="800" b="1" kern="1200" dirty="0">
                          <a:solidFill>
                            <a:schemeClr val="dk1"/>
                          </a:solidFill>
                          <a:latin typeface="+mn-lt"/>
                          <a:ea typeface="+mn-ea"/>
                          <a:cs typeface="+mn-cs"/>
                        </a:rPr>
                        <a:t>RAM</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kern="1200" dirty="0">
                          <a:solidFill>
                            <a:schemeClr val="dk1"/>
                          </a:solidFill>
                          <a:latin typeface="+mn-lt"/>
                          <a:ea typeface="+mn-ea"/>
                          <a:cs typeface="+mn-cs"/>
                        </a:rPr>
                        <a:t>11 548</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kern="1200" dirty="0">
                          <a:solidFill>
                            <a:schemeClr val="dk1"/>
                          </a:solidFill>
                          <a:latin typeface="+mn-lt"/>
                          <a:ea typeface="+mn-ea"/>
                          <a:cs typeface="+mn-cs"/>
                        </a:rPr>
                        <a:t>29 808</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b="1" kern="1200" dirty="0">
                          <a:solidFill>
                            <a:srgbClr val="00B050"/>
                          </a:solidFill>
                          <a:latin typeface="+mn-lt"/>
                          <a:ea typeface="+mn-ea"/>
                          <a:cs typeface="+mn-cs"/>
                        </a:rPr>
                        <a:t>-61%</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42469">
                <a:tc>
                  <a:txBody>
                    <a:bodyPr/>
                    <a:lstStyle/>
                    <a:p>
                      <a:pPr marL="0" algn="l" defTabSz="914400" rtl="0" eaLnBrk="1" latinLnBrk="0" hangingPunct="1">
                        <a:buNone/>
                      </a:pPr>
                      <a:r>
                        <a:rPr lang="en-US" sz="800" b="1" kern="1200" dirty="0">
                          <a:solidFill>
                            <a:schemeClr val="dk1"/>
                          </a:solidFill>
                          <a:latin typeface="+mn-lt"/>
                          <a:ea typeface="+mn-ea"/>
                          <a:cs typeface="+mn-cs"/>
                        </a:rPr>
                        <a:t>Total</a:t>
                      </a:r>
                    </a:p>
                  </a:txBody>
                  <a:tcPr marL="50800" marR="508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kern="1200">
                          <a:solidFill>
                            <a:schemeClr val="dk1"/>
                          </a:solidFill>
                          <a:latin typeface="+mn-lt"/>
                          <a:ea typeface="+mn-ea"/>
                          <a:cs typeface="+mn-cs"/>
                        </a:rPr>
                        <a:t>33 452</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kern="1200" dirty="0">
                          <a:solidFill>
                            <a:schemeClr val="dk1"/>
                          </a:solidFill>
                          <a:latin typeface="+mn-lt"/>
                          <a:ea typeface="+mn-ea"/>
                          <a:cs typeface="+mn-cs"/>
                        </a:rPr>
                        <a:t>49 164</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b="1" kern="1200" dirty="0">
                          <a:solidFill>
                            <a:srgbClr val="00B050"/>
                          </a:solidFill>
                          <a:latin typeface="+mn-lt"/>
                          <a:ea typeface="+mn-ea"/>
                          <a:cs typeface="+mn-cs"/>
                        </a:rPr>
                        <a:t>-32%</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8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7" name="Slide Number Placeholder 6">
            <a:extLst>
              <a:ext uri="{FF2B5EF4-FFF2-40B4-BE49-F238E27FC236}">
                <a16:creationId xmlns:a16="http://schemas.microsoft.com/office/drawing/2014/main" id="{E9062C6A-62FC-D19B-E383-1BFAE661A9FE}"/>
              </a:ext>
            </a:extLst>
          </p:cNvPr>
          <p:cNvSpPr>
            <a:spLocks noGrp="1"/>
          </p:cNvSpPr>
          <p:nvPr>
            <p:ph type="sldNum" sz="quarter" idx="12"/>
          </p:nvPr>
        </p:nvSpPr>
        <p:spPr/>
        <p:txBody>
          <a:bodyPr/>
          <a:lstStyle/>
          <a:p>
            <a:fld id="{40A7B169-58CE-4E65-B1F9-ACF9E46440C2}" type="slidenum">
              <a:rPr lang="en-US" smtClean="0"/>
              <a:t>14</a:t>
            </a:fld>
            <a:endParaRPr lang="en-US"/>
          </a:p>
        </p:txBody>
      </p:sp>
    </p:spTree>
    <p:extLst>
      <p:ext uri="{BB962C8B-B14F-4D97-AF65-F5344CB8AC3E}">
        <p14:creationId xmlns:p14="http://schemas.microsoft.com/office/powerpoint/2010/main" val="2365160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B9522-6648-9C60-8017-DE962E27CDBB}"/>
            </a:ext>
          </a:extLst>
        </p:cNvPr>
        <p:cNvGrpSpPr/>
        <p:nvPr/>
      </p:nvGrpSpPr>
      <p:grpSpPr>
        <a:xfrm>
          <a:off x="0" y="0"/>
          <a:ext cx="0" cy="0"/>
          <a:chOff x="0" y="0"/>
          <a:chExt cx="0" cy="0"/>
        </a:xfrm>
      </p:grpSpPr>
      <p:grpSp>
        <p:nvGrpSpPr>
          <p:cNvPr id="116" name="Group 115">
            <a:extLst>
              <a:ext uri="{FF2B5EF4-FFF2-40B4-BE49-F238E27FC236}">
                <a16:creationId xmlns:a16="http://schemas.microsoft.com/office/drawing/2014/main" id="{069D7409-8BB9-637A-CC69-15F9A5DFC486}"/>
              </a:ext>
            </a:extLst>
          </p:cNvPr>
          <p:cNvGrpSpPr/>
          <p:nvPr/>
        </p:nvGrpSpPr>
        <p:grpSpPr>
          <a:xfrm>
            <a:off x="6545918" y="1917220"/>
            <a:ext cx="5151963" cy="4321656"/>
            <a:chOff x="668007" y="1748072"/>
            <a:chExt cx="4627050" cy="4075759"/>
          </a:xfrm>
        </p:grpSpPr>
        <p:grpSp>
          <p:nvGrpSpPr>
            <p:cNvPr id="3" name="Group 2">
              <a:extLst>
                <a:ext uri="{FF2B5EF4-FFF2-40B4-BE49-F238E27FC236}">
                  <a16:creationId xmlns:a16="http://schemas.microsoft.com/office/drawing/2014/main" id="{5053DC9F-0988-C16C-4FB4-C97401621FD0}"/>
                </a:ext>
              </a:extLst>
            </p:cNvPr>
            <p:cNvGrpSpPr/>
            <p:nvPr/>
          </p:nvGrpSpPr>
          <p:grpSpPr>
            <a:xfrm>
              <a:off x="668007" y="1748072"/>
              <a:ext cx="4627050" cy="4075759"/>
              <a:chOff x="1655559" y="221024"/>
              <a:chExt cx="4627050" cy="4075759"/>
            </a:xfrm>
          </p:grpSpPr>
          <p:sp>
            <p:nvSpPr>
              <p:cNvPr id="5" name="Rectangle 4">
                <a:extLst>
                  <a:ext uri="{FF2B5EF4-FFF2-40B4-BE49-F238E27FC236}">
                    <a16:creationId xmlns:a16="http://schemas.microsoft.com/office/drawing/2014/main" id="{FA82163D-9EA4-0CE6-F7F2-68E1FC388BC5}"/>
                  </a:ext>
                </a:extLst>
              </p:cNvPr>
              <p:cNvSpPr/>
              <p:nvPr/>
            </p:nvSpPr>
            <p:spPr>
              <a:xfrm>
                <a:off x="1655560" y="637245"/>
                <a:ext cx="1803383" cy="241610"/>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Clock configuration</a:t>
                </a:r>
              </a:p>
            </p:txBody>
          </p:sp>
          <p:sp>
            <p:nvSpPr>
              <p:cNvPr id="6" name="Rectangle 5">
                <a:extLst>
                  <a:ext uri="{FF2B5EF4-FFF2-40B4-BE49-F238E27FC236}">
                    <a16:creationId xmlns:a16="http://schemas.microsoft.com/office/drawing/2014/main" id="{91BF0B7E-FE83-2D5C-5EB2-ED1538DB6FD2}"/>
                  </a:ext>
                </a:extLst>
              </p:cNvPr>
              <p:cNvSpPr/>
              <p:nvPr/>
            </p:nvSpPr>
            <p:spPr>
              <a:xfrm>
                <a:off x="1655560" y="1073458"/>
                <a:ext cx="1803384" cy="238927"/>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fr-FR" sz="800" err="1">
                    <a:solidFill>
                      <a:schemeClr val="tx1"/>
                    </a:solidFill>
                  </a:rPr>
                  <a:t>Initialize</a:t>
                </a:r>
                <a:r>
                  <a:rPr lang="fr-FR" sz="800">
                    <a:solidFill>
                      <a:schemeClr val="tx1"/>
                    </a:solidFill>
                  </a:rPr>
                  <a:t> SD </a:t>
                </a:r>
                <a:r>
                  <a:rPr lang="fr-FR" sz="800" err="1">
                    <a:solidFill>
                      <a:schemeClr val="tx1"/>
                    </a:solidFill>
                  </a:rPr>
                  <a:t>card</a:t>
                </a:r>
                <a:endParaRPr lang="en-US" sz="800">
                  <a:solidFill>
                    <a:schemeClr val="tx1"/>
                  </a:solidFill>
                </a:endParaRPr>
              </a:p>
            </p:txBody>
          </p:sp>
          <p:sp>
            <p:nvSpPr>
              <p:cNvPr id="7" name="Rectangle 6">
                <a:extLst>
                  <a:ext uri="{FF2B5EF4-FFF2-40B4-BE49-F238E27FC236}">
                    <a16:creationId xmlns:a16="http://schemas.microsoft.com/office/drawing/2014/main" id="{8D58F141-AB84-AF4E-E7DE-1E89942A7349}"/>
                  </a:ext>
                </a:extLst>
              </p:cNvPr>
              <p:cNvSpPr/>
              <p:nvPr/>
            </p:nvSpPr>
            <p:spPr>
              <a:xfrm>
                <a:off x="1655560" y="2665470"/>
                <a:ext cx="1803384" cy="246221"/>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Format and Create a file</a:t>
                </a:r>
              </a:p>
            </p:txBody>
          </p:sp>
          <p:cxnSp>
            <p:nvCxnSpPr>
              <p:cNvPr id="8" name="Straight Arrow Connector 7">
                <a:extLst>
                  <a:ext uri="{FF2B5EF4-FFF2-40B4-BE49-F238E27FC236}">
                    <a16:creationId xmlns:a16="http://schemas.microsoft.com/office/drawing/2014/main" id="{9D13A1AA-808D-223F-CA6F-1E51640A2DCA}"/>
                  </a:ext>
                </a:extLst>
              </p:cNvPr>
              <p:cNvCxnSpPr>
                <a:cxnSpLocks/>
                <a:stCxn id="9" idx="2"/>
                <a:endCxn id="7" idx="0"/>
              </p:cNvCxnSpPr>
              <p:nvPr/>
            </p:nvCxnSpPr>
            <p:spPr>
              <a:xfrm>
                <a:off x="2557251" y="2364072"/>
                <a:ext cx="1" cy="301398"/>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9" name="Diamond 8">
                <a:extLst>
                  <a:ext uri="{FF2B5EF4-FFF2-40B4-BE49-F238E27FC236}">
                    <a16:creationId xmlns:a16="http://schemas.microsoft.com/office/drawing/2014/main" id="{A0BD7806-214A-3C90-E0DF-DFB68FE45F7E}"/>
                  </a:ext>
                </a:extLst>
              </p:cNvPr>
              <p:cNvSpPr/>
              <p:nvPr/>
            </p:nvSpPr>
            <p:spPr>
              <a:xfrm>
                <a:off x="1911481" y="1899035"/>
                <a:ext cx="1291539" cy="465037"/>
              </a:xfrm>
              <a:prstGeom prst="diamond">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b="0" i="0">
                    <a:solidFill>
                      <a:schemeClr val="tx1"/>
                    </a:solidFill>
                    <a:effectLst/>
                  </a:rPr>
                  <a:t>Is </a:t>
                </a:r>
                <a:r>
                  <a:rPr lang="en-US" sz="800" b="0" i="0" err="1">
                    <a:solidFill>
                      <a:schemeClr val="tx1"/>
                    </a:solidFill>
                    <a:effectLst/>
                  </a:rPr>
                  <a:t>SDcard</a:t>
                </a:r>
                <a:r>
                  <a:rPr lang="en-US" sz="800" b="0" i="0">
                    <a:solidFill>
                      <a:schemeClr val="tx1"/>
                    </a:solidFill>
                    <a:effectLst/>
                  </a:rPr>
                  <a:t> inserted?</a:t>
                </a:r>
                <a:endParaRPr lang="en-US" sz="800">
                  <a:solidFill>
                    <a:schemeClr val="tx1"/>
                  </a:solidFill>
                </a:endParaRPr>
              </a:p>
            </p:txBody>
          </p:sp>
          <p:sp>
            <p:nvSpPr>
              <p:cNvPr id="11" name="TextBox 71">
                <a:extLst>
                  <a:ext uri="{FF2B5EF4-FFF2-40B4-BE49-F238E27FC236}">
                    <a16:creationId xmlns:a16="http://schemas.microsoft.com/office/drawing/2014/main" id="{B644B22B-4BB2-6B6D-DFD7-15412519243D}"/>
                  </a:ext>
                </a:extLst>
              </p:cNvPr>
              <p:cNvSpPr txBox="1"/>
              <p:nvPr/>
            </p:nvSpPr>
            <p:spPr>
              <a:xfrm>
                <a:off x="3716312" y="522371"/>
                <a:ext cx="2448001" cy="4353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rgbClr val="03234B"/>
                    </a:solidFill>
                    <a:latin typeface="Arial"/>
                    <a:ea typeface="+mn-ea"/>
                    <a:cs typeface="+mn-cs"/>
                  </a:defRPr>
                </a:lvl1pPr>
                <a:lvl2pPr marL="457200" algn="l" defTabSz="914400" rtl="0" eaLnBrk="1" latinLnBrk="0" hangingPunct="1">
                  <a:defRPr sz="1800" kern="1200">
                    <a:solidFill>
                      <a:srgbClr val="03234B"/>
                    </a:solidFill>
                    <a:latin typeface="Arial"/>
                    <a:ea typeface="+mn-ea"/>
                    <a:cs typeface="+mn-cs"/>
                  </a:defRPr>
                </a:lvl2pPr>
                <a:lvl3pPr marL="914400" algn="l" defTabSz="914400" rtl="0" eaLnBrk="1" latinLnBrk="0" hangingPunct="1">
                  <a:defRPr sz="1800" kern="1200">
                    <a:solidFill>
                      <a:srgbClr val="03234B"/>
                    </a:solidFill>
                    <a:latin typeface="Arial"/>
                    <a:ea typeface="+mn-ea"/>
                    <a:cs typeface="+mn-cs"/>
                  </a:defRPr>
                </a:lvl3pPr>
                <a:lvl4pPr marL="1371600" algn="l" defTabSz="914400" rtl="0" eaLnBrk="1" latinLnBrk="0" hangingPunct="1">
                  <a:defRPr sz="1800" kern="1200">
                    <a:solidFill>
                      <a:srgbClr val="03234B"/>
                    </a:solidFill>
                    <a:latin typeface="Arial"/>
                    <a:ea typeface="+mn-ea"/>
                    <a:cs typeface="+mn-cs"/>
                  </a:defRPr>
                </a:lvl4pPr>
                <a:lvl5pPr marL="1828800" algn="l" defTabSz="914400" rtl="0" eaLnBrk="1" latinLnBrk="0" hangingPunct="1">
                  <a:defRPr sz="1800" kern="1200">
                    <a:solidFill>
                      <a:srgbClr val="03234B"/>
                    </a:solidFill>
                    <a:latin typeface="Arial"/>
                    <a:ea typeface="+mn-ea"/>
                    <a:cs typeface="+mn-cs"/>
                  </a:defRPr>
                </a:lvl5pPr>
                <a:lvl6pPr marL="2286000" algn="l" defTabSz="914400" rtl="0" eaLnBrk="1" latinLnBrk="0" hangingPunct="1">
                  <a:defRPr sz="1800" kern="1200">
                    <a:solidFill>
                      <a:srgbClr val="03234B"/>
                    </a:solidFill>
                    <a:latin typeface="Arial"/>
                    <a:ea typeface="+mn-ea"/>
                    <a:cs typeface="+mn-cs"/>
                  </a:defRPr>
                </a:lvl6pPr>
                <a:lvl7pPr marL="2743200" algn="l" defTabSz="914400" rtl="0" eaLnBrk="1" latinLnBrk="0" hangingPunct="1">
                  <a:defRPr sz="1800" kern="1200">
                    <a:solidFill>
                      <a:srgbClr val="03234B"/>
                    </a:solidFill>
                    <a:latin typeface="Arial"/>
                    <a:ea typeface="+mn-ea"/>
                    <a:cs typeface="+mn-cs"/>
                  </a:defRPr>
                </a:lvl7pPr>
                <a:lvl8pPr marL="3200400" algn="l" defTabSz="914400" rtl="0" eaLnBrk="1" latinLnBrk="0" hangingPunct="1">
                  <a:defRPr sz="1800" kern="1200">
                    <a:solidFill>
                      <a:srgbClr val="03234B"/>
                    </a:solidFill>
                    <a:latin typeface="Arial"/>
                    <a:ea typeface="+mn-ea"/>
                    <a:cs typeface="+mn-cs"/>
                  </a:defRPr>
                </a:lvl8pPr>
                <a:lvl9pPr marL="3657600" algn="l" defTabSz="914400" rtl="0" eaLnBrk="1" latinLnBrk="0" hangingPunct="1">
                  <a:defRPr sz="1800" kern="1200">
                    <a:solidFill>
                      <a:srgbClr val="03234B"/>
                    </a:solidFill>
                    <a:latin typeface="Arial"/>
                    <a:ea typeface="+mn-ea"/>
                    <a:cs typeface="+mn-cs"/>
                  </a:defRPr>
                </a:lvl9pPr>
              </a:lstStyle>
              <a:p>
                <a:pPr>
                  <a:defRPr/>
                </a:pPr>
                <a:r>
                  <a:rPr lang="en-US" sz="800" dirty="0">
                    <a:cs typeface="Arial"/>
                  </a:rPr>
                  <a:t>C</a:t>
                </a:r>
                <a:r>
                  <a:rPr kumimoji="0" lang="en-US" sz="800" b="0" i="0" u="none" strike="noStrike" kern="1200" cap="none" spc="0" normalizeH="0" baseline="0" noProof="0" dirty="0">
                    <a:ln>
                      <a:noFill/>
                    </a:ln>
                    <a:solidFill>
                      <a:srgbClr val="03234B"/>
                    </a:solidFill>
                    <a:effectLst/>
                    <a:uLnTx/>
                    <a:uFillTx/>
                    <a:latin typeface="Arial"/>
                    <a:ea typeface="+mn-ea"/>
                    <a:cs typeface="Arial"/>
                  </a:rPr>
                  <a:t>lock source : </a:t>
                </a:r>
                <a:r>
                  <a:rPr lang="fr-FR" sz="800" dirty="0"/>
                  <a:t>HSI (ST) / FIRC_48M (NXP)</a:t>
                </a:r>
              </a:p>
              <a:p>
                <a:pPr>
                  <a:defRPr/>
                </a:pPr>
                <a:r>
                  <a:rPr lang="en-US" sz="800" dirty="0"/>
                  <a:t>Clock frequency: </a:t>
                </a:r>
                <a:r>
                  <a:rPr lang="en-US" sz="800" b="1" dirty="0"/>
                  <a:t>CM33: 150 MHz (ST and </a:t>
                </a:r>
                <a:r>
                  <a:rPr lang="fr-FR" sz="800" b="1" dirty="0"/>
                  <a:t>NXP</a:t>
                </a:r>
                <a:r>
                  <a:rPr lang="en-US" sz="800" b="1" dirty="0"/>
                  <a:t>)</a:t>
                </a:r>
              </a:p>
              <a:p>
                <a:pPr>
                  <a:defRPr/>
                </a:pPr>
                <a:r>
                  <a:rPr lang="en-US" sz="800" b="1" dirty="0"/>
                  <a:t>                            </a:t>
                </a:r>
              </a:p>
            </p:txBody>
          </p:sp>
          <p:cxnSp>
            <p:nvCxnSpPr>
              <p:cNvPr id="14" name="Straight Arrow Connector 13">
                <a:extLst>
                  <a:ext uri="{FF2B5EF4-FFF2-40B4-BE49-F238E27FC236}">
                    <a16:creationId xmlns:a16="http://schemas.microsoft.com/office/drawing/2014/main" id="{0DA81AE1-8E63-8BC2-1A4B-4699E690726B}"/>
                  </a:ext>
                </a:extLst>
              </p:cNvPr>
              <p:cNvCxnSpPr>
                <a:cxnSpLocks/>
                <a:stCxn id="5" idx="3"/>
                <a:endCxn id="11" idx="1"/>
              </p:cNvCxnSpPr>
              <p:nvPr/>
            </p:nvCxnSpPr>
            <p:spPr>
              <a:xfrm flipV="1">
                <a:off x="3458943" y="740070"/>
                <a:ext cx="257369" cy="1798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8EA006B-1C9F-BF58-4B1A-4532E6825762}"/>
                  </a:ext>
                </a:extLst>
              </p:cNvPr>
              <p:cNvCxnSpPr>
                <a:cxnSpLocks/>
                <a:stCxn id="53" idx="4"/>
                <a:endCxn id="5" idx="0"/>
              </p:cNvCxnSpPr>
              <p:nvPr/>
            </p:nvCxnSpPr>
            <p:spPr>
              <a:xfrm flipH="1">
                <a:off x="2557252" y="463089"/>
                <a:ext cx="1" cy="17415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2DF80BD-D684-6E05-22E7-3E9C739A089A}"/>
                  </a:ext>
                </a:extLst>
              </p:cNvPr>
              <p:cNvCxnSpPr>
                <a:cxnSpLocks/>
                <a:stCxn id="5" idx="2"/>
                <a:endCxn id="6" idx="0"/>
              </p:cNvCxnSpPr>
              <p:nvPr/>
            </p:nvCxnSpPr>
            <p:spPr>
              <a:xfrm>
                <a:off x="2557252" y="878855"/>
                <a:ext cx="0" cy="19460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6B3BA16-BB34-3FD7-ADB2-CC677A497F0D}"/>
                  </a:ext>
                </a:extLst>
              </p:cNvPr>
              <p:cNvSpPr/>
              <p:nvPr/>
            </p:nvSpPr>
            <p:spPr>
              <a:xfrm>
                <a:off x="1655560" y="1478940"/>
                <a:ext cx="1803384" cy="238927"/>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Initialize FATFS</a:t>
                </a:r>
              </a:p>
            </p:txBody>
          </p:sp>
          <p:cxnSp>
            <p:nvCxnSpPr>
              <p:cNvPr id="24" name="Straight Arrow Connector 23">
                <a:extLst>
                  <a:ext uri="{FF2B5EF4-FFF2-40B4-BE49-F238E27FC236}">
                    <a16:creationId xmlns:a16="http://schemas.microsoft.com/office/drawing/2014/main" id="{512AA82E-5075-68E4-0B60-5CBBA35B6169}"/>
                  </a:ext>
                </a:extLst>
              </p:cNvPr>
              <p:cNvCxnSpPr>
                <a:cxnSpLocks/>
                <a:stCxn id="23" idx="2"/>
                <a:endCxn id="9" idx="0"/>
              </p:cNvCxnSpPr>
              <p:nvPr/>
            </p:nvCxnSpPr>
            <p:spPr>
              <a:xfrm flipH="1">
                <a:off x="2557251" y="1717867"/>
                <a:ext cx="1" cy="181168"/>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D134080-499E-4E8C-1205-C9B1E72948B0}"/>
                  </a:ext>
                </a:extLst>
              </p:cNvPr>
              <p:cNvCxnSpPr>
                <a:cxnSpLocks/>
                <a:stCxn id="6" idx="2"/>
                <a:endCxn id="23" idx="0"/>
              </p:cNvCxnSpPr>
              <p:nvPr/>
            </p:nvCxnSpPr>
            <p:spPr>
              <a:xfrm>
                <a:off x="2557252" y="1312385"/>
                <a:ext cx="0" cy="16655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11DDD70-EAA2-730A-B09D-7613FBBF7502}"/>
                  </a:ext>
                </a:extLst>
              </p:cNvPr>
              <p:cNvSpPr/>
              <p:nvPr/>
            </p:nvSpPr>
            <p:spPr>
              <a:xfrm>
                <a:off x="1655559" y="3119097"/>
                <a:ext cx="1803384" cy="246222"/>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Write in the file </a:t>
                </a:r>
              </a:p>
            </p:txBody>
          </p:sp>
          <p:sp>
            <p:nvSpPr>
              <p:cNvPr id="27" name="Rectangle 26">
                <a:extLst>
                  <a:ext uri="{FF2B5EF4-FFF2-40B4-BE49-F238E27FC236}">
                    <a16:creationId xmlns:a16="http://schemas.microsoft.com/office/drawing/2014/main" id="{CAA70B03-DB9F-7149-533B-28316CA93FB4}"/>
                  </a:ext>
                </a:extLst>
              </p:cNvPr>
              <p:cNvSpPr/>
              <p:nvPr/>
            </p:nvSpPr>
            <p:spPr>
              <a:xfrm>
                <a:off x="1655559" y="3572725"/>
                <a:ext cx="1803384" cy="258326"/>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Read the file</a:t>
                </a:r>
              </a:p>
            </p:txBody>
          </p:sp>
          <p:sp>
            <p:nvSpPr>
              <p:cNvPr id="28" name="Rectangle 27">
                <a:extLst>
                  <a:ext uri="{FF2B5EF4-FFF2-40B4-BE49-F238E27FC236}">
                    <a16:creationId xmlns:a16="http://schemas.microsoft.com/office/drawing/2014/main" id="{30765344-BAF5-7684-A092-5FA5604A6DAF}"/>
                  </a:ext>
                </a:extLst>
              </p:cNvPr>
              <p:cNvSpPr/>
              <p:nvPr/>
            </p:nvSpPr>
            <p:spPr>
              <a:xfrm>
                <a:off x="1655559" y="4038457"/>
                <a:ext cx="1803384" cy="258326"/>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fr-FR" sz="800">
                    <a:solidFill>
                      <a:schemeClr val="tx1"/>
                    </a:solidFill>
                  </a:rPr>
                  <a:t>C</a:t>
                </a:r>
                <a:r>
                  <a:rPr lang="en-US" sz="800">
                    <a:solidFill>
                      <a:schemeClr val="tx1"/>
                    </a:solidFill>
                  </a:rPr>
                  <a:t>lose the file</a:t>
                </a:r>
              </a:p>
            </p:txBody>
          </p:sp>
          <p:cxnSp>
            <p:nvCxnSpPr>
              <p:cNvPr id="29" name="Straight Arrow Connector 28">
                <a:extLst>
                  <a:ext uri="{FF2B5EF4-FFF2-40B4-BE49-F238E27FC236}">
                    <a16:creationId xmlns:a16="http://schemas.microsoft.com/office/drawing/2014/main" id="{52F4E38D-3343-6AB3-E546-247F0C9C8581}"/>
                  </a:ext>
                </a:extLst>
              </p:cNvPr>
              <p:cNvCxnSpPr>
                <a:cxnSpLocks/>
                <a:stCxn id="7" idx="2"/>
                <a:endCxn id="26" idx="0"/>
              </p:cNvCxnSpPr>
              <p:nvPr/>
            </p:nvCxnSpPr>
            <p:spPr>
              <a:xfrm flipH="1">
                <a:off x="2557251" y="2911691"/>
                <a:ext cx="1" cy="20740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6DE7DA9-7027-FF1E-869E-E1CCEACCBBFC}"/>
                  </a:ext>
                </a:extLst>
              </p:cNvPr>
              <p:cNvCxnSpPr>
                <a:cxnSpLocks/>
                <a:stCxn id="26" idx="2"/>
                <a:endCxn id="27" idx="0"/>
              </p:cNvCxnSpPr>
              <p:nvPr/>
            </p:nvCxnSpPr>
            <p:spPr>
              <a:xfrm>
                <a:off x="2557251" y="3365319"/>
                <a:ext cx="0" cy="20740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4DB1AB4-8593-9F9F-895A-5B64BB0E8D37}"/>
                  </a:ext>
                </a:extLst>
              </p:cNvPr>
              <p:cNvCxnSpPr>
                <a:cxnSpLocks/>
                <a:stCxn id="27" idx="2"/>
                <a:endCxn id="28" idx="0"/>
              </p:cNvCxnSpPr>
              <p:nvPr/>
            </p:nvCxnSpPr>
            <p:spPr>
              <a:xfrm>
                <a:off x="2557251" y="3831051"/>
                <a:ext cx="0" cy="20740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7399EF21-01CC-F747-23F1-E6B2106A0B6D}"/>
                  </a:ext>
                </a:extLst>
              </p:cNvPr>
              <p:cNvSpPr/>
              <p:nvPr/>
            </p:nvSpPr>
            <p:spPr>
              <a:xfrm>
                <a:off x="2042121" y="221024"/>
                <a:ext cx="1030263" cy="242065"/>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buClr>
                    <a:schemeClr val="bg1"/>
                  </a:buClr>
                </a:pPr>
                <a:r>
                  <a:rPr lang="fr-FR" sz="800">
                    <a:solidFill>
                      <a:srgbClr val="000000"/>
                    </a:solidFill>
                  </a:rPr>
                  <a:t>Start</a:t>
                </a:r>
                <a:endParaRPr lang="en-US" sz="800">
                  <a:solidFill>
                    <a:srgbClr val="000000"/>
                  </a:solidFill>
                </a:endParaRPr>
              </a:p>
            </p:txBody>
          </p:sp>
          <p:sp>
            <p:nvSpPr>
              <p:cNvPr id="74" name="TextBox 73">
                <a:extLst>
                  <a:ext uri="{FF2B5EF4-FFF2-40B4-BE49-F238E27FC236}">
                    <a16:creationId xmlns:a16="http://schemas.microsoft.com/office/drawing/2014/main" id="{67FA99EE-4633-DD93-BB90-5CFA718D46E4}"/>
                  </a:ext>
                </a:extLst>
              </p:cNvPr>
              <p:cNvSpPr txBox="1"/>
              <p:nvPr/>
            </p:nvSpPr>
            <p:spPr>
              <a:xfrm>
                <a:off x="3716312" y="1490682"/>
                <a:ext cx="2566297" cy="215444"/>
              </a:xfrm>
              <a:prstGeom prst="rect">
                <a:avLst/>
              </a:prstGeom>
              <a:noFill/>
            </p:spPr>
            <p:txBody>
              <a:bodyPr wrap="square">
                <a:spAutoFit/>
              </a:bodyPr>
              <a:lstStyle/>
              <a:p>
                <a:r>
                  <a:rPr lang="en-US" sz="800"/>
                  <a:t>Set up the FATFS to use with the SD card</a:t>
                </a:r>
              </a:p>
            </p:txBody>
          </p:sp>
          <p:cxnSp>
            <p:nvCxnSpPr>
              <p:cNvPr id="75" name="Straight Arrow Connector 74">
                <a:extLst>
                  <a:ext uri="{FF2B5EF4-FFF2-40B4-BE49-F238E27FC236}">
                    <a16:creationId xmlns:a16="http://schemas.microsoft.com/office/drawing/2014/main" id="{E19305B5-D2CA-8758-E744-56BAF76483A0}"/>
                  </a:ext>
                </a:extLst>
              </p:cNvPr>
              <p:cNvCxnSpPr>
                <a:cxnSpLocks/>
                <a:stCxn id="23" idx="3"/>
                <a:endCxn id="74" idx="1"/>
              </p:cNvCxnSpPr>
              <p:nvPr/>
            </p:nvCxnSpPr>
            <p:spPr>
              <a:xfrm>
                <a:off x="3458944" y="1598404"/>
                <a:ext cx="257368" cy="0"/>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cxnSp>
          <p:nvCxnSpPr>
            <p:cNvPr id="111" name="Connector: Elbow 110">
              <a:extLst>
                <a:ext uri="{FF2B5EF4-FFF2-40B4-BE49-F238E27FC236}">
                  <a16:creationId xmlns:a16="http://schemas.microsoft.com/office/drawing/2014/main" id="{2441C3D3-D456-D757-EBDE-386E2CEB2894}"/>
                </a:ext>
              </a:extLst>
            </p:cNvPr>
            <p:cNvCxnSpPr>
              <a:cxnSpLocks/>
              <a:endCxn id="9" idx="3"/>
            </p:cNvCxnSpPr>
            <p:nvPr/>
          </p:nvCxnSpPr>
          <p:spPr>
            <a:xfrm flipV="1">
              <a:off x="1569699" y="3658602"/>
              <a:ext cx="645769" cy="280148"/>
            </a:xfrm>
            <a:prstGeom prst="bentConnector3">
              <a:avLst>
                <a:gd name="adj1" fmla="val 13540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12" name="TextBox 56">
              <a:extLst>
                <a:ext uri="{FF2B5EF4-FFF2-40B4-BE49-F238E27FC236}">
                  <a16:creationId xmlns:a16="http://schemas.microsoft.com/office/drawing/2014/main" id="{D1E8C883-F91B-C269-BF9B-A32C6D0BF797}"/>
                </a:ext>
              </a:extLst>
            </p:cNvPr>
            <p:cNvSpPr txBox="1"/>
            <p:nvPr/>
          </p:nvSpPr>
          <p:spPr>
            <a:xfrm>
              <a:off x="1191952" y="3955824"/>
              <a:ext cx="560995"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113" name="TextBox 112">
              <a:extLst>
                <a:ext uri="{FF2B5EF4-FFF2-40B4-BE49-F238E27FC236}">
                  <a16:creationId xmlns:a16="http://schemas.microsoft.com/office/drawing/2014/main" id="{5DE110AE-601D-3FE4-40EF-ABD2B02550C8}"/>
                </a:ext>
              </a:extLst>
            </p:cNvPr>
            <p:cNvSpPr txBox="1"/>
            <p:nvPr/>
          </p:nvSpPr>
          <p:spPr>
            <a:xfrm>
              <a:off x="2411154" y="3695508"/>
              <a:ext cx="510320"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grpSp>
      <p:sp>
        <p:nvSpPr>
          <p:cNvPr id="118" name="TextBox 117">
            <a:extLst>
              <a:ext uri="{FF2B5EF4-FFF2-40B4-BE49-F238E27FC236}">
                <a16:creationId xmlns:a16="http://schemas.microsoft.com/office/drawing/2014/main" id="{ADE2B068-1B79-95F0-59C1-7F40EBB8EA8A}"/>
              </a:ext>
            </a:extLst>
          </p:cNvPr>
          <p:cNvSpPr txBox="1"/>
          <p:nvPr/>
        </p:nvSpPr>
        <p:spPr>
          <a:xfrm>
            <a:off x="6091136" y="1051918"/>
            <a:ext cx="5384495" cy="677108"/>
          </a:xfrm>
          <a:prstGeom prst="rect">
            <a:avLst/>
          </a:prstGeom>
          <a:noFill/>
        </p:spPr>
        <p:txBody>
          <a:bodyPr wrap="square" rtlCol="0">
            <a:spAutoFit/>
          </a:bodyPr>
          <a:lstStyle/>
          <a:p>
            <a:r>
              <a:rPr lang="en-US" sz="1400" b="1" u="sng" dirty="0">
                <a:solidFill>
                  <a:srgbClr val="0070C0"/>
                </a:solidFill>
              </a:rPr>
              <a:t>BareMetal mode: </a:t>
            </a:r>
            <a:r>
              <a:rPr lang="en-US" sz="1400" b="1" u="sng" dirty="0" err="1">
                <a:solidFill>
                  <a:srgbClr val="0070C0"/>
                </a:solidFill>
              </a:rPr>
              <a:t>FatFS</a:t>
            </a:r>
            <a:r>
              <a:rPr lang="en-US" sz="1400" b="1" u="sng" dirty="0">
                <a:solidFill>
                  <a:srgbClr val="0070C0"/>
                </a:solidFill>
              </a:rPr>
              <a:t> w/ SD card</a:t>
            </a:r>
          </a:p>
          <a:p>
            <a:endParaRPr lang="en-US" sz="1400" b="1" dirty="0">
              <a:solidFill>
                <a:srgbClr val="0070C0"/>
              </a:solidFill>
            </a:endParaRPr>
          </a:p>
          <a:p>
            <a:r>
              <a:rPr lang="en-US" sz="1000" b="1" dirty="0">
                <a:solidFill>
                  <a:srgbClr val="002060"/>
                </a:solidFill>
              </a:rPr>
              <a:t>STM32U575xx (CM33) vs MCX-N9 XX (CM33)</a:t>
            </a:r>
          </a:p>
        </p:txBody>
      </p:sp>
      <p:sp>
        <p:nvSpPr>
          <p:cNvPr id="121" name="Title 1">
            <a:extLst>
              <a:ext uri="{FF2B5EF4-FFF2-40B4-BE49-F238E27FC236}">
                <a16:creationId xmlns:a16="http://schemas.microsoft.com/office/drawing/2014/main" id="{C2AF22E2-5265-4607-CAB3-C567689CA81B}"/>
              </a:ext>
            </a:extLst>
          </p:cNvPr>
          <p:cNvSpPr txBox="1">
            <a:spLocks/>
          </p:cNvSpPr>
          <p:nvPr/>
        </p:nvSpPr>
        <p:spPr>
          <a:xfrm>
            <a:off x="461878" y="-2081"/>
            <a:ext cx="11609159" cy="1304925"/>
          </a:xfrm>
          <a:prstGeom prst="rect">
            <a:avLst/>
          </a:prstGeom>
        </p:spPr>
        <p:txBody>
          <a:bodyPr vert="horz" lIns="91440" tIns="45720" rIns="90000" bIns="45720" rtlCol="0" anchor="ctr">
            <a:noAutofit/>
          </a:bodyPr>
          <a:lstStyle>
            <a:lvl1pPr algn="r" defTabSz="914400" rtl="0" eaLnBrk="1" latinLnBrk="0" hangingPunct="1">
              <a:lnSpc>
                <a:spcPct val="90000"/>
              </a:lnSpc>
              <a:spcBef>
                <a:spcPct val="0"/>
              </a:spcBef>
              <a:buNone/>
              <a:defRPr lang="en-US" sz="3600" b="0" kern="1200" baseline="0">
                <a:solidFill>
                  <a:schemeClr val="tx1"/>
                </a:solidFill>
                <a:latin typeface="+mj-lt"/>
                <a:ea typeface="+mj-ea"/>
                <a:cs typeface="+mj-cs"/>
              </a:defRPr>
            </a:lvl1pPr>
          </a:lstStyle>
          <a:p>
            <a:r>
              <a:rPr lang="en-US"/>
              <a:t>ST Competitors MW Benchmark: File System </a:t>
            </a:r>
          </a:p>
          <a:p>
            <a:r>
              <a:rPr lang="en-US" sz="2400" b="1">
                <a:solidFill>
                  <a:schemeClr val="accent2"/>
                </a:solidFill>
              </a:rPr>
              <a:t>ST vs NXP Flowcharts</a:t>
            </a:r>
            <a:endParaRPr lang="en-US" sz="2400"/>
          </a:p>
        </p:txBody>
      </p:sp>
      <p:cxnSp>
        <p:nvCxnSpPr>
          <p:cNvPr id="122" name="Straight Connector 121">
            <a:extLst>
              <a:ext uri="{FF2B5EF4-FFF2-40B4-BE49-F238E27FC236}">
                <a16:creationId xmlns:a16="http://schemas.microsoft.com/office/drawing/2014/main" id="{261AE5CE-A119-618C-3622-ABC7486A8259}"/>
              </a:ext>
            </a:extLst>
          </p:cNvPr>
          <p:cNvCxnSpPr>
            <a:cxnSpLocks/>
          </p:cNvCxnSpPr>
          <p:nvPr/>
        </p:nvCxnSpPr>
        <p:spPr>
          <a:xfrm>
            <a:off x="6019613" y="1304925"/>
            <a:ext cx="0" cy="5379339"/>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grpSp>
        <p:nvGrpSpPr>
          <p:cNvPr id="123" name="Group 122">
            <a:extLst>
              <a:ext uri="{FF2B5EF4-FFF2-40B4-BE49-F238E27FC236}">
                <a16:creationId xmlns:a16="http://schemas.microsoft.com/office/drawing/2014/main" id="{44F37A87-CA33-F1E8-858D-184C8333699B}"/>
              </a:ext>
            </a:extLst>
          </p:cNvPr>
          <p:cNvGrpSpPr/>
          <p:nvPr/>
        </p:nvGrpSpPr>
        <p:grpSpPr>
          <a:xfrm>
            <a:off x="764279" y="2065680"/>
            <a:ext cx="5325929" cy="3982689"/>
            <a:chOff x="2020378" y="1037128"/>
            <a:chExt cx="3915268" cy="2684363"/>
          </a:xfrm>
        </p:grpSpPr>
        <p:sp>
          <p:nvSpPr>
            <p:cNvPr id="124" name="Rectangle 123">
              <a:extLst>
                <a:ext uri="{FF2B5EF4-FFF2-40B4-BE49-F238E27FC236}">
                  <a16:creationId xmlns:a16="http://schemas.microsoft.com/office/drawing/2014/main" id="{131FF02B-C6F0-3002-FBA1-A26845E5D38C}"/>
                </a:ext>
              </a:extLst>
            </p:cNvPr>
            <p:cNvSpPr/>
            <p:nvPr/>
          </p:nvSpPr>
          <p:spPr>
            <a:xfrm>
              <a:off x="2020383" y="1512595"/>
              <a:ext cx="1290525" cy="204039"/>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Clock configuration</a:t>
              </a:r>
            </a:p>
          </p:txBody>
        </p:sp>
        <p:sp>
          <p:nvSpPr>
            <p:cNvPr id="125" name="Rectangle 124">
              <a:extLst>
                <a:ext uri="{FF2B5EF4-FFF2-40B4-BE49-F238E27FC236}">
                  <a16:creationId xmlns:a16="http://schemas.microsoft.com/office/drawing/2014/main" id="{4C22C71D-0E5B-CA9F-BC17-CDB5B279FDA2}"/>
                </a:ext>
              </a:extLst>
            </p:cNvPr>
            <p:cNvSpPr/>
            <p:nvPr/>
          </p:nvSpPr>
          <p:spPr>
            <a:xfrm>
              <a:off x="2020382" y="2310608"/>
              <a:ext cx="1290526" cy="207519"/>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Format and Create a file</a:t>
              </a:r>
            </a:p>
          </p:txBody>
        </p:sp>
        <p:cxnSp>
          <p:nvCxnSpPr>
            <p:cNvPr id="126" name="Straight Arrow Connector 125">
              <a:extLst>
                <a:ext uri="{FF2B5EF4-FFF2-40B4-BE49-F238E27FC236}">
                  <a16:creationId xmlns:a16="http://schemas.microsoft.com/office/drawing/2014/main" id="{8D39ECD4-B9F6-8D26-8E36-009C87DCCFD0}"/>
                </a:ext>
              </a:extLst>
            </p:cNvPr>
            <p:cNvCxnSpPr>
              <a:cxnSpLocks/>
              <a:stCxn id="136" idx="4"/>
              <a:endCxn id="124" idx="0"/>
            </p:cNvCxnSpPr>
            <p:nvPr/>
          </p:nvCxnSpPr>
          <p:spPr>
            <a:xfrm flipH="1">
              <a:off x="2665646" y="1241167"/>
              <a:ext cx="3123" cy="271428"/>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27" name="Rectangle 126">
              <a:extLst>
                <a:ext uri="{FF2B5EF4-FFF2-40B4-BE49-F238E27FC236}">
                  <a16:creationId xmlns:a16="http://schemas.microsoft.com/office/drawing/2014/main" id="{C7F9ECEF-8A1C-B6D9-D274-2A5E6DAE47C2}"/>
                </a:ext>
              </a:extLst>
            </p:cNvPr>
            <p:cNvSpPr/>
            <p:nvPr/>
          </p:nvSpPr>
          <p:spPr>
            <a:xfrm>
              <a:off x="2020383" y="1935492"/>
              <a:ext cx="1290526" cy="204039"/>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FATFS initialization</a:t>
              </a:r>
            </a:p>
          </p:txBody>
        </p:sp>
        <p:cxnSp>
          <p:nvCxnSpPr>
            <p:cNvPr id="128" name="Straight Arrow Connector 127">
              <a:extLst>
                <a:ext uri="{FF2B5EF4-FFF2-40B4-BE49-F238E27FC236}">
                  <a16:creationId xmlns:a16="http://schemas.microsoft.com/office/drawing/2014/main" id="{6F3C47C1-489B-0F27-839D-6F8161F54D98}"/>
                </a:ext>
              </a:extLst>
            </p:cNvPr>
            <p:cNvCxnSpPr>
              <a:cxnSpLocks/>
              <a:stCxn id="127" idx="2"/>
              <a:endCxn id="125" idx="0"/>
            </p:cNvCxnSpPr>
            <p:nvPr/>
          </p:nvCxnSpPr>
          <p:spPr>
            <a:xfrm flipH="1">
              <a:off x="2665645" y="2139531"/>
              <a:ext cx="1" cy="17107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8953FBC9-DD49-6FCF-853F-B1A202C691D2}"/>
                </a:ext>
              </a:extLst>
            </p:cNvPr>
            <p:cNvCxnSpPr>
              <a:cxnSpLocks/>
              <a:stCxn id="124" idx="2"/>
              <a:endCxn id="127" idx="0"/>
            </p:cNvCxnSpPr>
            <p:nvPr/>
          </p:nvCxnSpPr>
          <p:spPr>
            <a:xfrm>
              <a:off x="2665646" y="1716634"/>
              <a:ext cx="0" cy="218858"/>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30" name="Rectangle 129">
              <a:extLst>
                <a:ext uri="{FF2B5EF4-FFF2-40B4-BE49-F238E27FC236}">
                  <a16:creationId xmlns:a16="http://schemas.microsoft.com/office/drawing/2014/main" id="{66CE8D9B-0DAA-11F2-1513-679A297ECF5A}"/>
                </a:ext>
              </a:extLst>
            </p:cNvPr>
            <p:cNvSpPr/>
            <p:nvPr/>
          </p:nvSpPr>
          <p:spPr>
            <a:xfrm>
              <a:off x="2020380" y="2709756"/>
              <a:ext cx="1290527" cy="213695"/>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Write in file </a:t>
              </a:r>
            </a:p>
          </p:txBody>
        </p:sp>
        <p:sp>
          <p:nvSpPr>
            <p:cNvPr id="131" name="Rectangle 130">
              <a:extLst>
                <a:ext uri="{FF2B5EF4-FFF2-40B4-BE49-F238E27FC236}">
                  <a16:creationId xmlns:a16="http://schemas.microsoft.com/office/drawing/2014/main" id="{81B1A5B0-F251-1021-323A-2689EB00353E}"/>
                </a:ext>
              </a:extLst>
            </p:cNvPr>
            <p:cNvSpPr/>
            <p:nvPr/>
          </p:nvSpPr>
          <p:spPr>
            <a:xfrm>
              <a:off x="2020380" y="3105925"/>
              <a:ext cx="1290528" cy="207519"/>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Read file</a:t>
              </a:r>
            </a:p>
          </p:txBody>
        </p:sp>
        <p:sp>
          <p:nvSpPr>
            <p:cNvPr id="132" name="Rectangle 131">
              <a:extLst>
                <a:ext uri="{FF2B5EF4-FFF2-40B4-BE49-F238E27FC236}">
                  <a16:creationId xmlns:a16="http://schemas.microsoft.com/office/drawing/2014/main" id="{80A1ECEC-F3D8-0544-1613-EBB4F74B1032}"/>
                </a:ext>
              </a:extLst>
            </p:cNvPr>
            <p:cNvSpPr/>
            <p:nvPr/>
          </p:nvSpPr>
          <p:spPr>
            <a:xfrm>
              <a:off x="2020378" y="3507796"/>
              <a:ext cx="1290529" cy="213695"/>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fr-FR" sz="800">
                  <a:solidFill>
                    <a:schemeClr val="tx1"/>
                  </a:solidFill>
                </a:rPr>
                <a:t>C</a:t>
              </a:r>
              <a:r>
                <a:rPr lang="en-US" sz="800">
                  <a:solidFill>
                    <a:schemeClr val="tx1"/>
                  </a:solidFill>
                </a:rPr>
                <a:t>lose file</a:t>
              </a:r>
            </a:p>
          </p:txBody>
        </p:sp>
        <p:cxnSp>
          <p:nvCxnSpPr>
            <p:cNvPr id="133" name="Straight Arrow Connector 132">
              <a:extLst>
                <a:ext uri="{FF2B5EF4-FFF2-40B4-BE49-F238E27FC236}">
                  <a16:creationId xmlns:a16="http://schemas.microsoft.com/office/drawing/2014/main" id="{735AF9EC-79B8-6C51-6AEC-70C4D41002C9}"/>
                </a:ext>
              </a:extLst>
            </p:cNvPr>
            <p:cNvCxnSpPr>
              <a:cxnSpLocks/>
              <a:stCxn id="125" idx="2"/>
              <a:endCxn id="130" idx="0"/>
            </p:cNvCxnSpPr>
            <p:nvPr/>
          </p:nvCxnSpPr>
          <p:spPr>
            <a:xfrm flipH="1">
              <a:off x="2665644" y="2518127"/>
              <a:ext cx="1" cy="191629"/>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8E8830BD-1C15-3CBF-2227-E256E5C9C0EC}"/>
                </a:ext>
              </a:extLst>
            </p:cNvPr>
            <p:cNvCxnSpPr>
              <a:cxnSpLocks/>
              <a:stCxn id="130" idx="2"/>
              <a:endCxn id="131" idx="0"/>
            </p:cNvCxnSpPr>
            <p:nvPr/>
          </p:nvCxnSpPr>
          <p:spPr>
            <a:xfrm>
              <a:off x="2665644" y="2923451"/>
              <a:ext cx="0" cy="182474"/>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BC648A03-C69A-2579-F39D-168DDE704307}"/>
                </a:ext>
              </a:extLst>
            </p:cNvPr>
            <p:cNvCxnSpPr>
              <a:cxnSpLocks/>
              <a:stCxn id="131" idx="2"/>
              <a:endCxn id="132" idx="0"/>
            </p:cNvCxnSpPr>
            <p:nvPr/>
          </p:nvCxnSpPr>
          <p:spPr>
            <a:xfrm flipH="1">
              <a:off x="2665643" y="3313444"/>
              <a:ext cx="1" cy="194352"/>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36" name="Oval 135">
              <a:extLst>
                <a:ext uri="{FF2B5EF4-FFF2-40B4-BE49-F238E27FC236}">
                  <a16:creationId xmlns:a16="http://schemas.microsoft.com/office/drawing/2014/main" id="{12D32FDC-03A5-8C36-6239-E3E4D9AE43C8}"/>
                </a:ext>
              </a:extLst>
            </p:cNvPr>
            <p:cNvSpPr/>
            <p:nvPr/>
          </p:nvSpPr>
          <p:spPr>
            <a:xfrm>
              <a:off x="2260571" y="1037128"/>
              <a:ext cx="816395" cy="204039"/>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buClr>
                  <a:schemeClr val="bg1"/>
                </a:buClr>
              </a:pPr>
              <a:r>
                <a:rPr lang="fr-FR" sz="800">
                  <a:solidFill>
                    <a:srgbClr val="000000"/>
                  </a:solidFill>
                </a:rPr>
                <a:t>Start</a:t>
              </a:r>
              <a:endParaRPr lang="en-US" sz="800">
                <a:solidFill>
                  <a:srgbClr val="000000"/>
                </a:solidFill>
              </a:endParaRPr>
            </a:p>
          </p:txBody>
        </p:sp>
        <p:sp>
          <p:nvSpPr>
            <p:cNvPr id="137" name="TextBox 71">
              <a:extLst>
                <a:ext uri="{FF2B5EF4-FFF2-40B4-BE49-F238E27FC236}">
                  <a16:creationId xmlns:a16="http://schemas.microsoft.com/office/drawing/2014/main" id="{D2AC219F-6A2C-7CF3-6752-4D8DBE3D796A}"/>
                </a:ext>
              </a:extLst>
            </p:cNvPr>
            <p:cNvSpPr txBox="1"/>
            <p:nvPr/>
          </p:nvSpPr>
          <p:spPr>
            <a:xfrm>
              <a:off x="3524415" y="1437924"/>
              <a:ext cx="2411231" cy="31116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rgbClr val="03234B"/>
                  </a:solidFill>
                  <a:latin typeface="Arial"/>
                  <a:ea typeface="+mn-ea"/>
                  <a:cs typeface="+mn-cs"/>
                </a:defRPr>
              </a:lvl1pPr>
              <a:lvl2pPr marL="457200" algn="l" defTabSz="914400" rtl="0" eaLnBrk="1" latinLnBrk="0" hangingPunct="1">
                <a:defRPr sz="1800" kern="1200">
                  <a:solidFill>
                    <a:srgbClr val="03234B"/>
                  </a:solidFill>
                  <a:latin typeface="Arial"/>
                  <a:ea typeface="+mn-ea"/>
                  <a:cs typeface="+mn-cs"/>
                </a:defRPr>
              </a:lvl2pPr>
              <a:lvl3pPr marL="914400" algn="l" defTabSz="914400" rtl="0" eaLnBrk="1" latinLnBrk="0" hangingPunct="1">
                <a:defRPr sz="1800" kern="1200">
                  <a:solidFill>
                    <a:srgbClr val="03234B"/>
                  </a:solidFill>
                  <a:latin typeface="Arial"/>
                  <a:ea typeface="+mn-ea"/>
                  <a:cs typeface="+mn-cs"/>
                </a:defRPr>
              </a:lvl3pPr>
              <a:lvl4pPr marL="1371600" algn="l" defTabSz="914400" rtl="0" eaLnBrk="1" latinLnBrk="0" hangingPunct="1">
                <a:defRPr sz="1800" kern="1200">
                  <a:solidFill>
                    <a:srgbClr val="03234B"/>
                  </a:solidFill>
                  <a:latin typeface="Arial"/>
                  <a:ea typeface="+mn-ea"/>
                  <a:cs typeface="+mn-cs"/>
                </a:defRPr>
              </a:lvl4pPr>
              <a:lvl5pPr marL="1828800" algn="l" defTabSz="914400" rtl="0" eaLnBrk="1" latinLnBrk="0" hangingPunct="1">
                <a:defRPr sz="1800" kern="1200">
                  <a:solidFill>
                    <a:srgbClr val="03234B"/>
                  </a:solidFill>
                  <a:latin typeface="Arial"/>
                  <a:ea typeface="+mn-ea"/>
                  <a:cs typeface="+mn-cs"/>
                </a:defRPr>
              </a:lvl5pPr>
              <a:lvl6pPr marL="2286000" algn="l" defTabSz="914400" rtl="0" eaLnBrk="1" latinLnBrk="0" hangingPunct="1">
                <a:defRPr sz="1800" kern="1200">
                  <a:solidFill>
                    <a:srgbClr val="03234B"/>
                  </a:solidFill>
                  <a:latin typeface="Arial"/>
                  <a:ea typeface="+mn-ea"/>
                  <a:cs typeface="+mn-cs"/>
                </a:defRPr>
              </a:lvl6pPr>
              <a:lvl7pPr marL="2743200" algn="l" defTabSz="914400" rtl="0" eaLnBrk="1" latinLnBrk="0" hangingPunct="1">
                <a:defRPr sz="1800" kern="1200">
                  <a:solidFill>
                    <a:srgbClr val="03234B"/>
                  </a:solidFill>
                  <a:latin typeface="Arial"/>
                  <a:ea typeface="+mn-ea"/>
                  <a:cs typeface="+mn-cs"/>
                </a:defRPr>
              </a:lvl7pPr>
              <a:lvl8pPr marL="3200400" algn="l" defTabSz="914400" rtl="0" eaLnBrk="1" latinLnBrk="0" hangingPunct="1">
                <a:defRPr sz="1800" kern="1200">
                  <a:solidFill>
                    <a:srgbClr val="03234B"/>
                  </a:solidFill>
                  <a:latin typeface="Arial"/>
                  <a:ea typeface="+mn-ea"/>
                  <a:cs typeface="+mn-cs"/>
                </a:defRPr>
              </a:lvl8pPr>
              <a:lvl9pPr marL="3657600" algn="l" defTabSz="914400" rtl="0" eaLnBrk="1" latinLnBrk="0" hangingPunct="1">
                <a:defRPr sz="1800" kern="1200">
                  <a:solidFill>
                    <a:srgbClr val="03234B"/>
                  </a:solidFill>
                  <a:latin typeface="Arial"/>
                  <a:ea typeface="+mn-ea"/>
                  <a:cs typeface="+mn-cs"/>
                </a:defRPr>
              </a:lvl9pPr>
            </a:lstStyle>
            <a:p>
              <a:pPr>
                <a:defRPr/>
              </a:pPr>
              <a:r>
                <a:rPr lang="en-US" sz="800" dirty="0">
                  <a:cs typeface="Arial"/>
                </a:rPr>
                <a:t>C</a:t>
              </a:r>
              <a:r>
                <a:rPr kumimoji="0" lang="en-US" sz="800" b="0" i="0" u="none" strike="noStrike" kern="1200" cap="none" spc="0" normalizeH="0" baseline="0" noProof="0" dirty="0">
                  <a:ln>
                    <a:noFill/>
                  </a:ln>
                  <a:solidFill>
                    <a:srgbClr val="03234B"/>
                  </a:solidFill>
                  <a:effectLst/>
                  <a:uLnTx/>
                  <a:uFillTx/>
                  <a:latin typeface="Arial"/>
                  <a:ea typeface="+mn-ea"/>
                  <a:cs typeface="Arial"/>
                </a:rPr>
                <a:t>lock source : </a:t>
              </a:r>
              <a:r>
                <a:rPr lang="fr-FR" sz="800" b="1" dirty="0"/>
                <a:t>HSI (ST) </a:t>
              </a:r>
              <a:r>
                <a:rPr lang="fr-FR" sz="800" dirty="0"/>
                <a:t>/ </a:t>
              </a:r>
              <a:r>
                <a:rPr lang="fr-FR" sz="800" b="1" dirty="0"/>
                <a:t>FIRC_48M (NXP)</a:t>
              </a:r>
            </a:p>
            <a:p>
              <a:pPr>
                <a:defRPr/>
              </a:pPr>
              <a:r>
                <a:rPr lang="en-US" sz="800" dirty="0"/>
                <a:t>Clock frequency: </a:t>
              </a:r>
              <a:r>
                <a:rPr lang="en-US" sz="800" b="1" dirty="0"/>
                <a:t>CM33: 150 MHz (ST and </a:t>
              </a:r>
              <a:r>
                <a:rPr lang="fr-FR" sz="800" b="1" dirty="0"/>
                <a:t>NXP</a:t>
              </a:r>
              <a:r>
                <a:rPr lang="en-US" sz="800" b="1" dirty="0"/>
                <a:t>)</a:t>
              </a:r>
            </a:p>
            <a:p>
              <a:pPr>
                <a:defRPr/>
              </a:pPr>
              <a:r>
                <a:rPr lang="en-US" sz="800" b="1" dirty="0"/>
                <a:t>                            </a:t>
              </a:r>
            </a:p>
          </p:txBody>
        </p:sp>
        <p:cxnSp>
          <p:nvCxnSpPr>
            <p:cNvPr id="139" name="Straight Arrow Connector 138">
              <a:extLst>
                <a:ext uri="{FF2B5EF4-FFF2-40B4-BE49-F238E27FC236}">
                  <a16:creationId xmlns:a16="http://schemas.microsoft.com/office/drawing/2014/main" id="{51DD04ED-9EA0-AF86-07C6-876F8C3473EF}"/>
                </a:ext>
              </a:extLst>
            </p:cNvPr>
            <p:cNvCxnSpPr>
              <a:cxnSpLocks/>
              <a:stCxn id="124" idx="3"/>
              <a:endCxn id="137" idx="1"/>
            </p:cNvCxnSpPr>
            <p:nvPr/>
          </p:nvCxnSpPr>
          <p:spPr>
            <a:xfrm flipV="1">
              <a:off x="3310908" y="1593507"/>
              <a:ext cx="213507" cy="21108"/>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534EAB4C-1F12-7CCC-DF43-A661D30B0DC0}"/>
                </a:ext>
              </a:extLst>
            </p:cNvPr>
            <p:cNvCxnSpPr>
              <a:cxnSpLocks/>
              <a:stCxn id="127" idx="3"/>
              <a:endCxn id="142" idx="1"/>
            </p:cNvCxnSpPr>
            <p:nvPr/>
          </p:nvCxnSpPr>
          <p:spPr>
            <a:xfrm>
              <a:off x="3310908" y="2037512"/>
              <a:ext cx="236018" cy="336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3A3ACFB3-5E40-BB8A-3903-07BDBF97456D}"/>
                </a:ext>
              </a:extLst>
            </p:cNvPr>
            <p:cNvSpPr txBox="1"/>
            <p:nvPr/>
          </p:nvSpPr>
          <p:spPr>
            <a:xfrm>
              <a:off x="3546927" y="1957552"/>
              <a:ext cx="2081574" cy="166642"/>
            </a:xfrm>
            <a:prstGeom prst="rect">
              <a:avLst/>
            </a:prstGeom>
            <a:noFill/>
          </p:spPr>
          <p:txBody>
            <a:bodyPr wrap="square">
              <a:spAutoFit/>
            </a:bodyPr>
            <a:lstStyle/>
            <a:p>
              <a:pPr lvl="0">
                <a:defRPr/>
              </a:pPr>
              <a:r>
                <a:rPr lang="en-US" sz="800"/>
                <a:t>Configure FATFS to use SRAM as storage</a:t>
              </a:r>
              <a:endParaRPr kumimoji="0" lang="en-US" sz="800" i="0" u="none" strike="noStrike" kern="1200" cap="none" spc="0" normalizeH="0" baseline="0" noProof="0">
                <a:ln>
                  <a:noFill/>
                </a:ln>
                <a:solidFill>
                  <a:srgbClr val="03234B"/>
                </a:solidFill>
                <a:effectLst/>
                <a:uLnTx/>
                <a:uFillTx/>
                <a:latin typeface="Arial"/>
                <a:ea typeface="+mn-ea"/>
                <a:cs typeface="+mn-cs"/>
              </a:endParaRPr>
            </a:p>
          </p:txBody>
        </p:sp>
      </p:grpSp>
      <p:sp>
        <p:nvSpPr>
          <p:cNvPr id="199" name="TextBox 198">
            <a:extLst>
              <a:ext uri="{FF2B5EF4-FFF2-40B4-BE49-F238E27FC236}">
                <a16:creationId xmlns:a16="http://schemas.microsoft.com/office/drawing/2014/main" id="{66874177-6E9C-DDE8-E66A-6CD6DDF9690A}"/>
              </a:ext>
            </a:extLst>
          </p:cNvPr>
          <p:cNvSpPr txBox="1"/>
          <p:nvPr/>
        </p:nvSpPr>
        <p:spPr>
          <a:xfrm>
            <a:off x="120963" y="1031090"/>
            <a:ext cx="4659303" cy="677108"/>
          </a:xfrm>
          <a:prstGeom prst="rect">
            <a:avLst/>
          </a:prstGeom>
          <a:noFill/>
        </p:spPr>
        <p:txBody>
          <a:bodyPr wrap="square" rtlCol="0">
            <a:spAutoFit/>
          </a:bodyPr>
          <a:lstStyle/>
          <a:p>
            <a:r>
              <a:rPr lang="en-US" sz="1400" b="1" u="sng" dirty="0">
                <a:solidFill>
                  <a:srgbClr val="0070C0"/>
                </a:solidFill>
              </a:rPr>
              <a:t>BareMetal mode: </a:t>
            </a:r>
            <a:r>
              <a:rPr lang="en-US" sz="1400" b="1" u="sng" dirty="0" err="1">
                <a:solidFill>
                  <a:srgbClr val="0070C0"/>
                </a:solidFill>
              </a:rPr>
              <a:t>FatFS</a:t>
            </a:r>
            <a:r>
              <a:rPr lang="en-US" sz="1400" b="1" u="sng" dirty="0">
                <a:solidFill>
                  <a:srgbClr val="0070C0"/>
                </a:solidFill>
              </a:rPr>
              <a:t> w/ SRAM internal memory</a:t>
            </a:r>
          </a:p>
          <a:p>
            <a:endParaRPr lang="en-US" sz="1400" b="1" dirty="0">
              <a:solidFill>
                <a:srgbClr val="0070C0"/>
              </a:solidFill>
            </a:endParaRPr>
          </a:p>
          <a:p>
            <a:r>
              <a:rPr lang="en-US" sz="1000" b="1" dirty="0">
                <a:solidFill>
                  <a:srgbClr val="002060"/>
                </a:solidFill>
              </a:rPr>
              <a:t>STM32U575xx (CM33) vs MCX-N9 XX (CM33)</a:t>
            </a:r>
          </a:p>
        </p:txBody>
      </p:sp>
      <p:sp>
        <p:nvSpPr>
          <p:cNvPr id="4" name="Slide Number Placeholder 3">
            <a:extLst>
              <a:ext uri="{FF2B5EF4-FFF2-40B4-BE49-F238E27FC236}">
                <a16:creationId xmlns:a16="http://schemas.microsoft.com/office/drawing/2014/main" id="{673B58B7-6670-7002-2FBE-7501A3F2B258}"/>
              </a:ext>
            </a:extLst>
          </p:cNvPr>
          <p:cNvSpPr>
            <a:spLocks noGrp="1"/>
          </p:cNvSpPr>
          <p:nvPr>
            <p:ph type="sldNum" sz="quarter" idx="12"/>
          </p:nvPr>
        </p:nvSpPr>
        <p:spPr/>
        <p:txBody>
          <a:bodyPr/>
          <a:lstStyle/>
          <a:p>
            <a:fld id="{40A7B169-58CE-4E65-B1F9-ACF9E46440C2}" type="slidenum">
              <a:rPr lang="en-US" smtClean="0"/>
              <a:t>15</a:t>
            </a:fld>
            <a:endParaRPr lang="en-US"/>
          </a:p>
        </p:txBody>
      </p:sp>
    </p:spTree>
    <p:extLst>
      <p:ext uri="{BB962C8B-B14F-4D97-AF65-F5344CB8AC3E}">
        <p14:creationId xmlns:p14="http://schemas.microsoft.com/office/powerpoint/2010/main" val="192812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FEE47-9DF6-BAAA-1D7E-7BCD5F2E6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97CF4-E8C2-B1EA-CCCD-D7D118A616F8}"/>
              </a:ext>
            </a:extLst>
          </p:cNvPr>
          <p:cNvSpPr>
            <a:spLocks noGrp="1"/>
          </p:cNvSpPr>
          <p:nvPr>
            <p:ph type="title"/>
          </p:nvPr>
        </p:nvSpPr>
        <p:spPr/>
        <p:txBody>
          <a:bodyPr/>
          <a:lstStyle/>
          <a:p>
            <a:r>
              <a:rPr lang="en-US"/>
              <a:t>ST Competitors MW Benchmark: File System </a:t>
            </a:r>
            <a:br>
              <a:rPr lang="en-US"/>
            </a:br>
            <a:r>
              <a:rPr lang="en-US" sz="2400" b="1">
                <a:solidFill>
                  <a:schemeClr val="accent2"/>
                </a:solidFill>
              </a:rPr>
              <a:t>ST vs NXP Tests</a:t>
            </a:r>
            <a:endParaRPr lang="en-US" sz="2400"/>
          </a:p>
        </p:txBody>
      </p:sp>
      <p:graphicFrame>
        <p:nvGraphicFramePr>
          <p:cNvPr id="5" name="Table 4">
            <a:extLst>
              <a:ext uri="{FF2B5EF4-FFF2-40B4-BE49-F238E27FC236}">
                <a16:creationId xmlns:a16="http://schemas.microsoft.com/office/drawing/2014/main" id="{403448C2-6C4C-E6EE-7BCF-59CE4F265AFE}"/>
              </a:ext>
            </a:extLst>
          </p:cNvPr>
          <p:cNvGraphicFramePr>
            <a:graphicFrameLocks noGrp="1"/>
          </p:cNvGraphicFramePr>
          <p:nvPr>
            <p:extLst>
              <p:ext uri="{D42A27DB-BD31-4B8C-83A1-F6EECF244321}">
                <p14:modId xmlns:p14="http://schemas.microsoft.com/office/powerpoint/2010/main" val="702547446"/>
              </p:ext>
            </p:extLst>
          </p:nvPr>
        </p:nvGraphicFramePr>
        <p:xfrm>
          <a:off x="200862" y="2062934"/>
          <a:ext cx="5297890" cy="1066800"/>
        </p:xfrm>
        <a:graphic>
          <a:graphicData uri="http://schemas.openxmlformats.org/drawingml/2006/table">
            <a:tbl>
              <a:tblPr firstRow="1" bandRow="1">
                <a:tableStyleId>{EB344D84-9AFB-497E-A393-DC336BA19D2E}</a:tableStyleId>
              </a:tblPr>
              <a:tblGrid>
                <a:gridCol w="891370">
                  <a:extLst>
                    <a:ext uri="{9D8B030D-6E8A-4147-A177-3AD203B41FA5}">
                      <a16:colId xmlns:a16="http://schemas.microsoft.com/office/drawing/2014/main" val="1473133747"/>
                    </a:ext>
                  </a:extLst>
                </a:gridCol>
                <a:gridCol w="1227786">
                  <a:extLst>
                    <a:ext uri="{9D8B030D-6E8A-4147-A177-3AD203B41FA5}">
                      <a16:colId xmlns:a16="http://schemas.microsoft.com/office/drawing/2014/main" val="4162598800"/>
                    </a:ext>
                  </a:extLst>
                </a:gridCol>
                <a:gridCol w="1059578">
                  <a:extLst>
                    <a:ext uri="{9D8B030D-6E8A-4147-A177-3AD203B41FA5}">
                      <a16:colId xmlns:a16="http://schemas.microsoft.com/office/drawing/2014/main" val="1196173778"/>
                    </a:ext>
                  </a:extLst>
                </a:gridCol>
                <a:gridCol w="896304">
                  <a:extLst>
                    <a:ext uri="{9D8B030D-6E8A-4147-A177-3AD203B41FA5}">
                      <a16:colId xmlns:a16="http://schemas.microsoft.com/office/drawing/2014/main" val="2713348666"/>
                    </a:ext>
                  </a:extLst>
                </a:gridCol>
                <a:gridCol w="1222852">
                  <a:extLst>
                    <a:ext uri="{9D8B030D-6E8A-4147-A177-3AD203B41FA5}">
                      <a16:colId xmlns:a16="http://schemas.microsoft.com/office/drawing/2014/main" val="4253733116"/>
                    </a:ext>
                  </a:extLst>
                </a:gridCol>
              </a:tblGrid>
              <a:tr h="184705">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STM32U575xx</a:t>
                      </a:r>
                    </a:p>
                  </a:txBody>
                  <a:tcPr/>
                </a:tc>
                <a:tc>
                  <a:txBody>
                    <a:bodyPr/>
                    <a:lstStyle/>
                    <a:p>
                      <a:pPr algn="ctr"/>
                      <a:r>
                        <a:rPr lang="en-US" sz="800"/>
                        <a:t>MCX N94</a:t>
                      </a:r>
                    </a:p>
                  </a:txBody>
                  <a:tcPr/>
                </a:tc>
                <a:tc>
                  <a:txBody>
                    <a:bodyPr/>
                    <a:lstStyle/>
                    <a:p>
                      <a:pPr algn="ctr"/>
                      <a:r>
                        <a:rPr lang="en-US" sz="800"/>
                        <a:t>ST vs NXP</a:t>
                      </a:r>
                    </a:p>
                  </a:txBody>
                  <a:tcPr/>
                </a:tc>
                <a:tc>
                  <a:txBody>
                    <a:bodyPr/>
                    <a:lstStyle/>
                    <a:p>
                      <a:pPr algn="ctr"/>
                      <a:r>
                        <a:rPr lang="en-US" sz="800"/>
                        <a:t>Comment</a:t>
                      </a:r>
                    </a:p>
                  </a:txBody>
                  <a:tcPr/>
                </a:tc>
                <a:extLst>
                  <a:ext uri="{0D108BD9-81ED-4DB2-BD59-A6C34878D82A}">
                    <a16:rowId xmlns:a16="http://schemas.microsoft.com/office/drawing/2014/main" val="797373398"/>
                  </a:ext>
                </a:extLst>
              </a:tr>
              <a:tr h="184705">
                <a:tc>
                  <a:txBody>
                    <a:bodyPr/>
                    <a:lstStyle/>
                    <a:p>
                      <a:pPr algn="ctr"/>
                      <a:r>
                        <a:rPr lang="en-US" sz="800" b="1" err="1">
                          <a:solidFill>
                            <a:schemeClr val="tx1"/>
                          </a:solidFill>
                        </a:rPr>
                        <a:t>FatFS</a:t>
                      </a:r>
                      <a:r>
                        <a:rPr lang="en-US" sz="800" b="1">
                          <a:solidFill>
                            <a:schemeClr val="tx1"/>
                          </a:solidFill>
                        </a:rPr>
                        <a:t> Init</a:t>
                      </a:r>
                      <a:endParaRPr lang="en-US" sz="800">
                        <a:solidFill>
                          <a:schemeClr val="tx1"/>
                        </a:solidFill>
                      </a:endParaRPr>
                    </a:p>
                  </a:txBody>
                  <a:tcPr/>
                </a:tc>
                <a:tc>
                  <a:txBody>
                    <a:bodyPr/>
                    <a:lstStyle/>
                    <a:p>
                      <a:pPr algn="ctr"/>
                      <a:r>
                        <a:rPr lang="en-US" sz="800"/>
                        <a:t>152 382</a:t>
                      </a:r>
                    </a:p>
                  </a:txBody>
                  <a:tcPr/>
                </a:tc>
                <a:tc>
                  <a:txBody>
                    <a:bodyPr/>
                    <a:lstStyle/>
                    <a:p>
                      <a:pPr algn="ctr"/>
                      <a:r>
                        <a:rPr lang="en-US" sz="800"/>
                        <a:t>110 987</a:t>
                      </a:r>
                    </a:p>
                  </a:txBody>
                  <a:tcPr/>
                </a:tc>
                <a:tc>
                  <a:txBody>
                    <a:bodyPr/>
                    <a:lstStyle/>
                    <a:p>
                      <a:pPr algn="ctr"/>
                      <a:r>
                        <a:rPr lang="en-US" sz="800" b="1">
                          <a:solidFill>
                            <a:srgbClr val="FF0000"/>
                          </a:solidFill>
                        </a:rPr>
                        <a:t>+37%</a:t>
                      </a:r>
                    </a:p>
                  </a:txBody>
                  <a:tcPr/>
                </a:tc>
                <a:tc>
                  <a:txBody>
                    <a:bodyPr/>
                    <a:lstStyle/>
                    <a:p>
                      <a:pPr algn="ctr"/>
                      <a:endParaRPr lang="en-US" sz="800"/>
                    </a:p>
                  </a:txBody>
                  <a:tcPr/>
                </a:tc>
                <a:extLst>
                  <a:ext uri="{0D108BD9-81ED-4DB2-BD59-A6C34878D82A}">
                    <a16:rowId xmlns:a16="http://schemas.microsoft.com/office/drawing/2014/main" val="1089852517"/>
                  </a:ext>
                </a:extLst>
              </a:tr>
              <a:tr h="184705">
                <a:tc>
                  <a:txBody>
                    <a:bodyPr/>
                    <a:lstStyle/>
                    <a:p>
                      <a:pPr algn="ctr"/>
                      <a:r>
                        <a:rPr lang="en-US" sz="800" b="1">
                          <a:solidFill>
                            <a:schemeClr val="tx1"/>
                          </a:solidFill>
                        </a:rPr>
                        <a:t>Create</a:t>
                      </a:r>
                      <a:endParaRPr lang="en-US" sz="800">
                        <a:solidFill>
                          <a:schemeClr val="tx1"/>
                        </a:solidFill>
                      </a:endParaRPr>
                    </a:p>
                  </a:txBody>
                  <a:tcPr/>
                </a:tc>
                <a:tc>
                  <a:txBody>
                    <a:bodyPr/>
                    <a:lstStyle/>
                    <a:p>
                      <a:pPr algn="ctr"/>
                      <a:r>
                        <a:rPr lang="en-US" sz="800" kern="1200">
                          <a:solidFill>
                            <a:schemeClr val="dk1"/>
                          </a:solidFill>
                          <a:latin typeface="+mn-lt"/>
                          <a:ea typeface="+mn-ea"/>
                          <a:cs typeface="+mn-cs"/>
                        </a:rPr>
                        <a:t>12 482</a:t>
                      </a:r>
                    </a:p>
                  </a:txBody>
                  <a:tcPr/>
                </a:tc>
                <a:tc>
                  <a:txBody>
                    <a:bodyPr/>
                    <a:lstStyle/>
                    <a:p>
                      <a:pPr algn="ctr"/>
                      <a:r>
                        <a:rPr lang="en-US" sz="800" kern="1200">
                          <a:solidFill>
                            <a:schemeClr val="dk1"/>
                          </a:solidFill>
                          <a:latin typeface="+mn-lt"/>
                          <a:ea typeface="+mn-ea"/>
                          <a:cs typeface="+mn-cs"/>
                        </a:rPr>
                        <a:t>11 606</a:t>
                      </a:r>
                    </a:p>
                  </a:txBody>
                  <a:tcPr/>
                </a:tc>
                <a:tc>
                  <a:txBody>
                    <a:bodyPr/>
                    <a:lstStyle/>
                    <a:p>
                      <a:pPr algn="ctr"/>
                      <a:r>
                        <a:rPr lang="fr-FR" sz="800" b="1" kern="1200">
                          <a:solidFill>
                            <a:srgbClr val="FF0000"/>
                          </a:solidFill>
                          <a:latin typeface="+mn-lt"/>
                          <a:ea typeface="+mn-ea"/>
                          <a:cs typeface="+mn-cs"/>
                        </a:rPr>
                        <a:t>+7%</a:t>
                      </a:r>
                      <a:endParaRPr lang="en-US" sz="800" b="1" kern="1200">
                        <a:solidFill>
                          <a:srgbClr val="FF0000"/>
                        </a:solidFill>
                        <a:latin typeface="+mn-lt"/>
                        <a:ea typeface="+mn-ea"/>
                        <a:cs typeface="+mn-cs"/>
                      </a:endParaRPr>
                    </a:p>
                  </a:txBody>
                  <a:tcPr/>
                </a:tc>
                <a:tc rowSpan="3">
                  <a:txBody>
                    <a:bodyPr/>
                    <a:lstStyle/>
                    <a:p>
                      <a:pPr algn="ctr"/>
                      <a:r>
                        <a:rPr lang="en-US" sz="800"/>
                        <a:t>Close file operations execution time.</a:t>
                      </a:r>
                    </a:p>
                  </a:txBody>
                  <a:tcPr/>
                </a:tc>
                <a:extLst>
                  <a:ext uri="{0D108BD9-81ED-4DB2-BD59-A6C34878D82A}">
                    <a16:rowId xmlns:a16="http://schemas.microsoft.com/office/drawing/2014/main" val="2065877290"/>
                  </a:ext>
                </a:extLst>
              </a:tr>
              <a:tr h="184705">
                <a:tc>
                  <a:txBody>
                    <a:bodyPr/>
                    <a:lstStyle/>
                    <a:p>
                      <a:pPr algn="ctr"/>
                      <a:r>
                        <a:rPr lang="en-US" sz="800" b="1">
                          <a:solidFill>
                            <a:schemeClr val="tx1"/>
                          </a:solidFill>
                        </a:rPr>
                        <a:t>Write</a:t>
                      </a:r>
                      <a:endParaRPr lang="en-US" sz="800">
                        <a:solidFill>
                          <a:schemeClr val="tx1"/>
                        </a:solidFill>
                      </a:endParaRPr>
                    </a:p>
                  </a:txBody>
                  <a:tcPr/>
                </a:tc>
                <a:tc>
                  <a:txBody>
                    <a:bodyPr/>
                    <a:lstStyle/>
                    <a:p>
                      <a:pPr algn="ctr"/>
                      <a:r>
                        <a:rPr lang="en-US" sz="800">
                          <a:latin typeface="+mj-lt"/>
                        </a:rPr>
                        <a:t>6762</a:t>
                      </a:r>
                    </a:p>
                  </a:txBody>
                  <a:tcPr/>
                </a:tc>
                <a:tc>
                  <a:txBody>
                    <a:bodyPr/>
                    <a:lstStyle/>
                    <a:p>
                      <a:pPr algn="ctr"/>
                      <a:r>
                        <a:rPr lang="en-US" sz="800">
                          <a:latin typeface="+mj-lt"/>
                        </a:rPr>
                        <a:t>7288</a:t>
                      </a:r>
                    </a:p>
                  </a:txBody>
                  <a:tcPr/>
                </a:tc>
                <a:tc>
                  <a:txBody>
                    <a:bodyPr/>
                    <a:lstStyle/>
                    <a:p>
                      <a:pPr marL="0" algn="ctr" defTabSz="914400" rtl="0" eaLnBrk="1" latinLnBrk="0" hangingPunct="1"/>
                      <a:r>
                        <a:rPr lang="fr-FR" sz="800" b="1" kern="1200">
                          <a:solidFill>
                            <a:schemeClr val="accent5"/>
                          </a:solidFill>
                          <a:latin typeface="+mn-lt"/>
                          <a:ea typeface="+mn-ea"/>
                          <a:cs typeface="+mn-cs"/>
                        </a:rPr>
                        <a:t>-7%</a:t>
                      </a:r>
                      <a:endParaRPr lang="en-US" sz="800" b="1" kern="1200">
                        <a:solidFill>
                          <a:schemeClr val="accent5"/>
                        </a:solidFill>
                        <a:latin typeface="+mn-lt"/>
                        <a:ea typeface="+mn-ea"/>
                        <a:cs typeface="+mn-cs"/>
                      </a:endParaRPr>
                    </a:p>
                  </a:txBody>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p>
                  </a:txBody>
                  <a:tcPr/>
                </a:tc>
                <a:extLst>
                  <a:ext uri="{0D108BD9-81ED-4DB2-BD59-A6C34878D82A}">
                    <a16:rowId xmlns:a16="http://schemas.microsoft.com/office/drawing/2014/main" val="3217506885"/>
                  </a:ext>
                </a:extLst>
              </a:tr>
              <a:tr h="184705">
                <a:tc>
                  <a:txBody>
                    <a:bodyPr/>
                    <a:lstStyle/>
                    <a:p>
                      <a:pPr algn="ctr"/>
                      <a:r>
                        <a:rPr lang="en-US" sz="800" b="1">
                          <a:solidFill>
                            <a:schemeClr val="tx1"/>
                          </a:solidFill>
                        </a:rPr>
                        <a:t>Read</a:t>
                      </a:r>
                      <a:endParaRPr lang="en-US" sz="800">
                        <a:solidFill>
                          <a:schemeClr val="tx1"/>
                        </a:solidFill>
                      </a:endParaRPr>
                    </a:p>
                  </a:txBody>
                  <a:tcPr/>
                </a:tc>
                <a:tc>
                  <a:txBody>
                    <a:bodyPr/>
                    <a:lstStyle/>
                    <a:p>
                      <a:pPr algn="ctr"/>
                      <a:r>
                        <a:rPr lang="en-US" sz="800">
                          <a:latin typeface="+mj-lt"/>
                        </a:rPr>
                        <a:t>3713</a:t>
                      </a:r>
                    </a:p>
                  </a:txBody>
                  <a:tcPr/>
                </a:tc>
                <a:tc>
                  <a:txBody>
                    <a:bodyPr/>
                    <a:lstStyle/>
                    <a:p>
                      <a:pPr algn="ctr"/>
                      <a:r>
                        <a:rPr lang="en-US" sz="800">
                          <a:latin typeface="+mj-lt"/>
                        </a:rPr>
                        <a:t>3628</a:t>
                      </a:r>
                    </a:p>
                  </a:txBody>
                  <a:tcPr/>
                </a:tc>
                <a:tc>
                  <a:txBody>
                    <a:bodyPr/>
                    <a:lstStyle/>
                    <a:p>
                      <a:pPr algn="ctr"/>
                      <a:r>
                        <a:rPr lang="fr-FR" sz="800" b="1" dirty="0">
                          <a:solidFill>
                            <a:srgbClr val="FF0000"/>
                          </a:solidFill>
                          <a:latin typeface="+mj-lt"/>
                        </a:rPr>
                        <a:t>+2%</a:t>
                      </a:r>
                      <a:endParaRPr lang="en-US" sz="800" b="1" dirty="0">
                        <a:solidFill>
                          <a:srgbClr val="FF0000"/>
                        </a:solidFill>
                        <a:latin typeface="+mj-lt"/>
                      </a:endParaRPr>
                    </a:p>
                  </a:txBody>
                  <a:tcPr/>
                </a:tc>
                <a:tc vMerge="1">
                  <a:txBody>
                    <a:bodyPr/>
                    <a:lstStyle/>
                    <a:p>
                      <a:pPr algn="ctr"/>
                      <a:endParaRPr lang="en-US" sz="800"/>
                    </a:p>
                  </a:txBody>
                  <a:tcPr/>
                </a:tc>
                <a:extLst>
                  <a:ext uri="{0D108BD9-81ED-4DB2-BD59-A6C34878D82A}">
                    <a16:rowId xmlns:a16="http://schemas.microsoft.com/office/drawing/2014/main" val="3731594885"/>
                  </a:ext>
                </a:extLst>
              </a:tr>
            </a:tbl>
          </a:graphicData>
        </a:graphic>
      </p:graphicFrame>
      <p:sp>
        <p:nvSpPr>
          <p:cNvPr id="10" name="TextBox 9">
            <a:extLst>
              <a:ext uri="{FF2B5EF4-FFF2-40B4-BE49-F238E27FC236}">
                <a16:creationId xmlns:a16="http://schemas.microsoft.com/office/drawing/2014/main" id="{82DD50F4-DEAE-6AF0-CC7A-FE9BC9AA625D}"/>
              </a:ext>
            </a:extLst>
          </p:cNvPr>
          <p:cNvSpPr txBox="1"/>
          <p:nvPr/>
        </p:nvSpPr>
        <p:spPr>
          <a:xfrm>
            <a:off x="102324" y="1200445"/>
            <a:ext cx="4486651" cy="307777"/>
          </a:xfrm>
          <a:prstGeom prst="rect">
            <a:avLst/>
          </a:prstGeom>
          <a:noFill/>
        </p:spPr>
        <p:txBody>
          <a:bodyPr wrap="square" rtlCol="0">
            <a:spAutoFit/>
          </a:bodyPr>
          <a:lstStyle/>
          <a:p>
            <a:r>
              <a:rPr lang="en-US" sz="1400" b="1" dirty="0">
                <a:solidFill>
                  <a:srgbClr val="0070C0"/>
                </a:solidFill>
              </a:rPr>
              <a:t>BareMetal mode: </a:t>
            </a:r>
            <a:r>
              <a:rPr lang="en-US" sz="1400" b="1" dirty="0" err="1">
                <a:solidFill>
                  <a:srgbClr val="0070C0"/>
                </a:solidFill>
              </a:rPr>
              <a:t>FatFS</a:t>
            </a:r>
            <a:r>
              <a:rPr lang="en-US" sz="1400" b="1" dirty="0">
                <a:solidFill>
                  <a:srgbClr val="0070C0"/>
                </a:solidFill>
              </a:rPr>
              <a:t> w/ SRAM internal memory</a:t>
            </a:r>
          </a:p>
        </p:txBody>
      </p:sp>
      <p:sp>
        <p:nvSpPr>
          <p:cNvPr id="12" name="TextBox 11">
            <a:extLst>
              <a:ext uri="{FF2B5EF4-FFF2-40B4-BE49-F238E27FC236}">
                <a16:creationId xmlns:a16="http://schemas.microsoft.com/office/drawing/2014/main" id="{04D4E330-E44B-4E97-FF61-1CCC7F7B78AE}"/>
              </a:ext>
            </a:extLst>
          </p:cNvPr>
          <p:cNvSpPr txBox="1"/>
          <p:nvPr/>
        </p:nvSpPr>
        <p:spPr>
          <a:xfrm>
            <a:off x="160601" y="1643732"/>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(CPU cycle)</a:t>
            </a:r>
          </a:p>
        </p:txBody>
      </p:sp>
      <p:graphicFrame>
        <p:nvGraphicFramePr>
          <p:cNvPr id="13" name="Table 12">
            <a:extLst>
              <a:ext uri="{FF2B5EF4-FFF2-40B4-BE49-F238E27FC236}">
                <a16:creationId xmlns:a16="http://schemas.microsoft.com/office/drawing/2014/main" id="{965EF16F-010B-02D1-FA3F-516D268AAC8D}"/>
              </a:ext>
            </a:extLst>
          </p:cNvPr>
          <p:cNvGraphicFramePr>
            <a:graphicFrameLocks noGrp="1"/>
          </p:cNvGraphicFramePr>
          <p:nvPr>
            <p:extLst>
              <p:ext uri="{D42A27DB-BD31-4B8C-83A1-F6EECF244321}">
                <p14:modId xmlns:p14="http://schemas.microsoft.com/office/powerpoint/2010/main" val="2394032238"/>
              </p:ext>
            </p:extLst>
          </p:nvPr>
        </p:nvGraphicFramePr>
        <p:xfrm>
          <a:off x="206586" y="4072932"/>
          <a:ext cx="5297887" cy="1072342"/>
        </p:xfrm>
        <a:graphic>
          <a:graphicData uri="http://schemas.openxmlformats.org/drawingml/2006/table">
            <a:tbl>
              <a:tblPr firstRow="1" bandRow="1">
                <a:tableStyleId>{EB344D84-9AFB-497E-A393-DC336BA19D2E}</a:tableStyleId>
              </a:tblPr>
              <a:tblGrid>
                <a:gridCol w="1211113">
                  <a:extLst>
                    <a:ext uri="{9D8B030D-6E8A-4147-A177-3AD203B41FA5}">
                      <a16:colId xmlns:a16="http://schemas.microsoft.com/office/drawing/2014/main" val="1473133747"/>
                    </a:ext>
                  </a:extLst>
                </a:gridCol>
                <a:gridCol w="1362258">
                  <a:extLst>
                    <a:ext uri="{9D8B030D-6E8A-4147-A177-3AD203B41FA5}">
                      <a16:colId xmlns:a16="http://schemas.microsoft.com/office/drawing/2014/main" val="4162598800"/>
                    </a:ext>
                  </a:extLst>
                </a:gridCol>
                <a:gridCol w="1362258">
                  <a:extLst>
                    <a:ext uri="{9D8B030D-6E8A-4147-A177-3AD203B41FA5}">
                      <a16:colId xmlns:a16="http://schemas.microsoft.com/office/drawing/2014/main" val="1196173778"/>
                    </a:ext>
                  </a:extLst>
                </a:gridCol>
                <a:gridCol w="1362258">
                  <a:extLst>
                    <a:ext uri="{9D8B030D-6E8A-4147-A177-3AD203B41FA5}">
                      <a16:colId xmlns:a16="http://schemas.microsoft.com/office/drawing/2014/main" val="2713348666"/>
                    </a:ext>
                  </a:extLst>
                </a:gridCol>
              </a:tblGrid>
              <a:tr h="254381">
                <a:tc>
                  <a:txBody>
                    <a:bodyPr/>
                    <a:lstStyle/>
                    <a:p>
                      <a:pPr algn="ctr"/>
                      <a:endParaRPr lang="en-US" sz="800"/>
                    </a:p>
                  </a:txBody>
                  <a:tcP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STM32U575</a:t>
                      </a:r>
                    </a:p>
                  </a:txBody>
                  <a:tcPr>
                    <a:lnL w="12700" cap="flat" cmpd="sng" algn="ctr">
                      <a:solidFill>
                        <a:schemeClr val="tx1"/>
                      </a:solidFill>
                      <a:prstDash val="solid"/>
                      <a:round/>
                      <a:headEnd type="none" w="med" len="med"/>
                      <a:tailEnd type="none" w="med" len="med"/>
                    </a:lnL>
                  </a:tcPr>
                </a:tc>
                <a:tc>
                  <a:txBody>
                    <a:bodyPr/>
                    <a:lstStyle/>
                    <a:p>
                      <a:pPr algn="ctr"/>
                      <a:r>
                        <a:rPr lang="en-US" sz="800"/>
                        <a:t>MCX N94</a:t>
                      </a:r>
                    </a:p>
                  </a:txBody>
                  <a:tcPr/>
                </a:tc>
                <a:tc>
                  <a:txBody>
                    <a:bodyPr/>
                    <a:lstStyle/>
                    <a:p>
                      <a:pPr algn="ctr"/>
                      <a:r>
                        <a:rPr lang="en-US" sz="800"/>
                        <a:t>ST vs NXP</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97373398"/>
                  </a:ext>
                </a:extLst>
              </a:tr>
              <a:tr h="254381">
                <a:tc>
                  <a:txBody>
                    <a:bodyPr/>
                    <a:lstStyle/>
                    <a:p>
                      <a:pPr marL="0" algn="l" defTabSz="914400" rtl="0" eaLnBrk="1" latinLnBrk="0" hangingPunct="1">
                        <a:buNone/>
                      </a:pPr>
                      <a:r>
                        <a:rPr lang="en-US" sz="800" b="1" kern="1200" dirty="0">
                          <a:solidFill>
                            <a:schemeClr val="dk1"/>
                          </a:solidFill>
                          <a:latin typeface="+mn-lt"/>
                          <a:ea typeface="+mn-ea"/>
                          <a:cs typeface="+mn-cs"/>
                        </a:rPr>
                        <a:t>ROM</a:t>
                      </a:r>
                    </a:p>
                  </a:txBody>
                  <a:tcPr marL="50800" marR="50800" marT="12700" marB="12700" anchor="ctr">
                    <a:lnR w="12700" cap="flat" cmpd="sng" algn="ctr">
                      <a:solidFill>
                        <a:schemeClr val="tx1"/>
                      </a:solidFill>
                      <a:prstDash val="solid"/>
                      <a:round/>
                      <a:headEnd type="none" w="med" len="med"/>
                      <a:tailEnd type="none" w="med" len="med"/>
                    </a:lnR>
                  </a:tcPr>
                </a:tc>
                <a:tc>
                  <a:txBody>
                    <a:bodyPr/>
                    <a:lstStyle/>
                    <a:p>
                      <a:pPr algn="ctr">
                        <a:buNone/>
                      </a:pPr>
                      <a:r>
                        <a:rPr lang="en-US" sz="800" kern="1200" dirty="0">
                          <a:solidFill>
                            <a:schemeClr val="dk1"/>
                          </a:solidFill>
                          <a:latin typeface="+mj-lt"/>
                          <a:ea typeface="+mn-ea"/>
                          <a:cs typeface="+mn-cs"/>
                        </a:rPr>
                        <a:t>14 348</a:t>
                      </a:r>
                    </a:p>
                  </a:txBody>
                  <a:tcPr marL="50800" marR="50800" marT="12700" marB="12700" anchor="ctr">
                    <a:lnL w="12700" cap="flat" cmpd="sng" algn="ctr">
                      <a:solidFill>
                        <a:schemeClr val="tx1"/>
                      </a:solidFill>
                      <a:prstDash val="solid"/>
                      <a:round/>
                      <a:headEnd type="none" w="med" len="med"/>
                      <a:tailEnd type="none" w="med" len="med"/>
                    </a:lnL>
                  </a:tcPr>
                </a:tc>
                <a:tc>
                  <a:txBody>
                    <a:bodyPr/>
                    <a:lstStyle/>
                    <a:p>
                      <a:pPr algn="ctr">
                        <a:buNone/>
                      </a:pPr>
                      <a:r>
                        <a:rPr lang="en-US" sz="800" kern="1200" dirty="0">
                          <a:solidFill>
                            <a:schemeClr val="dk1"/>
                          </a:solidFill>
                          <a:latin typeface="+mj-lt"/>
                          <a:ea typeface="+mn-ea"/>
                          <a:cs typeface="+mn-cs"/>
                        </a:rPr>
                        <a:t>12 100</a:t>
                      </a:r>
                    </a:p>
                  </a:txBody>
                  <a:tcPr marL="50800" marR="50800" marT="12700" marB="12700" anchor="ctr"/>
                </a:tc>
                <a:tc>
                  <a:txBody>
                    <a:bodyPr/>
                    <a:lstStyle/>
                    <a:p>
                      <a:pPr algn="ctr">
                        <a:buNone/>
                      </a:pPr>
                      <a:r>
                        <a:rPr lang="en-US" sz="800" b="1" kern="1200" dirty="0">
                          <a:solidFill>
                            <a:srgbClr val="FF0000"/>
                          </a:solidFill>
                          <a:latin typeface="+mj-lt"/>
                          <a:ea typeface="+mn-ea"/>
                          <a:cs typeface="+mn-cs"/>
                        </a:rPr>
                        <a:t>+19%</a:t>
                      </a:r>
                    </a:p>
                  </a:txBody>
                  <a:tcPr marL="50800" marR="50800" marT="12700" marB="1270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65877290"/>
                  </a:ext>
                </a:extLst>
              </a:tr>
              <a:tr h="309199">
                <a:tc>
                  <a:txBody>
                    <a:bodyPr/>
                    <a:lstStyle/>
                    <a:p>
                      <a:pPr marL="0" algn="l" defTabSz="914400" rtl="0" eaLnBrk="1" latinLnBrk="0" hangingPunct="1">
                        <a:buNone/>
                      </a:pPr>
                      <a:r>
                        <a:rPr lang="en-US" sz="800" b="1" kern="1200" dirty="0">
                          <a:solidFill>
                            <a:schemeClr val="dk1"/>
                          </a:solidFill>
                          <a:latin typeface="+mn-lt"/>
                          <a:ea typeface="+mn-ea"/>
                          <a:cs typeface="+mn-cs"/>
                        </a:rPr>
                        <a:t>RAM</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j-lt"/>
                          <a:ea typeface="+mn-ea"/>
                          <a:cs typeface="+mn-cs"/>
                        </a:rPr>
                        <a:t>5 820</a:t>
                      </a:r>
                    </a:p>
                  </a:txBody>
                  <a:tcPr marL="50800" marR="50800" marT="12700" marB="127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j-lt"/>
                          <a:ea typeface="+mn-ea"/>
                          <a:cs typeface="+mn-cs"/>
                        </a:rPr>
                        <a:t>102 357</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ctr">
                        <a:buNone/>
                      </a:pPr>
                      <a:r>
                        <a:rPr lang="en-US" sz="800" b="1" kern="1200" dirty="0">
                          <a:solidFill>
                            <a:srgbClr val="00B050"/>
                          </a:solidFill>
                          <a:latin typeface="+mj-lt"/>
                          <a:ea typeface="+mn-ea"/>
                          <a:cs typeface="+mn-cs"/>
                        </a:rPr>
                        <a:t>-94%</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54381">
                <a:tc>
                  <a:txBody>
                    <a:bodyPr/>
                    <a:lstStyle/>
                    <a:p>
                      <a:pPr marL="0" algn="l" defTabSz="914400" rtl="0" eaLnBrk="1" latinLnBrk="0" hangingPunct="1">
                        <a:buNone/>
                      </a:pPr>
                      <a:r>
                        <a:rPr lang="en-US" sz="800" b="1" kern="1200" dirty="0">
                          <a:solidFill>
                            <a:schemeClr val="dk1"/>
                          </a:solidFill>
                          <a:latin typeface="+mn-lt"/>
                          <a:ea typeface="+mn-ea"/>
                          <a:cs typeface="+mn-cs"/>
                        </a:rPr>
                        <a:t>Total</a:t>
                      </a:r>
                    </a:p>
                  </a:txBody>
                  <a:tcPr marL="50800" marR="508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j-lt"/>
                          <a:ea typeface="+mn-ea"/>
                          <a:cs typeface="+mn-cs"/>
                        </a:rPr>
                        <a:t>20 168</a:t>
                      </a:r>
                    </a:p>
                  </a:txBody>
                  <a:tcPr marL="50800" marR="508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j-lt"/>
                          <a:ea typeface="+mn-ea"/>
                          <a:cs typeface="+mn-cs"/>
                        </a:rPr>
                        <a:t>114 457</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kern="1200" dirty="0">
                          <a:solidFill>
                            <a:srgbClr val="00B050"/>
                          </a:solidFill>
                          <a:latin typeface="+mj-lt"/>
                          <a:ea typeface="+mn-ea"/>
                          <a:cs typeface="+mn-cs"/>
                        </a:rPr>
                        <a:t>-82%</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4" name="TextBox 13">
            <a:extLst>
              <a:ext uri="{FF2B5EF4-FFF2-40B4-BE49-F238E27FC236}">
                <a16:creationId xmlns:a16="http://schemas.microsoft.com/office/drawing/2014/main" id="{0F3E3A3A-E2A7-A478-2638-59CE227EA0BA}"/>
              </a:ext>
            </a:extLst>
          </p:cNvPr>
          <p:cNvSpPr txBox="1"/>
          <p:nvPr/>
        </p:nvSpPr>
        <p:spPr>
          <a:xfrm>
            <a:off x="200862" y="3587667"/>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cxnSp>
        <p:nvCxnSpPr>
          <p:cNvPr id="15" name="Straight Connector 14">
            <a:extLst>
              <a:ext uri="{FF2B5EF4-FFF2-40B4-BE49-F238E27FC236}">
                <a16:creationId xmlns:a16="http://schemas.microsoft.com/office/drawing/2014/main" id="{DB437AEC-9FF3-0662-0299-BEB1767DF93E}"/>
              </a:ext>
            </a:extLst>
          </p:cNvPr>
          <p:cNvCxnSpPr>
            <a:cxnSpLocks/>
          </p:cNvCxnSpPr>
          <p:nvPr/>
        </p:nvCxnSpPr>
        <p:spPr>
          <a:xfrm>
            <a:off x="5745293" y="1136049"/>
            <a:ext cx="0" cy="5379339"/>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sp>
        <p:nvSpPr>
          <p:cNvPr id="16" name="TextBox 15">
            <a:extLst>
              <a:ext uri="{FF2B5EF4-FFF2-40B4-BE49-F238E27FC236}">
                <a16:creationId xmlns:a16="http://schemas.microsoft.com/office/drawing/2014/main" id="{468C35FB-47C3-E78B-1B48-C7EFC659AE6B}"/>
              </a:ext>
            </a:extLst>
          </p:cNvPr>
          <p:cNvSpPr txBox="1"/>
          <p:nvPr/>
        </p:nvSpPr>
        <p:spPr>
          <a:xfrm>
            <a:off x="5792915" y="1196084"/>
            <a:ext cx="5163497" cy="307777"/>
          </a:xfrm>
          <a:prstGeom prst="rect">
            <a:avLst/>
          </a:prstGeom>
          <a:noFill/>
        </p:spPr>
        <p:txBody>
          <a:bodyPr wrap="square" rtlCol="0">
            <a:spAutoFit/>
          </a:bodyPr>
          <a:lstStyle/>
          <a:p>
            <a:r>
              <a:rPr lang="en-US" sz="1400" b="1" dirty="0">
                <a:solidFill>
                  <a:srgbClr val="0070C0"/>
                </a:solidFill>
              </a:rPr>
              <a:t>BareMetal mode: </a:t>
            </a:r>
            <a:r>
              <a:rPr lang="en-US" sz="1400" b="1" dirty="0" err="1">
                <a:solidFill>
                  <a:srgbClr val="0070C0"/>
                </a:solidFill>
              </a:rPr>
              <a:t>FatFS</a:t>
            </a:r>
            <a:r>
              <a:rPr lang="en-US" sz="1400" b="1" dirty="0">
                <a:solidFill>
                  <a:srgbClr val="0070C0"/>
                </a:solidFill>
              </a:rPr>
              <a:t> w/ SD card</a:t>
            </a:r>
          </a:p>
        </p:txBody>
      </p:sp>
      <p:graphicFrame>
        <p:nvGraphicFramePr>
          <p:cNvPr id="20" name="Table 19">
            <a:extLst>
              <a:ext uri="{FF2B5EF4-FFF2-40B4-BE49-F238E27FC236}">
                <a16:creationId xmlns:a16="http://schemas.microsoft.com/office/drawing/2014/main" id="{757B9166-9B7A-35A3-83E1-C4CFDD6104F6}"/>
              </a:ext>
            </a:extLst>
          </p:cNvPr>
          <p:cNvGraphicFramePr>
            <a:graphicFrameLocks noGrp="1"/>
          </p:cNvGraphicFramePr>
          <p:nvPr>
            <p:extLst>
              <p:ext uri="{D42A27DB-BD31-4B8C-83A1-F6EECF244321}">
                <p14:modId xmlns:p14="http://schemas.microsoft.com/office/powerpoint/2010/main" val="2434455348"/>
              </p:ext>
            </p:extLst>
          </p:nvPr>
        </p:nvGraphicFramePr>
        <p:xfrm>
          <a:off x="5891686" y="2034553"/>
          <a:ext cx="6000274" cy="1280160"/>
        </p:xfrm>
        <a:graphic>
          <a:graphicData uri="http://schemas.openxmlformats.org/drawingml/2006/table">
            <a:tbl>
              <a:tblPr firstRow="1" bandRow="1">
                <a:tableStyleId>{EB344D84-9AFB-497E-A393-DC336BA19D2E}</a:tableStyleId>
              </a:tblPr>
              <a:tblGrid>
                <a:gridCol w="958244">
                  <a:extLst>
                    <a:ext uri="{9D8B030D-6E8A-4147-A177-3AD203B41FA5}">
                      <a16:colId xmlns:a16="http://schemas.microsoft.com/office/drawing/2014/main" val="1473133747"/>
                    </a:ext>
                  </a:extLst>
                </a:gridCol>
                <a:gridCol w="1024113">
                  <a:extLst>
                    <a:ext uri="{9D8B030D-6E8A-4147-A177-3AD203B41FA5}">
                      <a16:colId xmlns:a16="http://schemas.microsoft.com/office/drawing/2014/main" val="4162598800"/>
                    </a:ext>
                  </a:extLst>
                </a:gridCol>
                <a:gridCol w="1024113">
                  <a:extLst>
                    <a:ext uri="{9D8B030D-6E8A-4147-A177-3AD203B41FA5}">
                      <a16:colId xmlns:a16="http://schemas.microsoft.com/office/drawing/2014/main" val="1196173778"/>
                    </a:ext>
                  </a:extLst>
                </a:gridCol>
                <a:gridCol w="1024113">
                  <a:extLst>
                    <a:ext uri="{9D8B030D-6E8A-4147-A177-3AD203B41FA5}">
                      <a16:colId xmlns:a16="http://schemas.microsoft.com/office/drawing/2014/main" val="2713348666"/>
                    </a:ext>
                  </a:extLst>
                </a:gridCol>
                <a:gridCol w="1969691">
                  <a:extLst>
                    <a:ext uri="{9D8B030D-6E8A-4147-A177-3AD203B41FA5}">
                      <a16:colId xmlns:a16="http://schemas.microsoft.com/office/drawing/2014/main" val="4253733116"/>
                    </a:ext>
                  </a:extLst>
                </a:gridCol>
              </a:tblGrid>
              <a:tr h="155647">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STM32U575xx</a:t>
                      </a:r>
                    </a:p>
                  </a:txBody>
                  <a:tcPr/>
                </a:tc>
                <a:tc>
                  <a:txBody>
                    <a:bodyPr/>
                    <a:lstStyle/>
                    <a:p>
                      <a:pPr algn="ctr"/>
                      <a:r>
                        <a:rPr lang="en-US" sz="800"/>
                        <a:t>MCX N94</a:t>
                      </a:r>
                    </a:p>
                  </a:txBody>
                  <a:tcPr/>
                </a:tc>
                <a:tc>
                  <a:txBody>
                    <a:bodyPr/>
                    <a:lstStyle/>
                    <a:p>
                      <a:pPr algn="ctr"/>
                      <a:r>
                        <a:rPr lang="en-US" sz="800"/>
                        <a:t>ST vs NXP</a:t>
                      </a:r>
                    </a:p>
                  </a:txBody>
                  <a:tcPr/>
                </a:tc>
                <a:tc>
                  <a:txBody>
                    <a:bodyPr/>
                    <a:lstStyle/>
                    <a:p>
                      <a:pPr algn="ctr"/>
                      <a:r>
                        <a:rPr lang="en-US" sz="800"/>
                        <a:t>Comment</a:t>
                      </a:r>
                    </a:p>
                  </a:txBody>
                  <a:tcPr/>
                </a:tc>
                <a:extLst>
                  <a:ext uri="{0D108BD9-81ED-4DB2-BD59-A6C34878D82A}">
                    <a16:rowId xmlns:a16="http://schemas.microsoft.com/office/drawing/2014/main" val="797373398"/>
                  </a:ext>
                </a:extLst>
              </a:tr>
              <a:tr h="1556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err="1">
                          <a:solidFill>
                            <a:schemeClr val="tx1"/>
                          </a:solidFill>
                        </a:rPr>
                        <a:t>FatFS</a:t>
                      </a:r>
                      <a:r>
                        <a:rPr lang="en-US" sz="800" b="1">
                          <a:solidFill>
                            <a:schemeClr val="tx1"/>
                          </a:solidFill>
                        </a:rPr>
                        <a:t> Init</a:t>
                      </a:r>
                      <a:endParaRPr lang="en-US" sz="800">
                        <a:solidFill>
                          <a:schemeClr val="tx1"/>
                        </a:solidFill>
                      </a:endParaRPr>
                    </a:p>
                  </a:txBody>
                  <a:tcPr/>
                </a:tc>
                <a:tc>
                  <a:txBody>
                    <a:bodyPr/>
                    <a:lstStyle/>
                    <a:p>
                      <a:pPr algn="ctr"/>
                      <a:r>
                        <a:rPr lang="en-US" sz="800">
                          <a:latin typeface="+mj-lt"/>
                        </a:rPr>
                        <a:t>141 630 059</a:t>
                      </a:r>
                    </a:p>
                  </a:txBody>
                  <a:tcPr/>
                </a:tc>
                <a:tc>
                  <a:txBody>
                    <a:bodyPr/>
                    <a:lstStyle/>
                    <a:p>
                      <a:pPr algn="ctr"/>
                      <a:r>
                        <a:rPr lang="en-US" sz="800">
                          <a:latin typeface="+mj-lt"/>
                        </a:rPr>
                        <a:t>238 607 778</a:t>
                      </a:r>
                    </a:p>
                  </a:txBody>
                  <a:tcPr/>
                </a:tc>
                <a:tc>
                  <a:txBody>
                    <a:bodyPr/>
                    <a:lstStyle/>
                    <a:p>
                      <a:pPr algn="ctr"/>
                      <a:r>
                        <a:rPr lang="fr-FR" sz="800" b="0">
                          <a:solidFill>
                            <a:srgbClr val="00B050"/>
                          </a:solidFill>
                          <a:latin typeface="+mj-lt"/>
                        </a:rPr>
                        <a:t>-41%</a:t>
                      </a:r>
                      <a:endParaRPr lang="en-US" sz="800" b="0">
                        <a:solidFill>
                          <a:srgbClr val="00B050"/>
                        </a:solidFill>
                        <a:latin typeface="+mj-lt"/>
                      </a:endParaRPr>
                    </a:p>
                  </a:txBody>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chemeClr val="tx1"/>
                          </a:solidFill>
                          <a:sym typeface="Wingdings" panose="05000000000000000000" pitchFamily="2" charset="2"/>
                        </a:rPr>
                        <a:t>STM32 SD HAL driver performing better than NXP </a:t>
                      </a:r>
                      <a:endParaRPr lang="en-US" sz="800">
                        <a:solidFill>
                          <a:schemeClr val="tx1"/>
                        </a:solidFill>
                      </a:endParaRPr>
                    </a:p>
                  </a:txBody>
                  <a:tcPr anchor="ctr"/>
                </a:tc>
                <a:extLst>
                  <a:ext uri="{0D108BD9-81ED-4DB2-BD59-A6C34878D82A}">
                    <a16:rowId xmlns:a16="http://schemas.microsoft.com/office/drawing/2014/main" val="1089852517"/>
                  </a:ext>
                </a:extLst>
              </a:tr>
              <a:tr h="1556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rPr>
                        <a:t>SD Init</a:t>
                      </a:r>
                    </a:p>
                  </a:txBody>
                  <a:tcPr/>
                </a:tc>
                <a:tc>
                  <a:txBody>
                    <a:bodyPr/>
                    <a:lstStyle/>
                    <a:p>
                      <a:pPr algn="ctr"/>
                      <a:r>
                        <a:rPr lang="fr-FR" sz="800">
                          <a:latin typeface="+mj-lt"/>
                        </a:rPr>
                        <a:t>18 952 807</a:t>
                      </a:r>
                      <a:endParaRPr lang="en-US" sz="800">
                        <a:latin typeface="+mj-lt"/>
                      </a:endParaRPr>
                    </a:p>
                  </a:txBody>
                  <a:tcPr/>
                </a:tc>
                <a:tc>
                  <a:txBody>
                    <a:bodyPr/>
                    <a:lstStyle/>
                    <a:p>
                      <a:pPr algn="ctr"/>
                      <a:r>
                        <a:rPr lang="en-US" sz="800">
                          <a:latin typeface="+mj-lt"/>
                        </a:rPr>
                        <a:t>75 002 047</a:t>
                      </a:r>
                    </a:p>
                  </a:txBody>
                  <a:tcPr/>
                </a:tc>
                <a:tc>
                  <a:txBody>
                    <a:bodyPr/>
                    <a:lstStyle/>
                    <a:p>
                      <a:pPr algn="ctr"/>
                      <a:r>
                        <a:rPr lang="fr-FR" sz="800" b="0">
                          <a:solidFill>
                            <a:srgbClr val="00B050"/>
                          </a:solidFill>
                          <a:latin typeface="+mj-lt"/>
                        </a:rPr>
                        <a:t>-75%</a:t>
                      </a:r>
                      <a:endParaRPr lang="en-US" sz="800" b="0">
                        <a:solidFill>
                          <a:srgbClr val="00B050"/>
                        </a:solidFill>
                        <a:latin typeface="+mj-lt"/>
                      </a:endParaRP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solidFill>
                          <a:srgbClr val="002060"/>
                        </a:solidFill>
                      </a:endParaRPr>
                    </a:p>
                  </a:txBody>
                  <a:tcPr/>
                </a:tc>
                <a:extLst>
                  <a:ext uri="{0D108BD9-81ED-4DB2-BD59-A6C34878D82A}">
                    <a16:rowId xmlns:a16="http://schemas.microsoft.com/office/drawing/2014/main" val="3361986323"/>
                  </a:ext>
                </a:extLst>
              </a:tr>
              <a:tr h="155647">
                <a:tc>
                  <a:txBody>
                    <a:bodyPr/>
                    <a:lstStyle/>
                    <a:p>
                      <a:pPr algn="ctr"/>
                      <a:r>
                        <a:rPr lang="en-US" sz="800" b="1">
                          <a:solidFill>
                            <a:schemeClr val="tx1"/>
                          </a:solidFill>
                        </a:rPr>
                        <a:t>Create</a:t>
                      </a:r>
                      <a:endParaRPr lang="en-US" sz="800">
                        <a:solidFill>
                          <a:schemeClr val="tx1"/>
                        </a:solidFill>
                      </a:endParaRPr>
                    </a:p>
                  </a:txBody>
                  <a:tcPr/>
                </a:tc>
                <a:tc>
                  <a:txBody>
                    <a:bodyPr/>
                    <a:lstStyle/>
                    <a:p>
                      <a:pPr algn="ctr"/>
                      <a:r>
                        <a:rPr lang="en-US" sz="800">
                          <a:latin typeface="+mj-lt"/>
                        </a:rPr>
                        <a:t>274 521</a:t>
                      </a:r>
                    </a:p>
                  </a:txBody>
                  <a:tcPr/>
                </a:tc>
                <a:tc>
                  <a:txBody>
                    <a:bodyPr/>
                    <a:lstStyle/>
                    <a:p>
                      <a:pPr algn="ctr"/>
                      <a:r>
                        <a:rPr lang="en-US" sz="800">
                          <a:latin typeface="+mj-lt"/>
                        </a:rPr>
                        <a:t>110 147 207</a:t>
                      </a:r>
                    </a:p>
                  </a:txBody>
                  <a:tcPr/>
                </a:tc>
                <a:tc>
                  <a:txBody>
                    <a:bodyPr/>
                    <a:lstStyle/>
                    <a:p>
                      <a:pPr algn="ctr"/>
                      <a:r>
                        <a:rPr lang="fr-FR" sz="800" b="0">
                          <a:solidFill>
                            <a:srgbClr val="00B050"/>
                          </a:solidFill>
                          <a:latin typeface="+mj-lt"/>
                        </a:rPr>
                        <a:t>-99%</a:t>
                      </a:r>
                      <a:endParaRPr lang="en-US" sz="800" b="0">
                        <a:solidFill>
                          <a:srgbClr val="00B050"/>
                        </a:solidFill>
                        <a:latin typeface="+mj-lt"/>
                      </a:endParaRPr>
                    </a:p>
                  </a:txBody>
                  <a:tcPr/>
                </a:tc>
                <a:tc vMerge="1">
                  <a:txBody>
                    <a:bodyPr/>
                    <a:lstStyle/>
                    <a:p>
                      <a:pPr algn="l"/>
                      <a:endParaRPr lang="en-US" sz="800"/>
                    </a:p>
                  </a:txBody>
                  <a:tcPr/>
                </a:tc>
                <a:extLst>
                  <a:ext uri="{0D108BD9-81ED-4DB2-BD59-A6C34878D82A}">
                    <a16:rowId xmlns:a16="http://schemas.microsoft.com/office/drawing/2014/main" val="2065877290"/>
                  </a:ext>
                </a:extLst>
              </a:tr>
              <a:tr h="155647">
                <a:tc>
                  <a:txBody>
                    <a:bodyPr/>
                    <a:lstStyle/>
                    <a:p>
                      <a:pPr algn="ctr"/>
                      <a:r>
                        <a:rPr lang="en-US" sz="800" b="1">
                          <a:solidFill>
                            <a:schemeClr val="tx1"/>
                          </a:solidFill>
                        </a:rPr>
                        <a:t>Write</a:t>
                      </a:r>
                      <a:endParaRPr lang="en-US" sz="800">
                        <a:solidFill>
                          <a:schemeClr val="tx1"/>
                        </a:solidFill>
                      </a:endParaRPr>
                    </a:p>
                  </a:txBody>
                  <a:tcPr/>
                </a:tc>
                <a:tc>
                  <a:txBody>
                    <a:bodyPr/>
                    <a:lstStyle/>
                    <a:p>
                      <a:pPr algn="ctr"/>
                      <a:r>
                        <a:rPr lang="en-US" sz="800">
                          <a:latin typeface="+mj-lt"/>
                        </a:rPr>
                        <a:t>470 696</a:t>
                      </a:r>
                    </a:p>
                  </a:txBody>
                  <a:tcPr/>
                </a:tc>
                <a:tc>
                  <a:txBody>
                    <a:bodyPr/>
                    <a:lstStyle/>
                    <a:p>
                      <a:pPr algn="ctr"/>
                      <a:r>
                        <a:rPr lang="en-US" sz="800">
                          <a:latin typeface="+mj-lt"/>
                        </a:rPr>
                        <a:t>4 517 148</a:t>
                      </a:r>
                    </a:p>
                  </a:txBody>
                  <a:tcPr/>
                </a:tc>
                <a:tc>
                  <a:txBody>
                    <a:bodyPr/>
                    <a:lstStyle/>
                    <a:p>
                      <a:pPr algn="ctr"/>
                      <a:r>
                        <a:rPr lang="fr-FR" sz="800" b="0">
                          <a:solidFill>
                            <a:srgbClr val="00B050"/>
                          </a:solidFill>
                          <a:latin typeface="+mj-lt"/>
                        </a:rPr>
                        <a:t>-89%</a:t>
                      </a:r>
                      <a:endParaRPr lang="en-US" sz="800" b="0">
                        <a:solidFill>
                          <a:srgbClr val="00B050"/>
                        </a:solidFill>
                        <a:latin typeface="+mj-lt"/>
                      </a:endParaRP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tc>
                <a:extLst>
                  <a:ext uri="{0D108BD9-81ED-4DB2-BD59-A6C34878D82A}">
                    <a16:rowId xmlns:a16="http://schemas.microsoft.com/office/drawing/2014/main" val="3217506885"/>
                  </a:ext>
                </a:extLst>
              </a:tr>
              <a:tr h="155647">
                <a:tc>
                  <a:txBody>
                    <a:bodyPr/>
                    <a:lstStyle/>
                    <a:p>
                      <a:pPr algn="ctr"/>
                      <a:r>
                        <a:rPr lang="en-US" sz="800" b="1">
                          <a:solidFill>
                            <a:schemeClr val="tx1"/>
                          </a:solidFill>
                        </a:rPr>
                        <a:t>Read</a:t>
                      </a:r>
                      <a:endParaRPr lang="en-US" sz="800">
                        <a:solidFill>
                          <a:schemeClr val="tx1"/>
                        </a:solidFill>
                      </a:endParaRPr>
                    </a:p>
                  </a:txBody>
                  <a:tcPr/>
                </a:tc>
                <a:tc>
                  <a:txBody>
                    <a:bodyPr/>
                    <a:lstStyle/>
                    <a:p>
                      <a:pPr algn="ctr"/>
                      <a:r>
                        <a:rPr lang="en-US" sz="800">
                          <a:latin typeface="+mj-lt"/>
                        </a:rPr>
                        <a:t>92 988</a:t>
                      </a:r>
                    </a:p>
                  </a:txBody>
                  <a:tcPr/>
                </a:tc>
                <a:tc>
                  <a:txBody>
                    <a:bodyPr/>
                    <a:lstStyle/>
                    <a:p>
                      <a:pPr algn="ctr"/>
                      <a:r>
                        <a:rPr lang="en-US" sz="800">
                          <a:latin typeface="+mj-lt"/>
                        </a:rPr>
                        <a:t>96 432</a:t>
                      </a:r>
                    </a:p>
                  </a:txBody>
                  <a:tcPr/>
                </a:tc>
                <a:tc>
                  <a:txBody>
                    <a:bodyPr/>
                    <a:lstStyle/>
                    <a:p>
                      <a:pPr algn="ctr"/>
                      <a:r>
                        <a:rPr lang="fr-FR" sz="800" b="1">
                          <a:solidFill>
                            <a:srgbClr val="F68F1E"/>
                          </a:solidFill>
                          <a:latin typeface="+mj-lt"/>
                        </a:rPr>
                        <a:t>-3%</a:t>
                      </a:r>
                      <a:endParaRPr lang="en-US" sz="800" b="1">
                        <a:solidFill>
                          <a:srgbClr val="F68F1E"/>
                        </a:solidFill>
                        <a:latin typeface="+mj-lt"/>
                      </a:endParaRPr>
                    </a:p>
                  </a:txBody>
                  <a:tcPr/>
                </a:tc>
                <a:tc>
                  <a:txBody>
                    <a:bodyPr/>
                    <a:lstStyle/>
                    <a:p>
                      <a:pPr algn="l"/>
                      <a:endParaRPr lang="en-US" sz="800" dirty="0"/>
                    </a:p>
                  </a:txBody>
                  <a:tcPr/>
                </a:tc>
                <a:extLst>
                  <a:ext uri="{0D108BD9-81ED-4DB2-BD59-A6C34878D82A}">
                    <a16:rowId xmlns:a16="http://schemas.microsoft.com/office/drawing/2014/main" val="3731594885"/>
                  </a:ext>
                </a:extLst>
              </a:tr>
            </a:tbl>
          </a:graphicData>
        </a:graphic>
      </p:graphicFrame>
      <p:sp>
        <p:nvSpPr>
          <p:cNvPr id="21" name="TextBox 20">
            <a:extLst>
              <a:ext uri="{FF2B5EF4-FFF2-40B4-BE49-F238E27FC236}">
                <a16:creationId xmlns:a16="http://schemas.microsoft.com/office/drawing/2014/main" id="{6AB0C1E7-1F2C-D964-366D-9CCC3155589E}"/>
              </a:ext>
            </a:extLst>
          </p:cNvPr>
          <p:cNvSpPr txBox="1"/>
          <p:nvPr/>
        </p:nvSpPr>
        <p:spPr>
          <a:xfrm>
            <a:off x="5792915" y="1641383"/>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dirty="0">
                <a:solidFill>
                  <a:schemeClr val="accent2"/>
                </a:solidFill>
              </a:rPr>
              <a:t>Execution time (CPU cycle)</a:t>
            </a:r>
          </a:p>
        </p:txBody>
      </p:sp>
      <p:graphicFrame>
        <p:nvGraphicFramePr>
          <p:cNvPr id="22" name="Table 21">
            <a:extLst>
              <a:ext uri="{FF2B5EF4-FFF2-40B4-BE49-F238E27FC236}">
                <a16:creationId xmlns:a16="http://schemas.microsoft.com/office/drawing/2014/main" id="{62253BB3-D750-3B69-C097-1382F6B6E8C8}"/>
              </a:ext>
            </a:extLst>
          </p:cNvPr>
          <p:cNvGraphicFramePr>
            <a:graphicFrameLocks noGrp="1"/>
          </p:cNvGraphicFramePr>
          <p:nvPr>
            <p:extLst>
              <p:ext uri="{D42A27DB-BD31-4B8C-83A1-F6EECF244321}">
                <p14:modId xmlns:p14="http://schemas.microsoft.com/office/powerpoint/2010/main" val="3400235952"/>
              </p:ext>
            </p:extLst>
          </p:nvPr>
        </p:nvGraphicFramePr>
        <p:xfrm>
          <a:off x="5897410" y="4161907"/>
          <a:ext cx="5951461" cy="868192"/>
        </p:xfrm>
        <a:graphic>
          <a:graphicData uri="http://schemas.openxmlformats.org/drawingml/2006/table">
            <a:tbl>
              <a:tblPr firstRow="1" bandRow="1">
                <a:tableStyleId>{EB344D84-9AFB-497E-A393-DC336BA19D2E}</a:tableStyleId>
              </a:tblPr>
              <a:tblGrid>
                <a:gridCol w="1396096">
                  <a:extLst>
                    <a:ext uri="{9D8B030D-6E8A-4147-A177-3AD203B41FA5}">
                      <a16:colId xmlns:a16="http://schemas.microsoft.com/office/drawing/2014/main" val="1473133747"/>
                    </a:ext>
                  </a:extLst>
                </a:gridCol>
                <a:gridCol w="1518455">
                  <a:extLst>
                    <a:ext uri="{9D8B030D-6E8A-4147-A177-3AD203B41FA5}">
                      <a16:colId xmlns:a16="http://schemas.microsoft.com/office/drawing/2014/main" val="4162598800"/>
                    </a:ext>
                  </a:extLst>
                </a:gridCol>
                <a:gridCol w="1518455">
                  <a:extLst>
                    <a:ext uri="{9D8B030D-6E8A-4147-A177-3AD203B41FA5}">
                      <a16:colId xmlns:a16="http://schemas.microsoft.com/office/drawing/2014/main" val="1196173778"/>
                    </a:ext>
                  </a:extLst>
                </a:gridCol>
                <a:gridCol w="1518455">
                  <a:extLst>
                    <a:ext uri="{9D8B030D-6E8A-4147-A177-3AD203B41FA5}">
                      <a16:colId xmlns:a16="http://schemas.microsoft.com/office/drawing/2014/main" val="2713348666"/>
                    </a:ext>
                  </a:extLst>
                </a:gridCol>
              </a:tblGrid>
              <a:tr h="217048">
                <a:tc>
                  <a:txBody>
                    <a:bodyPr/>
                    <a:lstStyle/>
                    <a:p>
                      <a:pPr algn="ctr"/>
                      <a:endParaRPr lang="en-US" sz="80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STM32U575x</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800"/>
                        <a:t>MCX N94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800"/>
                        <a:t>ST vs NXP</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7373398"/>
                  </a:ext>
                </a:extLst>
              </a:tr>
              <a:tr h="217048">
                <a:tc>
                  <a:txBody>
                    <a:bodyPr/>
                    <a:lstStyle/>
                    <a:p>
                      <a:pPr marL="0" algn="l" defTabSz="914400" rtl="0" eaLnBrk="1" latinLnBrk="0" hangingPunct="1">
                        <a:buNone/>
                      </a:pPr>
                      <a:r>
                        <a:rPr lang="en-US" sz="800" b="1" kern="1200" dirty="0">
                          <a:solidFill>
                            <a:schemeClr val="dk1"/>
                          </a:solidFill>
                          <a:latin typeface="+mn-lt"/>
                          <a:ea typeface="+mn-ea"/>
                          <a:cs typeface="+mn-cs"/>
                        </a:rPr>
                        <a:t>ROM</a:t>
                      </a:r>
                    </a:p>
                  </a:txBody>
                  <a:tcPr marL="50800" marR="50800" marT="12700" marB="12700" anchor="ctr">
                    <a:lnR w="12700" cap="flat" cmpd="sng" algn="ctr">
                      <a:solidFill>
                        <a:schemeClr val="tx1"/>
                      </a:solidFill>
                      <a:prstDash val="solid"/>
                      <a:round/>
                      <a:headEnd type="none" w="med" len="med"/>
                      <a:tailEnd type="none" w="med" len="med"/>
                    </a:lnR>
                  </a:tcPr>
                </a:tc>
                <a:tc>
                  <a:txBody>
                    <a:bodyPr/>
                    <a:lstStyle/>
                    <a:p>
                      <a:pPr marL="0" algn="ctr" defTabSz="914400" rtl="0" eaLnBrk="1" latinLnBrk="0" hangingPunct="1">
                        <a:buNone/>
                      </a:pPr>
                      <a:r>
                        <a:rPr lang="en-US" sz="800" kern="1200">
                          <a:solidFill>
                            <a:schemeClr val="dk1"/>
                          </a:solidFill>
                          <a:latin typeface="+mj-lt"/>
                          <a:ea typeface="+mn-ea"/>
                          <a:cs typeface="+mn-cs"/>
                        </a:rPr>
                        <a:t>29 351</a:t>
                      </a:r>
                    </a:p>
                  </a:txBody>
                  <a:tcPr marL="50800" marR="508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buNone/>
                      </a:pPr>
                      <a:r>
                        <a:rPr lang="en-US" sz="800" kern="1200">
                          <a:solidFill>
                            <a:schemeClr val="dk1"/>
                          </a:solidFill>
                          <a:latin typeface="+mj-lt"/>
                          <a:ea typeface="+mn-ea"/>
                          <a:cs typeface="+mn-cs"/>
                        </a:rPr>
                        <a:t>29 746</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buNone/>
                      </a:pPr>
                      <a:r>
                        <a:rPr lang="en-US" sz="800" b="1" kern="1200" dirty="0">
                          <a:solidFill>
                            <a:srgbClr val="00B050"/>
                          </a:solidFill>
                          <a:latin typeface="+mj-lt"/>
                          <a:ea typeface="+mn-ea"/>
                          <a:cs typeface="+mn-cs"/>
                        </a:rPr>
                        <a:t>-1%</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65877290"/>
                  </a:ext>
                </a:extLst>
              </a:tr>
              <a:tr h="217048">
                <a:tc>
                  <a:txBody>
                    <a:bodyPr/>
                    <a:lstStyle/>
                    <a:p>
                      <a:pPr marL="0" algn="l" defTabSz="914400" rtl="0" eaLnBrk="1" latinLnBrk="0" hangingPunct="1">
                        <a:buNone/>
                      </a:pPr>
                      <a:r>
                        <a:rPr lang="en-US" sz="800" b="1" kern="1200" dirty="0">
                          <a:solidFill>
                            <a:schemeClr val="dk1"/>
                          </a:solidFill>
                          <a:latin typeface="+mn-lt"/>
                          <a:ea typeface="+mn-ea"/>
                          <a:cs typeface="+mn-cs"/>
                        </a:rPr>
                        <a:t>RAM</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kern="1200" dirty="0">
                          <a:solidFill>
                            <a:schemeClr val="dk1"/>
                          </a:solidFill>
                          <a:latin typeface="+mj-lt"/>
                          <a:ea typeface="+mn-ea"/>
                          <a:cs typeface="+mn-cs"/>
                        </a:rPr>
                        <a:t>8 733</a:t>
                      </a:r>
                    </a:p>
                  </a:txBody>
                  <a:tcPr marL="50800" marR="50800" marT="12700" marB="127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kern="1200">
                          <a:solidFill>
                            <a:schemeClr val="dk1"/>
                          </a:solidFill>
                          <a:latin typeface="+mj-lt"/>
                          <a:ea typeface="+mn-ea"/>
                          <a:cs typeface="+mn-cs"/>
                        </a:rPr>
                        <a:t>6 738</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b="1" kern="1200" dirty="0">
                          <a:solidFill>
                            <a:srgbClr val="FF0000"/>
                          </a:solidFill>
                          <a:latin typeface="+mj-lt"/>
                          <a:ea typeface="+mn-ea"/>
                          <a:cs typeface="+mn-cs"/>
                        </a:rPr>
                        <a:t>+30%</a:t>
                      </a:r>
                    </a:p>
                  </a:txBody>
                  <a:tcPr marL="50800" marR="50800" marT="12700" marB="127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17048">
                <a:tc>
                  <a:txBody>
                    <a:bodyPr/>
                    <a:lstStyle/>
                    <a:p>
                      <a:pPr marL="0" algn="l" defTabSz="914400" rtl="0" eaLnBrk="1" latinLnBrk="0" hangingPunct="1">
                        <a:buNone/>
                      </a:pPr>
                      <a:r>
                        <a:rPr lang="en-US" sz="800" b="1" kern="1200" dirty="0">
                          <a:solidFill>
                            <a:schemeClr val="dk1"/>
                          </a:solidFill>
                          <a:latin typeface="+mn-lt"/>
                          <a:ea typeface="+mn-ea"/>
                          <a:cs typeface="+mn-cs"/>
                        </a:rPr>
                        <a:t>Total</a:t>
                      </a:r>
                    </a:p>
                  </a:txBody>
                  <a:tcPr marL="50800" marR="508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kern="1200" dirty="0">
                          <a:solidFill>
                            <a:schemeClr val="dk1"/>
                          </a:solidFill>
                          <a:latin typeface="+mj-lt"/>
                          <a:ea typeface="+mn-ea"/>
                          <a:cs typeface="+mn-cs"/>
                        </a:rPr>
                        <a:t>38 084</a:t>
                      </a:r>
                    </a:p>
                  </a:txBody>
                  <a:tcPr marL="50800" marR="508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kern="1200" dirty="0">
                          <a:solidFill>
                            <a:schemeClr val="dk1"/>
                          </a:solidFill>
                          <a:latin typeface="+mj-lt"/>
                          <a:ea typeface="+mn-ea"/>
                          <a:cs typeface="+mn-cs"/>
                        </a:rPr>
                        <a:t>36 484</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buNone/>
                      </a:pPr>
                      <a:r>
                        <a:rPr lang="en-US" sz="800" b="1" kern="1200" dirty="0">
                          <a:solidFill>
                            <a:srgbClr val="F68F1E"/>
                          </a:solidFill>
                          <a:latin typeface="+mj-lt"/>
                          <a:ea typeface="+mn-ea"/>
                          <a:cs typeface="+mn-cs"/>
                        </a:rPr>
                        <a:t>+4.39%</a:t>
                      </a: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23" name="TextBox 22">
            <a:extLst>
              <a:ext uri="{FF2B5EF4-FFF2-40B4-BE49-F238E27FC236}">
                <a16:creationId xmlns:a16="http://schemas.microsoft.com/office/drawing/2014/main" id="{0E496B6C-8BB1-9713-9278-BCEBADC12503}"/>
              </a:ext>
            </a:extLst>
          </p:cNvPr>
          <p:cNvSpPr txBox="1"/>
          <p:nvPr/>
        </p:nvSpPr>
        <p:spPr>
          <a:xfrm>
            <a:off x="5800976" y="3691345"/>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dirty="0">
                <a:solidFill>
                  <a:schemeClr val="accent2"/>
                </a:solidFill>
              </a:rPr>
              <a:t>Footprint (Bytes)</a:t>
            </a:r>
          </a:p>
        </p:txBody>
      </p:sp>
      <p:sp>
        <p:nvSpPr>
          <p:cNvPr id="8" name="TextBox 7">
            <a:extLst>
              <a:ext uri="{FF2B5EF4-FFF2-40B4-BE49-F238E27FC236}">
                <a16:creationId xmlns:a16="http://schemas.microsoft.com/office/drawing/2014/main" id="{8FF61C1F-898C-EE90-083C-66308885BF5F}"/>
              </a:ext>
            </a:extLst>
          </p:cNvPr>
          <p:cNvSpPr txBox="1"/>
          <p:nvPr/>
        </p:nvSpPr>
        <p:spPr>
          <a:xfrm>
            <a:off x="103636" y="1857212"/>
            <a:ext cx="2659211" cy="215444"/>
          </a:xfrm>
          <a:prstGeom prst="rect">
            <a:avLst/>
          </a:prstGeom>
          <a:noFill/>
        </p:spPr>
        <p:txBody>
          <a:bodyPr wrap="square">
            <a:spAutoFit/>
          </a:bodyPr>
          <a:lstStyle/>
          <a:p>
            <a:r>
              <a:rPr lang="en-US" sz="800" b="1">
                <a:solidFill>
                  <a:srgbClr val="002060"/>
                </a:solidFill>
              </a:rPr>
              <a:t>STM32U575xx (CM33) vs MCX-N9 XX (CM33)</a:t>
            </a:r>
          </a:p>
        </p:txBody>
      </p:sp>
      <p:sp>
        <p:nvSpPr>
          <p:cNvPr id="9" name="TextBox 8">
            <a:extLst>
              <a:ext uri="{FF2B5EF4-FFF2-40B4-BE49-F238E27FC236}">
                <a16:creationId xmlns:a16="http://schemas.microsoft.com/office/drawing/2014/main" id="{FACD37B2-9E13-2776-4FE8-80FEF1229753}"/>
              </a:ext>
            </a:extLst>
          </p:cNvPr>
          <p:cNvSpPr txBox="1"/>
          <p:nvPr/>
        </p:nvSpPr>
        <p:spPr>
          <a:xfrm>
            <a:off x="5792915" y="1857212"/>
            <a:ext cx="2659211" cy="215444"/>
          </a:xfrm>
          <a:prstGeom prst="rect">
            <a:avLst/>
          </a:prstGeom>
          <a:noFill/>
        </p:spPr>
        <p:txBody>
          <a:bodyPr wrap="square">
            <a:spAutoFit/>
          </a:bodyPr>
          <a:lstStyle/>
          <a:p>
            <a:r>
              <a:rPr lang="en-US" sz="800" b="1">
                <a:solidFill>
                  <a:srgbClr val="002060"/>
                </a:solidFill>
              </a:rPr>
              <a:t>STM32U575xx (CM33) vs MCX-N9 XX (CM33)</a:t>
            </a:r>
          </a:p>
        </p:txBody>
      </p:sp>
      <p:sp>
        <p:nvSpPr>
          <p:cNvPr id="18" name="TextBox 17">
            <a:extLst>
              <a:ext uri="{FF2B5EF4-FFF2-40B4-BE49-F238E27FC236}">
                <a16:creationId xmlns:a16="http://schemas.microsoft.com/office/drawing/2014/main" id="{630FA672-4477-B91F-2CD6-76164246C933}"/>
              </a:ext>
            </a:extLst>
          </p:cNvPr>
          <p:cNvSpPr txBox="1"/>
          <p:nvPr/>
        </p:nvSpPr>
        <p:spPr>
          <a:xfrm>
            <a:off x="206587" y="3815139"/>
            <a:ext cx="2659211" cy="215444"/>
          </a:xfrm>
          <a:prstGeom prst="rect">
            <a:avLst/>
          </a:prstGeom>
          <a:noFill/>
        </p:spPr>
        <p:txBody>
          <a:bodyPr wrap="square">
            <a:spAutoFit/>
          </a:bodyPr>
          <a:lstStyle/>
          <a:p>
            <a:r>
              <a:rPr lang="en-US" sz="800" b="1">
                <a:solidFill>
                  <a:srgbClr val="002060"/>
                </a:solidFill>
              </a:rPr>
              <a:t>STM32U575xx (CM33) vs MCX-N9 XX (CM33)</a:t>
            </a:r>
          </a:p>
        </p:txBody>
      </p:sp>
      <p:sp>
        <p:nvSpPr>
          <p:cNvPr id="28" name="TextBox 27">
            <a:extLst>
              <a:ext uri="{FF2B5EF4-FFF2-40B4-BE49-F238E27FC236}">
                <a16:creationId xmlns:a16="http://schemas.microsoft.com/office/drawing/2014/main" id="{5C672EBF-7BAF-0C92-BBE9-34E36D607FC6}"/>
              </a:ext>
            </a:extLst>
          </p:cNvPr>
          <p:cNvSpPr txBox="1"/>
          <p:nvPr/>
        </p:nvSpPr>
        <p:spPr>
          <a:xfrm>
            <a:off x="5897410" y="3922861"/>
            <a:ext cx="2659211" cy="215444"/>
          </a:xfrm>
          <a:prstGeom prst="rect">
            <a:avLst/>
          </a:prstGeom>
          <a:noFill/>
        </p:spPr>
        <p:txBody>
          <a:bodyPr wrap="square">
            <a:spAutoFit/>
          </a:bodyPr>
          <a:lstStyle/>
          <a:p>
            <a:r>
              <a:rPr lang="en-US" sz="800" b="1">
                <a:solidFill>
                  <a:srgbClr val="002060"/>
                </a:solidFill>
              </a:rPr>
              <a:t>STM32U575xx (CM33) vs MCX-N9 XX (CM33)</a:t>
            </a:r>
          </a:p>
        </p:txBody>
      </p:sp>
      <p:sp>
        <p:nvSpPr>
          <p:cNvPr id="33" name="TextBox 32">
            <a:extLst>
              <a:ext uri="{FF2B5EF4-FFF2-40B4-BE49-F238E27FC236}">
                <a16:creationId xmlns:a16="http://schemas.microsoft.com/office/drawing/2014/main" id="{C5B7B702-248B-1311-D082-42FF971C4782}"/>
              </a:ext>
            </a:extLst>
          </p:cNvPr>
          <p:cNvSpPr txBox="1"/>
          <p:nvPr/>
        </p:nvSpPr>
        <p:spPr>
          <a:xfrm>
            <a:off x="1647425" y="5276596"/>
            <a:ext cx="3682738"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a:solidFill>
                  <a:srgbClr val="00B050"/>
                </a:solidFill>
              </a:rPr>
              <a:t>NXP RAM is allocated as a table and used in read and write operations</a:t>
            </a:r>
          </a:p>
        </p:txBody>
      </p:sp>
      <p:sp>
        <p:nvSpPr>
          <p:cNvPr id="35" name="Oval 34">
            <a:extLst>
              <a:ext uri="{FF2B5EF4-FFF2-40B4-BE49-F238E27FC236}">
                <a16:creationId xmlns:a16="http://schemas.microsoft.com/office/drawing/2014/main" id="{4D0B43D8-0D25-DE0E-C318-808A7956B32D}"/>
              </a:ext>
            </a:extLst>
          </p:cNvPr>
          <p:cNvSpPr/>
          <p:nvPr/>
        </p:nvSpPr>
        <p:spPr>
          <a:xfrm>
            <a:off x="4588975" y="4609103"/>
            <a:ext cx="466344" cy="32004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cxnSp>
        <p:nvCxnSpPr>
          <p:cNvPr id="37" name="Connector: Curved 36">
            <a:extLst>
              <a:ext uri="{FF2B5EF4-FFF2-40B4-BE49-F238E27FC236}">
                <a16:creationId xmlns:a16="http://schemas.microsoft.com/office/drawing/2014/main" id="{CCB1B699-2FF8-1534-04DF-8BCB91A0F509}"/>
              </a:ext>
            </a:extLst>
          </p:cNvPr>
          <p:cNvCxnSpPr>
            <a:cxnSpLocks/>
            <a:stCxn id="35" idx="2"/>
            <a:endCxn id="33" idx="0"/>
          </p:cNvCxnSpPr>
          <p:nvPr/>
        </p:nvCxnSpPr>
        <p:spPr>
          <a:xfrm rot="10800000" flipV="1">
            <a:off x="3488795" y="4769122"/>
            <a:ext cx="1100181" cy="507473"/>
          </a:xfrm>
          <a:prstGeom prst="curvedConnector2">
            <a:avLst/>
          </a:prstGeom>
          <a:ln>
            <a:headEnd type="none" w="lg" len="lg"/>
            <a:tailEnd type="triangle"/>
          </a:ln>
        </p:spPr>
        <p:style>
          <a:lnRef idx="1">
            <a:schemeClr val="accent5"/>
          </a:lnRef>
          <a:fillRef idx="0">
            <a:schemeClr val="accent5"/>
          </a:fillRef>
          <a:effectRef idx="0">
            <a:schemeClr val="accent5"/>
          </a:effectRef>
          <a:fontRef idx="minor">
            <a:schemeClr val="tx1"/>
          </a:fontRef>
        </p:style>
      </p:cxnSp>
      <p:sp>
        <p:nvSpPr>
          <p:cNvPr id="45" name="Oval 44">
            <a:extLst>
              <a:ext uri="{FF2B5EF4-FFF2-40B4-BE49-F238E27FC236}">
                <a16:creationId xmlns:a16="http://schemas.microsoft.com/office/drawing/2014/main" id="{59FB8B81-D61A-F6F3-1287-970E65D2C338}"/>
              </a:ext>
            </a:extLst>
          </p:cNvPr>
          <p:cNvSpPr/>
          <p:nvPr/>
        </p:nvSpPr>
        <p:spPr>
          <a:xfrm>
            <a:off x="10865700" y="4799488"/>
            <a:ext cx="466344" cy="25421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US" err="1"/>
          </a:p>
        </p:txBody>
      </p:sp>
      <p:sp>
        <p:nvSpPr>
          <p:cNvPr id="46" name="TextBox 45">
            <a:extLst>
              <a:ext uri="{FF2B5EF4-FFF2-40B4-BE49-F238E27FC236}">
                <a16:creationId xmlns:a16="http://schemas.microsoft.com/office/drawing/2014/main" id="{07009FE2-2EFC-4C92-7BB5-883B0CE83551}"/>
              </a:ext>
            </a:extLst>
          </p:cNvPr>
          <p:cNvSpPr txBox="1"/>
          <p:nvPr/>
        </p:nvSpPr>
        <p:spPr>
          <a:xfrm>
            <a:off x="9225139" y="5168874"/>
            <a:ext cx="1319436"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a:solidFill>
                  <a:srgbClr val="F68F1E"/>
                </a:solidFill>
              </a:rPr>
              <a:t>Close total footprint </a:t>
            </a:r>
          </a:p>
        </p:txBody>
      </p:sp>
      <p:cxnSp>
        <p:nvCxnSpPr>
          <p:cNvPr id="50" name="Connector: Curved 49">
            <a:extLst>
              <a:ext uri="{FF2B5EF4-FFF2-40B4-BE49-F238E27FC236}">
                <a16:creationId xmlns:a16="http://schemas.microsoft.com/office/drawing/2014/main" id="{E7E3A3F7-C628-738D-649E-6AB5B1F4DE85}"/>
              </a:ext>
            </a:extLst>
          </p:cNvPr>
          <p:cNvCxnSpPr>
            <a:cxnSpLocks/>
            <a:stCxn id="45" idx="4"/>
            <a:endCxn id="46" idx="0"/>
          </p:cNvCxnSpPr>
          <p:nvPr/>
        </p:nvCxnSpPr>
        <p:spPr>
          <a:xfrm rot="5400000">
            <a:off x="10434279" y="4504280"/>
            <a:ext cx="115173" cy="1214015"/>
          </a:xfrm>
          <a:prstGeom prst="curvedConnector3">
            <a:avLst>
              <a:gd name="adj1" fmla="val 50000"/>
            </a:avLst>
          </a:prstGeom>
          <a:ln>
            <a:headEnd type="none" w="lg" len="lg"/>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4079AB6F-52F4-EAC6-C715-A8235DA1EF9D}"/>
              </a:ext>
            </a:extLst>
          </p:cNvPr>
          <p:cNvSpPr>
            <a:spLocks noGrp="1"/>
          </p:cNvSpPr>
          <p:nvPr>
            <p:ph type="sldNum" sz="quarter" idx="12"/>
          </p:nvPr>
        </p:nvSpPr>
        <p:spPr/>
        <p:txBody>
          <a:bodyPr/>
          <a:lstStyle/>
          <a:p>
            <a:fld id="{40A7B169-58CE-4E65-B1F9-ACF9E46440C2}" type="slidenum">
              <a:rPr lang="en-US" smtClean="0"/>
              <a:t>16</a:t>
            </a:fld>
            <a:endParaRPr lang="en-US"/>
          </a:p>
        </p:txBody>
      </p:sp>
    </p:spTree>
    <p:extLst>
      <p:ext uri="{BB962C8B-B14F-4D97-AF65-F5344CB8AC3E}">
        <p14:creationId xmlns:p14="http://schemas.microsoft.com/office/powerpoint/2010/main" val="3899521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37887-C876-3994-D350-E94C48A814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B5AF07-A336-B857-385B-5E6CBB1EA083}"/>
              </a:ext>
            </a:extLst>
          </p:cNvPr>
          <p:cNvSpPr>
            <a:spLocks noGrp="1"/>
          </p:cNvSpPr>
          <p:nvPr>
            <p:ph type="title"/>
          </p:nvPr>
        </p:nvSpPr>
        <p:spPr/>
        <p:txBody>
          <a:bodyPr/>
          <a:lstStyle/>
          <a:p>
            <a:r>
              <a:rPr lang="en-US"/>
              <a:t>ST Competitors MW Benchmark: USB</a:t>
            </a:r>
            <a:br>
              <a:rPr lang="en-US"/>
            </a:br>
            <a:r>
              <a:rPr lang="en-US" sz="2400" b="1">
                <a:solidFill>
                  <a:schemeClr val="accent2"/>
                </a:solidFill>
              </a:rPr>
              <a:t>Objective Performance comparison</a:t>
            </a:r>
            <a:endParaRPr lang="en-US" sz="2400"/>
          </a:p>
        </p:txBody>
      </p:sp>
      <p:sp>
        <p:nvSpPr>
          <p:cNvPr id="4" name="TextBox 3">
            <a:extLst>
              <a:ext uri="{FF2B5EF4-FFF2-40B4-BE49-F238E27FC236}">
                <a16:creationId xmlns:a16="http://schemas.microsoft.com/office/drawing/2014/main" id="{BC3F3CC4-E7AC-4212-7959-27BACD0BD87E}"/>
              </a:ext>
            </a:extLst>
          </p:cNvPr>
          <p:cNvSpPr txBox="1"/>
          <p:nvPr/>
        </p:nvSpPr>
        <p:spPr>
          <a:xfrm>
            <a:off x="300037" y="1007434"/>
            <a:ext cx="11364913" cy="246221"/>
          </a:xfrm>
          <a:prstGeom prst="rect">
            <a:avLst/>
          </a:prstGeom>
          <a:noFill/>
        </p:spPr>
        <p:txBody>
          <a:bodyPr wrap="square" lIns="91440" tIns="45720" rIns="91440" bIns="45720" rtlCol="0" anchor="t">
            <a:spAutoFit/>
          </a:bodyPr>
          <a:lstStyle/>
          <a:p>
            <a:r>
              <a:rPr lang="en-US" sz="1000"/>
              <a:t>This benchmark analysis was based on projects available within the ST, Renesas, and NXP firmware packages. Some updates were made in </a:t>
            </a:r>
            <a:r>
              <a:rPr lang="en-US" sz="1000" err="1"/>
              <a:t>main.c</a:t>
            </a:r>
            <a:r>
              <a:rPr lang="en-US" sz="1000"/>
              <a:t> to align with a common application scenario.</a:t>
            </a:r>
          </a:p>
        </p:txBody>
      </p:sp>
      <p:graphicFrame>
        <p:nvGraphicFramePr>
          <p:cNvPr id="2" name="Table 1">
            <a:extLst>
              <a:ext uri="{FF2B5EF4-FFF2-40B4-BE49-F238E27FC236}">
                <a16:creationId xmlns:a16="http://schemas.microsoft.com/office/drawing/2014/main" id="{F26AC002-40BE-7BEC-2D38-2BE897A94B0C}"/>
              </a:ext>
            </a:extLst>
          </p:cNvPr>
          <p:cNvGraphicFramePr>
            <a:graphicFrameLocks noGrp="1"/>
          </p:cNvGraphicFramePr>
          <p:nvPr>
            <p:extLst>
              <p:ext uri="{D42A27DB-BD31-4B8C-83A1-F6EECF244321}">
                <p14:modId xmlns:p14="http://schemas.microsoft.com/office/powerpoint/2010/main" val="3577446543"/>
              </p:ext>
            </p:extLst>
          </p:nvPr>
        </p:nvGraphicFramePr>
        <p:xfrm>
          <a:off x="373854" y="1304924"/>
          <a:ext cx="11415713" cy="4862195"/>
        </p:xfrm>
        <a:graphic>
          <a:graphicData uri="http://schemas.openxmlformats.org/drawingml/2006/table">
            <a:tbl>
              <a:tblPr firstRow="1" bandRow="1">
                <a:tableStyleId>{EB344D84-9AFB-497E-A393-DC336BA19D2E}</a:tableStyleId>
              </a:tblPr>
              <a:tblGrid>
                <a:gridCol w="1328210">
                  <a:extLst>
                    <a:ext uri="{9D8B030D-6E8A-4147-A177-3AD203B41FA5}">
                      <a16:colId xmlns:a16="http://schemas.microsoft.com/office/drawing/2014/main" val="3331586643"/>
                    </a:ext>
                  </a:extLst>
                </a:gridCol>
                <a:gridCol w="4348119">
                  <a:extLst>
                    <a:ext uri="{9D8B030D-6E8A-4147-A177-3AD203B41FA5}">
                      <a16:colId xmlns:a16="http://schemas.microsoft.com/office/drawing/2014/main" val="1069318222"/>
                    </a:ext>
                  </a:extLst>
                </a:gridCol>
                <a:gridCol w="3191256">
                  <a:extLst>
                    <a:ext uri="{9D8B030D-6E8A-4147-A177-3AD203B41FA5}">
                      <a16:colId xmlns:a16="http://schemas.microsoft.com/office/drawing/2014/main" val="911893300"/>
                    </a:ext>
                  </a:extLst>
                </a:gridCol>
                <a:gridCol w="2548128">
                  <a:extLst>
                    <a:ext uri="{9D8B030D-6E8A-4147-A177-3AD203B41FA5}">
                      <a16:colId xmlns:a16="http://schemas.microsoft.com/office/drawing/2014/main" val="1771856118"/>
                    </a:ext>
                  </a:extLst>
                </a:gridCol>
              </a:tblGrid>
              <a:tr h="259715">
                <a:tc>
                  <a:txBody>
                    <a:bodyPr/>
                    <a:lstStyle/>
                    <a:p>
                      <a:pPr algn="ctr"/>
                      <a:r>
                        <a:rPr lang="en-US" sz="900"/>
                        <a:t>Test</a:t>
                      </a:r>
                    </a:p>
                  </a:txBody>
                  <a:tcPr/>
                </a:tc>
                <a:tc>
                  <a:txBody>
                    <a:bodyPr/>
                    <a:lstStyle/>
                    <a:p>
                      <a:pPr algn="ctr"/>
                      <a:r>
                        <a:rPr lang="en-US" sz="900"/>
                        <a:t>Test Description</a:t>
                      </a:r>
                    </a:p>
                  </a:txBody>
                  <a:tcPr/>
                </a:tc>
                <a:tc>
                  <a:txBody>
                    <a:bodyPr/>
                    <a:lstStyle/>
                    <a:p>
                      <a:pPr algn="ctr"/>
                      <a:r>
                        <a:rPr lang="en-US" sz="900"/>
                        <a:t>Reference project</a:t>
                      </a:r>
                    </a:p>
                  </a:txBody>
                  <a:tcPr/>
                </a:tc>
                <a:tc>
                  <a:txBody>
                    <a:bodyPr/>
                    <a:lstStyle/>
                    <a:p>
                      <a:pPr algn="ctr"/>
                      <a:r>
                        <a:rPr lang="en-US" sz="900"/>
                        <a:t>Modifications done</a:t>
                      </a:r>
                    </a:p>
                  </a:txBody>
                  <a:tcPr/>
                </a:tc>
                <a:extLst>
                  <a:ext uri="{0D108BD9-81ED-4DB2-BD59-A6C34878D82A}">
                    <a16:rowId xmlns:a16="http://schemas.microsoft.com/office/drawing/2014/main" val="3545433508"/>
                  </a:ext>
                </a:extLst>
              </a:tr>
              <a:tr h="185420">
                <a:tc rowSpan="2">
                  <a:txBody>
                    <a:bodyPr/>
                    <a:lstStyle/>
                    <a:p>
                      <a:r>
                        <a:rPr lang="en-US" sz="900" kern="1200" dirty="0">
                          <a:solidFill>
                            <a:schemeClr val="dk1"/>
                          </a:solidFill>
                          <a:latin typeface="+mn-lt"/>
                          <a:ea typeface="+mn-ea"/>
                          <a:cs typeface="+mn-cs"/>
                        </a:rPr>
                        <a:t>RTOS mode : USBX CDC device class</a:t>
                      </a:r>
                    </a:p>
                    <a:p>
                      <a:r>
                        <a:rPr lang="en-US" sz="800" b="0" kern="1200" dirty="0">
                          <a:solidFill>
                            <a:schemeClr val="accent3"/>
                          </a:solidFill>
                          <a:latin typeface="+mn-lt"/>
                          <a:ea typeface="+mn-ea"/>
                          <a:cs typeface="+mn-cs"/>
                        </a:rPr>
                        <a:t>STM32H573xx (CM33) vs RA6M5 (CM33)</a:t>
                      </a:r>
                    </a:p>
                  </a:txBody>
                  <a:tcPr>
                    <a:lnB w="12700" cap="flat" cmpd="sng" algn="ctr">
                      <a:solidFill>
                        <a:schemeClr val="tx1"/>
                      </a:solidFill>
                      <a:prstDash val="solid"/>
                      <a:round/>
                      <a:headEnd type="none" w="med" len="med"/>
                      <a:tailEnd type="none" w="med" len="med"/>
                    </a:lnB>
                  </a:tcPr>
                </a:tc>
                <a:tc rowSpan="2">
                  <a:txBody>
                    <a:bodyPr/>
                    <a:lstStyle/>
                    <a:p>
                      <a:pPr marL="171450" indent="-171450">
                        <a:buFont typeface="Arial" panose="020B0604020202020204" pitchFamily="34" charset="0"/>
                        <a:buChar char="•"/>
                      </a:pPr>
                      <a:r>
                        <a:rPr lang="en-US" sz="900" dirty="0">
                          <a:solidFill>
                            <a:schemeClr val="tx1"/>
                          </a:solidFill>
                        </a:rPr>
                        <a:t>The test allows to configure MCU STM32H573xx/ RA6M5 as a </a:t>
                      </a:r>
                      <a:r>
                        <a:rPr lang="en-US" sz="900" b="1" u="sng" dirty="0">
                          <a:solidFill>
                            <a:schemeClr val="tx1"/>
                          </a:solidFill>
                        </a:rPr>
                        <a:t>virtual COM port </a:t>
                      </a:r>
                      <a:r>
                        <a:rPr lang="en-US" sz="900" dirty="0">
                          <a:solidFill>
                            <a:schemeClr val="tx1"/>
                          </a:solidFill>
                        </a:rPr>
                        <a:t>to enable serial communication between MCU and PC (host). The application echoes the same data back.</a:t>
                      </a:r>
                    </a:p>
                    <a:p>
                      <a:pPr marL="171450" indent="-171450">
                        <a:buFont typeface="Arial" panose="020B0604020202020204" pitchFamily="34" charset="0"/>
                        <a:buChar char="•"/>
                      </a:pPr>
                      <a:r>
                        <a:rPr lang="en-US" sz="900" dirty="0">
                          <a:solidFill>
                            <a:schemeClr val="tx1"/>
                          </a:solidFill>
                        </a:rPr>
                        <a:t>USB library operations to be analyzed are: </a:t>
                      </a:r>
                      <a:r>
                        <a:rPr lang="en-US" sz="900" dirty="0">
                          <a:solidFill>
                            <a:srgbClr val="0070C0"/>
                          </a:solidFill>
                        </a:rPr>
                        <a:t>USB initialization, enumeration phase and data transmission</a:t>
                      </a:r>
                    </a:p>
                  </a:txBody>
                  <a:tcPr>
                    <a:lnB w="12700" cap="flat" cmpd="sng" algn="ctr">
                      <a:solidFill>
                        <a:schemeClr val="tx1"/>
                      </a:solidFill>
                      <a:prstDash val="solid"/>
                      <a:round/>
                      <a:headEnd type="none" w="med" len="med"/>
                      <a:tailEnd type="none" w="med" len="med"/>
                    </a:lnB>
                  </a:tcPr>
                </a:tc>
                <a:tc>
                  <a:txBody>
                    <a:bodyPr/>
                    <a:lstStyle/>
                    <a:p>
                      <a:r>
                        <a:rPr lang="en-US" sz="900" b="1">
                          <a:solidFill>
                            <a:schemeClr val="accent3"/>
                          </a:solidFill>
                        </a:rPr>
                        <a:t>ST: </a:t>
                      </a:r>
                      <a:r>
                        <a:rPr lang="fr-FR" sz="900"/>
                        <a:t>STM32H573I-DK\Applications\USBX\</a:t>
                      </a:r>
                      <a:r>
                        <a:rPr lang="fr-FR" sz="900" err="1"/>
                        <a:t>Ux_Device_CDC_ACM</a:t>
                      </a:r>
                      <a:endParaRPr lang="en-US" sz="900"/>
                    </a:p>
                  </a:txBody>
                  <a:tcPr/>
                </a:tc>
                <a:tc>
                  <a:txBody>
                    <a:bodyPr/>
                    <a:lstStyle/>
                    <a:p>
                      <a:endParaRPr lang="en-US" sz="900"/>
                    </a:p>
                  </a:txBody>
                  <a:tcPr/>
                </a:tc>
                <a:extLst>
                  <a:ext uri="{0D108BD9-81ED-4DB2-BD59-A6C34878D82A}">
                    <a16:rowId xmlns:a16="http://schemas.microsoft.com/office/drawing/2014/main" val="1650936974"/>
                  </a:ext>
                </a:extLst>
              </a:tr>
              <a:tr h="18542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accent3"/>
                          </a:solidFill>
                          <a:latin typeface="+mn-lt"/>
                          <a:ea typeface="+mn-ea"/>
                          <a:cs typeface="+mn-cs"/>
                        </a:rPr>
                        <a:t>RA: </a:t>
                      </a:r>
                      <a:r>
                        <a:rPr lang="en-US" sz="900"/>
                        <a:t>USBX_pcdc_acm_ek_ra6m5_ep </a:t>
                      </a:r>
                      <a:r>
                        <a:rPr lang="en-US" sz="900" i="1"/>
                        <a:t>(available in </a:t>
                      </a:r>
                      <a:r>
                        <a:rPr lang="en-US" sz="900" i="1">
                          <a:hlinkClick r:id="rId3"/>
                        </a:rPr>
                        <a:t>ra6m5-example</a:t>
                      </a:r>
                      <a:r>
                        <a:rPr lang="en-US" sz="900" i="1"/>
                        <a:t>)</a:t>
                      </a:r>
                      <a:endParaRPr lang="en-US" sz="900"/>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5582618"/>
                  </a:ext>
                </a:extLst>
              </a:tr>
              <a:tr h="185420">
                <a:tc rowSpan="2">
                  <a:txBody>
                    <a:bodyPr/>
                    <a:lstStyle/>
                    <a:p>
                      <a:r>
                        <a:rPr lang="en-US" sz="900" kern="1200">
                          <a:solidFill>
                            <a:schemeClr val="dk1"/>
                          </a:solidFill>
                          <a:latin typeface="+mn-lt"/>
                          <a:ea typeface="+mn-ea"/>
                          <a:cs typeface="+mn-cs"/>
                        </a:rPr>
                        <a:t>RTOS mode : USBX HID host class</a:t>
                      </a:r>
                    </a:p>
                    <a:p>
                      <a:r>
                        <a:rPr lang="en-US" sz="800" b="0" kern="1200">
                          <a:solidFill>
                            <a:schemeClr val="accent3"/>
                          </a:solidFill>
                          <a:latin typeface="+mn-lt"/>
                          <a:ea typeface="+mn-ea"/>
                          <a:cs typeface="+mn-cs"/>
                        </a:rPr>
                        <a:t>STM32H573xx (CM33) vs RA6M5 (CM33)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171450" indent="-171450">
                        <a:buFont typeface="Arial" panose="020B0604020202020204" pitchFamily="34" charset="0"/>
                        <a:buChar char="•"/>
                      </a:pPr>
                      <a:r>
                        <a:rPr lang="en-US" sz="900">
                          <a:solidFill>
                            <a:schemeClr val="tx1"/>
                          </a:solidFill>
                        </a:rPr>
                        <a:t>The test enables communication between MCU STM32H573xx/ RA6M5 and mouse allowing the host (MCU) to receive and process mouse input events (left, right, middle).</a:t>
                      </a:r>
                    </a:p>
                    <a:p>
                      <a:pPr marL="171450" indent="-171450">
                        <a:buFont typeface="Arial" panose="020B0604020202020204" pitchFamily="34" charset="0"/>
                        <a:buChar char="•"/>
                      </a:pPr>
                      <a:r>
                        <a:rPr lang="en-US" sz="900">
                          <a:solidFill>
                            <a:schemeClr val="tx1"/>
                          </a:solidFill>
                        </a:rPr>
                        <a:t>USB library operations to be analyzed are: </a:t>
                      </a:r>
                      <a:r>
                        <a:rPr lang="en-US" sz="900">
                          <a:solidFill>
                            <a:srgbClr val="0070C0"/>
                          </a:solidFill>
                        </a:rPr>
                        <a:t>USB initialization, enumeration phase and data transmission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900" b="1" kern="1200">
                          <a:solidFill>
                            <a:schemeClr val="accent3"/>
                          </a:solidFill>
                          <a:latin typeface="+mn-lt"/>
                          <a:ea typeface="+mn-ea"/>
                          <a:cs typeface="+mn-cs"/>
                        </a:rPr>
                        <a:t>ST: </a:t>
                      </a:r>
                      <a:r>
                        <a:rPr lang="en-US" sz="900"/>
                        <a:t>STM32H573I-DK\Applications\USBX\</a:t>
                      </a:r>
                      <a:r>
                        <a:rPr lang="en-US" sz="900" err="1"/>
                        <a:t>Ux_Host_HID</a:t>
                      </a:r>
                      <a:endParaRPr lang="en-US" sz="900"/>
                    </a:p>
                  </a:txBody>
                  <a:tcPr>
                    <a:lnT w="12700" cap="flat" cmpd="sng" algn="ctr">
                      <a:solidFill>
                        <a:schemeClr val="tx1"/>
                      </a:solidFill>
                      <a:prstDash val="solid"/>
                      <a:round/>
                      <a:headEnd type="none" w="med" len="med"/>
                      <a:tailEnd type="none" w="med" len="med"/>
                    </a:lnT>
                  </a:tcPr>
                </a:tc>
                <a:tc>
                  <a:txBody>
                    <a:bodyPr/>
                    <a:lstStyle/>
                    <a:p>
                      <a:endParaRPr lang="en-US" sz="90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72541705"/>
                  </a:ext>
                </a:extLst>
              </a:tr>
              <a:tr h="18542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accent3"/>
                          </a:solidFill>
                          <a:latin typeface="+mn-lt"/>
                          <a:ea typeface="+mn-ea"/>
                          <a:cs typeface="+mn-cs"/>
                        </a:rPr>
                        <a:t>RA: </a:t>
                      </a:r>
                      <a:r>
                        <a:rPr lang="en-US" sz="900"/>
                        <a:t>USBX_hhid_ek_ra6m5_ep </a:t>
                      </a:r>
                      <a:r>
                        <a:rPr lang="en-US" sz="900" i="1"/>
                        <a:t>(available in </a:t>
                      </a:r>
                      <a:r>
                        <a:rPr lang="en-US" sz="900" i="1">
                          <a:hlinkClick r:id="rId3"/>
                        </a:rPr>
                        <a:t>ra6m5-example</a:t>
                      </a:r>
                      <a:r>
                        <a:rPr lang="en-US" sz="900" i="1"/>
                        <a:t>)</a:t>
                      </a:r>
                      <a:endParaRPr lang="en-US" sz="900"/>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575234"/>
                  </a:ext>
                </a:extLst>
              </a:tr>
              <a:tr h="388620">
                <a:tc rowSpan="2">
                  <a:txBody>
                    <a:bodyPr/>
                    <a:lstStyle/>
                    <a:p>
                      <a:r>
                        <a:rPr lang="en-US" sz="900" kern="1200" dirty="0">
                          <a:solidFill>
                            <a:schemeClr val="dk1"/>
                          </a:solidFill>
                          <a:latin typeface="+mn-lt"/>
                          <a:ea typeface="+mn-ea"/>
                          <a:cs typeface="+mn-cs"/>
                        </a:rPr>
                        <a:t>RTOS mode : USBX MSC host class</a:t>
                      </a:r>
                    </a:p>
                    <a:p>
                      <a:r>
                        <a:rPr lang="en-US" sz="800" b="0" kern="1200" dirty="0">
                          <a:solidFill>
                            <a:schemeClr val="accent3"/>
                          </a:solidFill>
                          <a:latin typeface="+mn-lt"/>
                          <a:ea typeface="+mn-ea"/>
                          <a:cs typeface="+mn-cs"/>
                        </a:rPr>
                        <a:t>STM32H573xx (CM33) vs RA6M5 (CM33)</a:t>
                      </a:r>
                    </a:p>
                    <a:p>
                      <a:endParaRPr lang="en-US" sz="900" b="0" kern="1200" dirty="0">
                        <a:solidFill>
                          <a:schemeClr val="accent3"/>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171450" indent="-171450">
                        <a:buFont typeface="Arial" panose="020B0604020202020204" pitchFamily="34" charset="0"/>
                        <a:buChar char="•"/>
                      </a:pPr>
                      <a:r>
                        <a:rPr lang="en-US" sz="900">
                          <a:solidFill>
                            <a:schemeClr val="tx1"/>
                          </a:solidFill>
                        </a:rPr>
                        <a:t>The test allows to configure MCU STM32H573xx/ RA6M5 as an USB Host to enable file operations on an USB mass storage device (Flash Disk) using file system library (FileX).</a:t>
                      </a:r>
                    </a:p>
                    <a:p>
                      <a:pPr marL="171450" indent="-171450">
                        <a:buFont typeface="Arial" panose="020B0604020202020204" pitchFamily="34" charset="0"/>
                        <a:buChar char="•"/>
                      </a:pPr>
                      <a:r>
                        <a:rPr lang="en-US" sz="900">
                          <a:solidFill>
                            <a:schemeClr val="tx1"/>
                          </a:solidFill>
                        </a:rPr>
                        <a:t>USB library operations to be analyzed are: </a:t>
                      </a:r>
                      <a:r>
                        <a:rPr lang="en-US" sz="900">
                          <a:solidFill>
                            <a:srgbClr val="0070C0"/>
                          </a:solidFill>
                        </a:rPr>
                        <a:t>USB initialization, enumeration phase, </a:t>
                      </a:r>
                      <a:r>
                        <a:rPr lang="en-US" sz="900" b="1" u="sng">
                          <a:solidFill>
                            <a:srgbClr val="0070C0"/>
                          </a:solidFill>
                        </a:rPr>
                        <a:t>write and read file</a:t>
                      </a:r>
                      <a:r>
                        <a:rPr lang="en-US" sz="900">
                          <a:solidFill>
                            <a:srgbClr val="0070C0"/>
                          </a:solidFill>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accent3"/>
                          </a:solidFill>
                          <a:latin typeface="+mn-lt"/>
                          <a:ea typeface="+mn-ea"/>
                          <a:cs typeface="+mn-cs"/>
                        </a:rPr>
                        <a:t>ST: </a:t>
                      </a:r>
                      <a:r>
                        <a:rPr lang="en-US" sz="900"/>
                        <a:t>STM32H573I-DK\Applications\USBX\</a:t>
                      </a:r>
                      <a:r>
                        <a:rPr lang="en-US" sz="900" err="1"/>
                        <a:t>Ux_Host_MSC</a:t>
                      </a:r>
                      <a:endParaRPr lang="en-US" sz="9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7871169"/>
                  </a:ext>
                </a:extLst>
              </a:tr>
              <a:tr h="38862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accent3"/>
                          </a:solidFill>
                          <a:latin typeface="+mn-lt"/>
                          <a:ea typeface="+mn-ea"/>
                          <a:cs typeface="+mn-cs"/>
                        </a:rPr>
                        <a:t>RA: </a:t>
                      </a:r>
                      <a:r>
                        <a:rPr lang="en-US" sz="900"/>
                        <a:t>USBX_hmsc_ek_ra6m5_ep </a:t>
                      </a:r>
                      <a:r>
                        <a:rPr lang="en-US" sz="900" i="1"/>
                        <a:t>(available in </a:t>
                      </a:r>
                      <a:r>
                        <a:rPr lang="en-US" sz="900" i="1">
                          <a:hlinkClick r:id="rId3"/>
                        </a:rPr>
                        <a:t>ra6m5-example</a:t>
                      </a:r>
                      <a:r>
                        <a:rPr lang="en-US" sz="900" i="1"/>
                        <a:t>)</a:t>
                      </a:r>
                      <a:endParaRPr lang="en-US" sz="9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2244937"/>
                  </a:ext>
                </a:extLst>
              </a:tr>
              <a:tr h="228600">
                <a:tc>
                  <a:txBody>
                    <a:bodyPr/>
                    <a:lstStyle/>
                    <a:p>
                      <a:r>
                        <a:rPr lang="en-US" sz="900" kern="1200" dirty="0">
                          <a:solidFill>
                            <a:schemeClr val="dk1"/>
                          </a:solidFill>
                          <a:latin typeface="+mn-lt"/>
                          <a:ea typeface="+mn-ea"/>
                          <a:cs typeface="+mn-cs"/>
                        </a:rPr>
                        <a:t>BareMetal mode : Native USB CDC device class</a:t>
                      </a:r>
                    </a:p>
                    <a:p>
                      <a:r>
                        <a:rPr lang="en-US" sz="800" b="0" kern="1200" dirty="0">
                          <a:solidFill>
                            <a:schemeClr val="accent3"/>
                          </a:solidFill>
                          <a:latin typeface="+mn-lt"/>
                          <a:ea typeface="+mn-ea"/>
                          <a:cs typeface="+mn-cs"/>
                        </a:rPr>
                        <a:t>STM32U575xx (CM33) vs MCX-N9 XX (CM33)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900">
                          <a:solidFill>
                            <a:schemeClr val="tx1"/>
                          </a:solidFill>
                        </a:rPr>
                        <a:t>The test allows to configure MCU STM32U575xx/ </a:t>
                      </a:r>
                      <a:r>
                        <a:rPr lang="en-US" sz="900">
                          <a:solidFill>
                            <a:srgbClr val="002060"/>
                          </a:solidFill>
                        </a:rPr>
                        <a:t>MCX-N9</a:t>
                      </a:r>
                      <a:r>
                        <a:rPr lang="en-US" sz="900">
                          <a:solidFill>
                            <a:schemeClr val="tx1"/>
                          </a:solidFill>
                        </a:rPr>
                        <a:t> as a </a:t>
                      </a:r>
                      <a:r>
                        <a:rPr lang="en-US" sz="900" b="1" u="sng">
                          <a:solidFill>
                            <a:schemeClr val="tx1"/>
                          </a:solidFill>
                        </a:rPr>
                        <a:t>virtual COM port </a:t>
                      </a:r>
                      <a:r>
                        <a:rPr lang="en-US" sz="900">
                          <a:solidFill>
                            <a:schemeClr val="tx1"/>
                          </a:solidFill>
                        </a:rPr>
                        <a:t>to enable serial communication between MCU and PC (host). The application echoes the same data back.</a:t>
                      </a:r>
                    </a:p>
                    <a:p>
                      <a:pPr marL="171450" indent="-171450">
                        <a:buFont typeface="Arial" panose="020B0604020202020204" pitchFamily="34" charset="0"/>
                        <a:buChar char="•"/>
                      </a:pPr>
                      <a:r>
                        <a:rPr lang="en-US" sz="900">
                          <a:solidFill>
                            <a:schemeClr val="tx1"/>
                          </a:solidFill>
                        </a:rPr>
                        <a:t>USB library operations to be analyzed are: </a:t>
                      </a:r>
                      <a:r>
                        <a:rPr lang="en-US" sz="900">
                          <a:solidFill>
                            <a:srgbClr val="0070C0"/>
                          </a:solidFill>
                        </a:rPr>
                        <a:t>USB initialization, enumeration phase and data transmission and reception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US" sz="900" b="1" kern="1200">
                          <a:solidFill>
                            <a:schemeClr val="accent3"/>
                          </a:solidFill>
                          <a:latin typeface="+mn-lt"/>
                          <a:ea typeface="+mn-ea"/>
                          <a:cs typeface="+mn-cs"/>
                        </a:rPr>
                        <a:t>ST: </a:t>
                      </a:r>
                      <a:r>
                        <a:rPr lang="en-US" sz="900" kern="1200">
                          <a:solidFill>
                            <a:schemeClr val="dk1"/>
                          </a:solidFill>
                          <a:latin typeface="+mn-lt"/>
                          <a:ea typeface="+mn-ea"/>
                          <a:cs typeface="+mn-cs"/>
                          <a:hlinkClick r:id="rId4"/>
                        </a:rPr>
                        <a:t>GitHub</a:t>
                      </a:r>
                      <a:endParaRPr lang="en-US" sz="900" kern="120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accent3"/>
                          </a:solidFill>
                          <a:latin typeface="+mn-lt"/>
                          <a:ea typeface="+mn-ea"/>
                          <a:cs typeface="+mn-cs"/>
                        </a:rPr>
                        <a:t>ST: </a:t>
                      </a:r>
                      <a:r>
                        <a:rPr lang="en-US" sz="900"/>
                        <a:t>STM32H747I-EVAL\Applications\</a:t>
                      </a:r>
                      <a:r>
                        <a:rPr lang="en-US" sz="900" err="1"/>
                        <a:t>USB_Device</a:t>
                      </a:r>
                      <a:r>
                        <a:rPr lang="en-US" sz="900"/>
                        <a:t>\</a:t>
                      </a:r>
                      <a:r>
                        <a:rPr lang="en-US" sz="900" err="1"/>
                        <a:t>CDC_Standalone</a:t>
                      </a:r>
                      <a:endParaRPr lang="en-US" sz="900"/>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82071081"/>
                  </a:ext>
                </a:extLst>
              </a:tr>
              <a:tr h="228600">
                <a:tc>
                  <a:txBody>
                    <a:bodyPr/>
                    <a:lstStyle/>
                    <a:p>
                      <a:pPr marL="0" algn="l" defTabSz="914400" rtl="0" eaLnBrk="1" latinLnBrk="0" hangingPunct="1"/>
                      <a:r>
                        <a:rPr lang="en-US" sz="900" kern="1200" dirty="0">
                          <a:solidFill>
                            <a:schemeClr val="dk1"/>
                          </a:solidFill>
                          <a:latin typeface="+mn-lt"/>
                          <a:ea typeface="+mn-ea"/>
                          <a:cs typeface="+mn-cs"/>
                        </a:rPr>
                        <a:t>BareMetal mode : Native USB HID device class</a:t>
                      </a:r>
                    </a:p>
                    <a:p>
                      <a:pPr marL="0" algn="l" defTabSz="914400" rtl="0" eaLnBrk="1" latinLnBrk="0" hangingPunct="1"/>
                      <a:r>
                        <a:rPr lang="en-US" sz="800" b="0" kern="1200" dirty="0">
                          <a:solidFill>
                            <a:schemeClr val="accent3"/>
                          </a:solidFill>
                          <a:latin typeface="+mn-lt"/>
                          <a:ea typeface="+mn-ea"/>
                          <a:cs typeface="+mn-cs"/>
                        </a:rPr>
                        <a:t>STM32U575xx (CM33) vs MCX-N9 XX (CM33)</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900" dirty="0">
                          <a:solidFill>
                            <a:schemeClr val="tx1"/>
                          </a:solidFill>
                        </a:rPr>
                        <a:t>The test configures device (MCU) as a mouse and enables cursor movement along the X-axis. </a:t>
                      </a:r>
                    </a:p>
                    <a:p>
                      <a:pPr marL="171450" indent="-171450">
                        <a:buFont typeface="Arial" panose="020B0604020202020204" pitchFamily="34" charset="0"/>
                        <a:buChar char="•"/>
                      </a:pPr>
                      <a:r>
                        <a:rPr lang="en-US" sz="900" dirty="0">
                          <a:solidFill>
                            <a:schemeClr val="tx1"/>
                          </a:solidFill>
                        </a:rPr>
                        <a:t>USB library operations to be analyzed are: </a:t>
                      </a:r>
                      <a:r>
                        <a:rPr lang="en-US" sz="900" dirty="0">
                          <a:solidFill>
                            <a:srgbClr val="0070C0"/>
                          </a:solidFill>
                        </a:rPr>
                        <a:t>USB initialization, enumeration phase and data transmission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900" b="1" kern="1200">
                          <a:solidFill>
                            <a:schemeClr val="accent3"/>
                          </a:solidFill>
                          <a:latin typeface="+mn-lt"/>
                          <a:ea typeface="+mn-ea"/>
                          <a:cs typeface="+mn-cs"/>
                        </a:rPr>
                        <a:t>ST: </a:t>
                      </a:r>
                      <a:r>
                        <a:rPr lang="en-US" sz="900" kern="1200">
                          <a:solidFill>
                            <a:schemeClr val="dk1"/>
                          </a:solidFill>
                          <a:latin typeface="+mn-lt"/>
                          <a:ea typeface="+mn-ea"/>
                          <a:cs typeface="+mn-cs"/>
                          <a:hlinkClick r:id="rId5"/>
                        </a:rPr>
                        <a:t>GitHub</a:t>
                      </a:r>
                      <a:endParaRPr lang="en-US" sz="900" kern="120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accent3"/>
                          </a:solidFill>
                          <a:latin typeface="+mn-lt"/>
                          <a:ea typeface="+mn-ea"/>
                          <a:cs typeface="+mn-cs"/>
                        </a:rPr>
                        <a:t>ST: </a:t>
                      </a:r>
                      <a:r>
                        <a:rPr lang="en-US" sz="900"/>
                        <a:t>STM32H747I-DISCO\Applications\</a:t>
                      </a:r>
                      <a:r>
                        <a:rPr lang="en-US" sz="900" err="1"/>
                        <a:t>USB_Device</a:t>
                      </a:r>
                      <a:r>
                        <a:rPr lang="en-US" sz="900"/>
                        <a:t>\</a:t>
                      </a:r>
                      <a:r>
                        <a:rPr lang="en-US" sz="900" err="1"/>
                        <a:t>HID_Standalone</a:t>
                      </a:r>
                      <a:endParaRPr lang="en-US"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dirty="0"/>
                    </a:p>
                  </a:txBody>
                  <a:tcPr/>
                </a:tc>
                <a:extLst>
                  <a:ext uri="{0D108BD9-81ED-4DB2-BD59-A6C34878D82A}">
                    <a16:rowId xmlns:a16="http://schemas.microsoft.com/office/drawing/2014/main" val="751394166"/>
                  </a:ext>
                </a:extLst>
              </a:tr>
              <a:tr h="388620">
                <a:tc>
                  <a:txBody>
                    <a:bodyPr/>
                    <a:lstStyle/>
                    <a:p>
                      <a:r>
                        <a:rPr lang="en-US" sz="900" kern="1200" dirty="0">
                          <a:solidFill>
                            <a:schemeClr val="dk1"/>
                          </a:solidFill>
                          <a:latin typeface="+mn-lt"/>
                          <a:ea typeface="+mn-ea"/>
                          <a:cs typeface="+mn-cs"/>
                        </a:rPr>
                        <a:t>BareMetal mode : Native USB MSC Host class</a:t>
                      </a:r>
                    </a:p>
                    <a:p>
                      <a:r>
                        <a:rPr lang="en-US" sz="800" b="0" kern="1200" dirty="0">
                          <a:solidFill>
                            <a:schemeClr val="accent3"/>
                          </a:solidFill>
                          <a:latin typeface="+mn-lt"/>
                          <a:ea typeface="+mn-ea"/>
                          <a:cs typeface="+mn-cs"/>
                        </a:rPr>
                        <a:t>STM32U575xx (CM33) vs MCX-N9 XX (CM33)</a:t>
                      </a:r>
                    </a:p>
                  </a:txBody>
                  <a:tcPr>
                    <a:lnT w="12700" cap="flat" cmpd="sng" algn="ctr">
                      <a:solidFill>
                        <a:schemeClr val="tx1"/>
                      </a:solidFill>
                      <a:prstDash val="solid"/>
                      <a:round/>
                      <a:headEnd type="none" w="med" len="med"/>
                      <a:tailEnd type="none" w="med" len="med"/>
                    </a:lnT>
                  </a:tcPr>
                </a:tc>
                <a:tc>
                  <a:txBody>
                    <a:bodyPr/>
                    <a:lstStyle/>
                    <a:p>
                      <a:pPr marL="171450" indent="-171450">
                        <a:buFont typeface="Arial" panose="020B0604020202020204" pitchFamily="34" charset="0"/>
                        <a:buChar char="•"/>
                      </a:pPr>
                      <a:r>
                        <a:rPr lang="en-US" sz="900">
                          <a:solidFill>
                            <a:schemeClr val="tx1"/>
                          </a:solidFill>
                        </a:rPr>
                        <a:t>The test allows to configure MCU as an USB Host to enable file operations on an USB mass storage device (Flash Disk) using file system library (</a:t>
                      </a:r>
                      <a:r>
                        <a:rPr lang="en-US" sz="900" err="1">
                          <a:solidFill>
                            <a:schemeClr val="tx1"/>
                          </a:solidFill>
                        </a:rPr>
                        <a:t>FatFS</a:t>
                      </a:r>
                      <a:r>
                        <a:rPr lang="en-US" sz="900">
                          <a:solidFill>
                            <a:schemeClr val="tx1"/>
                          </a:solidFill>
                        </a:rPr>
                        <a:t>).</a:t>
                      </a:r>
                    </a:p>
                    <a:p>
                      <a:pPr marL="171450" indent="-171450">
                        <a:buFont typeface="Arial" panose="020B0604020202020204" pitchFamily="34" charset="0"/>
                        <a:buChar char="•"/>
                      </a:pPr>
                      <a:r>
                        <a:rPr lang="en-US" sz="900">
                          <a:solidFill>
                            <a:schemeClr val="tx1"/>
                          </a:solidFill>
                        </a:rPr>
                        <a:t>USB library operations to be analyzed are: </a:t>
                      </a:r>
                      <a:r>
                        <a:rPr lang="en-US" sz="900">
                          <a:solidFill>
                            <a:srgbClr val="0070C0"/>
                          </a:solidFill>
                        </a:rPr>
                        <a:t>USB initialization, enumeration phase, </a:t>
                      </a:r>
                      <a:r>
                        <a:rPr lang="en-US" sz="900" b="1" u="sng">
                          <a:solidFill>
                            <a:srgbClr val="0070C0"/>
                          </a:solidFill>
                        </a:rPr>
                        <a:t>write and read file</a:t>
                      </a:r>
                      <a:r>
                        <a:rPr lang="en-US" sz="900">
                          <a:solidFill>
                            <a:srgbClr val="0070C0"/>
                          </a:solidFill>
                        </a:rPr>
                        <a:t>.</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kern="1200">
                          <a:solidFill>
                            <a:schemeClr val="accent3"/>
                          </a:solidFill>
                          <a:latin typeface="+mn-lt"/>
                          <a:ea typeface="+mn-ea"/>
                          <a:cs typeface="+mn-cs"/>
                        </a:rPr>
                        <a:t>ST: </a:t>
                      </a:r>
                      <a:r>
                        <a:rPr lang="en-US" sz="900" kern="1200">
                          <a:solidFill>
                            <a:schemeClr val="dk1"/>
                          </a:solidFill>
                          <a:latin typeface="+mn-lt"/>
                          <a:ea typeface="+mn-ea"/>
                          <a:cs typeface="+mn-cs"/>
                          <a:hlinkClick r:id="rId6"/>
                        </a:rPr>
                        <a:t>GitHub</a:t>
                      </a:r>
                      <a:endParaRPr lang="en-US" sz="900"/>
                    </a:p>
                    <a:p>
                      <a:r>
                        <a:rPr lang="en-US" sz="900" b="1" kern="1200">
                          <a:solidFill>
                            <a:schemeClr val="accent3"/>
                          </a:solidFill>
                          <a:latin typeface="+mn-lt"/>
                          <a:ea typeface="+mn-ea"/>
                          <a:cs typeface="+mn-cs"/>
                        </a:rPr>
                        <a:t>ST: </a:t>
                      </a:r>
                      <a:r>
                        <a:rPr lang="en-US" sz="900"/>
                        <a:t>STM32H747I-DISCO\Applications\</a:t>
                      </a:r>
                      <a:r>
                        <a:rPr lang="en-US" sz="900" err="1"/>
                        <a:t>USB_Host</a:t>
                      </a:r>
                      <a:r>
                        <a:rPr lang="en-US" sz="900"/>
                        <a:t>\</a:t>
                      </a:r>
                      <a:r>
                        <a:rPr lang="en-US" sz="900" err="1"/>
                        <a:t>MSC_Standalone</a:t>
                      </a:r>
                      <a:endParaRPr lang="en-US" sz="900" b="1" kern="1200">
                        <a:solidFill>
                          <a:schemeClr val="accent3"/>
                        </a:solidFill>
                        <a:latin typeface="+mn-lt"/>
                        <a:ea typeface="+mn-ea"/>
                        <a:cs typeface="+mn-cs"/>
                      </a:endParaRPr>
                    </a:p>
                  </a:txBody>
                  <a:tcPr/>
                </a:tc>
                <a:tc>
                  <a:txBody>
                    <a:bodyPr/>
                    <a:lstStyle/>
                    <a:p>
                      <a:endParaRPr lang="en-US" sz="900" b="1" kern="1200" dirty="0">
                        <a:solidFill>
                          <a:schemeClr val="accent3"/>
                        </a:solidFill>
                        <a:latin typeface="+mn-lt"/>
                        <a:ea typeface="+mn-ea"/>
                        <a:cs typeface="+mn-cs"/>
                      </a:endParaRPr>
                    </a:p>
                  </a:txBody>
                  <a:tcPr/>
                </a:tc>
                <a:extLst>
                  <a:ext uri="{0D108BD9-81ED-4DB2-BD59-A6C34878D82A}">
                    <a16:rowId xmlns:a16="http://schemas.microsoft.com/office/drawing/2014/main" val="694150907"/>
                  </a:ext>
                </a:extLst>
              </a:tr>
            </a:tbl>
          </a:graphicData>
        </a:graphic>
      </p:graphicFrame>
      <p:sp>
        <p:nvSpPr>
          <p:cNvPr id="5" name="TextBox 4">
            <a:extLst>
              <a:ext uri="{FF2B5EF4-FFF2-40B4-BE49-F238E27FC236}">
                <a16:creationId xmlns:a16="http://schemas.microsoft.com/office/drawing/2014/main" id="{7FA08A50-64DA-D08C-A221-D940DBF3F189}"/>
              </a:ext>
            </a:extLst>
          </p:cNvPr>
          <p:cNvSpPr txBox="1"/>
          <p:nvPr/>
        </p:nvSpPr>
        <p:spPr>
          <a:xfrm rot="16200000">
            <a:off x="-559190" y="2480729"/>
            <a:ext cx="1589089" cy="276999"/>
          </a:xfrm>
          <a:prstGeom prst="rect">
            <a:avLst/>
          </a:prstGeom>
          <a:noFill/>
        </p:spPr>
        <p:txBody>
          <a:bodyPr vert="wordArtVert" wrap="square" rtlCol="0">
            <a:spAutoFit/>
          </a:bodyPr>
          <a:lstStyle/>
          <a:p>
            <a:pPr algn="l"/>
            <a:r>
              <a:rPr lang="en-US" sz="1200">
                <a:solidFill>
                  <a:schemeClr val="accent2"/>
                </a:solidFill>
              </a:rPr>
              <a:t>Renesas</a:t>
            </a:r>
          </a:p>
        </p:txBody>
      </p:sp>
      <p:sp>
        <p:nvSpPr>
          <p:cNvPr id="6" name="TextBox 5">
            <a:extLst>
              <a:ext uri="{FF2B5EF4-FFF2-40B4-BE49-F238E27FC236}">
                <a16:creationId xmlns:a16="http://schemas.microsoft.com/office/drawing/2014/main" id="{EDF09C50-54AF-53C5-8941-011054AC4918}"/>
              </a:ext>
            </a:extLst>
          </p:cNvPr>
          <p:cNvSpPr txBox="1"/>
          <p:nvPr/>
        </p:nvSpPr>
        <p:spPr>
          <a:xfrm rot="16200000">
            <a:off x="-157926" y="4414671"/>
            <a:ext cx="786562" cy="276999"/>
          </a:xfrm>
          <a:prstGeom prst="rect">
            <a:avLst/>
          </a:prstGeom>
          <a:noFill/>
        </p:spPr>
        <p:txBody>
          <a:bodyPr vert="wordArtVert" wrap="square" rtlCol="0">
            <a:spAutoFit/>
          </a:bodyPr>
          <a:lstStyle/>
          <a:p>
            <a:pPr algn="l"/>
            <a:r>
              <a:rPr lang="en-US" sz="1200">
                <a:solidFill>
                  <a:schemeClr val="accent2"/>
                </a:solidFill>
              </a:rPr>
              <a:t>NXP</a:t>
            </a:r>
          </a:p>
        </p:txBody>
      </p:sp>
      <p:sp>
        <p:nvSpPr>
          <p:cNvPr id="7" name="TextBox 6">
            <a:extLst>
              <a:ext uri="{FF2B5EF4-FFF2-40B4-BE49-F238E27FC236}">
                <a16:creationId xmlns:a16="http://schemas.microsoft.com/office/drawing/2014/main" id="{2953745B-AB67-AF40-8C58-0049B1517F4F}"/>
              </a:ext>
            </a:extLst>
          </p:cNvPr>
          <p:cNvSpPr txBox="1"/>
          <p:nvPr/>
        </p:nvSpPr>
        <p:spPr>
          <a:xfrm>
            <a:off x="395287" y="6595428"/>
            <a:ext cx="6286500" cy="246221"/>
          </a:xfrm>
          <a:prstGeom prst="rect">
            <a:avLst/>
          </a:prstGeom>
          <a:noFill/>
        </p:spPr>
        <p:txBody>
          <a:bodyPr wrap="square">
            <a:spAutoFit/>
          </a:bodyPr>
          <a:lstStyle/>
          <a:p>
            <a:r>
              <a:rPr lang="en-US" sz="1000"/>
              <a:t>These performed analyses are in line with the defined test plan in </a:t>
            </a:r>
            <a:r>
              <a:rPr lang="en-US" sz="1000" u="sng">
                <a:solidFill>
                  <a:schemeClr val="accent3"/>
                </a:solidFill>
              </a:rPr>
              <a:t>slide2</a:t>
            </a:r>
          </a:p>
        </p:txBody>
      </p:sp>
      <p:sp>
        <p:nvSpPr>
          <p:cNvPr id="8" name="Slide Number Placeholder 7">
            <a:extLst>
              <a:ext uri="{FF2B5EF4-FFF2-40B4-BE49-F238E27FC236}">
                <a16:creationId xmlns:a16="http://schemas.microsoft.com/office/drawing/2014/main" id="{937E88C7-B94B-F290-F1D9-767112572436}"/>
              </a:ext>
            </a:extLst>
          </p:cNvPr>
          <p:cNvSpPr>
            <a:spLocks noGrp="1"/>
          </p:cNvSpPr>
          <p:nvPr>
            <p:ph type="sldNum" sz="quarter" idx="12"/>
          </p:nvPr>
        </p:nvSpPr>
        <p:spPr/>
        <p:txBody>
          <a:bodyPr/>
          <a:lstStyle/>
          <a:p>
            <a:fld id="{40A7B169-58CE-4E65-B1F9-ACF9E46440C2}" type="slidenum">
              <a:rPr lang="en-US" smtClean="0"/>
              <a:t>17</a:t>
            </a:fld>
            <a:endParaRPr lang="en-US"/>
          </a:p>
        </p:txBody>
      </p:sp>
    </p:spTree>
    <p:extLst>
      <p:ext uri="{BB962C8B-B14F-4D97-AF65-F5344CB8AC3E}">
        <p14:creationId xmlns:p14="http://schemas.microsoft.com/office/powerpoint/2010/main" val="178723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66F5DD-3D62-D8D2-57DD-02C8EBD70E89}"/>
              </a:ext>
            </a:extLst>
          </p:cNvPr>
          <p:cNvSpPr>
            <a:spLocks noGrp="1"/>
          </p:cNvSpPr>
          <p:nvPr>
            <p:ph type="title"/>
          </p:nvPr>
        </p:nvSpPr>
        <p:spPr/>
        <p:txBody>
          <a:bodyPr/>
          <a:lstStyle/>
          <a:p>
            <a:r>
              <a:rPr lang="en-US"/>
              <a:t>ST Competitors MW Benchmark: USB</a:t>
            </a:r>
            <a:br>
              <a:rPr lang="en-US" b="1"/>
            </a:br>
            <a:r>
              <a:rPr lang="en-US" sz="2400" b="1">
                <a:solidFill>
                  <a:schemeClr val="accent2"/>
                </a:solidFill>
              </a:rPr>
              <a:t>ST vs Renesas Flowcharts</a:t>
            </a:r>
            <a:br>
              <a:rPr lang="en-US" sz="2400" b="1">
                <a:solidFill>
                  <a:schemeClr val="accent2"/>
                </a:solidFill>
              </a:rPr>
            </a:br>
            <a:endParaRPr lang="en-US" sz="2400" b="1">
              <a:solidFill>
                <a:schemeClr val="accent2"/>
              </a:solidFill>
            </a:endParaRPr>
          </a:p>
        </p:txBody>
      </p:sp>
      <p:grpSp>
        <p:nvGrpSpPr>
          <p:cNvPr id="91" name="Group 90">
            <a:extLst>
              <a:ext uri="{FF2B5EF4-FFF2-40B4-BE49-F238E27FC236}">
                <a16:creationId xmlns:a16="http://schemas.microsoft.com/office/drawing/2014/main" id="{8FC4D80B-6303-24F7-2F42-89213B6D1DB2}"/>
              </a:ext>
            </a:extLst>
          </p:cNvPr>
          <p:cNvGrpSpPr/>
          <p:nvPr/>
        </p:nvGrpSpPr>
        <p:grpSpPr>
          <a:xfrm>
            <a:off x="340400" y="1821339"/>
            <a:ext cx="4982431" cy="4068222"/>
            <a:chOff x="840142" y="1748187"/>
            <a:chExt cx="4248278" cy="3788375"/>
          </a:xfrm>
        </p:grpSpPr>
        <p:grpSp>
          <p:nvGrpSpPr>
            <p:cNvPr id="4" name="Group 3">
              <a:extLst>
                <a:ext uri="{FF2B5EF4-FFF2-40B4-BE49-F238E27FC236}">
                  <a16:creationId xmlns:a16="http://schemas.microsoft.com/office/drawing/2014/main" id="{E03E59BF-8DF3-1BAA-9A0C-07A729C4762D}"/>
                </a:ext>
              </a:extLst>
            </p:cNvPr>
            <p:cNvGrpSpPr/>
            <p:nvPr/>
          </p:nvGrpSpPr>
          <p:grpSpPr>
            <a:xfrm>
              <a:off x="840142" y="1748187"/>
              <a:ext cx="3137497" cy="3788375"/>
              <a:chOff x="1360885" y="1026974"/>
              <a:chExt cx="4138197" cy="4492460"/>
            </a:xfrm>
          </p:grpSpPr>
          <p:sp>
            <p:nvSpPr>
              <p:cNvPr id="5" name="Rectangle 4">
                <a:extLst>
                  <a:ext uri="{FF2B5EF4-FFF2-40B4-BE49-F238E27FC236}">
                    <a16:creationId xmlns:a16="http://schemas.microsoft.com/office/drawing/2014/main" id="{F0724673-E85E-5B61-DB55-CC3F279694B1}"/>
                  </a:ext>
                </a:extLst>
              </p:cNvPr>
              <p:cNvSpPr/>
              <p:nvPr/>
            </p:nvSpPr>
            <p:spPr>
              <a:xfrm>
                <a:off x="1452427" y="1489969"/>
                <a:ext cx="1743342"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800">
                  <a:solidFill>
                    <a:schemeClr val="tx1"/>
                  </a:solidFill>
                  <a:cs typeface="Arial"/>
                </a:endParaRPr>
              </a:p>
              <a:p>
                <a:pPr algn="ctr"/>
                <a:r>
                  <a:rPr lang="fr-FR" sz="800" err="1">
                    <a:solidFill>
                      <a:schemeClr val="tx1"/>
                    </a:solidFill>
                  </a:rPr>
                  <a:t>Clock</a:t>
                </a:r>
                <a:r>
                  <a:rPr lang="fr-FR" sz="800">
                    <a:solidFill>
                      <a:schemeClr val="tx1"/>
                    </a:solidFill>
                  </a:rPr>
                  <a:t> configuration</a:t>
                </a:r>
              </a:p>
              <a:p>
                <a:pPr algn="ctr"/>
                <a:endParaRPr lang="fr-FR" sz="800">
                  <a:solidFill>
                    <a:schemeClr val="tx1"/>
                  </a:solidFill>
                  <a:cs typeface="Arial"/>
                </a:endParaRPr>
              </a:p>
            </p:txBody>
          </p:sp>
          <p:cxnSp>
            <p:nvCxnSpPr>
              <p:cNvPr id="6" name="Straight Arrow Connector 5">
                <a:extLst>
                  <a:ext uri="{FF2B5EF4-FFF2-40B4-BE49-F238E27FC236}">
                    <a16:creationId xmlns:a16="http://schemas.microsoft.com/office/drawing/2014/main" id="{F874FFFF-D63F-DB43-B684-73DDA5A9DF09}"/>
                  </a:ext>
                </a:extLst>
              </p:cNvPr>
              <p:cNvCxnSpPr>
                <a:cxnSpLocks/>
              </p:cNvCxnSpPr>
              <p:nvPr/>
            </p:nvCxnSpPr>
            <p:spPr>
              <a:xfrm flipH="1">
                <a:off x="2302136" y="1288730"/>
                <a:ext cx="1" cy="21315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7" name="Straight Arrow Connector 6">
                <a:extLst>
                  <a:ext uri="{FF2B5EF4-FFF2-40B4-BE49-F238E27FC236}">
                    <a16:creationId xmlns:a16="http://schemas.microsoft.com/office/drawing/2014/main" id="{49C85606-745B-3967-115C-A54A30F6E349}"/>
                  </a:ext>
                </a:extLst>
              </p:cNvPr>
              <p:cNvCxnSpPr>
                <a:cxnSpLocks/>
              </p:cNvCxnSpPr>
              <p:nvPr/>
            </p:nvCxnSpPr>
            <p:spPr>
              <a:xfrm flipH="1">
                <a:off x="2302136" y="1767596"/>
                <a:ext cx="1" cy="21315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8" name="Rectangle 7">
                <a:extLst>
                  <a:ext uri="{FF2B5EF4-FFF2-40B4-BE49-F238E27FC236}">
                    <a16:creationId xmlns:a16="http://schemas.microsoft.com/office/drawing/2014/main" id="{D4833137-9355-0B75-3635-672B52A54390}"/>
                  </a:ext>
                </a:extLst>
              </p:cNvPr>
              <p:cNvSpPr/>
              <p:nvPr/>
            </p:nvSpPr>
            <p:spPr>
              <a:xfrm>
                <a:off x="1452430" y="1990384"/>
                <a:ext cx="1743342"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rPr>
                  <a:t>RTOS Kernel Start</a:t>
                </a:r>
                <a:endParaRPr lang="en-US" sz="800">
                  <a:solidFill>
                    <a:schemeClr val="tx1"/>
                  </a:solidFill>
                </a:endParaRPr>
              </a:p>
            </p:txBody>
          </p:sp>
          <p:cxnSp>
            <p:nvCxnSpPr>
              <p:cNvPr id="9" name="Straight Arrow Connector 8">
                <a:extLst>
                  <a:ext uri="{FF2B5EF4-FFF2-40B4-BE49-F238E27FC236}">
                    <a16:creationId xmlns:a16="http://schemas.microsoft.com/office/drawing/2014/main" id="{778C3028-5748-3454-B133-0B1576952192}"/>
                  </a:ext>
                </a:extLst>
              </p:cNvPr>
              <p:cNvCxnSpPr>
                <a:cxnSpLocks/>
              </p:cNvCxnSpPr>
              <p:nvPr/>
            </p:nvCxnSpPr>
            <p:spPr>
              <a:xfrm flipH="1">
                <a:off x="2285019" y="2266623"/>
                <a:ext cx="1" cy="21315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0" name="Rectangle 9">
                <a:extLst>
                  <a:ext uri="{FF2B5EF4-FFF2-40B4-BE49-F238E27FC236}">
                    <a16:creationId xmlns:a16="http://schemas.microsoft.com/office/drawing/2014/main" id="{2A25BA29-A76C-8169-0A58-732758CDDFFA}"/>
                  </a:ext>
                </a:extLst>
              </p:cNvPr>
              <p:cNvSpPr/>
              <p:nvPr/>
            </p:nvSpPr>
            <p:spPr>
              <a:xfrm>
                <a:off x="1452427" y="2478124"/>
                <a:ext cx="1743344"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 </a:t>
                </a:r>
                <a:r>
                  <a:rPr lang="fr-FR" sz="800" err="1">
                    <a:solidFill>
                      <a:schemeClr val="tx1"/>
                    </a:solidFill>
                  </a:rPr>
                  <a:t>USBx</a:t>
                </a:r>
                <a:r>
                  <a:rPr lang="fr-FR" sz="800">
                    <a:solidFill>
                      <a:schemeClr val="tx1"/>
                    </a:solidFill>
                  </a:rPr>
                  <a:t> Init</a:t>
                </a:r>
              </a:p>
            </p:txBody>
          </p:sp>
          <p:cxnSp>
            <p:nvCxnSpPr>
              <p:cNvPr id="11" name="Straight Arrow Connector 10">
                <a:extLst>
                  <a:ext uri="{FF2B5EF4-FFF2-40B4-BE49-F238E27FC236}">
                    <a16:creationId xmlns:a16="http://schemas.microsoft.com/office/drawing/2014/main" id="{47730B99-6318-7B54-A3AA-D966E34FCBED}"/>
                  </a:ext>
                </a:extLst>
              </p:cNvPr>
              <p:cNvCxnSpPr>
                <a:cxnSpLocks/>
                <a:stCxn id="5" idx="3"/>
                <a:endCxn id="43" idx="1"/>
              </p:cNvCxnSpPr>
              <p:nvPr/>
            </p:nvCxnSpPr>
            <p:spPr>
              <a:xfrm flipV="1">
                <a:off x="3195769" y="1625739"/>
                <a:ext cx="300405" cy="7544"/>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1" name="Straight Arrow Connector 20">
                <a:extLst>
                  <a:ext uri="{FF2B5EF4-FFF2-40B4-BE49-F238E27FC236}">
                    <a16:creationId xmlns:a16="http://schemas.microsoft.com/office/drawing/2014/main" id="{BB7B2A20-D035-3A24-0508-DCDE6FE80DD5}"/>
                  </a:ext>
                </a:extLst>
              </p:cNvPr>
              <p:cNvCxnSpPr>
                <a:cxnSpLocks/>
                <a:stCxn id="10" idx="2"/>
                <a:endCxn id="29" idx="0"/>
              </p:cNvCxnSpPr>
              <p:nvPr/>
            </p:nvCxnSpPr>
            <p:spPr>
              <a:xfrm>
                <a:off x="2324099" y="2764751"/>
                <a:ext cx="0" cy="201113"/>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2" name="Rectangle 21">
                <a:extLst>
                  <a:ext uri="{FF2B5EF4-FFF2-40B4-BE49-F238E27FC236}">
                    <a16:creationId xmlns:a16="http://schemas.microsoft.com/office/drawing/2014/main" id="{5E47907C-F7FC-2DC6-B4C8-2716C8A62907}"/>
                  </a:ext>
                </a:extLst>
              </p:cNvPr>
              <p:cNvSpPr/>
              <p:nvPr/>
            </p:nvSpPr>
            <p:spPr>
              <a:xfrm>
                <a:off x="1448272" y="3837416"/>
                <a:ext cx="1750923" cy="26745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USB enumeration</a:t>
                </a:r>
                <a:endParaRPr lang="en-US" sz="800">
                  <a:solidFill>
                    <a:schemeClr val="tx1"/>
                  </a:solidFill>
                </a:endParaRPr>
              </a:p>
            </p:txBody>
          </p:sp>
          <p:cxnSp>
            <p:nvCxnSpPr>
              <p:cNvPr id="23" name="Straight Arrow Connector 22">
                <a:extLst>
                  <a:ext uri="{FF2B5EF4-FFF2-40B4-BE49-F238E27FC236}">
                    <a16:creationId xmlns:a16="http://schemas.microsoft.com/office/drawing/2014/main" id="{A83D8CC0-05BA-C131-1F3C-8CBF0CEB51FE}"/>
                  </a:ext>
                </a:extLst>
              </p:cNvPr>
              <p:cNvCxnSpPr>
                <a:cxnSpLocks/>
                <a:stCxn id="29" idx="2"/>
                <a:endCxn id="22" idx="0"/>
              </p:cNvCxnSpPr>
              <p:nvPr/>
            </p:nvCxnSpPr>
            <p:spPr>
              <a:xfrm flipH="1">
                <a:off x="2323734" y="3606275"/>
                <a:ext cx="363" cy="23114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4" name="Straight Arrow Connector 23">
                <a:extLst>
                  <a:ext uri="{FF2B5EF4-FFF2-40B4-BE49-F238E27FC236}">
                    <a16:creationId xmlns:a16="http://schemas.microsoft.com/office/drawing/2014/main" id="{46C40DB1-E0DA-35A4-432C-9ECC901C9C19}"/>
                  </a:ext>
                </a:extLst>
              </p:cNvPr>
              <p:cNvCxnSpPr>
                <a:cxnSpLocks/>
                <a:stCxn id="10" idx="3"/>
                <a:endCxn id="47" idx="1"/>
              </p:cNvCxnSpPr>
              <p:nvPr/>
            </p:nvCxnSpPr>
            <p:spPr>
              <a:xfrm flipV="1">
                <a:off x="3195771" y="2621437"/>
                <a:ext cx="278770" cy="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8" name="TextBox 27">
                <a:extLst>
                  <a:ext uri="{FF2B5EF4-FFF2-40B4-BE49-F238E27FC236}">
                    <a16:creationId xmlns:a16="http://schemas.microsoft.com/office/drawing/2014/main" id="{33DCE1E9-0B30-6269-D9DF-2963F2590B45}"/>
                  </a:ext>
                </a:extLst>
              </p:cNvPr>
              <p:cNvSpPr txBox="1"/>
              <p:nvPr/>
            </p:nvSpPr>
            <p:spPr>
              <a:xfrm>
                <a:off x="3370051" y="3170920"/>
                <a:ext cx="498180" cy="25548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sp>
            <p:nvSpPr>
              <p:cNvPr id="29" name="Diamond 28">
                <a:extLst>
                  <a:ext uri="{FF2B5EF4-FFF2-40B4-BE49-F238E27FC236}">
                    <a16:creationId xmlns:a16="http://schemas.microsoft.com/office/drawing/2014/main" id="{ABB12F3C-429F-B002-FEAA-B06E68C53319}"/>
                  </a:ext>
                </a:extLst>
              </p:cNvPr>
              <p:cNvSpPr/>
              <p:nvPr/>
            </p:nvSpPr>
            <p:spPr>
              <a:xfrm>
                <a:off x="1470424" y="2965863"/>
                <a:ext cx="1707348" cy="640412"/>
              </a:xfrm>
              <a:prstGeom prst="diamond">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rgbClr val="FFFFFF"/>
                  </a:buClr>
                </a:pPr>
                <a:r>
                  <a:rPr lang="fr-FR" sz="800">
                    <a:solidFill>
                      <a:schemeClr val="tx1"/>
                    </a:solidFill>
                  </a:rPr>
                  <a:t>Is </a:t>
                </a:r>
                <a:r>
                  <a:rPr lang="fr-FR" sz="800" err="1">
                    <a:solidFill>
                      <a:schemeClr val="tx1"/>
                    </a:solidFill>
                  </a:rPr>
                  <a:t>device</a:t>
                </a:r>
                <a:r>
                  <a:rPr lang="fr-FR" sz="800">
                    <a:solidFill>
                      <a:schemeClr val="tx1"/>
                    </a:solidFill>
                  </a:rPr>
                  <a:t> </a:t>
                </a:r>
                <a:r>
                  <a:rPr lang="fr-FR" sz="800" err="1">
                    <a:solidFill>
                      <a:schemeClr val="tx1"/>
                    </a:solidFill>
                  </a:rPr>
                  <a:t>inserted</a:t>
                </a:r>
                <a:r>
                  <a:rPr lang="fr-FR" sz="800">
                    <a:solidFill>
                      <a:schemeClr val="tx1"/>
                    </a:solidFill>
                  </a:rPr>
                  <a:t> ?</a:t>
                </a:r>
                <a:endParaRPr lang="en-US" sz="800">
                  <a:solidFill>
                    <a:schemeClr val="tx1"/>
                  </a:solidFill>
                </a:endParaRPr>
              </a:p>
            </p:txBody>
          </p:sp>
          <p:sp>
            <p:nvSpPr>
              <p:cNvPr id="30" name="Diamond 29">
                <a:extLst>
                  <a:ext uri="{FF2B5EF4-FFF2-40B4-BE49-F238E27FC236}">
                    <a16:creationId xmlns:a16="http://schemas.microsoft.com/office/drawing/2014/main" id="{E98C5B1E-EA9B-3D9D-7923-A92D49C3106F}"/>
                  </a:ext>
                </a:extLst>
              </p:cNvPr>
              <p:cNvSpPr/>
              <p:nvPr/>
            </p:nvSpPr>
            <p:spPr>
              <a:xfrm>
                <a:off x="1360885" y="4300412"/>
                <a:ext cx="1929855" cy="579941"/>
              </a:xfrm>
              <a:prstGeom prst="diamond">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en-US" sz="800">
                    <a:solidFill>
                      <a:schemeClr val="tx1"/>
                    </a:solidFill>
                  </a:rPr>
                  <a:t>If USB Receive data  </a:t>
                </a:r>
              </a:p>
            </p:txBody>
          </p:sp>
          <p:cxnSp>
            <p:nvCxnSpPr>
              <p:cNvPr id="31" name="Straight Arrow Connector 30">
                <a:extLst>
                  <a:ext uri="{FF2B5EF4-FFF2-40B4-BE49-F238E27FC236}">
                    <a16:creationId xmlns:a16="http://schemas.microsoft.com/office/drawing/2014/main" id="{7C78D075-E1DB-3EB9-27E4-0A15FEF56EB9}"/>
                  </a:ext>
                </a:extLst>
              </p:cNvPr>
              <p:cNvCxnSpPr>
                <a:cxnSpLocks/>
                <a:stCxn id="22" idx="2"/>
                <a:endCxn id="30" idx="0"/>
              </p:cNvCxnSpPr>
              <p:nvPr/>
            </p:nvCxnSpPr>
            <p:spPr>
              <a:xfrm>
                <a:off x="2323735" y="4104870"/>
                <a:ext cx="2078" cy="19554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2" name="Rectangle 31">
                <a:extLst>
                  <a:ext uri="{FF2B5EF4-FFF2-40B4-BE49-F238E27FC236}">
                    <a16:creationId xmlns:a16="http://schemas.microsoft.com/office/drawing/2014/main" id="{507A1A44-C3C1-0A0A-E370-F9DD5BA272F3}"/>
                  </a:ext>
                </a:extLst>
              </p:cNvPr>
              <p:cNvSpPr/>
              <p:nvPr/>
            </p:nvSpPr>
            <p:spPr>
              <a:xfrm>
                <a:off x="1504532" y="5217040"/>
                <a:ext cx="1639131" cy="302393"/>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en-US" sz="800">
                    <a:solidFill>
                      <a:schemeClr val="tx1"/>
                    </a:solidFill>
                  </a:rPr>
                  <a:t>USB transmit data </a:t>
                </a:r>
              </a:p>
            </p:txBody>
          </p:sp>
          <p:cxnSp>
            <p:nvCxnSpPr>
              <p:cNvPr id="33" name="Straight Arrow Connector 32">
                <a:extLst>
                  <a:ext uri="{FF2B5EF4-FFF2-40B4-BE49-F238E27FC236}">
                    <a16:creationId xmlns:a16="http://schemas.microsoft.com/office/drawing/2014/main" id="{BA151FEB-AA70-442E-5CAD-6F16EA079824}"/>
                  </a:ext>
                </a:extLst>
              </p:cNvPr>
              <p:cNvCxnSpPr>
                <a:cxnSpLocks/>
                <a:stCxn id="30" idx="2"/>
                <a:endCxn id="32" idx="0"/>
              </p:cNvCxnSpPr>
              <p:nvPr/>
            </p:nvCxnSpPr>
            <p:spPr>
              <a:xfrm flipH="1">
                <a:off x="2324098" y="4880352"/>
                <a:ext cx="1715" cy="33668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34" name="Connector: Elbow 33">
                <a:extLst>
                  <a:ext uri="{FF2B5EF4-FFF2-40B4-BE49-F238E27FC236}">
                    <a16:creationId xmlns:a16="http://schemas.microsoft.com/office/drawing/2014/main" id="{AF41CC7D-0FFA-A832-807C-81AB1835BD2E}"/>
                  </a:ext>
                </a:extLst>
              </p:cNvPr>
              <p:cNvCxnSpPr>
                <a:cxnSpLocks/>
                <a:stCxn id="32" idx="2"/>
                <a:endCxn id="10" idx="1"/>
              </p:cNvCxnSpPr>
              <p:nvPr/>
            </p:nvCxnSpPr>
            <p:spPr>
              <a:xfrm rot="5400000" flipH="1">
                <a:off x="439266" y="3634601"/>
                <a:ext cx="2897995" cy="871671"/>
              </a:xfrm>
              <a:prstGeom prst="bentConnector4">
                <a:avLst>
                  <a:gd name="adj1" fmla="val -3741"/>
                  <a:gd name="adj2" fmla="val 13459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24AF6A32-17FC-E363-09DE-8D5C6618DAC6}"/>
                  </a:ext>
                </a:extLst>
              </p:cNvPr>
              <p:cNvCxnSpPr>
                <a:cxnSpLocks/>
                <a:endCxn id="29" idx="3"/>
              </p:cNvCxnSpPr>
              <p:nvPr/>
            </p:nvCxnSpPr>
            <p:spPr>
              <a:xfrm flipV="1">
                <a:off x="2325343" y="3286070"/>
                <a:ext cx="852430" cy="377826"/>
              </a:xfrm>
              <a:prstGeom prst="bentConnector3">
                <a:avLst>
                  <a:gd name="adj1" fmla="val 126817"/>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DB339468-82BC-0B6F-B8B4-A431B421EFE3}"/>
                  </a:ext>
                </a:extLst>
              </p:cNvPr>
              <p:cNvCxnSpPr>
                <a:cxnSpLocks/>
                <a:stCxn id="30" idx="2"/>
                <a:endCxn id="30" idx="3"/>
              </p:cNvCxnSpPr>
              <p:nvPr/>
            </p:nvCxnSpPr>
            <p:spPr>
              <a:xfrm rot="5400000" flipH="1" flipV="1">
                <a:off x="2663290" y="4252904"/>
                <a:ext cx="289970" cy="964927"/>
              </a:xfrm>
              <a:prstGeom prst="bentConnector4">
                <a:avLst>
                  <a:gd name="adj1" fmla="val -87057"/>
                  <a:gd name="adj2" fmla="val 126643"/>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7" name="TextBox 56">
                <a:extLst>
                  <a:ext uri="{FF2B5EF4-FFF2-40B4-BE49-F238E27FC236}">
                    <a16:creationId xmlns:a16="http://schemas.microsoft.com/office/drawing/2014/main" id="{123F9B08-B56A-8C76-6F9B-183D81607C98}"/>
                  </a:ext>
                </a:extLst>
              </p:cNvPr>
              <p:cNvSpPr txBox="1"/>
              <p:nvPr/>
            </p:nvSpPr>
            <p:spPr>
              <a:xfrm>
                <a:off x="1668809" y="3591681"/>
                <a:ext cx="607924" cy="25548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38" name="TextBox 56">
                <a:extLst>
                  <a:ext uri="{FF2B5EF4-FFF2-40B4-BE49-F238E27FC236}">
                    <a16:creationId xmlns:a16="http://schemas.microsoft.com/office/drawing/2014/main" id="{DE4F3444-517A-3C7F-1052-951A240493E1}"/>
                  </a:ext>
                </a:extLst>
              </p:cNvPr>
              <p:cNvSpPr txBox="1"/>
              <p:nvPr/>
            </p:nvSpPr>
            <p:spPr>
              <a:xfrm>
                <a:off x="1803980" y="4944073"/>
                <a:ext cx="545698" cy="25548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39" name="TextBox 38">
                <a:extLst>
                  <a:ext uri="{FF2B5EF4-FFF2-40B4-BE49-F238E27FC236}">
                    <a16:creationId xmlns:a16="http://schemas.microsoft.com/office/drawing/2014/main" id="{8AE77EF5-8B2B-DF4B-2205-757CC81DCE47}"/>
                  </a:ext>
                </a:extLst>
              </p:cNvPr>
              <p:cNvSpPr txBox="1"/>
              <p:nvPr/>
            </p:nvSpPr>
            <p:spPr>
              <a:xfrm>
                <a:off x="3501533" y="4557097"/>
                <a:ext cx="471871" cy="25548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sp>
            <p:nvSpPr>
              <p:cNvPr id="40" name="Oval 39">
                <a:extLst>
                  <a:ext uri="{FF2B5EF4-FFF2-40B4-BE49-F238E27FC236}">
                    <a16:creationId xmlns:a16="http://schemas.microsoft.com/office/drawing/2014/main" id="{4D74E864-B033-5C5F-EF00-F536DA084839}"/>
                  </a:ext>
                </a:extLst>
              </p:cNvPr>
              <p:cNvSpPr/>
              <p:nvPr/>
            </p:nvSpPr>
            <p:spPr>
              <a:xfrm>
                <a:off x="1823154" y="1026974"/>
                <a:ext cx="962484" cy="286627"/>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fr-FR" sz="800">
                    <a:solidFill>
                      <a:schemeClr val="tx1"/>
                    </a:solidFill>
                  </a:rPr>
                  <a:t>Start</a:t>
                </a:r>
                <a:endParaRPr lang="en-US" sz="800">
                  <a:solidFill>
                    <a:schemeClr val="tx1"/>
                  </a:solidFill>
                </a:endParaRPr>
              </a:p>
            </p:txBody>
          </p:sp>
          <p:sp>
            <p:nvSpPr>
              <p:cNvPr id="41" name="Rectangle: Folded Corner 40">
                <a:extLst>
                  <a:ext uri="{FF2B5EF4-FFF2-40B4-BE49-F238E27FC236}">
                    <a16:creationId xmlns:a16="http://schemas.microsoft.com/office/drawing/2014/main" id="{9B8B5CF5-E752-5535-6FE6-D695E6B6477D}"/>
                  </a:ext>
                </a:extLst>
              </p:cNvPr>
              <p:cNvSpPr/>
              <p:nvPr/>
            </p:nvSpPr>
            <p:spPr>
              <a:xfrm>
                <a:off x="3995627" y="3663897"/>
                <a:ext cx="1503455" cy="1053503"/>
              </a:xfrm>
              <a:prstGeom prst="foldedCorner">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solidFill>
                  </a:rPr>
                  <a:t>USB host (PC) identify, assign address and configure USB device (MCU)</a:t>
                </a:r>
              </a:p>
            </p:txBody>
          </p:sp>
          <p:cxnSp>
            <p:nvCxnSpPr>
              <p:cNvPr id="42" name="Connector: Curved 41">
                <a:extLst>
                  <a:ext uri="{FF2B5EF4-FFF2-40B4-BE49-F238E27FC236}">
                    <a16:creationId xmlns:a16="http://schemas.microsoft.com/office/drawing/2014/main" id="{DE3F44AE-7597-0164-1388-CE92E4B8F5E9}"/>
                  </a:ext>
                </a:extLst>
              </p:cNvPr>
              <p:cNvCxnSpPr>
                <a:cxnSpLocks/>
                <a:stCxn id="22" idx="3"/>
                <a:endCxn id="41" idx="1"/>
              </p:cNvCxnSpPr>
              <p:nvPr/>
            </p:nvCxnSpPr>
            <p:spPr>
              <a:xfrm>
                <a:off x="3199196" y="3971144"/>
                <a:ext cx="796432" cy="219506"/>
              </a:xfrm>
              <a:prstGeom prst="curvedConnector3">
                <a:avLst/>
              </a:prstGeom>
              <a:ln w="12700">
                <a:headEnd type="none" w="lg" len="lg"/>
                <a:tailEnd type="triangle"/>
              </a:ln>
            </p:spPr>
            <p:style>
              <a:lnRef idx="1">
                <a:schemeClr val="accent4"/>
              </a:lnRef>
              <a:fillRef idx="0">
                <a:schemeClr val="accent4"/>
              </a:fillRef>
              <a:effectRef idx="0">
                <a:schemeClr val="accent4"/>
              </a:effectRef>
              <a:fontRef idx="minor">
                <a:schemeClr val="tx1"/>
              </a:fontRef>
            </p:style>
          </p:cxnSp>
        </p:grpSp>
        <p:sp>
          <p:nvSpPr>
            <p:cNvPr id="43" name="TextBox 71">
              <a:extLst>
                <a:ext uri="{FF2B5EF4-FFF2-40B4-BE49-F238E27FC236}">
                  <a16:creationId xmlns:a16="http://schemas.microsoft.com/office/drawing/2014/main" id="{7EA77F87-A5FB-05C2-2BEA-E8AC5039DC14}"/>
                </a:ext>
              </a:extLst>
            </p:cNvPr>
            <p:cNvSpPr txBox="1"/>
            <p:nvPr/>
          </p:nvSpPr>
          <p:spPr>
            <a:xfrm>
              <a:off x="2459076" y="2083833"/>
              <a:ext cx="2629344"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rgbClr val="03234B"/>
                  </a:solidFill>
                  <a:latin typeface="Arial"/>
                  <a:ea typeface="+mn-ea"/>
                  <a:cs typeface="+mn-cs"/>
                </a:defRPr>
              </a:lvl1pPr>
              <a:lvl2pPr marL="457200" algn="l" defTabSz="914400" rtl="0" eaLnBrk="1" latinLnBrk="0" hangingPunct="1">
                <a:defRPr sz="1800" kern="1200">
                  <a:solidFill>
                    <a:srgbClr val="03234B"/>
                  </a:solidFill>
                  <a:latin typeface="Arial"/>
                  <a:ea typeface="+mn-ea"/>
                  <a:cs typeface="+mn-cs"/>
                </a:defRPr>
              </a:lvl2pPr>
              <a:lvl3pPr marL="914400" algn="l" defTabSz="914400" rtl="0" eaLnBrk="1" latinLnBrk="0" hangingPunct="1">
                <a:defRPr sz="1800" kern="1200">
                  <a:solidFill>
                    <a:srgbClr val="03234B"/>
                  </a:solidFill>
                  <a:latin typeface="Arial"/>
                  <a:ea typeface="+mn-ea"/>
                  <a:cs typeface="+mn-cs"/>
                </a:defRPr>
              </a:lvl3pPr>
              <a:lvl4pPr marL="1371600" algn="l" defTabSz="914400" rtl="0" eaLnBrk="1" latinLnBrk="0" hangingPunct="1">
                <a:defRPr sz="1800" kern="1200">
                  <a:solidFill>
                    <a:srgbClr val="03234B"/>
                  </a:solidFill>
                  <a:latin typeface="Arial"/>
                  <a:ea typeface="+mn-ea"/>
                  <a:cs typeface="+mn-cs"/>
                </a:defRPr>
              </a:lvl4pPr>
              <a:lvl5pPr marL="1828800" algn="l" defTabSz="914400" rtl="0" eaLnBrk="1" latinLnBrk="0" hangingPunct="1">
                <a:defRPr sz="1800" kern="1200">
                  <a:solidFill>
                    <a:srgbClr val="03234B"/>
                  </a:solidFill>
                  <a:latin typeface="Arial"/>
                  <a:ea typeface="+mn-ea"/>
                  <a:cs typeface="+mn-cs"/>
                </a:defRPr>
              </a:lvl5pPr>
              <a:lvl6pPr marL="2286000" algn="l" defTabSz="914400" rtl="0" eaLnBrk="1" latinLnBrk="0" hangingPunct="1">
                <a:defRPr sz="1800" kern="1200">
                  <a:solidFill>
                    <a:srgbClr val="03234B"/>
                  </a:solidFill>
                  <a:latin typeface="Arial"/>
                  <a:ea typeface="+mn-ea"/>
                  <a:cs typeface="+mn-cs"/>
                </a:defRPr>
              </a:lvl6pPr>
              <a:lvl7pPr marL="2743200" algn="l" defTabSz="914400" rtl="0" eaLnBrk="1" latinLnBrk="0" hangingPunct="1">
                <a:defRPr sz="1800" kern="1200">
                  <a:solidFill>
                    <a:srgbClr val="03234B"/>
                  </a:solidFill>
                  <a:latin typeface="Arial"/>
                  <a:ea typeface="+mn-ea"/>
                  <a:cs typeface="+mn-cs"/>
                </a:defRPr>
              </a:lvl7pPr>
              <a:lvl8pPr marL="3200400" algn="l" defTabSz="914400" rtl="0" eaLnBrk="1" latinLnBrk="0" hangingPunct="1">
                <a:defRPr sz="1800" kern="1200">
                  <a:solidFill>
                    <a:srgbClr val="03234B"/>
                  </a:solidFill>
                  <a:latin typeface="Arial"/>
                  <a:ea typeface="+mn-ea"/>
                  <a:cs typeface="+mn-cs"/>
                </a:defRPr>
              </a:lvl8pPr>
              <a:lvl9pPr marL="3657600" algn="l" defTabSz="914400" rtl="0" eaLnBrk="1" latinLnBrk="0" hangingPunct="1">
                <a:defRPr sz="1800" kern="1200">
                  <a:solidFill>
                    <a:srgbClr val="03234B"/>
                  </a:solidFill>
                  <a:latin typeface="Arial"/>
                  <a:ea typeface="+mn-ea"/>
                  <a:cs typeface="+mn-cs"/>
                </a:defRPr>
              </a:lvl9pPr>
            </a:lstStyle>
            <a:p>
              <a:pPr>
                <a:defRPr/>
              </a:pPr>
              <a:r>
                <a:rPr lang="en-US" sz="800">
                  <a:cs typeface="Arial"/>
                </a:rPr>
                <a:t>C</a:t>
              </a:r>
              <a:r>
                <a:rPr kumimoji="0" lang="en-US" sz="800" b="0" i="0" u="none" strike="noStrike" kern="1200" cap="none" spc="0" normalizeH="0" baseline="0" noProof="0">
                  <a:ln>
                    <a:noFill/>
                  </a:ln>
                  <a:solidFill>
                    <a:srgbClr val="03234B"/>
                  </a:solidFill>
                  <a:effectLst/>
                  <a:uLnTx/>
                  <a:uFillTx/>
                  <a:latin typeface="Arial"/>
                  <a:ea typeface="+mn-ea"/>
                  <a:cs typeface="Arial"/>
                </a:rPr>
                <a:t>lock source : </a:t>
              </a:r>
              <a:r>
                <a:rPr lang="fr-FR" sz="800" b="1"/>
                <a:t>HSE (ST) </a:t>
              </a:r>
              <a:r>
                <a:rPr lang="fr-FR" sz="800"/>
                <a:t>/ </a:t>
              </a:r>
              <a:r>
                <a:rPr lang="fr-FR" sz="800" b="1"/>
                <a:t>PLL (Renesas)</a:t>
              </a:r>
            </a:p>
            <a:p>
              <a:pPr>
                <a:defRPr/>
              </a:pPr>
              <a:r>
                <a:rPr lang="en-US" sz="800"/>
                <a:t>Clock frequency: </a:t>
              </a:r>
              <a:r>
                <a:rPr lang="en-US" sz="800" b="1"/>
                <a:t>200 MHz (ST and </a:t>
              </a:r>
              <a:r>
                <a:rPr lang="fr-FR" sz="800" b="1"/>
                <a:t>Renesas</a:t>
              </a:r>
              <a:r>
                <a:rPr lang="en-US" sz="800" b="1"/>
                <a:t>)</a:t>
              </a:r>
            </a:p>
          </p:txBody>
        </p:sp>
        <p:sp>
          <p:nvSpPr>
            <p:cNvPr id="47" name="TextBox 39">
              <a:extLst>
                <a:ext uri="{FF2B5EF4-FFF2-40B4-BE49-F238E27FC236}">
                  <a16:creationId xmlns:a16="http://schemas.microsoft.com/office/drawing/2014/main" id="{B9769CE8-4CDB-51E5-4C69-5A8FCA60DD72}"/>
                </a:ext>
              </a:extLst>
            </p:cNvPr>
            <p:cNvSpPr txBox="1"/>
            <p:nvPr/>
          </p:nvSpPr>
          <p:spPr>
            <a:xfrm>
              <a:off x="2442674" y="2908090"/>
              <a:ext cx="1930042"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USB Clock (48 MHz), USB Device</a:t>
              </a:r>
              <a:r>
                <a:rPr lang="en-US" sz="1000"/>
                <a:t>, </a:t>
              </a:r>
              <a:r>
                <a:rPr lang="en-US" sz="800"/>
                <a:t>CDC class, power USB module</a:t>
              </a:r>
            </a:p>
          </p:txBody>
        </p:sp>
      </p:grpSp>
      <p:sp>
        <p:nvSpPr>
          <p:cNvPr id="87" name="TextBox 86">
            <a:extLst>
              <a:ext uri="{FF2B5EF4-FFF2-40B4-BE49-F238E27FC236}">
                <a16:creationId xmlns:a16="http://schemas.microsoft.com/office/drawing/2014/main" id="{D5F86675-5BAD-5810-BA9E-F618128E8CFC}"/>
              </a:ext>
            </a:extLst>
          </p:cNvPr>
          <p:cNvSpPr txBox="1"/>
          <p:nvPr/>
        </p:nvSpPr>
        <p:spPr>
          <a:xfrm>
            <a:off x="97668" y="1060782"/>
            <a:ext cx="4722816" cy="677108"/>
          </a:xfrm>
          <a:prstGeom prst="rect">
            <a:avLst/>
          </a:prstGeom>
          <a:noFill/>
        </p:spPr>
        <p:txBody>
          <a:bodyPr wrap="square" rtlCol="0">
            <a:spAutoFit/>
          </a:bodyPr>
          <a:lstStyle/>
          <a:p>
            <a:r>
              <a:rPr lang="en-US" sz="1400" b="1">
                <a:solidFill>
                  <a:srgbClr val="0070C0"/>
                </a:solidFill>
              </a:rPr>
              <a:t>RTOS mode : USBX CDC device class</a:t>
            </a:r>
          </a:p>
          <a:p>
            <a:endParaRPr lang="en-US" sz="1400" b="1">
              <a:solidFill>
                <a:srgbClr val="0070C0"/>
              </a:solidFill>
            </a:endParaRPr>
          </a:p>
          <a:p>
            <a:r>
              <a:rPr lang="en-US" sz="1000" b="1"/>
              <a:t>STM32H573xx</a:t>
            </a:r>
            <a:r>
              <a:rPr lang="en-US" sz="1000" b="1">
                <a:solidFill>
                  <a:srgbClr val="002060"/>
                </a:solidFill>
              </a:rPr>
              <a:t> (CM33) vs RA6M5 (CM33)</a:t>
            </a:r>
          </a:p>
        </p:txBody>
      </p:sp>
      <p:sp>
        <p:nvSpPr>
          <p:cNvPr id="92" name="Rectangle 91">
            <a:extLst>
              <a:ext uri="{FF2B5EF4-FFF2-40B4-BE49-F238E27FC236}">
                <a16:creationId xmlns:a16="http://schemas.microsoft.com/office/drawing/2014/main" id="{28046E53-A79F-CF34-8C7B-78B6C5BFAAB2}"/>
              </a:ext>
            </a:extLst>
          </p:cNvPr>
          <p:cNvSpPr/>
          <p:nvPr/>
        </p:nvSpPr>
        <p:spPr>
          <a:xfrm>
            <a:off x="97668" y="6226571"/>
            <a:ext cx="5845932" cy="5990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a:solidFill>
                  <a:schemeClr val="accent2"/>
                </a:solidFill>
              </a:rPr>
              <a:t>USB CDC device class: </a:t>
            </a:r>
            <a:r>
              <a:rPr lang="fr-FR" sz="800">
                <a:solidFill>
                  <a:schemeClr val="tx1"/>
                </a:solidFill>
              </a:rPr>
              <a:t>USB </a:t>
            </a:r>
            <a:r>
              <a:rPr lang="en-US" sz="800" b="1">
                <a:solidFill>
                  <a:schemeClr val="tx1"/>
                </a:solidFill>
              </a:rPr>
              <a:t>communication device class</a:t>
            </a:r>
            <a:r>
              <a:rPr lang="fr-FR" sz="800" b="1">
                <a:solidFill>
                  <a:schemeClr val="tx1"/>
                </a:solidFill>
              </a:rPr>
              <a:t> </a:t>
            </a:r>
            <a:r>
              <a:rPr lang="fr-FR" sz="800" err="1">
                <a:solidFill>
                  <a:schemeClr val="tx1"/>
                </a:solidFill>
              </a:rPr>
              <a:t>allows</a:t>
            </a:r>
            <a:r>
              <a:rPr lang="fr-FR" sz="800" b="1">
                <a:solidFill>
                  <a:schemeClr val="tx1"/>
                </a:solidFill>
              </a:rPr>
              <a:t> </a:t>
            </a:r>
            <a:r>
              <a:rPr lang="en-US" sz="800">
                <a:solidFill>
                  <a:schemeClr val="tx1"/>
                </a:solidFill>
              </a:rPr>
              <a:t>devices to communicate with computers as serial ports or network interfaces.</a:t>
            </a:r>
          </a:p>
        </p:txBody>
      </p:sp>
      <p:cxnSp>
        <p:nvCxnSpPr>
          <p:cNvPr id="93" name="Straight Connector 92">
            <a:extLst>
              <a:ext uri="{FF2B5EF4-FFF2-40B4-BE49-F238E27FC236}">
                <a16:creationId xmlns:a16="http://schemas.microsoft.com/office/drawing/2014/main" id="{8BC3A287-4E22-B556-39A3-D0DD61D5AE38}"/>
              </a:ext>
            </a:extLst>
          </p:cNvPr>
          <p:cNvCxnSpPr>
            <a:cxnSpLocks/>
          </p:cNvCxnSpPr>
          <p:nvPr/>
        </p:nvCxnSpPr>
        <p:spPr>
          <a:xfrm flipH="1" flipV="1">
            <a:off x="6083340" y="1411101"/>
            <a:ext cx="12660" cy="5356379"/>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sp>
        <p:nvSpPr>
          <p:cNvPr id="98" name="TextBox 39">
            <a:extLst>
              <a:ext uri="{FF2B5EF4-FFF2-40B4-BE49-F238E27FC236}">
                <a16:creationId xmlns:a16="http://schemas.microsoft.com/office/drawing/2014/main" id="{159ED444-C634-8297-229A-F9452DB22CAA}"/>
              </a:ext>
            </a:extLst>
          </p:cNvPr>
          <p:cNvSpPr txBox="1"/>
          <p:nvPr/>
        </p:nvSpPr>
        <p:spPr>
          <a:xfrm>
            <a:off x="1941529" y="2644333"/>
            <a:ext cx="1930042"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Scheduler, tasks, priorities</a:t>
            </a:r>
          </a:p>
        </p:txBody>
      </p:sp>
      <p:cxnSp>
        <p:nvCxnSpPr>
          <p:cNvPr id="99" name="Straight Arrow Connector 98">
            <a:extLst>
              <a:ext uri="{FF2B5EF4-FFF2-40B4-BE49-F238E27FC236}">
                <a16:creationId xmlns:a16="http://schemas.microsoft.com/office/drawing/2014/main" id="{030A617D-0B90-BCCA-75F7-410FB21CEA21}"/>
              </a:ext>
            </a:extLst>
          </p:cNvPr>
          <p:cNvCxnSpPr>
            <a:cxnSpLocks/>
            <a:stCxn id="8" idx="3"/>
            <a:endCxn id="98" idx="1"/>
          </p:cNvCxnSpPr>
          <p:nvPr/>
        </p:nvCxnSpPr>
        <p:spPr>
          <a:xfrm flipH="1" flipV="1">
            <a:off x="1941529" y="2752055"/>
            <a:ext cx="30458" cy="71496"/>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04" name="TextBox 103">
            <a:extLst>
              <a:ext uri="{FF2B5EF4-FFF2-40B4-BE49-F238E27FC236}">
                <a16:creationId xmlns:a16="http://schemas.microsoft.com/office/drawing/2014/main" id="{6243FBE1-8F26-2D8F-7FF8-E1C459E96839}"/>
              </a:ext>
            </a:extLst>
          </p:cNvPr>
          <p:cNvSpPr txBox="1"/>
          <p:nvPr/>
        </p:nvSpPr>
        <p:spPr>
          <a:xfrm>
            <a:off x="6173791" y="1031841"/>
            <a:ext cx="4722816" cy="677108"/>
          </a:xfrm>
          <a:prstGeom prst="rect">
            <a:avLst/>
          </a:prstGeom>
          <a:noFill/>
        </p:spPr>
        <p:txBody>
          <a:bodyPr wrap="square" rtlCol="0">
            <a:spAutoFit/>
          </a:bodyPr>
          <a:lstStyle/>
          <a:p>
            <a:r>
              <a:rPr lang="en-US" sz="1400" b="1">
                <a:solidFill>
                  <a:srgbClr val="0070C0"/>
                </a:solidFill>
              </a:rPr>
              <a:t>RTOS mode : USBX HID host class</a:t>
            </a:r>
          </a:p>
          <a:p>
            <a:endParaRPr lang="en-US" sz="1400" b="1">
              <a:solidFill>
                <a:srgbClr val="0070C0"/>
              </a:solidFill>
            </a:endParaRPr>
          </a:p>
          <a:p>
            <a:r>
              <a:rPr lang="en-US" sz="1000" b="1"/>
              <a:t>STM32H573xx</a:t>
            </a:r>
            <a:r>
              <a:rPr lang="en-US" sz="1000" b="1">
                <a:solidFill>
                  <a:srgbClr val="002060"/>
                </a:solidFill>
              </a:rPr>
              <a:t> (CM33) vs RA6M5 (CM33)</a:t>
            </a:r>
          </a:p>
        </p:txBody>
      </p:sp>
      <p:grpSp>
        <p:nvGrpSpPr>
          <p:cNvPr id="105" name="Group 104">
            <a:extLst>
              <a:ext uri="{FF2B5EF4-FFF2-40B4-BE49-F238E27FC236}">
                <a16:creationId xmlns:a16="http://schemas.microsoft.com/office/drawing/2014/main" id="{5B3964B0-DE8B-DDC2-DEA0-C04CEF3538E0}"/>
              </a:ext>
            </a:extLst>
          </p:cNvPr>
          <p:cNvGrpSpPr/>
          <p:nvPr/>
        </p:nvGrpSpPr>
        <p:grpSpPr>
          <a:xfrm>
            <a:off x="6711185" y="2023684"/>
            <a:ext cx="3941020" cy="3816743"/>
            <a:chOff x="1010649" y="1441426"/>
            <a:chExt cx="3488016" cy="3586029"/>
          </a:xfrm>
        </p:grpSpPr>
        <p:sp>
          <p:nvSpPr>
            <p:cNvPr id="107" name="Rectangle 106">
              <a:extLst>
                <a:ext uri="{FF2B5EF4-FFF2-40B4-BE49-F238E27FC236}">
                  <a16:creationId xmlns:a16="http://schemas.microsoft.com/office/drawing/2014/main" id="{20B911E8-F198-E918-C44A-6D7A1D7A3E10}"/>
                </a:ext>
              </a:extLst>
            </p:cNvPr>
            <p:cNvSpPr/>
            <p:nvPr/>
          </p:nvSpPr>
          <p:spPr>
            <a:xfrm>
              <a:off x="1069006" y="1639113"/>
              <a:ext cx="1257487" cy="22775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800">
                <a:solidFill>
                  <a:schemeClr val="tx1"/>
                </a:solidFill>
                <a:cs typeface="Arial"/>
              </a:endParaRPr>
            </a:p>
            <a:p>
              <a:pPr algn="ctr"/>
              <a:r>
                <a:rPr lang="fr-FR" sz="800" err="1">
                  <a:solidFill>
                    <a:schemeClr val="tx1"/>
                  </a:solidFill>
                </a:rPr>
                <a:t>Clock</a:t>
              </a:r>
              <a:r>
                <a:rPr lang="fr-FR" sz="800">
                  <a:solidFill>
                    <a:schemeClr val="tx1"/>
                  </a:solidFill>
                </a:rPr>
                <a:t> configuration</a:t>
              </a:r>
            </a:p>
            <a:p>
              <a:pPr algn="ctr"/>
              <a:endParaRPr lang="fr-FR" sz="800">
                <a:solidFill>
                  <a:schemeClr val="tx1"/>
                </a:solidFill>
                <a:cs typeface="Arial"/>
              </a:endParaRPr>
            </a:p>
          </p:txBody>
        </p:sp>
        <p:cxnSp>
          <p:nvCxnSpPr>
            <p:cNvPr id="108" name="Straight Arrow Connector 107">
              <a:extLst>
                <a:ext uri="{FF2B5EF4-FFF2-40B4-BE49-F238E27FC236}">
                  <a16:creationId xmlns:a16="http://schemas.microsoft.com/office/drawing/2014/main" id="{22E73261-3674-6603-7587-CE25AA75E5DA}"/>
                </a:ext>
              </a:extLst>
            </p:cNvPr>
            <p:cNvCxnSpPr>
              <a:cxnSpLocks/>
              <a:stCxn id="143" idx="4"/>
              <a:endCxn id="107" idx="0"/>
            </p:cNvCxnSpPr>
            <p:nvPr/>
          </p:nvCxnSpPr>
          <p:spPr>
            <a:xfrm>
              <a:off x="1697750" y="1441426"/>
              <a:ext cx="0" cy="197687"/>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09" name="Straight Arrow Connector 108">
              <a:extLst>
                <a:ext uri="{FF2B5EF4-FFF2-40B4-BE49-F238E27FC236}">
                  <a16:creationId xmlns:a16="http://schemas.microsoft.com/office/drawing/2014/main" id="{F4BFD134-1F48-7FC7-B900-06C94BB3BC0E}"/>
                </a:ext>
              </a:extLst>
            </p:cNvPr>
            <p:cNvCxnSpPr>
              <a:cxnSpLocks/>
              <a:stCxn id="107" idx="2"/>
              <a:endCxn id="110" idx="0"/>
            </p:cNvCxnSpPr>
            <p:nvPr/>
          </p:nvCxnSpPr>
          <p:spPr>
            <a:xfrm flipH="1">
              <a:off x="1697747" y="1866871"/>
              <a:ext cx="3" cy="188084"/>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10" name="Rectangle 109">
              <a:extLst>
                <a:ext uri="{FF2B5EF4-FFF2-40B4-BE49-F238E27FC236}">
                  <a16:creationId xmlns:a16="http://schemas.microsoft.com/office/drawing/2014/main" id="{5BFBEFD1-FB94-FE3D-79B2-84FB2E036F01}"/>
                </a:ext>
              </a:extLst>
            </p:cNvPr>
            <p:cNvSpPr/>
            <p:nvPr/>
          </p:nvSpPr>
          <p:spPr>
            <a:xfrm>
              <a:off x="1069003" y="2054955"/>
              <a:ext cx="1257488" cy="23825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rgbClr val="000000"/>
                  </a:solidFill>
                  <a:ea typeface="+mn-lt"/>
                  <a:cs typeface="+mn-lt"/>
                </a:rPr>
                <a:t>RTOS Kernel Start</a:t>
              </a:r>
              <a:endParaRPr lang="en-US" sz="800">
                <a:cs typeface="Arial"/>
              </a:endParaRPr>
            </a:p>
          </p:txBody>
        </p:sp>
        <p:cxnSp>
          <p:nvCxnSpPr>
            <p:cNvPr id="111" name="Straight Arrow Connector 110">
              <a:extLst>
                <a:ext uri="{FF2B5EF4-FFF2-40B4-BE49-F238E27FC236}">
                  <a16:creationId xmlns:a16="http://schemas.microsoft.com/office/drawing/2014/main" id="{758BF8F3-4053-98DC-5DAF-708E555F1D44}"/>
                </a:ext>
              </a:extLst>
            </p:cNvPr>
            <p:cNvCxnSpPr>
              <a:cxnSpLocks/>
              <a:stCxn id="110" idx="2"/>
              <a:endCxn id="112" idx="0"/>
            </p:cNvCxnSpPr>
            <p:nvPr/>
          </p:nvCxnSpPr>
          <p:spPr>
            <a:xfrm flipH="1">
              <a:off x="1697744" y="2293205"/>
              <a:ext cx="3" cy="170986"/>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12" name="Rectangle 111">
              <a:extLst>
                <a:ext uri="{FF2B5EF4-FFF2-40B4-BE49-F238E27FC236}">
                  <a16:creationId xmlns:a16="http://schemas.microsoft.com/office/drawing/2014/main" id="{9BFB917B-D423-01ED-D0C2-874A590099DA}"/>
                </a:ext>
              </a:extLst>
            </p:cNvPr>
            <p:cNvSpPr/>
            <p:nvPr/>
          </p:nvSpPr>
          <p:spPr>
            <a:xfrm>
              <a:off x="1069000" y="2464191"/>
              <a:ext cx="1257488" cy="23541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 USBX Init</a:t>
              </a:r>
            </a:p>
          </p:txBody>
        </p:sp>
        <p:cxnSp>
          <p:nvCxnSpPr>
            <p:cNvPr id="114" name="Straight Arrow Connector 113">
              <a:extLst>
                <a:ext uri="{FF2B5EF4-FFF2-40B4-BE49-F238E27FC236}">
                  <a16:creationId xmlns:a16="http://schemas.microsoft.com/office/drawing/2014/main" id="{AFCE9052-7595-2F11-1463-C689E43CFA01}"/>
                </a:ext>
              </a:extLst>
            </p:cNvPr>
            <p:cNvCxnSpPr>
              <a:cxnSpLocks/>
              <a:stCxn id="107" idx="3"/>
              <a:endCxn id="147" idx="1"/>
            </p:cNvCxnSpPr>
            <p:nvPr/>
          </p:nvCxnSpPr>
          <p:spPr>
            <a:xfrm flipV="1">
              <a:off x="2326493" y="1752753"/>
              <a:ext cx="240234" cy="23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22" name="Straight Arrow Connector 121">
              <a:extLst>
                <a:ext uri="{FF2B5EF4-FFF2-40B4-BE49-F238E27FC236}">
                  <a16:creationId xmlns:a16="http://schemas.microsoft.com/office/drawing/2014/main" id="{64ED0DB6-D8DE-4522-4CEC-32D2CB140A3C}"/>
                </a:ext>
              </a:extLst>
            </p:cNvPr>
            <p:cNvCxnSpPr>
              <a:cxnSpLocks/>
              <a:stCxn id="125" idx="2"/>
              <a:endCxn id="139" idx="0"/>
            </p:cNvCxnSpPr>
            <p:nvPr/>
          </p:nvCxnSpPr>
          <p:spPr>
            <a:xfrm flipH="1">
              <a:off x="1697744" y="3429530"/>
              <a:ext cx="5565" cy="187746"/>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23" name="Straight Arrow Connector 122">
              <a:extLst>
                <a:ext uri="{FF2B5EF4-FFF2-40B4-BE49-F238E27FC236}">
                  <a16:creationId xmlns:a16="http://schemas.microsoft.com/office/drawing/2014/main" id="{A0DE4E81-4FF6-7650-7375-089F1D7AEAE8}"/>
                </a:ext>
              </a:extLst>
            </p:cNvPr>
            <p:cNvCxnSpPr>
              <a:cxnSpLocks/>
              <a:stCxn id="112" idx="2"/>
              <a:endCxn id="125" idx="0"/>
            </p:cNvCxnSpPr>
            <p:nvPr/>
          </p:nvCxnSpPr>
          <p:spPr>
            <a:xfrm>
              <a:off x="1697744" y="2699609"/>
              <a:ext cx="5565" cy="19334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24" name="Rectangle 123">
              <a:extLst>
                <a:ext uri="{FF2B5EF4-FFF2-40B4-BE49-F238E27FC236}">
                  <a16:creationId xmlns:a16="http://schemas.microsoft.com/office/drawing/2014/main" id="{F401D471-0B73-07B3-42A5-E0EFAD7D4967}"/>
                </a:ext>
              </a:extLst>
            </p:cNvPr>
            <p:cNvSpPr/>
            <p:nvPr/>
          </p:nvSpPr>
          <p:spPr>
            <a:xfrm>
              <a:off x="1068998" y="4772456"/>
              <a:ext cx="1257489" cy="25499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cs typeface="Arial"/>
                </a:rPr>
                <a:t>Transmit data</a:t>
              </a:r>
            </a:p>
          </p:txBody>
        </p:sp>
        <p:sp>
          <p:nvSpPr>
            <p:cNvPr id="125" name="Diamond 124">
              <a:extLst>
                <a:ext uri="{FF2B5EF4-FFF2-40B4-BE49-F238E27FC236}">
                  <a16:creationId xmlns:a16="http://schemas.microsoft.com/office/drawing/2014/main" id="{CE6E53D2-5B1E-4527-1EB9-8014BEAD0CCB}"/>
                </a:ext>
              </a:extLst>
            </p:cNvPr>
            <p:cNvSpPr/>
            <p:nvPr/>
          </p:nvSpPr>
          <p:spPr>
            <a:xfrm>
              <a:off x="1010649" y="2892957"/>
              <a:ext cx="1385320" cy="536573"/>
            </a:xfrm>
            <a:prstGeom prst="diamond">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r>
                <a:rPr lang="en-US" sz="800">
                  <a:solidFill>
                    <a:schemeClr val="tx1"/>
                  </a:solidFill>
                </a:rPr>
                <a:t>Is mouse inserted?</a:t>
              </a:r>
            </a:p>
          </p:txBody>
        </p:sp>
        <p:cxnSp>
          <p:nvCxnSpPr>
            <p:cNvPr id="126" name="Straight Arrow Connector 125">
              <a:extLst>
                <a:ext uri="{FF2B5EF4-FFF2-40B4-BE49-F238E27FC236}">
                  <a16:creationId xmlns:a16="http://schemas.microsoft.com/office/drawing/2014/main" id="{F4801AED-85DA-2FBA-6CD6-C02DEF16DDED}"/>
                </a:ext>
              </a:extLst>
            </p:cNvPr>
            <p:cNvCxnSpPr>
              <a:cxnSpLocks/>
              <a:stCxn id="112" idx="3"/>
              <a:endCxn id="158" idx="1"/>
            </p:cNvCxnSpPr>
            <p:nvPr/>
          </p:nvCxnSpPr>
          <p:spPr>
            <a:xfrm flipV="1">
              <a:off x="2326488" y="2581538"/>
              <a:ext cx="280745" cy="36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30" name="Diamond 129">
              <a:extLst>
                <a:ext uri="{FF2B5EF4-FFF2-40B4-BE49-F238E27FC236}">
                  <a16:creationId xmlns:a16="http://schemas.microsoft.com/office/drawing/2014/main" id="{15694312-8903-6416-C14F-91732F9896EF}"/>
                </a:ext>
              </a:extLst>
            </p:cNvPr>
            <p:cNvSpPr/>
            <p:nvPr/>
          </p:nvSpPr>
          <p:spPr>
            <a:xfrm>
              <a:off x="1068998" y="3971855"/>
              <a:ext cx="1257489" cy="608066"/>
            </a:xfrm>
            <a:prstGeom prst="diamond">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r>
                <a:rPr lang="en-US" sz="800">
                  <a:solidFill>
                    <a:schemeClr val="tx1"/>
                  </a:solidFill>
                </a:rPr>
                <a:t>Mouse buttons state changed ? </a:t>
              </a:r>
            </a:p>
          </p:txBody>
        </p:sp>
        <p:cxnSp>
          <p:nvCxnSpPr>
            <p:cNvPr id="131" name="Connector: Elbow 130">
              <a:extLst>
                <a:ext uri="{FF2B5EF4-FFF2-40B4-BE49-F238E27FC236}">
                  <a16:creationId xmlns:a16="http://schemas.microsoft.com/office/drawing/2014/main" id="{42B42CC1-0A56-C491-C976-79F21AED2D76}"/>
                </a:ext>
              </a:extLst>
            </p:cNvPr>
            <p:cNvCxnSpPr>
              <a:cxnSpLocks/>
              <a:stCxn id="125" idx="2"/>
              <a:endCxn id="125" idx="3"/>
            </p:cNvCxnSpPr>
            <p:nvPr/>
          </p:nvCxnSpPr>
          <p:spPr>
            <a:xfrm rot="5400000" flipH="1" flipV="1">
              <a:off x="1915496" y="2949057"/>
              <a:ext cx="268286" cy="692660"/>
            </a:xfrm>
            <a:prstGeom prst="bentConnector4">
              <a:avLst>
                <a:gd name="adj1" fmla="val -23858"/>
                <a:gd name="adj2" fmla="val 133003"/>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32" name="TextBox 56">
              <a:extLst>
                <a:ext uri="{FF2B5EF4-FFF2-40B4-BE49-F238E27FC236}">
                  <a16:creationId xmlns:a16="http://schemas.microsoft.com/office/drawing/2014/main" id="{507D7788-CDCA-B413-EB93-CDD24E2963F4}"/>
                </a:ext>
              </a:extLst>
            </p:cNvPr>
            <p:cNvSpPr txBox="1"/>
            <p:nvPr/>
          </p:nvSpPr>
          <p:spPr>
            <a:xfrm>
              <a:off x="1183119" y="3327325"/>
              <a:ext cx="428322"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133" name="TextBox 132">
              <a:extLst>
                <a:ext uri="{FF2B5EF4-FFF2-40B4-BE49-F238E27FC236}">
                  <a16:creationId xmlns:a16="http://schemas.microsoft.com/office/drawing/2014/main" id="{AA9F13F7-1D3A-18BA-53D2-490A53C09647}"/>
                </a:ext>
              </a:extLst>
            </p:cNvPr>
            <p:cNvSpPr txBox="1"/>
            <p:nvPr/>
          </p:nvSpPr>
          <p:spPr>
            <a:xfrm>
              <a:off x="2609338" y="3161243"/>
              <a:ext cx="365806"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cxnSp>
          <p:nvCxnSpPr>
            <p:cNvPr id="134" name="Straight Arrow Connector 133">
              <a:extLst>
                <a:ext uri="{FF2B5EF4-FFF2-40B4-BE49-F238E27FC236}">
                  <a16:creationId xmlns:a16="http://schemas.microsoft.com/office/drawing/2014/main" id="{EED9C487-F9A1-7B21-F5A3-1B01082C8D64}"/>
                </a:ext>
              </a:extLst>
            </p:cNvPr>
            <p:cNvCxnSpPr>
              <a:cxnSpLocks/>
              <a:stCxn id="130" idx="2"/>
              <a:endCxn id="124" idx="0"/>
            </p:cNvCxnSpPr>
            <p:nvPr/>
          </p:nvCxnSpPr>
          <p:spPr>
            <a:xfrm>
              <a:off x="1697743" y="4579921"/>
              <a:ext cx="0" cy="19253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35" name="Connector: Elbow 134">
              <a:extLst>
                <a:ext uri="{FF2B5EF4-FFF2-40B4-BE49-F238E27FC236}">
                  <a16:creationId xmlns:a16="http://schemas.microsoft.com/office/drawing/2014/main" id="{E41D94BB-627A-FD1A-2CE2-2CA24B38D7A2}"/>
                </a:ext>
              </a:extLst>
            </p:cNvPr>
            <p:cNvCxnSpPr>
              <a:cxnSpLocks/>
              <a:stCxn id="130" idx="2"/>
              <a:endCxn id="130" idx="3"/>
            </p:cNvCxnSpPr>
            <p:nvPr/>
          </p:nvCxnSpPr>
          <p:spPr>
            <a:xfrm rot="5400000" flipH="1" flipV="1">
              <a:off x="1860098" y="4113533"/>
              <a:ext cx="304033" cy="628744"/>
            </a:xfrm>
            <a:prstGeom prst="bentConnector4">
              <a:avLst>
                <a:gd name="adj1" fmla="val -36090"/>
                <a:gd name="adj2" fmla="val 136358"/>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36" name="TextBox 56">
              <a:extLst>
                <a:ext uri="{FF2B5EF4-FFF2-40B4-BE49-F238E27FC236}">
                  <a16:creationId xmlns:a16="http://schemas.microsoft.com/office/drawing/2014/main" id="{EB59E355-C99F-F543-D897-B08F86954D80}"/>
                </a:ext>
              </a:extLst>
            </p:cNvPr>
            <p:cNvSpPr txBox="1"/>
            <p:nvPr/>
          </p:nvSpPr>
          <p:spPr>
            <a:xfrm>
              <a:off x="1183119" y="4522773"/>
              <a:ext cx="428322"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137" name="TextBox 136">
              <a:extLst>
                <a:ext uri="{FF2B5EF4-FFF2-40B4-BE49-F238E27FC236}">
                  <a16:creationId xmlns:a16="http://schemas.microsoft.com/office/drawing/2014/main" id="{F25B4ED4-64C9-92D8-5972-5DB782620535}"/>
                </a:ext>
              </a:extLst>
            </p:cNvPr>
            <p:cNvSpPr txBox="1"/>
            <p:nvPr/>
          </p:nvSpPr>
          <p:spPr>
            <a:xfrm>
              <a:off x="2517725" y="4243400"/>
              <a:ext cx="365806"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cxnSp>
          <p:nvCxnSpPr>
            <p:cNvPr id="138" name="Connector: Elbow 137">
              <a:extLst>
                <a:ext uri="{FF2B5EF4-FFF2-40B4-BE49-F238E27FC236}">
                  <a16:creationId xmlns:a16="http://schemas.microsoft.com/office/drawing/2014/main" id="{8EA11158-23C8-4B4E-5003-DBD62DA09C2F}"/>
                </a:ext>
              </a:extLst>
            </p:cNvPr>
            <p:cNvCxnSpPr>
              <a:cxnSpLocks/>
              <a:stCxn id="124" idx="2"/>
              <a:endCxn id="125" idx="1"/>
            </p:cNvCxnSpPr>
            <p:nvPr/>
          </p:nvCxnSpPr>
          <p:spPr>
            <a:xfrm rot="5400000" flipH="1">
              <a:off x="421090" y="3750803"/>
              <a:ext cx="1866211" cy="687094"/>
            </a:xfrm>
            <a:prstGeom prst="bentConnector4">
              <a:avLst>
                <a:gd name="adj1" fmla="val -5879"/>
                <a:gd name="adj2" fmla="val 13327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53DF074A-6D93-D8E3-93D9-A05677FE3E32}"/>
                </a:ext>
              </a:extLst>
            </p:cNvPr>
            <p:cNvSpPr/>
            <p:nvPr/>
          </p:nvSpPr>
          <p:spPr>
            <a:xfrm>
              <a:off x="1068999" y="3617276"/>
              <a:ext cx="1257489" cy="19378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cs typeface="Arial"/>
                </a:rPr>
                <a:t>USB enumeration</a:t>
              </a:r>
            </a:p>
          </p:txBody>
        </p:sp>
        <p:cxnSp>
          <p:nvCxnSpPr>
            <p:cNvPr id="140" name="Straight Arrow Connector 139">
              <a:extLst>
                <a:ext uri="{FF2B5EF4-FFF2-40B4-BE49-F238E27FC236}">
                  <a16:creationId xmlns:a16="http://schemas.microsoft.com/office/drawing/2014/main" id="{338FCF8E-6BE0-555C-5A4A-07B90CAE2D89}"/>
                </a:ext>
              </a:extLst>
            </p:cNvPr>
            <p:cNvCxnSpPr>
              <a:cxnSpLocks/>
              <a:stCxn id="139" idx="2"/>
              <a:endCxn id="130" idx="0"/>
            </p:cNvCxnSpPr>
            <p:nvPr/>
          </p:nvCxnSpPr>
          <p:spPr>
            <a:xfrm flipH="1">
              <a:off x="1697743" y="3811056"/>
              <a:ext cx="1" cy="16079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41" name="Rectangle: Folded Corner 140">
              <a:extLst>
                <a:ext uri="{FF2B5EF4-FFF2-40B4-BE49-F238E27FC236}">
                  <a16:creationId xmlns:a16="http://schemas.microsoft.com/office/drawing/2014/main" id="{260FE497-43B7-66AD-34BD-B392CF86D594}"/>
                </a:ext>
              </a:extLst>
            </p:cNvPr>
            <p:cNvSpPr/>
            <p:nvPr/>
          </p:nvSpPr>
          <p:spPr>
            <a:xfrm>
              <a:off x="3264133" y="3596114"/>
              <a:ext cx="1234532" cy="785172"/>
            </a:xfrm>
            <a:prstGeom prst="foldedCorner">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solidFill>
                </a:rPr>
                <a:t>USB host (MCU) identify, assign address and configure USB device (mouse)</a:t>
              </a:r>
            </a:p>
          </p:txBody>
        </p:sp>
        <p:cxnSp>
          <p:nvCxnSpPr>
            <p:cNvPr id="142" name="Connector: Curved 141">
              <a:extLst>
                <a:ext uri="{FF2B5EF4-FFF2-40B4-BE49-F238E27FC236}">
                  <a16:creationId xmlns:a16="http://schemas.microsoft.com/office/drawing/2014/main" id="{6885D110-EB61-EAE8-3F9D-DF7C020F9286}"/>
                </a:ext>
              </a:extLst>
            </p:cNvPr>
            <p:cNvCxnSpPr>
              <a:cxnSpLocks/>
              <a:stCxn id="139" idx="3"/>
              <a:endCxn id="141" idx="1"/>
            </p:cNvCxnSpPr>
            <p:nvPr/>
          </p:nvCxnSpPr>
          <p:spPr>
            <a:xfrm>
              <a:off x="2326488" y="3714166"/>
              <a:ext cx="937645" cy="274534"/>
            </a:xfrm>
            <a:prstGeom prst="curvedConnector3">
              <a:avLst/>
            </a:prstGeom>
            <a:ln w="12700">
              <a:headEnd type="none" w="lg" len="lg"/>
              <a:tailEnd type="triangle"/>
            </a:ln>
          </p:spPr>
          <p:style>
            <a:lnRef idx="1">
              <a:schemeClr val="accent4"/>
            </a:lnRef>
            <a:fillRef idx="0">
              <a:schemeClr val="accent4"/>
            </a:fillRef>
            <a:effectRef idx="0">
              <a:schemeClr val="accent4"/>
            </a:effectRef>
            <a:fontRef idx="minor">
              <a:schemeClr val="tx1"/>
            </a:fontRef>
          </p:style>
        </p:cxnSp>
      </p:grpSp>
      <p:sp>
        <p:nvSpPr>
          <p:cNvPr id="143" name="Oval 142">
            <a:extLst>
              <a:ext uri="{FF2B5EF4-FFF2-40B4-BE49-F238E27FC236}">
                <a16:creationId xmlns:a16="http://schemas.microsoft.com/office/drawing/2014/main" id="{B4A019D4-E974-BCA0-4CCF-40083E544753}"/>
              </a:ext>
            </a:extLst>
          </p:cNvPr>
          <p:cNvSpPr/>
          <p:nvPr/>
        </p:nvSpPr>
        <p:spPr>
          <a:xfrm>
            <a:off x="7033418" y="1781979"/>
            <a:ext cx="729736" cy="241705"/>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fr-FR" sz="800">
                <a:solidFill>
                  <a:schemeClr val="tx1"/>
                </a:solidFill>
              </a:rPr>
              <a:t>Start</a:t>
            </a:r>
            <a:endParaRPr lang="en-US" sz="800">
              <a:solidFill>
                <a:schemeClr val="tx1"/>
              </a:solidFill>
            </a:endParaRPr>
          </a:p>
        </p:txBody>
      </p:sp>
      <p:sp>
        <p:nvSpPr>
          <p:cNvPr id="147" name="TextBox 71">
            <a:extLst>
              <a:ext uri="{FF2B5EF4-FFF2-40B4-BE49-F238E27FC236}">
                <a16:creationId xmlns:a16="http://schemas.microsoft.com/office/drawing/2014/main" id="{E4BE252A-2E11-7CC6-3100-DB4B335E767A}"/>
              </a:ext>
            </a:extLst>
          </p:cNvPr>
          <p:cNvSpPr txBox="1"/>
          <p:nvPr/>
        </p:nvSpPr>
        <p:spPr>
          <a:xfrm>
            <a:off x="8267263" y="2165734"/>
            <a:ext cx="2629344"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rgbClr val="03234B"/>
                </a:solidFill>
                <a:latin typeface="Arial"/>
                <a:ea typeface="+mn-ea"/>
                <a:cs typeface="+mn-cs"/>
              </a:defRPr>
            </a:lvl1pPr>
            <a:lvl2pPr marL="457200" algn="l" defTabSz="914400" rtl="0" eaLnBrk="1" latinLnBrk="0" hangingPunct="1">
              <a:defRPr sz="1800" kern="1200">
                <a:solidFill>
                  <a:srgbClr val="03234B"/>
                </a:solidFill>
                <a:latin typeface="Arial"/>
                <a:ea typeface="+mn-ea"/>
                <a:cs typeface="+mn-cs"/>
              </a:defRPr>
            </a:lvl2pPr>
            <a:lvl3pPr marL="914400" algn="l" defTabSz="914400" rtl="0" eaLnBrk="1" latinLnBrk="0" hangingPunct="1">
              <a:defRPr sz="1800" kern="1200">
                <a:solidFill>
                  <a:srgbClr val="03234B"/>
                </a:solidFill>
                <a:latin typeface="Arial"/>
                <a:ea typeface="+mn-ea"/>
                <a:cs typeface="+mn-cs"/>
              </a:defRPr>
            </a:lvl3pPr>
            <a:lvl4pPr marL="1371600" algn="l" defTabSz="914400" rtl="0" eaLnBrk="1" latinLnBrk="0" hangingPunct="1">
              <a:defRPr sz="1800" kern="1200">
                <a:solidFill>
                  <a:srgbClr val="03234B"/>
                </a:solidFill>
                <a:latin typeface="Arial"/>
                <a:ea typeface="+mn-ea"/>
                <a:cs typeface="+mn-cs"/>
              </a:defRPr>
            </a:lvl4pPr>
            <a:lvl5pPr marL="1828800" algn="l" defTabSz="914400" rtl="0" eaLnBrk="1" latinLnBrk="0" hangingPunct="1">
              <a:defRPr sz="1800" kern="1200">
                <a:solidFill>
                  <a:srgbClr val="03234B"/>
                </a:solidFill>
                <a:latin typeface="Arial"/>
                <a:ea typeface="+mn-ea"/>
                <a:cs typeface="+mn-cs"/>
              </a:defRPr>
            </a:lvl5pPr>
            <a:lvl6pPr marL="2286000" algn="l" defTabSz="914400" rtl="0" eaLnBrk="1" latinLnBrk="0" hangingPunct="1">
              <a:defRPr sz="1800" kern="1200">
                <a:solidFill>
                  <a:srgbClr val="03234B"/>
                </a:solidFill>
                <a:latin typeface="Arial"/>
                <a:ea typeface="+mn-ea"/>
                <a:cs typeface="+mn-cs"/>
              </a:defRPr>
            </a:lvl6pPr>
            <a:lvl7pPr marL="2743200" algn="l" defTabSz="914400" rtl="0" eaLnBrk="1" latinLnBrk="0" hangingPunct="1">
              <a:defRPr sz="1800" kern="1200">
                <a:solidFill>
                  <a:srgbClr val="03234B"/>
                </a:solidFill>
                <a:latin typeface="Arial"/>
                <a:ea typeface="+mn-ea"/>
                <a:cs typeface="+mn-cs"/>
              </a:defRPr>
            </a:lvl7pPr>
            <a:lvl8pPr marL="3200400" algn="l" defTabSz="914400" rtl="0" eaLnBrk="1" latinLnBrk="0" hangingPunct="1">
              <a:defRPr sz="1800" kern="1200">
                <a:solidFill>
                  <a:srgbClr val="03234B"/>
                </a:solidFill>
                <a:latin typeface="Arial"/>
                <a:ea typeface="+mn-ea"/>
                <a:cs typeface="+mn-cs"/>
              </a:defRPr>
            </a:lvl8pPr>
            <a:lvl9pPr marL="3657600" algn="l" defTabSz="914400" rtl="0" eaLnBrk="1" latinLnBrk="0" hangingPunct="1">
              <a:defRPr sz="1800" kern="1200">
                <a:solidFill>
                  <a:srgbClr val="03234B"/>
                </a:solidFill>
                <a:latin typeface="Arial"/>
                <a:ea typeface="+mn-ea"/>
                <a:cs typeface="+mn-cs"/>
              </a:defRPr>
            </a:lvl9pPr>
          </a:lstStyle>
          <a:p>
            <a:pPr>
              <a:defRPr/>
            </a:pPr>
            <a:r>
              <a:rPr lang="en-US" sz="800">
                <a:cs typeface="Arial"/>
              </a:rPr>
              <a:t>C</a:t>
            </a:r>
            <a:r>
              <a:rPr kumimoji="0" lang="en-US" sz="800" b="0" i="0" u="none" strike="noStrike" kern="1200" cap="none" spc="0" normalizeH="0" baseline="0" noProof="0">
                <a:ln>
                  <a:noFill/>
                </a:ln>
                <a:solidFill>
                  <a:srgbClr val="03234B"/>
                </a:solidFill>
                <a:effectLst/>
                <a:uLnTx/>
                <a:uFillTx/>
                <a:latin typeface="Arial"/>
                <a:ea typeface="+mn-ea"/>
                <a:cs typeface="Arial"/>
              </a:rPr>
              <a:t>lock source : </a:t>
            </a:r>
            <a:r>
              <a:rPr lang="fr-FR" sz="800" b="1"/>
              <a:t>HSE (ST) </a:t>
            </a:r>
            <a:r>
              <a:rPr lang="fr-FR" sz="800"/>
              <a:t>/ </a:t>
            </a:r>
            <a:r>
              <a:rPr lang="fr-FR" sz="800" b="1"/>
              <a:t>PLL (Renesas)</a:t>
            </a:r>
          </a:p>
          <a:p>
            <a:pPr>
              <a:defRPr/>
            </a:pPr>
            <a:r>
              <a:rPr lang="en-US" sz="800"/>
              <a:t>Clock frequency: </a:t>
            </a:r>
            <a:r>
              <a:rPr lang="en-US" sz="800" b="1"/>
              <a:t>200 MHz (ST and </a:t>
            </a:r>
            <a:r>
              <a:rPr lang="fr-FR" sz="800" b="1"/>
              <a:t>Renesas</a:t>
            </a:r>
            <a:r>
              <a:rPr lang="en-US" sz="800" b="1"/>
              <a:t>)</a:t>
            </a:r>
          </a:p>
        </p:txBody>
      </p:sp>
      <p:sp>
        <p:nvSpPr>
          <p:cNvPr id="153" name="TextBox 39">
            <a:extLst>
              <a:ext uri="{FF2B5EF4-FFF2-40B4-BE49-F238E27FC236}">
                <a16:creationId xmlns:a16="http://schemas.microsoft.com/office/drawing/2014/main" id="{D0FBF259-97E7-120A-5C91-F3C21AF74DB7}"/>
              </a:ext>
            </a:extLst>
          </p:cNvPr>
          <p:cNvSpPr txBox="1"/>
          <p:nvPr/>
        </p:nvSpPr>
        <p:spPr>
          <a:xfrm>
            <a:off x="8264247" y="2650348"/>
            <a:ext cx="1930042"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Scheduler, tasks, priorities</a:t>
            </a:r>
          </a:p>
        </p:txBody>
      </p:sp>
      <p:cxnSp>
        <p:nvCxnSpPr>
          <p:cNvPr id="154" name="Straight Arrow Connector 153">
            <a:extLst>
              <a:ext uri="{FF2B5EF4-FFF2-40B4-BE49-F238E27FC236}">
                <a16:creationId xmlns:a16="http://schemas.microsoft.com/office/drawing/2014/main" id="{9F3CEA40-930B-2749-CEBF-9D34DFB31642}"/>
              </a:ext>
            </a:extLst>
          </p:cNvPr>
          <p:cNvCxnSpPr>
            <a:cxnSpLocks/>
            <a:stCxn id="110" idx="3"/>
            <a:endCxn id="153" idx="1"/>
          </p:cNvCxnSpPr>
          <p:nvPr/>
        </p:nvCxnSpPr>
        <p:spPr>
          <a:xfrm flipV="1">
            <a:off x="8197922" y="2758070"/>
            <a:ext cx="66325" cy="4540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58" name="TextBox 39">
            <a:extLst>
              <a:ext uri="{FF2B5EF4-FFF2-40B4-BE49-F238E27FC236}">
                <a16:creationId xmlns:a16="http://schemas.microsoft.com/office/drawing/2014/main" id="{328387E9-D5A7-7630-B948-93C9AE2CF60A}"/>
              </a:ext>
            </a:extLst>
          </p:cNvPr>
          <p:cNvSpPr txBox="1"/>
          <p:nvPr/>
        </p:nvSpPr>
        <p:spPr>
          <a:xfrm>
            <a:off x="8307769" y="2979130"/>
            <a:ext cx="178856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USB Clock (48 MHz), USB Host</a:t>
            </a:r>
            <a:r>
              <a:rPr lang="en-US" sz="1000"/>
              <a:t>, </a:t>
            </a:r>
            <a:r>
              <a:rPr lang="en-US" sz="800"/>
              <a:t>HID class, power USB module</a:t>
            </a:r>
          </a:p>
        </p:txBody>
      </p:sp>
      <p:sp>
        <p:nvSpPr>
          <p:cNvPr id="245" name="Rectangle 244">
            <a:extLst>
              <a:ext uri="{FF2B5EF4-FFF2-40B4-BE49-F238E27FC236}">
                <a16:creationId xmlns:a16="http://schemas.microsoft.com/office/drawing/2014/main" id="{A2E7CA1E-802F-E710-68E0-84768BAD6803}"/>
              </a:ext>
            </a:extLst>
          </p:cNvPr>
          <p:cNvSpPr/>
          <p:nvPr/>
        </p:nvSpPr>
        <p:spPr>
          <a:xfrm>
            <a:off x="6334373" y="6226571"/>
            <a:ext cx="5845932" cy="5990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a:solidFill>
                  <a:schemeClr val="accent2"/>
                </a:solidFill>
              </a:rPr>
              <a:t>USB HID host class: </a:t>
            </a:r>
            <a:r>
              <a:rPr lang="fr-FR" sz="800">
                <a:solidFill>
                  <a:schemeClr val="tx1"/>
                </a:solidFill>
              </a:rPr>
              <a:t>USB </a:t>
            </a:r>
            <a:r>
              <a:rPr lang="en-US" sz="800" b="1">
                <a:solidFill>
                  <a:schemeClr val="tx1"/>
                </a:solidFill>
              </a:rPr>
              <a:t>Human Interface Device </a:t>
            </a:r>
            <a:r>
              <a:rPr lang="fr-FR" sz="800" err="1">
                <a:solidFill>
                  <a:schemeClr val="tx1"/>
                </a:solidFill>
              </a:rPr>
              <a:t>allows</a:t>
            </a:r>
            <a:r>
              <a:rPr lang="fr-FR" sz="800" b="1">
                <a:solidFill>
                  <a:schemeClr val="tx1"/>
                </a:solidFill>
              </a:rPr>
              <a:t> </a:t>
            </a:r>
            <a:r>
              <a:rPr lang="en-US" sz="800">
                <a:solidFill>
                  <a:schemeClr val="tx1"/>
                </a:solidFill>
              </a:rPr>
              <a:t>humans to communicate with the PC through device as keyboards, mouse or touch screen.</a:t>
            </a:r>
          </a:p>
        </p:txBody>
      </p:sp>
      <p:sp>
        <p:nvSpPr>
          <p:cNvPr id="12" name="Slide Number Placeholder 11">
            <a:extLst>
              <a:ext uri="{FF2B5EF4-FFF2-40B4-BE49-F238E27FC236}">
                <a16:creationId xmlns:a16="http://schemas.microsoft.com/office/drawing/2014/main" id="{DE90B098-B24F-D978-0A10-CFD2BE653B33}"/>
              </a:ext>
            </a:extLst>
          </p:cNvPr>
          <p:cNvSpPr>
            <a:spLocks noGrp="1"/>
          </p:cNvSpPr>
          <p:nvPr>
            <p:ph type="sldNum" sz="quarter" idx="12"/>
          </p:nvPr>
        </p:nvSpPr>
        <p:spPr/>
        <p:txBody>
          <a:bodyPr/>
          <a:lstStyle/>
          <a:p>
            <a:fld id="{40A7B169-58CE-4E65-B1F9-ACF9E46440C2}" type="slidenum">
              <a:rPr lang="en-US" smtClean="0"/>
              <a:t>18</a:t>
            </a:fld>
            <a:endParaRPr lang="en-US"/>
          </a:p>
        </p:txBody>
      </p:sp>
    </p:spTree>
    <p:extLst>
      <p:ext uri="{BB962C8B-B14F-4D97-AF65-F5344CB8AC3E}">
        <p14:creationId xmlns:p14="http://schemas.microsoft.com/office/powerpoint/2010/main" val="710433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AEE7-0777-68BB-0854-09FF541C8C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47D2DA-3E86-0753-8ADD-58E48CE5D476}"/>
              </a:ext>
            </a:extLst>
          </p:cNvPr>
          <p:cNvSpPr txBox="1"/>
          <p:nvPr/>
        </p:nvSpPr>
        <p:spPr>
          <a:xfrm>
            <a:off x="97668" y="1180269"/>
            <a:ext cx="4722816" cy="461665"/>
          </a:xfrm>
          <a:prstGeom prst="rect">
            <a:avLst/>
          </a:prstGeom>
          <a:noFill/>
        </p:spPr>
        <p:txBody>
          <a:bodyPr wrap="square" rtlCol="0">
            <a:spAutoFit/>
          </a:bodyPr>
          <a:lstStyle/>
          <a:p>
            <a:r>
              <a:rPr lang="en-US" sz="1400" b="1">
                <a:solidFill>
                  <a:srgbClr val="0070C0"/>
                </a:solidFill>
              </a:rPr>
              <a:t>RTOS mode : USBX CDC Device class</a:t>
            </a:r>
          </a:p>
          <a:p>
            <a:r>
              <a:rPr lang="en-US" sz="1000" b="1"/>
              <a:t>STM32H573xx</a:t>
            </a:r>
            <a:r>
              <a:rPr lang="en-US" sz="1000" b="1">
                <a:solidFill>
                  <a:srgbClr val="002060"/>
                </a:solidFill>
              </a:rPr>
              <a:t> (CM33) vs RA6M5 (CM33)</a:t>
            </a:r>
          </a:p>
        </p:txBody>
      </p:sp>
      <p:cxnSp>
        <p:nvCxnSpPr>
          <p:cNvPr id="5" name="Straight Connector 4">
            <a:extLst>
              <a:ext uri="{FF2B5EF4-FFF2-40B4-BE49-F238E27FC236}">
                <a16:creationId xmlns:a16="http://schemas.microsoft.com/office/drawing/2014/main" id="{C002772A-4369-CA5B-ACDE-C0F5C5F7366F}"/>
              </a:ext>
            </a:extLst>
          </p:cNvPr>
          <p:cNvCxnSpPr>
            <a:cxnSpLocks/>
          </p:cNvCxnSpPr>
          <p:nvPr/>
        </p:nvCxnSpPr>
        <p:spPr>
          <a:xfrm flipH="1" flipV="1">
            <a:off x="6083340" y="1411101"/>
            <a:ext cx="12660" cy="5356379"/>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sp>
        <p:nvSpPr>
          <p:cNvPr id="6" name="TextBox 5">
            <a:extLst>
              <a:ext uri="{FF2B5EF4-FFF2-40B4-BE49-F238E27FC236}">
                <a16:creationId xmlns:a16="http://schemas.microsoft.com/office/drawing/2014/main" id="{5595957F-B0E3-1AAD-8697-FE365AE41616}"/>
              </a:ext>
            </a:extLst>
          </p:cNvPr>
          <p:cNvSpPr txBox="1"/>
          <p:nvPr/>
        </p:nvSpPr>
        <p:spPr>
          <a:xfrm>
            <a:off x="6222659" y="1180268"/>
            <a:ext cx="4722816" cy="461665"/>
          </a:xfrm>
          <a:prstGeom prst="rect">
            <a:avLst/>
          </a:prstGeom>
          <a:noFill/>
        </p:spPr>
        <p:txBody>
          <a:bodyPr wrap="square" rtlCol="0">
            <a:spAutoFit/>
          </a:bodyPr>
          <a:lstStyle/>
          <a:p>
            <a:r>
              <a:rPr lang="en-US" sz="1400" b="1">
                <a:solidFill>
                  <a:srgbClr val="0070C0"/>
                </a:solidFill>
              </a:rPr>
              <a:t>RTOS mode : USBX HID host class</a:t>
            </a:r>
          </a:p>
          <a:p>
            <a:r>
              <a:rPr lang="en-US" sz="1000" b="1"/>
              <a:t>STM32H573xx</a:t>
            </a:r>
            <a:r>
              <a:rPr lang="en-US" sz="1000" b="1">
                <a:solidFill>
                  <a:srgbClr val="002060"/>
                </a:solidFill>
              </a:rPr>
              <a:t> (CM33) vs RA6M5 (CM33)</a:t>
            </a:r>
          </a:p>
        </p:txBody>
      </p:sp>
      <p:graphicFrame>
        <p:nvGraphicFramePr>
          <p:cNvPr id="7" name="Table 6">
            <a:extLst>
              <a:ext uri="{FF2B5EF4-FFF2-40B4-BE49-F238E27FC236}">
                <a16:creationId xmlns:a16="http://schemas.microsoft.com/office/drawing/2014/main" id="{10FCEF1C-76A0-F4BE-AECB-AF3A419CB134}"/>
              </a:ext>
            </a:extLst>
          </p:cNvPr>
          <p:cNvGraphicFramePr>
            <a:graphicFrameLocks noGrp="1"/>
          </p:cNvGraphicFramePr>
          <p:nvPr>
            <p:extLst>
              <p:ext uri="{D42A27DB-BD31-4B8C-83A1-F6EECF244321}">
                <p14:modId xmlns:p14="http://schemas.microsoft.com/office/powerpoint/2010/main" val="1675338465"/>
              </p:ext>
            </p:extLst>
          </p:nvPr>
        </p:nvGraphicFramePr>
        <p:xfrm>
          <a:off x="97667" y="2089251"/>
          <a:ext cx="5859014" cy="1339749"/>
        </p:xfrm>
        <a:graphic>
          <a:graphicData uri="http://schemas.openxmlformats.org/drawingml/2006/table">
            <a:tbl>
              <a:tblPr firstRow="1" bandRow="1">
                <a:tableStyleId>{EB344D84-9AFB-497E-A393-DC336BA19D2E}</a:tableStyleId>
              </a:tblPr>
              <a:tblGrid>
                <a:gridCol w="937570">
                  <a:extLst>
                    <a:ext uri="{9D8B030D-6E8A-4147-A177-3AD203B41FA5}">
                      <a16:colId xmlns:a16="http://schemas.microsoft.com/office/drawing/2014/main" val="1473133747"/>
                    </a:ext>
                  </a:extLst>
                </a:gridCol>
                <a:gridCol w="725371">
                  <a:extLst>
                    <a:ext uri="{9D8B030D-6E8A-4147-A177-3AD203B41FA5}">
                      <a16:colId xmlns:a16="http://schemas.microsoft.com/office/drawing/2014/main" val="2483104622"/>
                    </a:ext>
                  </a:extLst>
                </a:gridCol>
                <a:gridCol w="680665">
                  <a:extLst>
                    <a:ext uri="{9D8B030D-6E8A-4147-A177-3AD203B41FA5}">
                      <a16:colId xmlns:a16="http://schemas.microsoft.com/office/drawing/2014/main" val="4162598800"/>
                    </a:ext>
                  </a:extLst>
                </a:gridCol>
                <a:gridCol w="1171803">
                  <a:extLst>
                    <a:ext uri="{9D8B030D-6E8A-4147-A177-3AD203B41FA5}">
                      <a16:colId xmlns:a16="http://schemas.microsoft.com/office/drawing/2014/main" val="1196173778"/>
                    </a:ext>
                  </a:extLst>
                </a:gridCol>
                <a:gridCol w="779911">
                  <a:extLst>
                    <a:ext uri="{9D8B030D-6E8A-4147-A177-3AD203B41FA5}">
                      <a16:colId xmlns:a16="http://schemas.microsoft.com/office/drawing/2014/main" val="2713348666"/>
                    </a:ext>
                  </a:extLst>
                </a:gridCol>
                <a:gridCol w="1563694">
                  <a:extLst>
                    <a:ext uri="{9D8B030D-6E8A-4147-A177-3AD203B41FA5}">
                      <a16:colId xmlns:a16="http://schemas.microsoft.com/office/drawing/2014/main" val="4253733116"/>
                    </a:ext>
                  </a:extLst>
                </a:gridCol>
              </a:tblGrid>
              <a:tr h="242469">
                <a:tc gridSpan="2">
                  <a:txBody>
                    <a:bodyPr/>
                    <a:lstStyle/>
                    <a:p>
                      <a:pPr algn="ctr"/>
                      <a:endParaRPr lang="en-US" sz="800"/>
                    </a:p>
                  </a:txBody>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121761">
                <a:tc gridSpan="2">
                  <a:txBody>
                    <a:bodyPr/>
                    <a:lstStyle/>
                    <a:p>
                      <a:pPr algn="ctr"/>
                      <a:r>
                        <a:rPr lang="en-US" sz="800" b="1">
                          <a:solidFill>
                            <a:schemeClr val="tx1"/>
                          </a:solidFill>
                        </a:rPr>
                        <a:t>Initialize </a:t>
                      </a:r>
                    </a:p>
                  </a:txBody>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0.6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11.97</a:t>
                      </a:r>
                    </a:p>
                    <a:p>
                      <a:pPr algn="ctr"/>
                      <a:endParaRPr lang="en-US" sz="800"/>
                    </a:p>
                  </a:txBody>
                  <a:tcPr/>
                </a:tc>
                <a:tc>
                  <a:txBody>
                    <a:bodyPr/>
                    <a:lstStyle/>
                    <a:p>
                      <a:pPr algn="ctr"/>
                      <a:r>
                        <a:rPr lang="en-US" sz="800" b="1">
                          <a:solidFill>
                            <a:schemeClr val="accent5"/>
                          </a:solidFill>
                        </a:rPr>
                        <a:t>-95%</a:t>
                      </a:r>
                    </a:p>
                  </a:txBody>
                  <a:tcPr/>
                </a:tc>
                <a:tc>
                  <a:txBody>
                    <a:bodyPr/>
                    <a:lstStyle/>
                    <a:p>
                      <a:pPr algn="ctr"/>
                      <a:endParaRPr lang="en-US" sz="800"/>
                    </a:p>
                  </a:txBody>
                  <a:tcPr/>
                </a:tc>
                <a:extLst>
                  <a:ext uri="{0D108BD9-81ED-4DB2-BD59-A6C34878D82A}">
                    <a16:rowId xmlns:a16="http://schemas.microsoft.com/office/drawing/2014/main" val="1089852517"/>
                  </a:ext>
                </a:extLst>
              </a:tr>
              <a:tr h="242469">
                <a:tc gridSpan="2">
                  <a:txBody>
                    <a:bodyPr/>
                    <a:lstStyle/>
                    <a:p>
                      <a:pPr algn="ctr"/>
                      <a:r>
                        <a:rPr lang="en-US" sz="800" b="1">
                          <a:solidFill>
                            <a:schemeClr val="tx1"/>
                          </a:solidFill>
                        </a:rPr>
                        <a:t>Enumeration</a:t>
                      </a:r>
                    </a:p>
                  </a:txBody>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dirty="0"/>
                        <a:t>1</a:t>
                      </a:r>
                      <a:r>
                        <a:rPr lang="en-US" sz="800" dirty="0"/>
                        <a:t>35.4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t>137.9</a:t>
                      </a:r>
                    </a:p>
                  </a:txBody>
                  <a:tcPr/>
                </a:tc>
                <a:tc>
                  <a:txBody>
                    <a:bodyPr/>
                    <a:lstStyle/>
                    <a:p>
                      <a:pPr algn="ctr"/>
                      <a:r>
                        <a:rPr lang="fr-FR" sz="800" b="1">
                          <a:solidFill>
                            <a:srgbClr val="00B050"/>
                          </a:solidFill>
                        </a:rPr>
                        <a:t>-2%</a:t>
                      </a:r>
                      <a:endParaRPr lang="en-US" sz="800" b="1">
                        <a:solidFill>
                          <a:srgbClr val="00B05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0" err="1"/>
                        <a:t>Amlost</a:t>
                      </a:r>
                      <a:r>
                        <a:rPr lang="fr-FR" sz="800"/>
                        <a:t> </a:t>
                      </a:r>
                      <a:r>
                        <a:rPr lang="fr-FR" sz="800" err="1"/>
                        <a:t>equal</a:t>
                      </a:r>
                      <a:endParaRPr lang="en-US" sz="800"/>
                    </a:p>
                  </a:txBody>
                  <a:tcPr/>
                </a:tc>
                <a:extLst>
                  <a:ext uri="{0D108BD9-81ED-4DB2-BD59-A6C34878D82A}">
                    <a16:rowId xmlns:a16="http://schemas.microsoft.com/office/drawing/2014/main" val="2065877290"/>
                  </a:ext>
                </a:extLst>
              </a:tr>
              <a:tr h="121235">
                <a:tc rowSpan="2">
                  <a:txBody>
                    <a:bodyPr/>
                    <a:lstStyle/>
                    <a:p>
                      <a:pPr algn="ctr"/>
                      <a:r>
                        <a:rPr lang="fr-FR" sz="800">
                          <a:solidFill>
                            <a:schemeClr val="tx1"/>
                          </a:solidFill>
                        </a:rPr>
                        <a:t>Data transmission</a:t>
                      </a:r>
                      <a:endParaRPr lang="en-US" sz="800">
                        <a:solidFill>
                          <a:schemeClr val="tx1"/>
                        </a:solidFill>
                      </a:endParaRPr>
                    </a:p>
                  </a:txBody>
                  <a:tcPr/>
                </a:tc>
                <a:tc>
                  <a:txBody>
                    <a:bodyPr/>
                    <a:lstStyle/>
                    <a:p>
                      <a:pPr algn="ctr"/>
                      <a:r>
                        <a:rPr lang="fr-FR" sz="800">
                          <a:solidFill>
                            <a:schemeClr val="tx1"/>
                          </a:solidFill>
                        </a:rPr>
                        <a:t>Input*</a:t>
                      </a:r>
                      <a:endParaRPr lang="en-US" sz="800">
                        <a:solidFill>
                          <a:schemeClr val="tx1"/>
                        </a:solidFill>
                      </a:endParaRPr>
                    </a:p>
                  </a:txBody>
                  <a:tcPr>
                    <a:solidFill>
                      <a:schemeClr val="bg2"/>
                    </a:solidFill>
                  </a:tcPr>
                </a:tc>
                <a:tc>
                  <a:txBody>
                    <a:bodyPr/>
                    <a:lstStyle/>
                    <a:p>
                      <a:pPr algn="ctr"/>
                      <a:r>
                        <a:rPr lang="en-US" sz="800" b="0" i="0" kern="1200">
                          <a:solidFill>
                            <a:schemeClr val="dk1"/>
                          </a:solidFill>
                          <a:effectLst/>
                          <a:latin typeface="+mn-lt"/>
                          <a:ea typeface="+mn-ea"/>
                          <a:cs typeface="+mn-cs"/>
                        </a:rPr>
                        <a:t>0.00911</a:t>
                      </a:r>
                      <a:endParaRPr lang="en-US" sz="800"/>
                    </a:p>
                  </a:txBody>
                  <a:tcPr>
                    <a:solidFill>
                      <a:schemeClr val="bg2"/>
                    </a:solidFill>
                  </a:tcPr>
                </a:tc>
                <a:tc>
                  <a:txBody>
                    <a:bodyPr/>
                    <a:lstStyle/>
                    <a:p>
                      <a:pPr algn="ctr"/>
                      <a:r>
                        <a:rPr lang="en-US" sz="800" b="0" i="0" kern="1200" dirty="0">
                          <a:solidFill>
                            <a:schemeClr val="dk1"/>
                          </a:solidFill>
                          <a:effectLst/>
                          <a:latin typeface="+mn-lt"/>
                          <a:ea typeface="+mn-ea"/>
                          <a:cs typeface="+mn-cs"/>
                        </a:rPr>
                        <a:t>0.0092</a:t>
                      </a:r>
                      <a:endParaRPr lang="en-US" sz="800" dirty="0"/>
                    </a:p>
                  </a:txBody>
                  <a:tcPr>
                    <a:solidFill>
                      <a:schemeClr val="bg2"/>
                    </a:solidFill>
                  </a:tcPr>
                </a:tc>
                <a:tc>
                  <a:txBody>
                    <a:bodyPr/>
                    <a:lstStyle/>
                    <a:p>
                      <a:pPr algn="ctr"/>
                      <a:r>
                        <a:rPr lang="en-US" sz="800" b="1" i="0" kern="1200">
                          <a:solidFill>
                            <a:srgbClr val="00B050"/>
                          </a:solidFill>
                          <a:effectLst/>
                          <a:latin typeface="+mn-lt"/>
                          <a:ea typeface="+mn-ea"/>
                          <a:cs typeface="+mn-cs"/>
                        </a:rPr>
                        <a:t>-1%</a:t>
                      </a:r>
                      <a:endParaRPr lang="en-US" sz="800" b="1">
                        <a:solidFill>
                          <a:srgbClr val="00B050"/>
                        </a:solidFill>
                      </a:endParaRPr>
                    </a:p>
                  </a:txBody>
                  <a:tcPr>
                    <a:solidFill>
                      <a:schemeClr val="bg2"/>
                    </a:solidFill>
                  </a:tcPr>
                </a:tc>
                <a:tc>
                  <a:txBody>
                    <a:bodyPr/>
                    <a:lstStyle/>
                    <a:p>
                      <a:pPr algn="l"/>
                      <a:r>
                        <a:rPr lang="fr-FR" sz="800" err="1"/>
                        <a:t>Amlost</a:t>
                      </a:r>
                      <a:r>
                        <a:rPr lang="fr-FR" sz="800"/>
                        <a:t> </a:t>
                      </a:r>
                      <a:r>
                        <a:rPr lang="fr-FR" sz="800" err="1"/>
                        <a:t>equal</a:t>
                      </a:r>
                      <a:endParaRPr lang="en-US" sz="800"/>
                    </a:p>
                  </a:txBody>
                  <a:tcPr>
                    <a:solidFill>
                      <a:schemeClr val="bg2"/>
                    </a:solidFill>
                  </a:tcPr>
                </a:tc>
                <a:extLst>
                  <a:ext uri="{0D108BD9-81ED-4DB2-BD59-A6C34878D82A}">
                    <a16:rowId xmlns:a16="http://schemas.microsoft.com/office/drawing/2014/main" val="1293324964"/>
                  </a:ext>
                </a:extLst>
              </a:tr>
              <a:tr h="0">
                <a:tc vMerge="1">
                  <a:txBody>
                    <a:bodyPr/>
                    <a:lstStyle/>
                    <a:p>
                      <a:endParaRPr lang="en-US"/>
                    </a:p>
                  </a:txBody>
                  <a:tcPr/>
                </a:tc>
                <a:tc>
                  <a:txBody>
                    <a:bodyPr/>
                    <a:lstStyle/>
                    <a:p>
                      <a:pPr algn="ctr"/>
                      <a:r>
                        <a:rPr lang="fr-FR" sz="800">
                          <a:solidFill>
                            <a:schemeClr val="tx1"/>
                          </a:solidFill>
                        </a:rPr>
                        <a:t>Output**</a:t>
                      </a:r>
                      <a:endParaRPr lang="en-US" sz="800">
                        <a:solidFill>
                          <a:schemeClr val="tx1"/>
                        </a:solidFill>
                      </a:endParaRPr>
                    </a:p>
                  </a:txBody>
                  <a:tcPr>
                    <a:solidFill>
                      <a:schemeClr val="bg2"/>
                    </a:solidFill>
                  </a:tcPr>
                </a:tc>
                <a:tc>
                  <a:txBody>
                    <a:bodyPr/>
                    <a:lstStyle/>
                    <a:p>
                      <a:pPr algn="ctr"/>
                      <a:r>
                        <a:rPr lang="en-US" sz="800" b="0" i="0" kern="1200">
                          <a:solidFill>
                            <a:schemeClr val="dk1"/>
                          </a:solidFill>
                          <a:effectLst/>
                          <a:latin typeface="+mn-lt"/>
                          <a:ea typeface="+mn-ea"/>
                          <a:cs typeface="+mn-cs"/>
                        </a:rPr>
                        <a:t>0.0092</a:t>
                      </a:r>
                      <a:endParaRPr lang="en-US" sz="800"/>
                    </a:p>
                  </a:txBody>
                  <a:tcPr>
                    <a:solidFill>
                      <a:schemeClr val="bg2"/>
                    </a:solidFill>
                  </a:tcPr>
                </a:tc>
                <a:tc>
                  <a:txBody>
                    <a:bodyPr/>
                    <a:lstStyle/>
                    <a:p>
                      <a:pPr algn="ctr"/>
                      <a:r>
                        <a:rPr lang="en-US" sz="800" b="0" i="0" kern="1200" dirty="0">
                          <a:solidFill>
                            <a:schemeClr val="dk1"/>
                          </a:solidFill>
                          <a:effectLst/>
                          <a:latin typeface="+mn-lt"/>
                          <a:ea typeface="+mn-ea"/>
                          <a:cs typeface="+mn-cs"/>
                        </a:rPr>
                        <a:t>0.0092</a:t>
                      </a:r>
                      <a:endParaRPr lang="en-US" sz="800" dirty="0"/>
                    </a:p>
                  </a:txBody>
                  <a:tcPr>
                    <a:solidFill>
                      <a:schemeClr val="bg2"/>
                    </a:solidFill>
                  </a:tcPr>
                </a:tc>
                <a:tc>
                  <a:txBody>
                    <a:bodyPr/>
                    <a:lstStyle/>
                    <a:p>
                      <a:pPr algn="ctr"/>
                      <a:r>
                        <a:rPr lang="en-US" sz="800" b="1" i="0" kern="1200" dirty="0">
                          <a:solidFill>
                            <a:srgbClr val="00B050"/>
                          </a:solidFill>
                          <a:effectLst/>
                          <a:latin typeface="+mn-lt"/>
                          <a:ea typeface="+mn-ea"/>
                          <a:cs typeface="+mn-cs"/>
                        </a:rPr>
                        <a:t>0%</a:t>
                      </a:r>
                      <a:endParaRPr lang="en-US" sz="800" b="1" dirty="0">
                        <a:solidFill>
                          <a:srgbClr val="00B050"/>
                        </a:solidFill>
                      </a:endParaRPr>
                    </a:p>
                  </a:txBody>
                  <a:tcPr>
                    <a:solidFill>
                      <a:schemeClr val="bg2"/>
                    </a:solidFill>
                  </a:tcPr>
                </a:tc>
                <a:tc>
                  <a:txBody>
                    <a:bodyPr/>
                    <a:lstStyle/>
                    <a:p>
                      <a:pPr algn="l"/>
                      <a:r>
                        <a:rPr lang="fr-FR" sz="800" dirty="0" err="1"/>
                        <a:t>Equal</a:t>
                      </a:r>
                      <a:endParaRPr lang="en-US" sz="800" dirty="0"/>
                    </a:p>
                  </a:txBody>
                  <a:tcPr>
                    <a:solidFill>
                      <a:schemeClr val="bg2"/>
                    </a:solidFill>
                  </a:tcPr>
                </a:tc>
                <a:extLst>
                  <a:ext uri="{0D108BD9-81ED-4DB2-BD59-A6C34878D82A}">
                    <a16:rowId xmlns:a16="http://schemas.microsoft.com/office/drawing/2014/main" val="2680530077"/>
                  </a:ext>
                </a:extLst>
              </a:tr>
            </a:tbl>
          </a:graphicData>
        </a:graphic>
      </p:graphicFrame>
      <p:sp>
        <p:nvSpPr>
          <p:cNvPr id="8" name="TextBox 7">
            <a:extLst>
              <a:ext uri="{FF2B5EF4-FFF2-40B4-BE49-F238E27FC236}">
                <a16:creationId xmlns:a16="http://schemas.microsoft.com/office/drawing/2014/main" id="{1F00DEEB-12C3-A9F9-8A37-DB88365D5F08}"/>
              </a:ext>
            </a:extLst>
          </p:cNvPr>
          <p:cNvSpPr txBox="1"/>
          <p:nvPr/>
        </p:nvSpPr>
        <p:spPr>
          <a:xfrm>
            <a:off x="97668" y="1752241"/>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a:t>
            </a:r>
            <a:r>
              <a:rPr lang="en-US" sz="1000" b="1" err="1">
                <a:solidFill>
                  <a:schemeClr val="accent2"/>
                </a:solidFill>
              </a:rPr>
              <a:t>ms</a:t>
            </a:r>
            <a:r>
              <a:rPr lang="en-US" sz="1000" b="1">
                <a:solidFill>
                  <a:schemeClr val="accent2"/>
                </a:solidFill>
              </a:rPr>
              <a:t>)</a:t>
            </a:r>
          </a:p>
        </p:txBody>
      </p:sp>
      <p:graphicFrame>
        <p:nvGraphicFramePr>
          <p:cNvPr id="9" name="Table 8">
            <a:extLst>
              <a:ext uri="{FF2B5EF4-FFF2-40B4-BE49-F238E27FC236}">
                <a16:creationId xmlns:a16="http://schemas.microsoft.com/office/drawing/2014/main" id="{9C677B0E-B369-66E4-C55F-77BC75DCAF2A}"/>
              </a:ext>
            </a:extLst>
          </p:cNvPr>
          <p:cNvGraphicFramePr>
            <a:graphicFrameLocks noGrp="1"/>
          </p:cNvGraphicFramePr>
          <p:nvPr>
            <p:extLst>
              <p:ext uri="{D42A27DB-BD31-4B8C-83A1-F6EECF244321}">
                <p14:modId xmlns:p14="http://schemas.microsoft.com/office/powerpoint/2010/main" val="4154271025"/>
              </p:ext>
            </p:extLst>
          </p:nvPr>
        </p:nvGraphicFramePr>
        <p:xfrm>
          <a:off x="97668" y="4360273"/>
          <a:ext cx="5859013" cy="969876"/>
        </p:xfrm>
        <a:graphic>
          <a:graphicData uri="http://schemas.openxmlformats.org/drawingml/2006/table">
            <a:tbl>
              <a:tblPr firstRow="1" bandRow="1">
                <a:tableStyleId>{EB344D84-9AFB-497E-A393-DC336BA19D2E}</a:tableStyleId>
              </a:tblPr>
              <a:tblGrid>
                <a:gridCol w="985779">
                  <a:extLst>
                    <a:ext uri="{9D8B030D-6E8A-4147-A177-3AD203B41FA5}">
                      <a16:colId xmlns:a16="http://schemas.microsoft.com/office/drawing/2014/main" val="1473133747"/>
                    </a:ext>
                  </a:extLst>
                </a:gridCol>
                <a:gridCol w="1357826">
                  <a:extLst>
                    <a:ext uri="{9D8B030D-6E8A-4147-A177-3AD203B41FA5}">
                      <a16:colId xmlns:a16="http://schemas.microsoft.com/office/drawing/2014/main" val="4162598800"/>
                    </a:ext>
                  </a:extLst>
                </a:gridCol>
                <a:gridCol w="1171803">
                  <a:extLst>
                    <a:ext uri="{9D8B030D-6E8A-4147-A177-3AD203B41FA5}">
                      <a16:colId xmlns:a16="http://schemas.microsoft.com/office/drawing/2014/main" val="1196173778"/>
                    </a:ext>
                  </a:extLst>
                </a:gridCol>
                <a:gridCol w="779911">
                  <a:extLst>
                    <a:ext uri="{9D8B030D-6E8A-4147-A177-3AD203B41FA5}">
                      <a16:colId xmlns:a16="http://schemas.microsoft.com/office/drawing/2014/main" val="2713348666"/>
                    </a:ext>
                  </a:extLst>
                </a:gridCol>
                <a:gridCol w="1563694">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buNone/>
                      </a:pPr>
                      <a:r>
                        <a:rPr lang="en-US" sz="800" b="1" kern="1200" dirty="0">
                          <a:solidFill>
                            <a:schemeClr val="dk1"/>
                          </a:solidFill>
                          <a:latin typeface="+mn-lt"/>
                          <a:ea typeface="+mn-ea"/>
                          <a:cs typeface="+mn-cs"/>
                        </a:rPr>
                        <a:t>ROM</a:t>
                      </a:r>
                    </a:p>
                  </a:txBody>
                  <a:tcPr marL="50800" marR="50800" marT="12700" marB="12700" anchor="ctr"/>
                </a:tc>
                <a:tc>
                  <a:txBody>
                    <a:bodyPr/>
                    <a:lstStyle/>
                    <a:p>
                      <a:pPr algn="ctr">
                        <a:buNone/>
                      </a:pPr>
                      <a:r>
                        <a:rPr lang="en-US" sz="800" kern="1200" dirty="0">
                          <a:solidFill>
                            <a:schemeClr val="dk1"/>
                          </a:solidFill>
                          <a:latin typeface="+mn-lt"/>
                          <a:ea typeface="+mn-ea"/>
                          <a:cs typeface="+mn-cs"/>
                        </a:rPr>
                        <a:t>33'276</a:t>
                      </a:r>
                    </a:p>
                  </a:txBody>
                  <a:tcPr marL="50800" marR="50800" marT="12700" marB="12700" anchor="ctr"/>
                </a:tc>
                <a:tc>
                  <a:txBody>
                    <a:bodyPr/>
                    <a:lstStyle/>
                    <a:p>
                      <a:pPr algn="ctr">
                        <a:buNone/>
                      </a:pPr>
                      <a:r>
                        <a:rPr lang="en-US" sz="800" kern="1200" dirty="0">
                          <a:solidFill>
                            <a:schemeClr val="dk1"/>
                          </a:solidFill>
                          <a:latin typeface="+mn-lt"/>
                          <a:ea typeface="+mn-ea"/>
                          <a:cs typeface="+mn-cs"/>
                        </a:rPr>
                        <a:t>40'816</a:t>
                      </a:r>
                    </a:p>
                  </a:txBody>
                  <a:tcPr marL="50800" marR="50800" marT="12700" marB="12700" anchor="ctr"/>
                </a:tc>
                <a:tc>
                  <a:txBody>
                    <a:bodyPr/>
                    <a:lstStyle/>
                    <a:p>
                      <a:pPr algn="ctr">
                        <a:buNone/>
                      </a:pPr>
                      <a:r>
                        <a:rPr lang="en-US" sz="800" b="1" kern="1200" dirty="0">
                          <a:solidFill>
                            <a:srgbClr val="00B050"/>
                          </a:solidFill>
                          <a:latin typeface="+mn-lt"/>
                          <a:ea typeface="+mn-ea"/>
                          <a:cs typeface="+mn-cs"/>
                        </a:rPr>
                        <a:t>-18%</a:t>
                      </a:r>
                    </a:p>
                  </a:txBody>
                  <a:tcPr marL="50800" marR="50800" marT="12700" marB="12700" anchor="ctr"/>
                </a:tc>
                <a:tc>
                  <a:txBody>
                    <a:bodyPr/>
                    <a:lstStyle/>
                    <a:p>
                      <a:pPr>
                        <a:buNone/>
                      </a:pPr>
                      <a:endParaRPr lang="en-US" sz="800" kern="1200">
                        <a:solidFill>
                          <a:schemeClr val="dk1"/>
                        </a:solidFill>
                        <a:latin typeface="+mn-lt"/>
                        <a:ea typeface="+mn-ea"/>
                        <a:cs typeface="+mn-cs"/>
                      </a:endParaRPr>
                    </a:p>
                  </a:txBody>
                  <a:tcPr marL="50800" marR="50800" marT="12700" marB="12700" anchor="ctr"/>
                </a:tc>
                <a:extLst>
                  <a:ext uri="{0D108BD9-81ED-4DB2-BD59-A6C34878D82A}">
                    <a16:rowId xmlns:a16="http://schemas.microsoft.com/office/drawing/2014/main" val="2065877290"/>
                  </a:ext>
                </a:extLst>
              </a:tr>
              <a:tr h="242469">
                <a:tc>
                  <a:txBody>
                    <a:bodyPr/>
                    <a:lstStyle/>
                    <a:p>
                      <a:pPr>
                        <a:buNone/>
                      </a:pPr>
                      <a:r>
                        <a:rPr lang="en-US" sz="800" b="1" kern="1200" dirty="0">
                          <a:solidFill>
                            <a:schemeClr val="dk1"/>
                          </a:solidFill>
                          <a:latin typeface="+mn-lt"/>
                          <a:ea typeface="+mn-ea"/>
                          <a:cs typeface="+mn-cs"/>
                        </a:rPr>
                        <a:t>RAM</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n-lt"/>
                          <a:ea typeface="+mn-ea"/>
                          <a:cs typeface="+mn-cs"/>
                        </a:rPr>
                        <a:t>18'830</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n-lt"/>
                          <a:ea typeface="+mn-ea"/>
                          <a:cs typeface="+mn-cs"/>
                        </a:rPr>
                        <a:t>65'690</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ctr">
                        <a:buNone/>
                      </a:pPr>
                      <a:r>
                        <a:rPr lang="en-US" sz="800" b="1" kern="1200" dirty="0">
                          <a:solidFill>
                            <a:srgbClr val="00B050"/>
                          </a:solidFill>
                          <a:latin typeface="+mn-lt"/>
                          <a:ea typeface="+mn-ea"/>
                          <a:cs typeface="+mn-cs"/>
                        </a:rPr>
                        <a:t>-71%</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buNone/>
                      </a:pPr>
                      <a:r>
                        <a:rPr lang="en-US" sz="800" kern="1200">
                          <a:solidFill>
                            <a:schemeClr val="dk1"/>
                          </a:solidFill>
                          <a:latin typeface="+mn-lt"/>
                          <a:ea typeface="+mn-ea"/>
                          <a:cs typeface="+mn-cs"/>
                        </a:rPr>
                        <a:t>RA RAM: 28 KB of gaps</a:t>
                      </a:r>
                    </a:p>
                  </a:txBody>
                  <a:tcPr marL="50800" marR="50800" marT="12700" marB="1270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42469">
                <a:tc>
                  <a:txBody>
                    <a:bodyPr/>
                    <a:lstStyle/>
                    <a:p>
                      <a:pPr>
                        <a:buNone/>
                      </a:pPr>
                      <a:r>
                        <a:rPr lang="en-US" sz="800" b="1" kern="1200" dirty="0">
                          <a:solidFill>
                            <a:schemeClr val="dk1"/>
                          </a:solidFill>
                          <a:latin typeface="+mn-lt"/>
                          <a:ea typeface="+mn-ea"/>
                          <a:cs typeface="+mn-cs"/>
                        </a:rPr>
                        <a:t>Total</a:t>
                      </a:r>
                    </a:p>
                  </a:txBody>
                  <a:tcPr marL="50800" marR="508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n-lt"/>
                          <a:ea typeface="+mn-ea"/>
                          <a:cs typeface="+mn-cs"/>
                        </a:rPr>
                        <a:t>52'106</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n-lt"/>
                          <a:ea typeface="+mn-ea"/>
                          <a:cs typeface="+mn-cs"/>
                        </a:rPr>
                        <a:t>106'506</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kern="1200" dirty="0">
                          <a:solidFill>
                            <a:srgbClr val="00B050"/>
                          </a:solidFill>
                          <a:latin typeface="+mn-lt"/>
                          <a:ea typeface="+mn-ea"/>
                          <a:cs typeface="+mn-cs"/>
                        </a:rPr>
                        <a:t>-51%</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en-US" sz="800" kern="1200" dirty="0">
                        <a:solidFill>
                          <a:schemeClr val="dk1"/>
                        </a:solidFill>
                        <a:latin typeface="+mn-lt"/>
                        <a:ea typeface="+mn-ea"/>
                        <a:cs typeface="+mn-cs"/>
                      </a:endParaRP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0" name="TextBox 9">
            <a:extLst>
              <a:ext uri="{FF2B5EF4-FFF2-40B4-BE49-F238E27FC236}">
                <a16:creationId xmlns:a16="http://schemas.microsoft.com/office/drawing/2014/main" id="{378075D6-4A4C-8459-F485-59BF3FA2CD92}"/>
              </a:ext>
            </a:extLst>
          </p:cNvPr>
          <p:cNvSpPr txBox="1"/>
          <p:nvPr/>
        </p:nvSpPr>
        <p:spPr>
          <a:xfrm>
            <a:off x="97667" y="4061495"/>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sp>
        <p:nvSpPr>
          <p:cNvPr id="11" name="Rectangle 10">
            <a:extLst>
              <a:ext uri="{FF2B5EF4-FFF2-40B4-BE49-F238E27FC236}">
                <a16:creationId xmlns:a16="http://schemas.microsoft.com/office/drawing/2014/main" id="{9185C052-8B5D-A010-F3B9-CF733D48EE61}"/>
              </a:ext>
            </a:extLst>
          </p:cNvPr>
          <p:cNvSpPr/>
          <p:nvPr/>
        </p:nvSpPr>
        <p:spPr>
          <a:xfrm>
            <a:off x="97668" y="3545749"/>
            <a:ext cx="5859013" cy="5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r>
              <a:rPr lang="en-US" sz="800" b="1">
                <a:solidFill>
                  <a:schemeClr val="tx1"/>
                </a:solidFill>
              </a:rPr>
              <a:t>(*):</a:t>
            </a:r>
            <a:r>
              <a:rPr lang="en-US" sz="800">
                <a:solidFill>
                  <a:schemeClr val="tx1"/>
                </a:solidFill>
              </a:rPr>
              <a:t>Data entering the host PC via the virtual COM port</a:t>
            </a:r>
          </a:p>
          <a:p>
            <a:pPr>
              <a:buClr>
                <a:schemeClr val="bg1"/>
              </a:buClr>
            </a:pPr>
            <a:r>
              <a:rPr lang="en-US" sz="800" b="1">
                <a:solidFill>
                  <a:schemeClr val="tx1"/>
                </a:solidFill>
              </a:rPr>
              <a:t>(**)</a:t>
            </a:r>
            <a:r>
              <a:rPr lang="en-US" sz="800">
                <a:solidFill>
                  <a:schemeClr val="tx1"/>
                </a:solidFill>
              </a:rPr>
              <a:t>:Data sent from the host PC via virtual COM port</a:t>
            </a:r>
            <a:endParaRPr lang="en-US" sz="800" b="1">
              <a:solidFill>
                <a:schemeClr val="tx1"/>
              </a:solidFill>
            </a:endParaRPr>
          </a:p>
          <a:p>
            <a:br>
              <a:rPr lang="en-US" sz="1000">
                <a:solidFill>
                  <a:schemeClr val="tx1"/>
                </a:solidFill>
              </a:rPr>
            </a:br>
            <a:endParaRPr lang="en-US" sz="1000">
              <a:solidFill>
                <a:schemeClr val="tx1"/>
              </a:solidFill>
            </a:endParaRPr>
          </a:p>
        </p:txBody>
      </p:sp>
      <p:sp>
        <p:nvSpPr>
          <p:cNvPr id="12" name="Rectangle 11">
            <a:extLst>
              <a:ext uri="{FF2B5EF4-FFF2-40B4-BE49-F238E27FC236}">
                <a16:creationId xmlns:a16="http://schemas.microsoft.com/office/drawing/2014/main" id="{B5A3DAEA-F6F2-BCCF-E8A6-DA45B9655602}"/>
              </a:ext>
            </a:extLst>
          </p:cNvPr>
          <p:cNvSpPr/>
          <p:nvPr/>
        </p:nvSpPr>
        <p:spPr>
          <a:xfrm>
            <a:off x="97668" y="5677731"/>
            <a:ext cx="5859013" cy="10495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endParaRPr lang="en-US" sz="800" dirty="0">
              <a:solidFill>
                <a:schemeClr val="tx1"/>
              </a:solidFill>
            </a:endParaRPr>
          </a:p>
          <a:p>
            <a:pPr>
              <a:buClr>
                <a:schemeClr val="bg1"/>
              </a:buClr>
            </a:pPr>
            <a:endParaRPr lang="en-US" sz="800" dirty="0">
              <a:solidFill>
                <a:schemeClr val="tx1"/>
              </a:solidFill>
            </a:endParaRPr>
          </a:p>
          <a:p>
            <a:pPr>
              <a:buClr>
                <a:schemeClr val="bg1"/>
              </a:buClr>
            </a:pPr>
            <a:r>
              <a:rPr lang="en-US" sz="800" dirty="0">
                <a:solidFill>
                  <a:schemeClr val="tx1"/>
                </a:solidFill>
              </a:rPr>
              <a:t>- Renesas uses more complex structures and sets more variables, which improves code readability but increases RAM usage.</a:t>
            </a:r>
          </a:p>
          <a:p>
            <a:pPr>
              <a:buClr>
                <a:schemeClr val="bg1"/>
              </a:buClr>
            </a:pPr>
            <a:r>
              <a:rPr lang="en-US" sz="800" dirty="0">
                <a:solidFill>
                  <a:schemeClr val="tx1"/>
                </a:solidFill>
              </a:rPr>
              <a:t>- ST RO Data is lower by 95% than Renesas, this is mainly due to the following layers:</a:t>
            </a:r>
          </a:p>
          <a:p>
            <a:pPr marL="171450" indent="-171450">
              <a:buFont typeface="Arial" panose="020B0604020202020204" pitchFamily="34" charset="0"/>
              <a:buChar char="•"/>
            </a:pPr>
            <a:r>
              <a:rPr lang="en-US" sz="800" dirty="0" err="1">
                <a:solidFill>
                  <a:schemeClr val="tx1"/>
                </a:solidFill>
              </a:rPr>
              <a:t>r_usb_cstd_rtos.c</a:t>
            </a:r>
            <a:r>
              <a:rPr lang="en-US" sz="800" dirty="0">
                <a:solidFill>
                  <a:schemeClr val="tx1"/>
                </a:solidFill>
              </a:rPr>
              <a:t> (RA HAL USB driver): 3824 bytes</a:t>
            </a:r>
          </a:p>
          <a:p>
            <a:pPr marL="171450" indent="-171450">
              <a:buFont typeface="Arial" panose="020B0604020202020204" pitchFamily="34" charset="0"/>
              <a:buChar char="•"/>
            </a:pPr>
            <a:r>
              <a:rPr lang="en-US" sz="800" dirty="0" err="1">
                <a:solidFill>
                  <a:schemeClr val="tx1"/>
                </a:solidFill>
              </a:rPr>
              <a:t>Rm_usbx_pcdc_descriptor.c</a:t>
            </a:r>
            <a:r>
              <a:rPr lang="en-US" sz="800" dirty="0">
                <a:solidFill>
                  <a:schemeClr val="tx1"/>
                </a:solidFill>
              </a:rPr>
              <a:t> (RA MW USBX porting layer): 310 bytes</a:t>
            </a:r>
          </a:p>
          <a:p>
            <a:pPr marL="171450" indent="-171450">
              <a:buFont typeface="Arial" panose="020B0604020202020204" pitchFamily="34" charset="0"/>
              <a:buChar char="•"/>
            </a:pPr>
            <a:r>
              <a:rPr lang="en-US" sz="800" dirty="0" err="1">
                <a:solidFill>
                  <a:schemeClr val="tx1"/>
                </a:solidFill>
              </a:rPr>
              <a:t>Pin_data.c</a:t>
            </a:r>
            <a:r>
              <a:rPr lang="en-US" sz="800" dirty="0">
                <a:solidFill>
                  <a:schemeClr val="tx1"/>
                </a:solidFill>
              </a:rPr>
              <a:t> (RA generated configurations file): 684 bytes</a:t>
            </a:r>
          </a:p>
          <a:p>
            <a:pPr>
              <a:buClr>
                <a:schemeClr val="bg1"/>
              </a:buClr>
            </a:pPr>
            <a:r>
              <a:rPr lang="en-US" sz="800" dirty="0">
                <a:solidFill>
                  <a:schemeClr val="tx1"/>
                </a:solidFill>
              </a:rPr>
              <a:t>- ST RW data is lower by 71% than Renesas, this is mainly due to </a:t>
            </a:r>
            <a:r>
              <a:rPr lang="en-US" sz="800" b="1" dirty="0">
                <a:solidFill>
                  <a:schemeClr val="tx1"/>
                </a:solidFill>
              </a:rPr>
              <a:t>the gaps in RAM </a:t>
            </a:r>
            <a:r>
              <a:rPr lang="en-US" sz="800" dirty="0">
                <a:solidFill>
                  <a:schemeClr val="tx1"/>
                </a:solidFill>
              </a:rPr>
              <a:t>that is uninitialized memory sections between the reserved memory regions (</a:t>
            </a:r>
            <a:r>
              <a:rPr lang="en-US" sz="800" i="1" dirty="0">
                <a:solidFill>
                  <a:schemeClr val="tx1"/>
                </a:solidFill>
              </a:rPr>
              <a:t>ST 0-byte vs RA 28 KB</a:t>
            </a:r>
            <a:r>
              <a:rPr lang="en-US" sz="800" dirty="0">
                <a:solidFill>
                  <a:schemeClr val="tx1"/>
                </a:solidFill>
              </a:rPr>
              <a:t>)</a:t>
            </a:r>
          </a:p>
          <a:p>
            <a:br>
              <a:rPr lang="en-US" sz="1000" dirty="0">
                <a:solidFill>
                  <a:schemeClr val="tx1"/>
                </a:solidFill>
              </a:rPr>
            </a:br>
            <a:endParaRPr lang="en-US" sz="1000" dirty="0">
              <a:solidFill>
                <a:schemeClr val="tx1"/>
              </a:solidFill>
            </a:endParaRPr>
          </a:p>
        </p:txBody>
      </p:sp>
      <p:graphicFrame>
        <p:nvGraphicFramePr>
          <p:cNvPr id="13" name="Table 12">
            <a:extLst>
              <a:ext uri="{FF2B5EF4-FFF2-40B4-BE49-F238E27FC236}">
                <a16:creationId xmlns:a16="http://schemas.microsoft.com/office/drawing/2014/main" id="{1E64E910-0D41-54D6-7122-0D38CD8142AC}"/>
              </a:ext>
            </a:extLst>
          </p:cNvPr>
          <p:cNvGraphicFramePr>
            <a:graphicFrameLocks noGrp="1"/>
          </p:cNvGraphicFramePr>
          <p:nvPr>
            <p:extLst>
              <p:ext uri="{D42A27DB-BD31-4B8C-83A1-F6EECF244321}">
                <p14:modId xmlns:p14="http://schemas.microsoft.com/office/powerpoint/2010/main" val="3073133431"/>
              </p:ext>
            </p:extLst>
          </p:nvPr>
        </p:nvGraphicFramePr>
        <p:xfrm>
          <a:off x="6367739" y="2111527"/>
          <a:ext cx="5541455" cy="1278789"/>
        </p:xfrm>
        <a:graphic>
          <a:graphicData uri="http://schemas.openxmlformats.org/drawingml/2006/table">
            <a:tbl>
              <a:tblPr firstRow="1" bandRow="1">
                <a:tableStyleId>{EB344D84-9AFB-497E-A393-DC336BA19D2E}</a:tableStyleId>
              </a:tblPr>
              <a:tblGrid>
                <a:gridCol w="1252650">
                  <a:extLst>
                    <a:ext uri="{9D8B030D-6E8A-4147-A177-3AD203B41FA5}">
                      <a16:colId xmlns:a16="http://schemas.microsoft.com/office/drawing/2014/main" val="1473133747"/>
                    </a:ext>
                  </a:extLst>
                </a:gridCol>
                <a:gridCol w="963932">
                  <a:extLst>
                    <a:ext uri="{9D8B030D-6E8A-4147-A177-3AD203B41FA5}">
                      <a16:colId xmlns:a16="http://schemas.microsoft.com/office/drawing/2014/main" val="4162598800"/>
                    </a:ext>
                  </a:extLst>
                </a:gridCol>
                <a:gridCol w="1108291">
                  <a:extLst>
                    <a:ext uri="{9D8B030D-6E8A-4147-A177-3AD203B41FA5}">
                      <a16:colId xmlns:a16="http://schemas.microsoft.com/office/drawing/2014/main" val="1196173778"/>
                    </a:ext>
                  </a:extLst>
                </a:gridCol>
                <a:gridCol w="737640">
                  <a:extLst>
                    <a:ext uri="{9D8B030D-6E8A-4147-A177-3AD203B41FA5}">
                      <a16:colId xmlns:a16="http://schemas.microsoft.com/office/drawing/2014/main" val="2713348666"/>
                    </a:ext>
                  </a:extLst>
                </a:gridCol>
                <a:gridCol w="1478942">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121761">
                <a:tc>
                  <a:txBody>
                    <a:bodyPr/>
                    <a:lstStyle/>
                    <a:p>
                      <a:pPr algn="ctr"/>
                      <a:r>
                        <a:rPr lang="en-US" sz="800" b="1">
                          <a:solidFill>
                            <a:schemeClr val="tx1"/>
                          </a:solidFill>
                        </a:rPr>
                        <a:t>Initialize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0,97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1.99</a:t>
                      </a:r>
                    </a:p>
                    <a:p>
                      <a:pPr algn="ctr"/>
                      <a:endParaRPr lang="en-US" sz="800"/>
                    </a:p>
                  </a:txBody>
                  <a:tcPr/>
                </a:tc>
                <a:tc>
                  <a:txBody>
                    <a:bodyPr/>
                    <a:lstStyle/>
                    <a:p>
                      <a:pPr algn="ctr"/>
                      <a:r>
                        <a:rPr lang="en-US" sz="800" b="1">
                          <a:solidFill>
                            <a:srgbClr val="00B050"/>
                          </a:solidFill>
                        </a:rPr>
                        <a:t>-51%</a:t>
                      </a:r>
                    </a:p>
                  </a:txBody>
                  <a:tcPr/>
                </a:tc>
                <a:tc>
                  <a:txBody>
                    <a:bodyPr/>
                    <a:lstStyle/>
                    <a:p>
                      <a:pPr algn="ctr"/>
                      <a:endParaRPr lang="en-US" sz="800"/>
                    </a:p>
                  </a:txBody>
                  <a:tcPr/>
                </a:tc>
                <a:extLst>
                  <a:ext uri="{0D108BD9-81ED-4DB2-BD59-A6C34878D82A}">
                    <a16:rowId xmlns:a16="http://schemas.microsoft.com/office/drawing/2014/main" val="1089852517"/>
                  </a:ext>
                </a:extLst>
              </a:tr>
              <a:tr h="242469">
                <a:tc>
                  <a:txBody>
                    <a:bodyPr/>
                    <a:lstStyle/>
                    <a:p>
                      <a:pPr algn="ctr"/>
                      <a:r>
                        <a:rPr lang="en-US" sz="800" b="1">
                          <a:solidFill>
                            <a:schemeClr val="tx1"/>
                          </a:solidFill>
                        </a:rPr>
                        <a:t>Enumuration</a:t>
                      </a:r>
                    </a:p>
                  </a:txBody>
                  <a:tcPr/>
                </a:tc>
                <a:tc>
                  <a:txBody>
                    <a:bodyPr/>
                    <a:lstStyle/>
                    <a:p>
                      <a:pPr algn="ctr"/>
                      <a:r>
                        <a:rPr lang="en-US" sz="800" dirty="0"/>
                        <a:t>60</a:t>
                      </a:r>
                    </a:p>
                  </a:txBody>
                  <a:tcPr/>
                </a:tc>
                <a:tc>
                  <a:txBody>
                    <a:bodyPr/>
                    <a:lstStyle/>
                    <a:p>
                      <a:pPr algn="ctr"/>
                      <a:r>
                        <a:rPr lang="fr-FR" sz="800" dirty="0"/>
                        <a:t>8 </a:t>
                      </a:r>
                      <a:endParaRPr lang="en-US" sz="800" dirty="0"/>
                    </a:p>
                  </a:txBody>
                  <a:tcPr/>
                </a:tc>
                <a:tc>
                  <a:txBody>
                    <a:bodyPr/>
                    <a:lstStyle/>
                    <a:p>
                      <a:pPr algn="ctr"/>
                      <a:r>
                        <a:rPr lang="fr-FR" sz="800" b="1" dirty="0">
                          <a:solidFill>
                            <a:srgbClr val="FF0000"/>
                          </a:solidFill>
                        </a:rPr>
                        <a:t>+650%</a:t>
                      </a:r>
                      <a:endParaRPr lang="en-US" sz="800" b="1" dirty="0">
                        <a:solidFill>
                          <a:srgbClr val="FF0000"/>
                        </a:solidFill>
                      </a:endParaRPr>
                    </a:p>
                  </a:txBody>
                  <a:tcPr/>
                </a:tc>
                <a:tc>
                  <a:txBody>
                    <a:bodyPr/>
                    <a:lstStyle/>
                    <a:p>
                      <a:pPr algn="ctr"/>
                      <a:r>
                        <a:rPr lang="en-US" altLang="en-US" sz="600" b="0" dirty="0">
                          <a:solidFill>
                            <a:schemeClr val="accent1"/>
                          </a:solidFill>
                        </a:rPr>
                        <a:t>USBX UX_DEVICE_ADDRESS_SET_WAIT ( 50 </a:t>
                      </a:r>
                      <a:r>
                        <a:rPr lang="en-US" altLang="en-US" sz="600" b="0" dirty="0" err="1">
                          <a:solidFill>
                            <a:schemeClr val="accent1"/>
                          </a:solidFill>
                        </a:rPr>
                        <a:t>ms</a:t>
                      </a:r>
                      <a:r>
                        <a:rPr lang="en-US" altLang="en-US" sz="600" b="0" dirty="0">
                          <a:solidFill>
                            <a:schemeClr val="accent1"/>
                          </a:solidFill>
                        </a:rPr>
                        <a:t>) </a:t>
                      </a:r>
                      <a:endParaRPr lang="en-US" sz="600" b="0" dirty="0"/>
                    </a:p>
                  </a:txBody>
                  <a:tcPr/>
                </a:tc>
                <a:extLst>
                  <a:ext uri="{0D108BD9-81ED-4DB2-BD59-A6C34878D82A}">
                    <a16:rowId xmlns:a16="http://schemas.microsoft.com/office/drawing/2014/main" val="2065877290"/>
                  </a:ext>
                </a:extLst>
              </a:tr>
              <a:tr h="242469">
                <a:tc>
                  <a:txBody>
                    <a:bodyPr/>
                    <a:lstStyle/>
                    <a:p>
                      <a:pPr algn="ctr"/>
                      <a:r>
                        <a:rPr lang="en-US" sz="800" b="1">
                          <a:solidFill>
                            <a:schemeClr val="tx1"/>
                          </a:solidFill>
                        </a:rPr>
                        <a:t>Data transmission</a:t>
                      </a:r>
                    </a:p>
                    <a:p>
                      <a:pPr algn="ctr"/>
                      <a:r>
                        <a:rPr lang="en-US" sz="800" b="1">
                          <a:solidFill>
                            <a:schemeClr val="tx1"/>
                          </a:solidFill>
                        </a:rPr>
                        <a:t>(button presses)</a:t>
                      </a:r>
                      <a:endParaRPr lang="en-US" sz="800">
                        <a:solidFill>
                          <a:schemeClr val="tx1"/>
                        </a:solidFill>
                      </a:endParaRPr>
                    </a:p>
                  </a:txBody>
                  <a:tcPr/>
                </a:tc>
                <a:tc>
                  <a:txBody>
                    <a:bodyPr/>
                    <a:lstStyle/>
                    <a:p>
                      <a:pPr algn="ctr"/>
                      <a:r>
                        <a:rPr lang="en-US" sz="800" b="0" i="0" kern="1200">
                          <a:solidFill>
                            <a:schemeClr val="dk1"/>
                          </a:solidFill>
                          <a:effectLst/>
                          <a:latin typeface="+mn-lt"/>
                          <a:ea typeface="+mn-ea"/>
                          <a:cs typeface="+mn-cs"/>
                        </a:rPr>
                        <a:t>0.075</a:t>
                      </a:r>
                      <a:endParaRPr lang="en-US" sz="800"/>
                    </a:p>
                  </a:txBody>
                  <a:tcPr/>
                </a:tc>
                <a:tc>
                  <a:txBody>
                    <a:bodyPr/>
                    <a:lstStyle/>
                    <a:p>
                      <a:pPr algn="ctr"/>
                      <a:r>
                        <a:rPr lang="en-US" sz="800" b="0" i="0" kern="1200" dirty="0">
                          <a:solidFill>
                            <a:schemeClr val="dk1"/>
                          </a:solidFill>
                          <a:effectLst/>
                          <a:latin typeface="+mn-lt"/>
                          <a:ea typeface="+mn-ea"/>
                          <a:cs typeface="+mn-cs"/>
                        </a:rPr>
                        <a:t>0.071</a:t>
                      </a:r>
                      <a:endParaRPr lang="en-US" sz="800" dirty="0"/>
                    </a:p>
                  </a:txBody>
                  <a:tcPr/>
                </a:tc>
                <a:tc>
                  <a:txBody>
                    <a:bodyPr/>
                    <a:lstStyle/>
                    <a:p>
                      <a:pPr algn="ctr"/>
                      <a:r>
                        <a:rPr lang="fr-FR" sz="800" b="1" dirty="0">
                          <a:solidFill>
                            <a:srgbClr val="00B050"/>
                          </a:solidFill>
                        </a:rPr>
                        <a:t>+5.6%</a:t>
                      </a:r>
                      <a:endParaRPr lang="en-US" sz="800" b="1" dirty="0">
                        <a:solidFill>
                          <a:srgbClr val="00B050"/>
                        </a:solidFill>
                      </a:endParaRPr>
                    </a:p>
                  </a:txBody>
                  <a:tcPr/>
                </a:tc>
                <a:tc>
                  <a:txBody>
                    <a:bodyPr/>
                    <a:lstStyle/>
                    <a:p>
                      <a:pPr algn="ctr"/>
                      <a:endParaRPr lang="en-US" sz="800" dirty="0"/>
                    </a:p>
                  </a:txBody>
                  <a:tcPr/>
                </a:tc>
                <a:extLst>
                  <a:ext uri="{0D108BD9-81ED-4DB2-BD59-A6C34878D82A}">
                    <a16:rowId xmlns:a16="http://schemas.microsoft.com/office/drawing/2014/main" val="1293324964"/>
                  </a:ext>
                </a:extLst>
              </a:tr>
            </a:tbl>
          </a:graphicData>
        </a:graphic>
      </p:graphicFrame>
      <p:sp>
        <p:nvSpPr>
          <p:cNvPr id="14" name="TextBox 13">
            <a:extLst>
              <a:ext uri="{FF2B5EF4-FFF2-40B4-BE49-F238E27FC236}">
                <a16:creationId xmlns:a16="http://schemas.microsoft.com/office/drawing/2014/main" id="{A74C2304-9984-699B-C72D-725298DB90A3}"/>
              </a:ext>
            </a:extLst>
          </p:cNvPr>
          <p:cNvSpPr txBox="1"/>
          <p:nvPr/>
        </p:nvSpPr>
        <p:spPr>
          <a:xfrm>
            <a:off x="6367739" y="1774518"/>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a:t>
            </a:r>
            <a:r>
              <a:rPr lang="en-US" sz="1000" b="1" err="1">
                <a:solidFill>
                  <a:schemeClr val="accent2"/>
                </a:solidFill>
              </a:rPr>
              <a:t>ms</a:t>
            </a:r>
            <a:r>
              <a:rPr lang="en-US" sz="1000" b="1">
                <a:solidFill>
                  <a:schemeClr val="accent2"/>
                </a:solidFill>
              </a:rPr>
              <a:t>)</a:t>
            </a:r>
          </a:p>
        </p:txBody>
      </p:sp>
      <p:graphicFrame>
        <p:nvGraphicFramePr>
          <p:cNvPr id="15" name="Table 14">
            <a:extLst>
              <a:ext uri="{FF2B5EF4-FFF2-40B4-BE49-F238E27FC236}">
                <a16:creationId xmlns:a16="http://schemas.microsoft.com/office/drawing/2014/main" id="{7E3546D3-E97A-F2BA-E0F1-5A2CD0BE8044}"/>
              </a:ext>
            </a:extLst>
          </p:cNvPr>
          <p:cNvGraphicFramePr>
            <a:graphicFrameLocks noGrp="1"/>
          </p:cNvGraphicFramePr>
          <p:nvPr>
            <p:extLst>
              <p:ext uri="{D42A27DB-BD31-4B8C-83A1-F6EECF244321}">
                <p14:modId xmlns:p14="http://schemas.microsoft.com/office/powerpoint/2010/main" val="733900357"/>
              </p:ext>
            </p:extLst>
          </p:nvPr>
        </p:nvGraphicFramePr>
        <p:xfrm>
          <a:off x="6367740" y="4360272"/>
          <a:ext cx="5541455" cy="969876"/>
        </p:xfrm>
        <a:graphic>
          <a:graphicData uri="http://schemas.openxmlformats.org/drawingml/2006/table">
            <a:tbl>
              <a:tblPr firstRow="1" bandRow="1">
                <a:tableStyleId>{EB344D84-9AFB-497E-A393-DC336BA19D2E}</a:tableStyleId>
              </a:tblPr>
              <a:tblGrid>
                <a:gridCol w="932350">
                  <a:extLst>
                    <a:ext uri="{9D8B030D-6E8A-4147-A177-3AD203B41FA5}">
                      <a16:colId xmlns:a16="http://schemas.microsoft.com/office/drawing/2014/main" val="1473133747"/>
                    </a:ext>
                  </a:extLst>
                </a:gridCol>
                <a:gridCol w="1284233">
                  <a:extLst>
                    <a:ext uri="{9D8B030D-6E8A-4147-A177-3AD203B41FA5}">
                      <a16:colId xmlns:a16="http://schemas.microsoft.com/office/drawing/2014/main" val="4162598800"/>
                    </a:ext>
                  </a:extLst>
                </a:gridCol>
                <a:gridCol w="1108291">
                  <a:extLst>
                    <a:ext uri="{9D8B030D-6E8A-4147-A177-3AD203B41FA5}">
                      <a16:colId xmlns:a16="http://schemas.microsoft.com/office/drawing/2014/main" val="1196173778"/>
                    </a:ext>
                  </a:extLst>
                </a:gridCol>
                <a:gridCol w="737639">
                  <a:extLst>
                    <a:ext uri="{9D8B030D-6E8A-4147-A177-3AD203B41FA5}">
                      <a16:colId xmlns:a16="http://schemas.microsoft.com/office/drawing/2014/main" val="2713348666"/>
                    </a:ext>
                  </a:extLst>
                </a:gridCol>
                <a:gridCol w="1478942">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buNone/>
                      </a:pPr>
                      <a:r>
                        <a:rPr lang="en-US" sz="800" b="1" kern="1200" dirty="0">
                          <a:solidFill>
                            <a:schemeClr val="dk1"/>
                          </a:solidFill>
                          <a:latin typeface="+mn-lt"/>
                          <a:ea typeface="+mn-ea"/>
                          <a:cs typeface="+mn-cs"/>
                        </a:rPr>
                        <a:t>ROM</a:t>
                      </a:r>
                    </a:p>
                  </a:txBody>
                  <a:tcPr marL="50800" marR="50800" marT="12700" marB="12700" anchor="ctr"/>
                </a:tc>
                <a:tc>
                  <a:txBody>
                    <a:bodyPr/>
                    <a:lstStyle/>
                    <a:p>
                      <a:pPr algn="ctr">
                        <a:buNone/>
                      </a:pPr>
                      <a:r>
                        <a:rPr lang="en-US" sz="800" kern="1200" dirty="0">
                          <a:solidFill>
                            <a:schemeClr val="dk1"/>
                          </a:solidFill>
                          <a:latin typeface="+mn-lt"/>
                          <a:ea typeface="+mn-ea"/>
                          <a:cs typeface="+mn-cs"/>
                        </a:rPr>
                        <a:t>54'051</a:t>
                      </a:r>
                    </a:p>
                  </a:txBody>
                  <a:tcPr marL="50800" marR="50800" marT="12700" marB="12700" anchor="ctr"/>
                </a:tc>
                <a:tc>
                  <a:txBody>
                    <a:bodyPr/>
                    <a:lstStyle/>
                    <a:p>
                      <a:pPr algn="ctr">
                        <a:buNone/>
                      </a:pPr>
                      <a:r>
                        <a:rPr lang="en-US" sz="800" kern="1200">
                          <a:solidFill>
                            <a:schemeClr val="dk1"/>
                          </a:solidFill>
                          <a:latin typeface="+mn-lt"/>
                          <a:ea typeface="+mn-ea"/>
                          <a:cs typeface="+mn-cs"/>
                        </a:rPr>
                        <a:t>65'212</a:t>
                      </a:r>
                    </a:p>
                  </a:txBody>
                  <a:tcPr marL="50800" marR="50800" marT="12700" marB="12700" anchor="ctr"/>
                </a:tc>
                <a:tc>
                  <a:txBody>
                    <a:bodyPr/>
                    <a:lstStyle/>
                    <a:p>
                      <a:pPr algn="ctr">
                        <a:buNone/>
                      </a:pPr>
                      <a:r>
                        <a:rPr lang="en-US" sz="800" b="1" kern="1200" dirty="0">
                          <a:solidFill>
                            <a:srgbClr val="00B050"/>
                          </a:solidFill>
                          <a:latin typeface="+mn-lt"/>
                          <a:ea typeface="+mn-ea"/>
                          <a:cs typeface="+mn-cs"/>
                        </a:rPr>
                        <a:t>-17%</a:t>
                      </a:r>
                    </a:p>
                  </a:txBody>
                  <a:tcPr marL="50800" marR="50800" marT="12700" marB="12700" anchor="ctr"/>
                </a:tc>
                <a:tc>
                  <a:txBody>
                    <a:bodyPr/>
                    <a:lstStyle/>
                    <a:p>
                      <a:pPr algn="ctr"/>
                      <a:endParaRPr lang="en-US" sz="800" dirty="0"/>
                    </a:p>
                  </a:txBody>
                  <a:tcPr/>
                </a:tc>
                <a:extLst>
                  <a:ext uri="{0D108BD9-81ED-4DB2-BD59-A6C34878D82A}">
                    <a16:rowId xmlns:a16="http://schemas.microsoft.com/office/drawing/2014/main" val="2065877290"/>
                  </a:ext>
                </a:extLst>
              </a:tr>
              <a:tr h="242469">
                <a:tc>
                  <a:txBody>
                    <a:bodyPr/>
                    <a:lstStyle/>
                    <a:p>
                      <a:pPr>
                        <a:buNone/>
                      </a:pPr>
                      <a:r>
                        <a:rPr lang="en-US" sz="800" b="1" kern="1200" dirty="0">
                          <a:solidFill>
                            <a:schemeClr val="dk1"/>
                          </a:solidFill>
                          <a:latin typeface="+mn-lt"/>
                          <a:ea typeface="+mn-ea"/>
                          <a:cs typeface="+mn-cs"/>
                        </a:rPr>
                        <a:t>RAM</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n-lt"/>
                          <a:ea typeface="+mn-ea"/>
                          <a:cs typeface="+mn-cs"/>
                        </a:rPr>
                        <a:t>43'733</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n-lt"/>
                          <a:ea typeface="+mn-ea"/>
                          <a:cs typeface="+mn-cs"/>
                        </a:rPr>
                        <a:t>98'640</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algn="ctr">
                        <a:buNone/>
                      </a:pPr>
                      <a:r>
                        <a:rPr lang="en-US" sz="800" b="1" kern="1200" dirty="0">
                          <a:solidFill>
                            <a:srgbClr val="00B050"/>
                          </a:solidFill>
                          <a:latin typeface="+mn-lt"/>
                          <a:ea typeface="+mn-ea"/>
                          <a:cs typeface="+mn-cs"/>
                        </a:rPr>
                        <a:t>-56%</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42469">
                <a:tc>
                  <a:txBody>
                    <a:bodyPr/>
                    <a:lstStyle/>
                    <a:p>
                      <a:pPr>
                        <a:buNone/>
                      </a:pPr>
                      <a:r>
                        <a:rPr lang="en-US" sz="800" b="1" kern="1200" dirty="0">
                          <a:solidFill>
                            <a:schemeClr val="dk1"/>
                          </a:solidFill>
                          <a:latin typeface="+mn-lt"/>
                          <a:ea typeface="+mn-ea"/>
                          <a:cs typeface="+mn-cs"/>
                        </a:rPr>
                        <a:t>Total</a:t>
                      </a:r>
                    </a:p>
                  </a:txBody>
                  <a:tcPr marL="50800" marR="508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kern="1200" dirty="0">
                          <a:solidFill>
                            <a:schemeClr val="dk1"/>
                          </a:solidFill>
                          <a:latin typeface="+mn-lt"/>
                          <a:ea typeface="+mn-ea"/>
                          <a:cs typeface="+mn-cs"/>
                        </a:rPr>
                        <a:t>97'784</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kern="1200">
                          <a:solidFill>
                            <a:schemeClr val="dk1"/>
                          </a:solidFill>
                          <a:latin typeface="+mn-lt"/>
                          <a:ea typeface="+mn-ea"/>
                          <a:cs typeface="+mn-cs"/>
                        </a:rPr>
                        <a:t>163'852</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kern="1200" dirty="0">
                          <a:solidFill>
                            <a:srgbClr val="00B050"/>
                          </a:solidFill>
                          <a:latin typeface="+mn-lt"/>
                          <a:ea typeface="+mn-ea"/>
                          <a:cs typeface="+mn-cs"/>
                        </a:rPr>
                        <a:t>-40%</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8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6" name="TextBox 15">
            <a:extLst>
              <a:ext uri="{FF2B5EF4-FFF2-40B4-BE49-F238E27FC236}">
                <a16:creationId xmlns:a16="http://schemas.microsoft.com/office/drawing/2014/main" id="{605F350D-BD60-C3B2-108D-12006D7A71D7}"/>
              </a:ext>
            </a:extLst>
          </p:cNvPr>
          <p:cNvSpPr txBox="1"/>
          <p:nvPr/>
        </p:nvSpPr>
        <p:spPr>
          <a:xfrm>
            <a:off x="6265515" y="4061495"/>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sp>
        <p:nvSpPr>
          <p:cNvPr id="17" name="Rectangle 16">
            <a:extLst>
              <a:ext uri="{FF2B5EF4-FFF2-40B4-BE49-F238E27FC236}">
                <a16:creationId xmlns:a16="http://schemas.microsoft.com/office/drawing/2014/main" id="{3F64FEC1-792F-8653-5501-E0AD465F9D8B}"/>
              </a:ext>
            </a:extLst>
          </p:cNvPr>
          <p:cNvSpPr/>
          <p:nvPr/>
        </p:nvSpPr>
        <p:spPr>
          <a:xfrm>
            <a:off x="6367739" y="3495590"/>
            <a:ext cx="5541455" cy="5931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endParaRPr lang="en-US" sz="800" dirty="0">
              <a:solidFill>
                <a:schemeClr val="accent1"/>
              </a:solidFill>
            </a:endParaRPr>
          </a:p>
          <a:p>
            <a:r>
              <a:rPr lang="en-US" sz="800" b="1" dirty="0">
                <a:solidFill>
                  <a:schemeClr val="accent3"/>
                </a:solidFill>
              </a:rPr>
              <a:t>RA</a:t>
            </a:r>
            <a:r>
              <a:rPr lang="en-US" sz="800" dirty="0">
                <a:solidFill>
                  <a:schemeClr val="accent1"/>
                </a:solidFill>
              </a:rPr>
              <a:t> bypasses USBX enumeration phase by </a:t>
            </a:r>
            <a:r>
              <a:rPr lang="en-US" sz="800" dirty="0" err="1">
                <a:solidFill>
                  <a:schemeClr val="accent1"/>
                </a:solidFill>
              </a:rPr>
              <a:t>rm_usbx_ports</a:t>
            </a:r>
            <a:r>
              <a:rPr lang="en-US" sz="800" dirty="0">
                <a:solidFill>
                  <a:schemeClr val="accent1"/>
                </a:solidFill>
              </a:rPr>
              <a:t> porting layer</a:t>
            </a:r>
          </a:p>
          <a:p>
            <a:r>
              <a:rPr lang="en-US" sz="800" b="1" dirty="0">
                <a:solidFill>
                  <a:schemeClr val="accent3"/>
                </a:solidFill>
              </a:rPr>
              <a:t>vs</a:t>
            </a:r>
            <a:r>
              <a:rPr lang="en-US" sz="800" dirty="0">
                <a:solidFill>
                  <a:schemeClr val="accent3"/>
                </a:solidFill>
              </a:rPr>
              <a:t> </a:t>
            </a:r>
            <a:r>
              <a:rPr lang="en-US" sz="800" b="1" dirty="0">
                <a:solidFill>
                  <a:schemeClr val="accent3"/>
                </a:solidFill>
              </a:rPr>
              <a:t>ST</a:t>
            </a:r>
            <a:r>
              <a:rPr lang="en-US" sz="800" dirty="0">
                <a:solidFill>
                  <a:schemeClr val="accent3"/>
                </a:solidFill>
              </a:rPr>
              <a:t> </a:t>
            </a:r>
            <a:r>
              <a:rPr lang="en-US" sz="800" dirty="0">
                <a:solidFill>
                  <a:schemeClr val="accent1"/>
                </a:solidFill>
              </a:rPr>
              <a:t>uses USBX enumeration phase that  </a:t>
            </a:r>
            <a:r>
              <a:rPr lang="en-US" altLang="en-US" sz="800" dirty="0">
                <a:solidFill>
                  <a:schemeClr val="accent1"/>
                </a:solidFill>
              </a:rPr>
              <a:t>uses </a:t>
            </a:r>
            <a:r>
              <a:rPr lang="en-US" altLang="en-US" sz="800" b="1" dirty="0">
                <a:solidFill>
                  <a:schemeClr val="accent1"/>
                </a:solidFill>
              </a:rPr>
              <a:t>UX_DEVICE_ADDRESS_SET_WAIT ( 50 </a:t>
            </a:r>
            <a:r>
              <a:rPr lang="en-US" altLang="en-US" sz="800" b="1" dirty="0" err="1">
                <a:solidFill>
                  <a:schemeClr val="accent1"/>
                </a:solidFill>
              </a:rPr>
              <a:t>ms</a:t>
            </a:r>
            <a:r>
              <a:rPr lang="en-US" altLang="en-US" sz="800" b="1" dirty="0">
                <a:solidFill>
                  <a:schemeClr val="accent1"/>
                </a:solidFill>
              </a:rPr>
              <a:t>) </a:t>
            </a:r>
            <a:r>
              <a:rPr lang="en-US" altLang="en-US" sz="800" dirty="0">
                <a:solidFill>
                  <a:schemeClr val="accent1"/>
                </a:solidFill>
              </a:rPr>
              <a:t>constant to wait after setting the device address </a:t>
            </a:r>
            <a:endParaRPr lang="en-US" sz="800" dirty="0">
              <a:solidFill>
                <a:schemeClr val="accent1"/>
              </a:solidFill>
            </a:endParaRPr>
          </a:p>
          <a:p>
            <a:pPr>
              <a:buClr>
                <a:schemeClr val="bg1"/>
              </a:buClr>
            </a:pPr>
            <a:br>
              <a:rPr lang="en-US" sz="1000" dirty="0"/>
            </a:br>
            <a:endParaRPr lang="en-US" sz="1000" dirty="0">
              <a:solidFill>
                <a:srgbClr val="002060"/>
              </a:solidFill>
            </a:endParaRPr>
          </a:p>
        </p:txBody>
      </p:sp>
      <p:sp>
        <p:nvSpPr>
          <p:cNvPr id="18" name="Rectangle 17">
            <a:extLst>
              <a:ext uri="{FF2B5EF4-FFF2-40B4-BE49-F238E27FC236}">
                <a16:creationId xmlns:a16="http://schemas.microsoft.com/office/drawing/2014/main" id="{8CE46FEC-1F0F-88ED-53E3-D9DA8394E27D}"/>
              </a:ext>
            </a:extLst>
          </p:cNvPr>
          <p:cNvSpPr/>
          <p:nvPr/>
        </p:nvSpPr>
        <p:spPr>
          <a:xfrm>
            <a:off x="6367740" y="5677731"/>
            <a:ext cx="5446308" cy="5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solidFill>
              </a:rPr>
              <a:t>Renesas uses more complex structures and sets more variables, which improves code readability but increases RAM usage.</a:t>
            </a:r>
          </a:p>
        </p:txBody>
      </p:sp>
      <p:sp>
        <p:nvSpPr>
          <p:cNvPr id="21" name="Title 2">
            <a:extLst>
              <a:ext uri="{FF2B5EF4-FFF2-40B4-BE49-F238E27FC236}">
                <a16:creationId xmlns:a16="http://schemas.microsoft.com/office/drawing/2014/main" id="{8B67E535-5674-A03A-944C-9F966F0FE3F8}"/>
              </a:ext>
            </a:extLst>
          </p:cNvPr>
          <p:cNvSpPr>
            <a:spLocks noGrp="1"/>
          </p:cNvSpPr>
          <p:nvPr>
            <p:ph type="title"/>
          </p:nvPr>
        </p:nvSpPr>
        <p:spPr>
          <a:xfrm>
            <a:off x="300037" y="-1"/>
            <a:ext cx="11609159" cy="1304925"/>
          </a:xfrm>
        </p:spPr>
        <p:txBody>
          <a:bodyPr/>
          <a:lstStyle/>
          <a:p>
            <a:r>
              <a:rPr lang="en-US"/>
              <a:t>ST Competitors MW Benchmark: USB</a:t>
            </a:r>
            <a:br>
              <a:rPr lang="en-US" b="1"/>
            </a:br>
            <a:r>
              <a:rPr lang="en-US" sz="2400" b="1">
                <a:solidFill>
                  <a:schemeClr val="accent2"/>
                </a:solidFill>
              </a:rPr>
              <a:t>ST vs Renesas Tests</a:t>
            </a:r>
            <a:br>
              <a:rPr lang="en-US" sz="2400" b="1">
                <a:solidFill>
                  <a:schemeClr val="accent2"/>
                </a:solidFill>
              </a:rPr>
            </a:br>
            <a:endParaRPr lang="en-US" sz="2400" b="1">
              <a:solidFill>
                <a:schemeClr val="accent2"/>
              </a:solidFill>
            </a:endParaRPr>
          </a:p>
        </p:txBody>
      </p:sp>
      <p:sp>
        <p:nvSpPr>
          <p:cNvPr id="3" name="Slide Number Placeholder 2">
            <a:extLst>
              <a:ext uri="{FF2B5EF4-FFF2-40B4-BE49-F238E27FC236}">
                <a16:creationId xmlns:a16="http://schemas.microsoft.com/office/drawing/2014/main" id="{20DD5A07-4B23-E177-E527-C5B43BA276B4}"/>
              </a:ext>
            </a:extLst>
          </p:cNvPr>
          <p:cNvSpPr>
            <a:spLocks noGrp="1"/>
          </p:cNvSpPr>
          <p:nvPr>
            <p:ph type="sldNum" sz="quarter" idx="12"/>
          </p:nvPr>
        </p:nvSpPr>
        <p:spPr/>
        <p:txBody>
          <a:bodyPr/>
          <a:lstStyle/>
          <a:p>
            <a:fld id="{40A7B169-58CE-4E65-B1F9-ACF9E46440C2}" type="slidenum">
              <a:rPr lang="en-US" smtClean="0"/>
              <a:t>19</a:t>
            </a:fld>
            <a:endParaRPr lang="en-US"/>
          </a:p>
        </p:txBody>
      </p:sp>
    </p:spTree>
    <p:extLst>
      <p:ext uri="{BB962C8B-B14F-4D97-AF65-F5344CB8AC3E}">
        <p14:creationId xmlns:p14="http://schemas.microsoft.com/office/powerpoint/2010/main" val="4200079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6B25C-A2C3-7A30-18DD-F3DD38DD470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BCE06E09-0388-FE7C-ADC8-ECB8067453B1}"/>
              </a:ext>
            </a:extLst>
          </p:cNvPr>
          <p:cNvSpPr txBox="1"/>
          <p:nvPr/>
        </p:nvSpPr>
        <p:spPr>
          <a:xfrm>
            <a:off x="0" y="1025134"/>
            <a:ext cx="4722816" cy="461665"/>
          </a:xfrm>
          <a:prstGeom prst="rect">
            <a:avLst/>
          </a:prstGeom>
          <a:noFill/>
        </p:spPr>
        <p:txBody>
          <a:bodyPr wrap="square" rtlCol="0">
            <a:spAutoFit/>
          </a:bodyPr>
          <a:lstStyle/>
          <a:p>
            <a:r>
              <a:rPr lang="en-US" sz="1400" b="1">
                <a:solidFill>
                  <a:srgbClr val="0070C0"/>
                </a:solidFill>
              </a:rPr>
              <a:t>RTOS mode : USBX MSC host class</a:t>
            </a:r>
          </a:p>
          <a:p>
            <a:r>
              <a:rPr lang="en-US" sz="1000" b="1"/>
              <a:t>STM32H573xx</a:t>
            </a:r>
            <a:r>
              <a:rPr lang="en-US" sz="1000" b="1">
                <a:solidFill>
                  <a:srgbClr val="002060"/>
                </a:solidFill>
              </a:rPr>
              <a:t> (CM33) vs RA6M5 (CM33)</a:t>
            </a:r>
          </a:p>
        </p:txBody>
      </p:sp>
      <p:sp>
        <p:nvSpPr>
          <p:cNvPr id="125" name="Rectangle 124">
            <a:extLst>
              <a:ext uri="{FF2B5EF4-FFF2-40B4-BE49-F238E27FC236}">
                <a16:creationId xmlns:a16="http://schemas.microsoft.com/office/drawing/2014/main" id="{96135BF5-A38F-503E-32A7-48D004760D16}"/>
              </a:ext>
            </a:extLst>
          </p:cNvPr>
          <p:cNvSpPr/>
          <p:nvPr/>
        </p:nvSpPr>
        <p:spPr>
          <a:xfrm>
            <a:off x="97668" y="6191056"/>
            <a:ext cx="4904100" cy="55106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a:solidFill>
                  <a:schemeClr val="accent2"/>
                </a:solidFill>
              </a:rPr>
              <a:t>USB MSC host class: </a:t>
            </a:r>
            <a:r>
              <a:rPr lang="fr-FR" sz="800">
                <a:solidFill>
                  <a:schemeClr val="tx1"/>
                </a:solidFill>
              </a:rPr>
              <a:t>USB </a:t>
            </a:r>
            <a:r>
              <a:rPr lang="en-US" sz="800" b="1">
                <a:solidFill>
                  <a:schemeClr val="tx1"/>
                </a:solidFill>
              </a:rPr>
              <a:t>mass storage device class</a:t>
            </a:r>
            <a:r>
              <a:rPr lang="fr-FR" sz="800" b="1">
                <a:solidFill>
                  <a:schemeClr val="tx1"/>
                </a:solidFill>
              </a:rPr>
              <a:t> </a:t>
            </a:r>
            <a:r>
              <a:rPr lang="fr-FR" sz="800" err="1">
                <a:solidFill>
                  <a:schemeClr val="tx1"/>
                </a:solidFill>
              </a:rPr>
              <a:t>allows</a:t>
            </a:r>
            <a:r>
              <a:rPr lang="fr-FR" sz="800" b="1">
                <a:solidFill>
                  <a:schemeClr val="tx1"/>
                </a:solidFill>
              </a:rPr>
              <a:t> </a:t>
            </a:r>
            <a:r>
              <a:rPr lang="en-US" sz="800">
                <a:solidFill>
                  <a:schemeClr val="tx1"/>
                </a:solidFill>
              </a:rPr>
              <a:t>an USB device to be recognized by the host (PC) and facilitates file transfers between the host and the USB device.</a:t>
            </a:r>
          </a:p>
        </p:txBody>
      </p:sp>
      <p:grpSp>
        <p:nvGrpSpPr>
          <p:cNvPr id="131" name="Group 130">
            <a:extLst>
              <a:ext uri="{FF2B5EF4-FFF2-40B4-BE49-F238E27FC236}">
                <a16:creationId xmlns:a16="http://schemas.microsoft.com/office/drawing/2014/main" id="{283046A5-8DA3-955A-0EEF-E065D0F284EA}"/>
              </a:ext>
            </a:extLst>
          </p:cNvPr>
          <p:cNvGrpSpPr/>
          <p:nvPr/>
        </p:nvGrpSpPr>
        <p:grpSpPr>
          <a:xfrm>
            <a:off x="97668" y="1514230"/>
            <a:ext cx="5301553" cy="4494951"/>
            <a:chOff x="222657" y="1714549"/>
            <a:chExt cx="4222395" cy="3963182"/>
          </a:xfrm>
        </p:grpSpPr>
        <p:grpSp>
          <p:nvGrpSpPr>
            <p:cNvPr id="124" name="Group 123">
              <a:extLst>
                <a:ext uri="{FF2B5EF4-FFF2-40B4-BE49-F238E27FC236}">
                  <a16:creationId xmlns:a16="http://schemas.microsoft.com/office/drawing/2014/main" id="{6E36C88E-13FC-3008-E930-0B8D5E964289}"/>
                </a:ext>
              </a:extLst>
            </p:cNvPr>
            <p:cNvGrpSpPr/>
            <p:nvPr/>
          </p:nvGrpSpPr>
          <p:grpSpPr>
            <a:xfrm>
              <a:off x="222657" y="1714549"/>
              <a:ext cx="4222395" cy="3963182"/>
              <a:chOff x="231801" y="1641934"/>
              <a:chExt cx="4222395" cy="3963182"/>
            </a:xfrm>
          </p:grpSpPr>
          <p:grpSp>
            <p:nvGrpSpPr>
              <p:cNvPr id="7" name="Group 6">
                <a:extLst>
                  <a:ext uri="{FF2B5EF4-FFF2-40B4-BE49-F238E27FC236}">
                    <a16:creationId xmlns:a16="http://schemas.microsoft.com/office/drawing/2014/main" id="{DF0548CB-D50B-8B6B-E1E2-04A0E1284387}"/>
                  </a:ext>
                </a:extLst>
              </p:cNvPr>
              <p:cNvGrpSpPr/>
              <p:nvPr/>
            </p:nvGrpSpPr>
            <p:grpSpPr>
              <a:xfrm>
                <a:off x="231801" y="1641934"/>
                <a:ext cx="1981391" cy="3963182"/>
                <a:chOff x="1086247" y="1909787"/>
                <a:chExt cx="1981391" cy="3963182"/>
              </a:xfrm>
            </p:grpSpPr>
            <p:sp>
              <p:nvSpPr>
                <p:cNvPr id="41" name="Rectangle 40">
                  <a:extLst>
                    <a:ext uri="{FF2B5EF4-FFF2-40B4-BE49-F238E27FC236}">
                      <a16:creationId xmlns:a16="http://schemas.microsoft.com/office/drawing/2014/main" id="{6C6FC23F-A062-2AD2-5EDC-58FFFB349BB0}"/>
                    </a:ext>
                  </a:extLst>
                </p:cNvPr>
                <p:cNvSpPr/>
                <p:nvPr/>
              </p:nvSpPr>
              <p:spPr>
                <a:xfrm>
                  <a:off x="1195765" y="5718528"/>
                  <a:ext cx="1262366" cy="15444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cs typeface="Arial"/>
                    </a:rPr>
                    <a:t>Close the file</a:t>
                  </a:r>
                </a:p>
              </p:txBody>
            </p:sp>
            <p:grpSp>
              <p:nvGrpSpPr>
                <p:cNvPr id="6" name="Group 5">
                  <a:extLst>
                    <a:ext uri="{FF2B5EF4-FFF2-40B4-BE49-F238E27FC236}">
                      <a16:creationId xmlns:a16="http://schemas.microsoft.com/office/drawing/2014/main" id="{19FDC9CF-BE59-7A2F-397C-89EDA7686F68}"/>
                    </a:ext>
                  </a:extLst>
                </p:cNvPr>
                <p:cNvGrpSpPr/>
                <p:nvPr/>
              </p:nvGrpSpPr>
              <p:grpSpPr>
                <a:xfrm>
                  <a:off x="1086247" y="1909787"/>
                  <a:ext cx="1981391" cy="3808741"/>
                  <a:chOff x="1061849" y="765559"/>
                  <a:chExt cx="2792241" cy="4780770"/>
                </a:xfrm>
              </p:grpSpPr>
              <p:sp>
                <p:nvSpPr>
                  <p:cNvPr id="2" name="Rectangle 1">
                    <a:extLst>
                      <a:ext uri="{FF2B5EF4-FFF2-40B4-BE49-F238E27FC236}">
                        <a16:creationId xmlns:a16="http://schemas.microsoft.com/office/drawing/2014/main" id="{D06D12E3-7BA5-A2E7-F2F1-BE7BE577267A}"/>
                      </a:ext>
                    </a:extLst>
                  </p:cNvPr>
                  <p:cNvSpPr/>
                  <p:nvPr/>
                </p:nvSpPr>
                <p:spPr>
                  <a:xfrm>
                    <a:off x="1255930" y="1266432"/>
                    <a:ext cx="1759061" cy="20865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800">
                      <a:solidFill>
                        <a:schemeClr val="tx1"/>
                      </a:solidFill>
                      <a:cs typeface="Arial"/>
                    </a:endParaRPr>
                  </a:p>
                  <a:p>
                    <a:pPr algn="ctr"/>
                    <a:r>
                      <a:rPr lang="fr-FR" sz="800" err="1">
                        <a:solidFill>
                          <a:schemeClr val="tx1"/>
                        </a:solidFill>
                      </a:rPr>
                      <a:t>Clock</a:t>
                    </a:r>
                    <a:r>
                      <a:rPr lang="fr-FR" sz="800">
                        <a:solidFill>
                          <a:schemeClr val="tx1"/>
                        </a:solidFill>
                      </a:rPr>
                      <a:t> configuration</a:t>
                    </a:r>
                  </a:p>
                  <a:p>
                    <a:pPr algn="ctr"/>
                    <a:endParaRPr lang="fr-FR" sz="800">
                      <a:solidFill>
                        <a:schemeClr val="tx1"/>
                      </a:solidFill>
                      <a:cs typeface="Arial"/>
                    </a:endParaRPr>
                  </a:p>
                </p:txBody>
              </p:sp>
              <p:cxnSp>
                <p:nvCxnSpPr>
                  <p:cNvPr id="18" name="Straight Arrow Connector 17">
                    <a:extLst>
                      <a:ext uri="{FF2B5EF4-FFF2-40B4-BE49-F238E27FC236}">
                        <a16:creationId xmlns:a16="http://schemas.microsoft.com/office/drawing/2014/main" id="{EA2498C0-8D19-AA8C-C470-7721BEBFB3F4}"/>
                      </a:ext>
                    </a:extLst>
                  </p:cNvPr>
                  <p:cNvCxnSpPr>
                    <a:cxnSpLocks/>
                    <a:stCxn id="87" idx="4"/>
                    <a:endCxn id="2" idx="0"/>
                  </p:cNvCxnSpPr>
                  <p:nvPr/>
                </p:nvCxnSpPr>
                <p:spPr>
                  <a:xfrm flipH="1">
                    <a:off x="2135461" y="998239"/>
                    <a:ext cx="9949" cy="268193"/>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0" name="Straight Arrow Connector 19">
                    <a:extLst>
                      <a:ext uri="{FF2B5EF4-FFF2-40B4-BE49-F238E27FC236}">
                        <a16:creationId xmlns:a16="http://schemas.microsoft.com/office/drawing/2014/main" id="{77139D92-79FC-633F-79AF-F61D2B3C95AC}"/>
                      </a:ext>
                    </a:extLst>
                  </p:cNvPr>
                  <p:cNvCxnSpPr>
                    <a:cxnSpLocks/>
                    <a:stCxn id="2" idx="2"/>
                    <a:endCxn id="24" idx="0"/>
                  </p:cNvCxnSpPr>
                  <p:nvPr/>
                </p:nvCxnSpPr>
                <p:spPr>
                  <a:xfrm flipH="1">
                    <a:off x="2125540" y="1475088"/>
                    <a:ext cx="9921" cy="22625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4" name="Rectangle 23">
                    <a:extLst>
                      <a:ext uri="{FF2B5EF4-FFF2-40B4-BE49-F238E27FC236}">
                        <a16:creationId xmlns:a16="http://schemas.microsoft.com/office/drawing/2014/main" id="{8F4F917C-EA35-2EBC-531D-8FD4B6DF9D6A}"/>
                      </a:ext>
                    </a:extLst>
                  </p:cNvPr>
                  <p:cNvSpPr/>
                  <p:nvPr/>
                </p:nvSpPr>
                <p:spPr>
                  <a:xfrm>
                    <a:off x="1246009" y="1701346"/>
                    <a:ext cx="1759061" cy="20377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rgbClr val="000000"/>
                        </a:solidFill>
                        <a:ea typeface="+mn-lt"/>
                        <a:cs typeface="+mn-lt"/>
                      </a:rPr>
                      <a:t>RTOS Kernel Start</a:t>
                    </a:r>
                    <a:endParaRPr lang="en-US" sz="800">
                      <a:cs typeface="Arial"/>
                    </a:endParaRPr>
                  </a:p>
                </p:txBody>
              </p:sp>
              <p:cxnSp>
                <p:nvCxnSpPr>
                  <p:cNvPr id="25" name="Straight Arrow Connector 24">
                    <a:extLst>
                      <a:ext uri="{FF2B5EF4-FFF2-40B4-BE49-F238E27FC236}">
                        <a16:creationId xmlns:a16="http://schemas.microsoft.com/office/drawing/2014/main" id="{7A2E6477-C07E-496D-0C0D-6C66D4A07CA9}"/>
                      </a:ext>
                    </a:extLst>
                  </p:cNvPr>
                  <p:cNvCxnSpPr>
                    <a:cxnSpLocks/>
                    <a:stCxn id="24" idx="2"/>
                    <a:endCxn id="26" idx="0"/>
                  </p:cNvCxnSpPr>
                  <p:nvPr/>
                </p:nvCxnSpPr>
                <p:spPr>
                  <a:xfrm flipH="1">
                    <a:off x="2115619" y="1905116"/>
                    <a:ext cx="9921" cy="234354"/>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6" name="Rectangle 25">
                    <a:extLst>
                      <a:ext uri="{FF2B5EF4-FFF2-40B4-BE49-F238E27FC236}">
                        <a16:creationId xmlns:a16="http://schemas.microsoft.com/office/drawing/2014/main" id="{AA8FFB1D-1EAE-48D6-7133-75062A6ACEDB}"/>
                      </a:ext>
                    </a:extLst>
                  </p:cNvPr>
                  <p:cNvSpPr/>
                  <p:nvPr/>
                </p:nvSpPr>
                <p:spPr>
                  <a:xfrm>
                    <a:off x="1246009" y="2139470"/>
                    <a:ext cx="1739221" cy="20138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 </a:t>
                    </a:r>
                    <a:r>
                      <a:rPr lang="fr-FR" sz="800" err="1">
                        <a:solidFill>
                          <a:schemeClr val="tx1"/>
                        </a:solidFill>
                      </a:rPr>
                      <a:t>Filex</a:t>
                    </a:r>
                    <a:r>
                      <a:rPr lang="fr-FR" sz="800">
                        <a:solidFill>
                          <a:schemeClr val="tx1"/>
                        </a:solidFill>
                      </a:rPr>
                      <a:t> Init</a:t>
                    </a:r>
                    <a:endParaRPr lang="fr-FR" sz="800">
                      <a:solidFill>
                        <a:schemeClr val="tx1"/>
                      </a:solidFill>
                      <a:cs typeface="Arial"/>
                    </a:endParaRPr>
                  </a:p>
                </p:txBody>
              </p:sp>
              <p:sp>
                <p:nvSpPr>
                  <p:cNvPr id="27" name="Rectangle 26">
                    <a:extLst>
                      <a:ext uri="{FF2B5EF4-FFF2-40B4-BE49-F238E27FC236}">
                        <a16:creationId xmlns:a16="http://schemas.microsoft.com/office/drawing/2014/main" id="{89C9B7D7-A43C-91A0-C6AB-148719BAB3DE}"/>
                      </a:ext>
                    </a:extLst>
                  </p:cNvPr>
                  <p:cNvSpPr/>
                  <p:nvPr/>
                </p:nvSpPr>
                <p:spPr>
                  <a:xfrm>
                    <a:off x="1234736" y="2567167"/>
                    <a:ext cx="1759061" cy="20958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 </a:t>
                    </a:r>
                    <a:r>
                      <a:rPr lang="fr-FR" sz="800" err="1">
                        <a:solidFill>
                          <a:schemeClr val="tx1"/>
                        </a:solidFill>
                      </a:rPr>
                      <a:t>USBx</a:t>
                    </a:r>
                    <a:r>
                      <a:rPr lang="fr-FR" sz="800">
                        <a:solidFill>
                          <a:schemeClr val="tx1"/>
                        </a:solidFill>
                      </a:rPr>
                      <a:t> Init</a:t>
                    </a:r>
                  </a:p>
                </p:txBody>
              </p:sp>
              <p:cxnSp>
                <p:nvCxnSpPr>
                  <p:cNvPr id="28" name="Straight Arrow Connector 27">
                    <a:extLst>
                      <a:ext uri="{FF2B5EF4-FFF2-40B4-BE49-F238E27FC236}">
                        <a16:creationId xmlns:a16="http://schemas.microsoft.com/office/drawing/2014/main" id="{6B794050-9475-7AFF-7E33-AE354F192753}"/>
                      </a:ext>
                    </a:extLst>
                  </p:cNvPr>
                  <p:cNvCxnSpPr>
                    <a:cxnSpLocks/>
                    <a:stCxn id="26" idx="2"/>
                    <a:endCxn id="27" idx="0"/>
                  </p:cNvCxnSpPr>
                  <p:nvPr/>
                </p:nvCxnSpPr>
                <p:spPr>
                  <a:xfrm flipH="1">
                    <a:off x="2114268" y="2340856"/>
                    <a:ext cx="1351" cy="22631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9" name="Straight Arrow Connector 28">
                    <a:extLst>
                      <a:ext uri="{FF2B5EF4-FFF2-40B4-BE49-F238E27FC236}">
                        <a16:creationId xmlns:a16="http://schemas.microsoft.com/office/drawing/2014/main" id="{A948C7A1-DE29-C02F-8C11-099FC2BE2E8C}"/>
                      </a:ext>
                    </a:extLst>
                  </p:cNvPr>
                  <p:cNvCxnSpPr>
                    <a:cxnSpLocks/>
                    <a:stCxn id="2" idx="3"/>
                    <a:endCxn id="109" idx="1"/>
                  </p:cNvCxnSpPr>
                  <p:nvPr/>
                </p:nvCxnSpPr>
                <p:spPr>
                  <a:xfrm>
                    <a:off x="3014991" y="1370760"/>
                    <a:ext cx="291838" cy="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8" name="Rectangle 37">
                    <a:extLst>
                      <a:ext uri="{FF2B5EF4-FFF2-40B4-BE49-F238E27FC236}">
                        <a16:creationId xmlns:a16="http://schemas.microsoft.com/office/drawing/2014/main" id="{23B19D5A-5190-5E94-9379-E2585AE55146}"/>
                      </a:ext>
                    </a:extLst>
                  </p:cNvPr>
                  <p:cNvSpPr/>
                  <p:nvPr/>
                </p:nvSpPr>
                <p:spPr>
                  <a:xfrm>
                    <a:off x="1222210" y="4302172"/>
                    <a:ext cx="1778967" cy="21315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err="1">
                        <a:solidFill>
                          <a:schemeClr val="tx1"/>
                        </a:solidFill>
                      </a:rPr>
                      <a:t>Create</a:t>
                    </a:r>
                    <a:r>
                      <a:rPr lang="fr-FR" sz="800">
                        <a:solidFill>
                          <a:schemeClr val="tx1"/>
                        </a:solidFill>
                      </a:rPr>
                      <a:t> the file</a:t>
                    </a:r>
                    <a:endParaRPr lang="en-US" sz="800"/>
                  </a:p>
                </p:txBody>
              </p:sp>
              <p:cxnSp>
                <p:nvCxnSpPr>
                  <p:cNvPr id="39" name="Straight Arrow Connector 38">
                    <a:extLst>
                      <a:ext uri="{FF2B5EF4-FFF2-40B4-BE49-F238E27FC236}">
                        <a16:creationId xmlns:a16="http://schemas.microsoft.com/office/drawing/2014/main" id="{905C2BED-03C9-E081-C89E-12241CFEC754}"/>
                      </a:ext>
                    </a:extLst>
                  </p:cNvPr>
                  <p:cNvCxnSpPr>
                    <a:cxnSpLocks/>
                    <a:stCxn id="27" idx="2"/>
                    <a:endCxn id="43" idx="0"/>
                  </p:cNvCxnSpPr>
                  <p:nvPr/>
                </p:nvCxnSpPr>
                <p:spPr>
                  <a:xfrm flipH="1">
                    <a:off x="2111695" y="2776756"/>
                    <a:ext cx="2573" cy="27136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40" name="Rectangle 39">
                    <a:extLst>
                      <a:ext uri="{FF2B5EF4-FFF2-40B4-BE49-F238E27FC236}">
                        <a16:creationId xmlns:a16="http://schemas.microsoft.com/office/drawing/2014/main" id="{CAA71B8E-D5FD-2BD7-3782-C5B6FBAA8D27}"/>
                      </a:ext>
                    </a:extLst>
                  </p:cNvPr>
                  <p:cNvSpPr/>
                  <p:nvPr/>
                </p:nvSpPr>
                <p:spPr>
                  <a:xfrm>
                    <a:off x="1222210" y="4722803"/>
                    <a:ext cx="1778965" cy="21315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rPr>
                      <a:t> Write </a:t>
                    </a:r>
                    <a:r>
                      <a:rPr lang="fr-FR" sz="800" b="1">
                        <a:solidFill>
                          <a:srgbClr val="FF0000"/>
                        </a:solidFill>
                      </a:rPr>
                      <a:t>25 KB </a:t>
                    </a:r>
                    <a:r>
                      <a:rPr lang="fr-FR" sz="800">
                        <a:solidFill>
                          <a:schemeClr val="tx1"/>
                        </a:solidFill>
                      </a:rPr>
                      <a:t>in the file</a:t>
                    </a:r>
                    <a:endParaRPr lang="en-US" sz="800">
                      <a:solidFill>
                        <a:schemeClr val="tx1"/>
                      </a:solidFill>
                    </a:endParaRPr>
                  </a:p>
                </p:txBody>
              </p:sp>
              <p:sp>
                <p:nvSpPr>
                  <p:cNvPr id="42" name="Rectangle 41">
                    <a:extLst>
                      <a:ext uri="{FF2B5EF4-FFF2-40B4-BE49-F238E27FC236}">
                        <a16:creationId xmlns:a16="http://schemas.microsoft.com/office/drawing/2014/main" id="{2504D4F4-032A-DC14-40EC-97D9E42D3B7D}"/>
                      </a:ext>
                    </a:extLst>
                  </p:cNvPr>
                  <p:cNvSpPr/>
                  <p:nvPr/>
                </p:nvSpPr>
                <p:spPr>
                  <a:xfrm>
                    <a:off x="1216185" y="5134566"/>
                    <a:ext cx="1778965" cy="21315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cs typeface="Arial"/>
                      </a:rPr>
                      <a:t>Read the file</a:t>
                    </a:r>
                  </a:p>
                </p:txBody>
              </p:sp>
              <p:sp>
                <p:nvSpPr>
                  <p:cNvPr id="43" name="Diamond 42">
                    <a:extLst>
                      <a:ext uri="{FF2B5EF4-FFF2-40B4-BE49-F238E27FC236}">
                        <a16:creationId xmlns:a16="http://schemas.microsoft.com/office/drawing/2014/main" id="{E234227A-9684-C2CB-0760-049D54E97B5A}"/>
                      </a:ext>
                    </a:extLst>
                  </p:cNvPr>
                  <p:cNvSpPr/>
                  <p:nvPr/>
                </p:nvSpPr>
                <p:spPr>
                  <a:xfrm>
                    <a:off x="1061849" y="3048123"/>
                    <a:ext cx="2099691" cy="585052"/>
                  </a:xfrm>
                  <a:prstGeom prst="diamond">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buClr>
                        <a:srgbClr val="FFFFFF"/>
                      </a:buClr>
                    </a:pPr>
                    <a:r>
                      <a:rPr lang="fr-FR" sz="800">
                        <a:solidFill>
                          <a:schemeClr val="tx1"/>
                        </a:solidFill>
                      </a:rPr>
                      <a:t>Is USB flash </a:t>
                    </a:r>
                    <a:r>
                      <a:rPr lang="fr-FR" sz="800" err="1">
                        <a:solidFill>
                          <a:schemeClr val="tx1"/>
                        </a:solidFill>
                      </a:rPr>
                      <a:t>inserted</a:t>
                    </a:r>
                    <a:r>
                      <a:rPr lang="fr-FR" sz="800">
                        <a:solidFill>
                          <a:schemeClr val="tx1"/>
                        </a:solidFill>
                      </a:rPr>
                      <a:t> ?</a:t>
                    </a:r>
                    <a:endParaRPr lang="en-US" sz="800">
                      <a:solidFill>
                        <a:schemeClr val="tx1"/>
                      </a:solidFill>
                    </a:endParaRPr>
                  </a:p>
                </p:txBody>
              </p:sp>
              <p:cxnSp>
                <p:nvCxnSpPr>
                  <p:cNvPr id="52" name="Straight Arrow Connector 51">
                    <a:extLst>
                      <a:ext uri="{FF2B5EF4-FFF2-40B4-BE49-F238E27FC236}">
                        <a16:creationId xmlns:a16="http://schemas.microsoft.com/office/drawing/2014/main" id="{A015D693-5F67-8651-EEFF-FBB8166968D0}"/>
                      </a:ext>
                    </a:extLst>
                  </p:cNvPr>
                  <p:cNvCxnSpPr>
                    <a:cxnSpLocks/>
                    <a:stCxn id="71" idx="2"/>
                    <a:endCxn id="38" idx="0"/>
                  </p:cNvCxnSpPr>
                  <p:nvPr/>
                </p:nvCxnSpPr>
                <p:spPr>
                  <a:xfrm flipH="1">
                    <a:off x="2111693" y="4089021"/>
                    <a:ext cx="3891" cy="21315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6" name="Straight Arrow Connector 55">
                    <a:extLst>
                      <a:ext uri="{FF2B5EF4-FFF2-40B4-BE49-F238E27FC236}">
                        <a16:creationId xmlns:a16="http://schemas.microsoft.com/office/drawing/2014/main" id="{39EBB429-5DE7-99EE-E99C-E5710DB9DD83}"/>
                      </a:ext>
                    </a:extLst>
                  </p:cNvPr>
                  <p:cNvCxnSpPr>
                    <a:cxnSpLocks/>
                    <a:stCxn id="38" idx="2"/>
                    <a:endCxn id="40" idx="0"/>
                  </p:cNvCxnSpPr>
                  <p:nvPr/>
                </p:nvCxnSpPr>
                <p:spPr>
                  <a:xfrm>
                    <a:off x="2111693" y="4515323"/>
                    <a:ext cx="0" cy="20748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9" name="Straight Arrow Connector 58">
                    <a:extLst>
                      <a:ext uri="{FF2B5EF4-FFF2-40B4-BE49-F238E27FC236}">
                        <a16:creationId xmlns:a16="http://schemas.microsoft.com/office/drawing/2014/main" id="{1D480904-C005-5261-1A3A-B12F692755A5}"/>
                      </a:ext>
                    </a:extLst>
                  </p:cNvPr>
                  <p:cNvCxnSpPr>
                    <a:cxnSpLocks/>
                    <a:stCxn id="40" idx="2"/>
                    <a:endCxn id="42" idx="0"/>
                  </p:cNvCxnSpPr>
                  <p:nvPr/>
                </p:nvCxnSpPr>
                <p:spPr>
                  <a:xfrm flipH="1">
                    <a:off x="2105669" y="4935954"/>
                    <a:ext cx="6024" cy="19861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0" name="Straight Arrow Connector 59">
                    <a:extLst>
                      <a:ext uri="{FF2B5EF4-FFF2-40B4-BE49-F238E27FC236}">
                        <a16:creationId xmlns:a16="http://schemas.microsoft.com/office/drawing/2014/main" id="{CAF59B69-65D8-6A43-0180-D6BF72A88674}"/>
                      </a:ext>
                    </a:extLst>
                  </p:cNvPr>
                  <p:cNvCxnSpPr>
                    <a:cxnSpLocks/>
                    <a:stCxn id="42" idx="2"/>
                    <a:endCxn id="41" idx="0"/>
                  </p:cNvCxnSpPr>
                  <p:nvPr/>
                </p:nvCxnSpPr>
                <p:spPr>
                  <a:xfrm>
                    <a:off x="2105669" y="5347717"/>
                    <a:ext cx="0" cy="19861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6" name="Connector: Elbow 65">
                    <a:extLst>
                      <a:ext uri="{FF2B5EF4-FFF2-40B4-BE49-F238E27FC236}">
                        <a16:creationId xmlns:a16="http://schemas.microsoft.com/office/drawing/2014/main" id="{93C5D1CD-A833-844C-EBB6-B9C8C7E530DA}"/>
                      </a:ext>
                    </a:extLst>
                  </p:cNvPr>
                  <p:cNvCxnSpPr>
                    <a:cxnSpLocks/>
                    <a:stCxn id="43" idx="2"/>
                    <a:endCxn id="43" idx="3"/>
                  </p:cNvCxnSpPr>
                  <p:nvPr/>
                </p:nvCxnSpPr>
                <p:spPr>
                  <a:xfrm rot="5400000" flipH="1" flipV="1">
                    <a:off x="2490353" y="2961990"/>
                    <a:ext cx="292525" cy="1049846"/>
                  </a:xfrm>
                  <a:prstGeom prst="bentConnector4">
                    <a:avLst>
                      <a:gd name="adj1" fmla="val -26158"/>
                      <a:gd name="adj2" fmla="val 119639"/>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67" name="TextBox 56">
                    <a:extLst>
                      <a:ext uri="{FF2B5EF4-FFF2-40B4-BE49-F238E27FC236}">
                        <a16:creationId xmlns:a16="http://schemas.microsoft.com/office/drawing/2014/main" id="{336664F5-307F-F452-9CB4-D7D21C81E2D6}"/>
                      </a:ext>
                    </a:extLst>
                  </p:cNvPr>
                  <p:cNvSpPr txBox="1"/>
                  <p:nvPr/>
                </p:nvSpPr>
                <p:spPr>
                  <a:xfrm>
                    <a:off x="1456268" y="3619982"/>
                    <a:ext cx="689141" cy="27042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70" name="TextBox 69">
                    <a:extLst>
                      <a:ext uri="{FF2B5EF4-FFF2-40B4-BE49-F238E27FC236}">
                        <a16:creationId xmlns:a16="http://schemas.microsoft.com/office/drawing/2014/main" id="{7CE64FA8-2032-EA71-5227-72FC16DD551F}"/>
                      </a:ext>
                    </a:extLst>
                  </p:cNvPr>
                  <p:cNvSpPr txBox="1"/>
                  <p:nvPr/>
                </p:nvSpPr>
                <p:spPr>
                  <a:xfrm>
                    <a:off x="3306829" y="3248638"/>
                    <a:ext cx="547261" cy="27042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sp>
                <p:nvSpPr>
                  <p:cNvPr id="71" name="Rectangle 70">
                    <a:extLst>
                      <a:ext uri="{FF2B5EF4-FFF2-40B4-BE49-F238E27FC236}">
                        <a16:creationId xmlns:a16="http://schemas.microsoft.com/office/drawing/2014/main" id="{CE722DDA-3261-4A45-40F5-0D861E439AFE}"/>
                      </a:ext>
                    </a:extLst>
                  </p:cNvPr>
                  <p:cNvSpPr/>
                  <p:nvPr/>
                </p:nvSpPr>
                <p:spPr>
                  <a:xfrm>
                    <a:off x="1226098" y="3878797"/>
                    <a:ext cx="1778972" cy="21022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rPr>
                      <a:t>enumeration phase</a:t>
                    </a:r>
                    <a:endParaRPr lang="en-US" sz="800"/>
                  </a:p>
                </p:txBody>
              </p:sp>
              <p:cxnSp>
                <p:nvCxnSpPr>
                  <p:cNvPr id="73" name="Straight Arrow Connector 72">
                    <a:extLst>
                      <a:ext uri="{FF2B5EF4-FFF2-40B4-BE49-F238E27FC236}">
                        <a16:creationId xmlns:a16="http://schemas.microsoft.com/office/drawing/2014/main" id="{12D46E17-B1EB-4417-4045-2AE284217E63}"/>
                      </a:ext>
                    </a:extLst>
                  </p:cNvPr>
                  <p:cNvCxnSpPr>
                    <a:cxnSpLocks/>
                    <a:stCxn id="43" idx="2"/>
                    <a:endCxn id="71" idx="0"/>
                  </p:cNvCxnSpPr>
                  <p:nvPr/>
                </p:nvCxnSpPr>
                <p:spPr>
                  <a:xfrm>
                    <a:off x="2111695" y="3633175"/>
                    <a:ext cx="3889" cy="24562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81" name="Straight Arrow Connector 80">
                    <a:extLst>
                      <a:ext uri="{FF2B5EF4-FFF2-40B4-BE49-F238E27FC236}">
                        <a16:creationId xmlns:a16="http://schemas.microsoft.com/office/drawing/2014/main" id="{79DBC30C-06F6-11FC-011A-37F6149C0FA6}"/>
                      </a:ext>
                    </a:extLst>
                  </p:cNvPr>
                  <p:cNvCxnSpPr>
                    <a:cxnSpLocks/>
                    <a:stCxn id="26" idx="3"/>
                    <a:endCxn id="108" idx="1"/>
                  </p:cNvCxnSpPr>
                  <p:nvPr/>
                </p:nvCxnSpPr>
                <p:spPr>
                  <a:xfrm flipV="1">
                    <a:off x="2985230" y="2233838"/>
                    <a:ext cx="267938" cy="632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86" name="Straight Arrow Connector 85">
                    <a:extLst>
                      <a:ext uri="{FF2B5EF4-FFF2-40B4-BE49-F238E27FC236}">
                        <a16:creationId xmlns:a16="http://schemas.microsoft.com/office/drawing/2014/main" id="{06807CE1-89BA-DEA8-2815-2F72E9D62553}"/>
                      </a:ext>
                    </a:extLst>
                  </p:cNvPr>
                  <p:cNvCxnSpPr>
                    <a:cxnSpLocks/>
                    <a:stCxn id="27" idx="3"/>
                    <a:endCxn id="106" idx="1"/>
                  </p:cNvCxnSpPr>
                  <p:nvPr/>
                </p:nvCxnSpPr>
                <p:spPr>
                  <a:xfrm>
                    <a:off x="2993798" y="2671962"/>
                    <a:ext cx="378901" cy="614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87" name="Oval 86">
                    <a:extLst>
                      <a:ext uri="{FF2B5EF4-FFF2-40B4-BE49-F238E27FC236}">
                        <a16:creationId xmlns:a16="http://schemas.microsoft.com/office/drawing/2014/main" id="{1DFE6056-AC84-ECA6-531B-11956A99BD9F}"/>
                      </a:ext>
                    </a:extLst>
                  </p:cNvPr>
                  <p:cNvSpPr/>
                  <p:nvPr/>
                </p:nvSpPr>
                <p:spPr>
                  <a:xfrm>
                    <a:off x="1706884" y="765559"/>
                    <a:ext cx="877051" cy="232680"/>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en-US" sz="800">
                        <a:solidFill>
                          <a:schemeClr val="tx1"/>
                        </a:solidFill>
                      </a:rPr>
                      <a:t>Start</a:t>
                    </a:r>
                  </a:p>
                </p:txBody>
              </p:sp>
            </p:grpSp>
          </p:grpSp>
          <p:sp>
            <p:nvSpPr>
              <p:cNvPr id="106" name="TextBox 39">
                <a:extLst>
                  <a:ext uri="{FF2B5EF4-FFF2-40B4-BE49-F238E27FC236}">
                    <a16:creationId xmlns:a16="http://schemas.microsoft.com/office/drawing/2014/main" id="{0C937638-238C-EDE0-3604-9215D21A6A4B}"/>
                  </a:ext>
                </a:extLst>
              </p:cNvPr>
              <p:cNvSpPr txBox="1"/>
              <p:nvPr/>
            </p:nvSpPr>
            <p:spPr>
              <a:xfrm>
                <a:off x="1871593" y="2980959"/>
                <a:ext cx="186349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USB Clock (48 MHz), USB Host</a:t>
                </a:r>
                <a:r>
                  <a:rPr lang="en-US" sz="1000"/>
                  <a:t>, </a:t>
                </a:r>
                <a:r>
                  <a:rPr lang="en-US" sz="800"/>
                  <a:t>MSC class, power USB module</a:t>
                </a:r>
              </a:p>
            </p:txBody>
          </p:sp>
          <p:sp>
            <p:nvSpPr>
              <p:cNvPr id="108" name="TextBox 107">
                <a:extLst>
                  <a:ext uri="{FF2B5EF4-FFF2-40B4-BE49-F238E27FC236}">
                    <a16:creationId xmlns:a16="http://schemas.microsoft.com/office/drawing/2014/main" id="{F91E8094-EDAB-C416-39AD-AF79C34B256F}"/>
                  </a:ext>
                </a:extLst>
              </p:cNvPr>
              <p:cNvSpPr txBox="1"/>
              <p:nvPr/>
            </p:nvSpPr>
            <p:spPr>
              <a:xfrm>
                <a:off x="1786773" y="2642405"/>
                <a:ext cx="216294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date &amp; time, sector cache, Fat cache size, Filex libraries</a:t>
                </a:r>
              </a:p>
            </p:txBody>
          </p:sp>
          <p:sp>
            <p:nvSpPr>
              <p:cNvPr id="109" name="TextBox 71">
                <a:extLst>
                  <a:ext uri="{FF2B5EF4-FFF2-40B4-BE49-F238E27FC236}">
                    <a16:creationId xmlns:a16="http://schemas.microsoft.com/office/drawing/2014/main" id="{9551BBDE-B56C-B633-052C-E6F2ECA70990}"/>
                  </a:ext>
                </a:extLst>
              </p:cNvPr>
              <p:cNvSpPr txBox="1"/>
              <p:nvPr/>
            </p:nvSpPr>
            <p:spPr>
              <a:xfrm>
                <a:off x="1824852" y="1954808"/>
                <a:ext cx="2629344"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rgbClr val="03234B"/>
                    </a:solidFill>
                    <a:latin typeface="Arial"/>
                    <a:ea typeface="+mn-ea"/>
                    <a:cs typeface="+mn-cs"/>
                  </a:defRPr>
                </a:lvl1pPr>
                <a:lvl2pPr marL="457200" algn="l" defTabSz="914400" rtl="0" eaLnBrk="1" latinLnBrk="0" hangingPunct="1">
                  <a:defRPr sz="1800" kern="1200">
                    <a:solidFill>
                      <a:srgbClr val="03234B"/>
                    </a:solidFill>
                    <a:latin typeface="Arial"/>
                    <a:ea typeface="+mn-ea"/>
                    <a:cs typeface="+mn-cs"/>
                  </a:defRPr>
                </a:lvl2pPr>
                <a:lvl3pPr marL="914400" algn="l" defTabSz="914400" rtl="0" eaLnBrk="1" latinLnBrk="0" hangingPunct="1">
                  <a:defRPr sz="1800" kern="1200">
                    <a:solidFill>
                      <a:srgbClr val="03234B"/>
                    </a:solidFill>
                    <a:latin typeface="Arial"/>
                    <a:ea typeface="+mn-ea"/>
                    <a:cs typeface="+mn-cs"/>
                  </a:defRPr>
                </a:lvl3pPr>
                <a:lvl4pPr marL="1371600" algn="l" defTabSz="914400" rtl="0" eaLnBrk="1" latinLnBrk="0" hangingPunct="1">
                  <a:defRPr sz="1800" kern="1200">
                    <a:solidFill>
                      <a:srgbClr val="03234B"/>
                    </a:solidFill>
                    <a:latin typeface="Arial"/>
                    <a:ea typeface="+mn-ea"/>
                    <a:cs typeface="+mn-cs"/>
                  </a:defRPr>
                </a:lvl4pPr>
                <a:lvl5pPr marL="1828800" algn="l" defTabSz="914400" rtl="0" eaLnBrk="1" latinLnBrk="0" hangingPunct="1">
                  <a:defRPr sz="1800" kern="1200">
                    <a:solidFill>
                      <a:srgbClr val="03234B"/>
                    </a:solidFill>
                    <a:latin typeface="Arial"/>
                    <a:ea typeface="+mn-ea"/>
                    <a:cs typeface="+mn-cs"/>
                  </a:defRPr>
                </a:lvl5pPr>
                <a:lvl6pPr marL="2286000" algn="l" defTabSz="914400" rtl="0" eaLnBrk="1" latinLnBrk="0" hangingPunct="1">
                  <a:defRPr sz="1800" kern="1200">
                    <a:solidFill>
                      <a:srgbClr val="03234B"/>
                    </a:solidFill>
                    <a:latin typeface="Arial"/>
                    <a:ea typeface="+mn-ea"/>
                    <a:cs typeface="+mn-cs"/>
                  </a:defRPr>
                </a:lvl6pPr>
                <a:lvl7pPr marL="2743200" algn="l" defTabSz="914400" rtl="0" eaLnBrk="1" latinLnBrk="0" hangingPunct="1">
                  <a:defRPr sz="1800" kern="1200">
                    <a:solidFill>
                      <a:srgbClr val="03234B"/>
                    </a:solidFill>
                    <a:latin typeface="Arial"/>
                    <a:ea typeface="+mn-ea"/>
                    <a:cs typeface="+mn-cs"/>
                  </a:defRPr>
                </a:lvl7pPr>
                <a:lvl8pPr marL="3200400" algn="l" defTabSz="914400" rtl="0" eaLnBrk="1" latinLnBrk="0" hangingPunct="1">
                  <a:defRPr sz="1800" kern="1200">
                    <a:solidFill>
                      <a:srgbClr val="03234B"/>
                    </a:solidFill>
                    <a:latin typeface="Arial"/>
                    <a:ea typeface="+mn-ea"/>
                    <a:cs typeface="+mn-cs"/>
                  </a:defRPr>
                </a:lvl8pPr>
                <a:lvl9pPr marL="3657600" algn="l" defTabSz="914400" rtl="0" eaLnBrk="1" latinLnBrk="0" hangingPunct="1">
                  <a:defRPr sz="1800" kern="1200">
                    <a:solidFill>
                      <a:srgbClr val="03234B"/>
                    </a:solidFill>
                    <a:latin typeface="Arial"/>
                    <a:ea typeface="+mn-ea"/>
                    <a:cs typeface="+mn-cs"/>
                  </a:defRPr>
                </a:lvl9pPr>
              </a:lstStyle>
              <a:p>
                <a:pPr>
                  <a:defRPr/>
                </a:pPr>
                <a:r>
                  <a:rPr lang="en-US" sz="800">
                    <a:cs typeface="Arial"/>
                  </a:rPr>
                  <a:t>C</a:t>
                </a:r>
                <a:r>
                  <a:rPr kumimoji="0" lang="en-US" sz="800" b="0" i="0" u="none" strike="noStrike" kern="1200" cap="none" spc="0" normalizeH="0" baseline="0" noProof="0">
                    <a:ln>
                      <a:noFill/>
                    </a:ln>
                    <a:solidFill>
                      <a:srgbClr val="03234B"/>
                    </a:solidFill>
                    <a:effectLst/>
                    <a:uLnTx/>
                    <a:uFillTx/>
                    <a:latin typeface="Arial"/>
                    <a:ea typeface="+mn-ea"/>
                    <a:cs typeface="Arial"/>
                  </a:rPr>
                  <a:t>lock source : </a:t>
                </a:r>
                <a:r>
                  <a:rPr lang="fr-FR" sz="800" b="1"/>
                  <a:t>HSE (ST) </a:t>
                </a:r>
                <a:r>
                  <a:rPr lang="fr-FR" sz="800"/>
                  <a:t>/ </a:t>
                </a:r>
                <a:r>
                  <a:rPr lang="fr-FR" sz="800" b="1"/>
                  <a:t>PLL (Renesas)</a:t>
                </a:r>
              </a:p>
              <a:p>
                <a:pPr>
                  <a:defRPr/>
                </a:pPr>
                <a:r>
                  <a:rPr lang="en-US" sz="800"/>
                  <a:t>Clock frequency: </a:t>
                </a:r>
                <a:r>
                  <a:rPr lang="en-US" sz="800" b="1"/>
                  <a:t>200 MHz (ST and </a:t>
                </a:r>
                <a:r>
                  <a:rPr lang="fr-FR" sz="800" b="1"/>
                  <a:t>Renesas</a:t>
                </a:r>
                <a:r>
                  <a:rPr lang="en-US" sz="800" b="1"/>
                  <a:t>)</a:t>
                </a:r>
              </a:p>
            </p:txBody>
          </p:sp>
        </p:grpSp>
        <p:sp>
          <p:nvSpPr>
            <p:cNvPr id="126" name="TextBox 39">
              <a:extLst>
                <a:ext uri="{FF2B5EF4-FFF2-40B4-BE49-F238E27FC236}">
                  <a16:creationId xmlns:a16="http://schemas.microsoft.com/office/drawing/2014/main" id="{CDB44B8F-984E-FA27-7F87-73B9F7311C65}"/>
                </a:ext>
              </a:extLst>
            </p:cNvPr>
            <p:cNvSpPr txBox="1"/>
            <p:nvPr/>
          </p:nvSpPr>
          <p:spPr>
            <a:xfrm>
              <a:off x="1862449" y="2432776"/>
              <a:ext cx="1930042"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Scheduler, tasks, priorities</a:t>
              </a:r>
            </a:p>
          </p:txBody>
        </p:sp>
        <p:cxnSp>
          <p:nvCxnSpPr>
            <p:cNvPr id="127" name="Straight Arrow Connector 126">
              <a:extLst>
                <a:ext uri="{FF2B5EF4-FFF2-40B4-BE49-F238E27FC236}">
                  <a16:creationId xmlns:a16="http://schemas.microsoft.com/office/drawing/2014/main" id="{9C0D7EF4-FBA8-06B1-B3DC-9CFE6890240E}"/>
                </a:ext>
              </a:extLst>
            </p:cNvPr>
            <p:cNvCxnSpPr>
              <a:cxnSpLocks/>
              <a:stCxn id="24" idx="3"/>
              <a:endCxn id="126" idx="1"/>
            </p:cNvCxnSpPr>
            <p:nvPr/>
          </p:nvCxnSpPr>
          <p:spPr>
            <a:xfrm flipV="1">
              <a:off x="1601578" y="2540498"/>
              <a:ext cx="260871" cy="743"/>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graphicFrame>
        <p:nvGraphicFramePr>
          <p:cNvPr id="132" name="Table 131">
            <a:extLst>
              <a:ext uri="{FF2B5EF4-FFF2-40B4-BE49-F238E27FC236}">
                <a16:creationId xmlns:a16="http://schemas.microsoft.com/office/drawing/2014/main" id="{A53A3ED3-3FFF-B0B8-10A7-E5528A71507C}"/>
              </a:ext>
            </a:extLst>
          </p:cNvPr>
          <p:cNvGraphicFramePr>
            <a:graphicFrameLocks noGrp="1"/>
          </p:cNvGraphicFramePr>
          <p:nvPr>
            <p:extLst>
              <p:ext uri="{D42A27DB-BD31-4B8C-83A1-F6EECF244321}">
                <p14:modId xmlns:p14="http://schemas.microsoft.com/office/powerpoint/2010/main" val="273271616"/>
              </p:ext>
            </p:extLst>
          </p:nvPr>
        </p:nvGraphicFramePr>
        <p:xfrm>
          <a:off x="5216236" y="1254509"/>
          <a:ext cx="4787300" cy="850698"/>
        </p:xfrm>
        <a:graphic>
          <a:graphicData uri="http://schemas.openxmlformats.org/drawingml/2006/table">
            <a:tbl>
              <a:tblPr firstRow="1" bandRow="1">
                <a:tableStyleId>{EB344D84-9AFB-497E-A393-DC336BA19D2E}</a:tableStyleId>
              </a:tblPr>
              <a:tblGrid>
                <a:gridCol w="882812">
                  <a:extLst>
                    <a:ext uri="{9D8B030D-6E8A-4147-A177-3AD203B41FA5}">
                      <a16:colId xmlns:a16="http://schemas.microsoft.com/office/drawing/2014/main" val="1473133747"/>
                    </a:ext>
                  </a:extLst>
                </a:gridCol>
                <a:gridCol w="1042416">
                  <a:extLst>
                    <a:ext uri="{9D8B030D-6E8A-4147-A177-3AD203B41FA5}">
                      <a16:colId xmlns:a16="http://schemas.microsoft.com/office/drawing/2014/main" val="4162598800"/>
                    </a:ext>
                  </a:extLst>
                </a:gridCol>
                <a:gridCol w="804672">
                  <a:extLst>
                    <a:ext uri="{9D8B030D-6E8A-4147-A177-3AD203B41FA5}">
                      <a16:colId xmlns:a16="http://schemas.microsoft.com/office/drawing/2014/main" val="1196173778"/>
                    </a:ext>
                  </a:extLst>
                </a:gridCol>
                <a:gridCol w="1033272">
                  <a:extLst>
                    <a:ext uri="{9D8B030D-6E8A-4147-A177-3AD203B41FA5}">
                      <a16:colId xmlns:a16="http://schemas.microsoft.com/office/drawing/2014/main" val="2713348666"/>
                    </a:ext>
                  </a:extLst>
                </a:gridCol>
                <a:gridCol w="1024128">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Initialize</a:t>
                      </a:r>
                      <a:endParaRPr lang="en-US" sz="8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t>2.7</a:t>
                      </a:r>
                    </a:p>
                  </a:txBody>
                  <a:tcPr/>
                </a:tc>
                <a:tc>
                  <a:txBody>
                    <a:bodyPr/>
                    <a:lstStyle/>
                    <a:p>
                      <a:pPr algn="ctr"/>
                      <a:r>
                        <a:rPr lang="en-US" sz="800"/>
                        <a:t>5.97</a:t>
                      </a:r>
                    </a:p>
                  </a:txBody>
                  <a:tcPr/>
                </a:tc>
                <a:tc>
                  <a:txBody>
                    <a:bodyPr/>
                    <a:lstStyle/>
                    <a:p>
                      <a:pPr algn="ctr"/>
                      <a:r>
                        <a:rPr lang="en-US" sz="800" b="1">
                          <a:solidFill>
                            <a:schemeClr val="accent5"/>
                          </a:solidFill>
                        </a:rPr>
                        <a:t>-56%</a:t>
                      </a:r>
                    </a:p>
                  </a:txBody>
                  <a:tcPr/>
                </a:tc>
                <a:tc>
                  <a:txBody>
                    <a:bodyPr/>
                    <a:lstStyle/>
                    <a:p>
                      <a:pPr algn="ctr"/>
                      <a:endParaRPr lang="en-US" sz="800"/>
                    </a:p>
                  </a:txBody>
                  <a:tcPr/>
                </a:tc>
                <a:extLst>
                  <a:ext uri="{0D108BD9-81ED-4DB2-BD59-A6C34878D82A}">
                    <a16:rowId xmlns:a16="http://schemas.microsoft.com/office/drawing/2014/main" val="1089852517"/>
                  </a:ext>
                </a:extLst>
              </a:tr>
              <a:tr h="242469">
                <a:tc>
                  <a:txBody>
                    <a:bodyPr/>
                    <a:lstStyle/>
                    <a:p>
                      <a:pPr algn="ctr"/>
                      <a:r>
                        <a:rPr lang="en-US" sz="800" b="1">
                          <a:solidFill>
                            <a:schemeClr val="tx1"/>
                          </a:solidFill>
                        </a:rPr>
                        <a:t>Enumuration</a:t>
                      </a:r>
                      <a:endParaRPr lang="en-US" sz="800">
                        <a:solidFill>
                          <a:schemeClr val="tx1"/>
                        </a:solidFill>
                      </a:endParaRPr>
                    </a:p>
                  </a:txBody>
                  <a:tcPr/>
                </a:tc>
                <a:tc>
                  <a:txBody>
                    <a:bodyPr/>
                    <a:lstStyle/>
                    <a:p>
                      <a:pPr algn="ctr"/>
                      <a:r>
                        <a:rPr lang="en-US" sz="800" dirty="0"/>
                        <a:t>63.05 </a:t>
                      </a:r>
                    </a:p>
                  </a:txBody>
                  <a:tcPr/>
                </a:tc>
                <a:tc>
                  <a:txBody>
                    <a:bodyPr/>
                    <a:lstStyle/>
                    <a:p>
                      <a:pPr algn="ctr"/>
                      <a:r>
                        <a:rPr lang="fr-FR" sz="800" dirty="0"/>
                        <a:t>6</a:t>
                      </a:r>
                      <a:r>
                        <a:rPr lang="en-US" sz="800" dirty="0"/>
                        <a:t> </a:t>
                      </a:r>
                    </a:p>
                  </a:txBody>
                  <a:tcPr/>
                </a:tc>
                <a:tc>
                  <a:txBody>
                    <a:bodyPr/>
                    <a:lstStyle/>
                    <a:p>
                      <a:pPr algn="ctr"/>
                      <a:r>
                        <a:rPr lang="fr-FR" sz="800" b="1">
                          <a:solidFill>
                            <a:srgbClr val="FF0000"/>
                          </a:solidFill>
                        </a:rPr>
                        <a:t>+950%</a:t>
                      </a:r>
                      <a:endParaRPr lang="en-US" sz="800" b="1">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600" b="0" dirty="0">
                          <a:solidFill>
                            <a:schemeClr val="accent1"/>
                          </a:solidFill>
                        </a:rPr>
                        <a:t>USBX UX_DEVICE_ADDRESS_SET_WAIT ( 50 </a:t>
                      </a:r>
                      <a:r>
                        <a:rPr lang="en-US" altLang="en-US" sz="600" b="0" dirty="0" err="1">
                          <a:solidFill>
                            <a:schemeClr val="accent1"/>
                          </a:solidFill>
                        </a:rPr>
                        <a:t>ms</a:t>
                      </a:r>
                      <a:r>
                        <a:rPr lang="en-US" altLang="en-US" sz="600" b="0" dirty="0">
                          <a:solidFill>
                            <a:schemeClr val="accent1"/>
                          </a:solidFill>
                        </a:rPr>
                        <a:t>) </a:t>
                      </a:r>
                      <a:endParaRPr lang="en-US" sz="600" b="0" dirty="0"/>
                    </a:p>
                  </a:txBody>
                  <a:tcPr/>
                </a:tc>
                <a:extLst>
                  <a:ext uri="{0D108BD9-81ED-4DB2-BD59-A6C34878D82A}">
                    <a16:rowId xmlns:a16="http://schemas.microsoft.com/office/drawing/2014/main" val="2065877290"/>
                  </a:ext>
                </a:extLst>
              </a:tr>
            </a:tbl>
          </a:graphicData>
        </a:graphic>
      </p:graphicFrame>
      <p:sp>
        <p:nvSpPr>
          <p:cNvPr id="133" name="TextBox 132">
            <a:extLst>
              <a:ext uri="{FF2B5EF4-FFF2-40B4-BE49-F238E27FC236}">
                <a16:creationId xmlns:a16="http://schemas.microsoft.com/office/drawing/2014/main" id="{429C7CFD-21DB-BA5B-E365-0156EAB64BE4}"/>
              </a:ext>
            </a:extLst>
          </p:cNvPr>
          <p:cNvSpPr txBox="1"/>
          <p:nvPr/>
        </p:nvSpPr>
        <p:spPr>
          <a:xfrm>
            <a:off x="5157688" y="1003934"/>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a:t>
            </a:r>
            <a:r>
              <a:rPr lang="en-US" sz="1000" b="1" err="1">
                <a:solidFill>
                  <a:schemeClr val="accent2"/>
                </a:solidFill>
              </a:rPr>
              <a:t>ms</a:t>
            </a:r>
            <a:r>
              <a:rPr lang="en-US" sz="1000" b="1">
                <a:solidFill>
                  <a:schemeClr val="accent2"/>
                </a:solidFill>
              </a:rPr>
              <a:t>)</a:t>
            </a:r>
          </a:p>
        </p:txBody>
      </p:sp>
      <p:graphicFrame>
        <p:nvGraphicFramePr>
          <p:cNvPr id="134" name="Table 133">
            <a:extLst>
              <a:ext uri="{FF2B5EF4-FFF2-40B4-BE49-F238E27FC236}">
                <a16:creationId xmlns:a16="http://schemas.microsoft.com/office/drawing/2014/main" id="{59F797B1-6DA1-D753-CB10-1F11A36A59F4}"/>
              </a:ext>
            </a:extLst>
          </p:cNvPr>
          <p:cNvGraphicFramePr>
            <a:graphicFrameLocks noGrp="1"/>
          </p:cNvGraphicFramePr>
          <p:nvPr>
            <p:extLst>
              <p:ext uri="{D42A27DB-BD31-4B8C-83A1-F6EECF244321}">
                <p14:modId xmlns:p14="http://schemas.microsoft.com/office/powerpoint/2010/main" val="405551632"/>
              </p:ext>
            </p:extLst>
          </p:nvPr>
        </p:nvGraphicFramePr>
        <p:xfrm>
          <a:off x="5239512" y="5190506"/>
          <a:ext cx="6720840" cy="1212749"/>
        </p:xfrm>
        <a:graphic>
          <a:graphicData uri="http://schemas.openxmlformats.org/drawingml/2006/table">
            <a:tbl>
              <a:tblPr firstRow="1" bandRow="1">
                <a:tableStyleId>{EB344D84-9AFB-497E-A393-DC336BA19D2E}</a:tableStyleId>
              </a:tblPr>
              <a:tblGrid>
                <a:gridCol w="781524">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3218453">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buNone/>
                      </a:pPr>
                      <a:r>
                        <a:rPr lang="en-US" sz="800" b="1" kern="1200" dirty="0">
                          <a:solidFill>
                            <a:schemeClr val="dk1"/>
                          </a:solidFill>
                          <a:latin typeface="+mn-lt"/>
                          <a:ea typeface="+mn-ea"/>
                          <a:cs typeface="+mn-cs"/>
                        </a:rPr>
                        <a:t>ROM</a:t>
                      </a:r>
                    </a:p>
                  </a:txBody>
                  <a:tcPr marL="50800" marR="50800" marT="12700" marB="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mn-lt"/>
                          <a:ea typeface="+mn-ea"/>
                          <a:cs typeface="+mn-cs"/>
                        </a:rPr>
                        <a:t>80'383</a:t>
                      </a:r>
                    </a:p>
                  </a:txBody>
                  <a:tcPr marL="50800" marR="50800" marT="12700" marB="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mn-lt"/>
                          <a:ea typeface="+mn-ea"/>
                          <a:cs typeface="+mn-cs"/>
                        </a:rPr>
                        <a:t>124'520</a:t>
                      </a:r>
                    </a:p>
                  </a:txBody>
                  <a:tcPr marL="50800" marR="50800" marT="12700" marB="127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1200" dirty="0">
                          <a:solidFill>
                            <a:srgbClr val="00B050"/>
                          </a:solidFill>
                          <a:latin typeface="+mn-lt"/>
                          <a:ea typeface="+mn-ea"/>
                          <a:cs typeface="+mn-cs"/>
                        </a:rPr>
                        <a:t>-35%</a:t>
                      </a:r>
                    </a:p>
                  </a:txBody>
                  <a:tcPr marL="50800" marR="50800" marT="12700" marB="12700" anchor="ctr"/>
                </a:tc>
                <a:tc>
                  <a:txBody>
                    <a:bodyPr/>
                    <a:lstStyle/>
                    <a:p>
                      <a:pPr algn="l"/>
                      <a:r>
                        <a:rPr lang="en-US" sz="800" b="1" dirty="0"/>
                        <a:t>RA </a:t>
                      </a:r>
                      <a:r>
                        <a:rPr lang="en-US" sz="800" b="1" dirty="0" err="1"/>
                        <a:t>hmsc_thread_entry.c</a:t>
                      </a:r>
                      <a:r>
                        <a:rPr lang="en-US" sz="800" b="1" dirty="0"/>
                        <a:t> </a:t>
                      </a:r>
                      <a:r>
                        <a:rPr lang="en-US" sz="800" dirty="0"/>
                        <a:t>application file size </a:t>
                      </a:r>
                      <a:r>
                        <a:rPr lang="en-US" sz="800" b="1" dirty="0"/>
                        <a:t>45 084 bytes</a:t>
                      </a:r>
                    </a:p>
                    <a:p>
                      <a:pPr algn="l"/>
                      <a:r>
                        <a:rPr lang="en-US" sz="800" b="1" dirty="0"/>
                        <a:t>RA </a:t>
                      </a:r>
                      <a:r>
                        <a:rPr lang="en-US" sz="800" b="1" dirty="0" err="1"/>
                        <a:t>r_usb_cstd_rtos.c</a:t>
                      </a:r>
                      <a:r>
                        <a:rPr lang="en-US" sz="800" b="1" dirty="0"/>
                        <a:t> </a:t>
                      </a:r>
                      <a:r>
                        <a:rPr lang="en-US" sz="800" dirty="0"/>
                        <a:t>HAL USB Driver size</a:t>
                      </a:r>
                      <a:r>
                        <a:rPr lang="en-US" sz="800" b="1" dirty="0"/>
                        <a:t> 7 516 bytes</a:t>
                      </a:r>
                    </a:p>
                  </a:txBody>
                  <a:tcPr/>
                </a:tc>
                <a:extLst>
                  <a:ext uri="{0D108BD9-81ED-4DB2-BD59-A6C34878D82A}">
                    <a16:rowId xmlns:a16="http://schemas.microsoft.com/office/drawing/2014/main" val="2065877290"/>
                  </a:ext>
                </a:extLst>
              </a:tr>
              <a:tr h="242469">
                <a:tc>
                  <a:txBody>
                    <a:bodyPr/>
                    <a:lstStyle/>
                    <a:p>
                      <a:pPr>
                        <a:buNone/>
                      </a:pPr>
                      <a:r>
                        <a:rPr lang="en-US" sz="800" b="1" kern="1200" dirty="0">
                          <a:solidFill>
                            <a:schemeClr val="dk1"/>
                          </a:solidFill>
                          <a:latin typeface="+mn-lt"/>
                          <a:ea typeface="+mn-ea"/>
                          <a:cs typeface="+mn-cs"/>
                        </a:rPr>
                        <a:t>RAM</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mn-lt"/>
                          <a:ea typeface="+mn-ea"/>
                          <a:cs typeface="+mn-cs"/>
                        </a:rPr>
                        <a:t>108'109</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mn-lt"/>
                          <a:ea typeface="+mn-ea"/>
                          <a:cs typeface="+mn-cs"/>
                        </a:rPr>
                        <a:t>88'484</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1200" dirty="0">
                          <a:solidFill>
                            <a:srgbClr val="FF0000"/>
                          </a:solidFill>
                          <a:latin typeface="+mn-lt"/>
                          <a:ea typeface="+mn-ea"/>
                          <a:cs typeface="+mn-cs"/>
                        </a:rPr>
                        <a:t>+22%</a:t>
                      </a:r>
                    </a:p>
                  </a:txBody>
                  <a:tcPr marL="50800" marR="50800" marT="12700" marB="1270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t>ST </a:t>
                      </a:r>
                      <a:r>
                        <a:rPr lang="en-US" sz="800" b="1" dirty="0" err="1"/>
                        <a:t>app_azure_rtos.c</a:t>
                      </a:r>
                      <a:r>
                        <a:rPr lang="en-US" sz="800" b="1" dirty="0"/>
                        <a:t> </a:t>
                      </a:r>
                      <a:r>
                        <a:rPr lang="en-US" sz="800" dirty="0"/>
                        <a:t>file RW data size is 78 936 bytes (73% of total RW data) due to </a:t>
                      </a:r>
                      <a:r>
                        <a:rPr lang="en-US" sz="800" dirty="0" err="1"/>
                        <a:t>ux_host_byte_pool_buffer</a:t>
                      </a:r>
                      <a:r>
                        <a:rPr lang="en-US" sz="800" dirty="0"/>
                        <a:t> (70 KB)</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42469">
                <a:tc>
                  <a:txBody>
                    <a:bodyPr/>
                    <a:lstStyle/>
                    <a:p>
                      <a:pPr>
                        <a:buNone/>
                      </a:pPr>
                      <a:r>
                        <a:rPr lang="en-US" sz="800" b="1" kern="1200" dirty="0">
                          <a:solidFill>
                            <a:schemeClr val="dk1"/>
                          </a:solidFill>
                          <a:latin typeface="+mn-lt"/>
                          <a:ea typeface="+mn-ea"/>
                          <a:cs typeface="+mn-cs"/>
                        </a:rPr>
                        <a:t>Total</a:t>
                      </a:r>
                    </a:p>
                  </a:txBody>
                  <a:tcPr marL="50800" marR="50800" marT="12700" marB="127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mn-lt"/>
                          <a:ea typeface="+mn-ea"/>
                          <a:cs typeface="+mn-cs"/>
                        </a:rPr>
                        <a:t>188'492</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1200" dirty="0">
                          <a:solidFill>
                            <a:schemeClr val="dk1"/>
                          </a:solidFill>
                          <a:latin typeface="+mn-lt"/>
                          <a:ea typeface="+mn-ea"/>
                          <a:cs typeface="+mn-cs"/>
                        </a:rPr>
                        <a:t>213'004</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1200" dirty="0">
                          <a:solidFill>
                            <a:srgbClr val="00B050"/>
                          </a:solidFill>
                          <a:latin typeface="+mn-lt"/>
                          <a:ea typeface="+mn-ea"/>
                          <a:cs typeface="+mn-cs"/>
                        </a:rPr>
                        <a:t>-11%</a:t>
                      </a:r>
                    </a:p>
                  </a:txBody>
                  <a:tcPr marL="50800" marR="50800" marT="12700" marB="127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endParaRPr lang="en-US" dirty="0">
                        <a:effectLst/>
                      </a:endParaRPr>
                    </a:p>
                  </a:txBody>
                  <a:tcPr marL="50800" marR="50800" marT="12700" marB="127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35" name="TextBox 134">
            <a:extLst>
              <a:ext uri="{FF2B5EF4-FFF2-40B4-BE49-F238E27FC236}">
                <a16:creationId xmlns:a16="http://schemas.microsoft.com/office/drawing/2014/main" id="{544FC9B7-1B84-BFA8-0092-EFB0AC16AF62}"/>
              </a:ext>
            </a:extLst>
          </p:cNvPr>
          <p:cNvSpPr txBox="1"/>
          <p:nvPr/>
        </p:nvSpPr>
        <p:spPr>
          <a:xfrm>
            <a:off x="5210600" y="4890492"/>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graphicFrame>
        <p:nvGraphicFramePr>
          <p:cNvPr id="137" name="Table 136">
            <a:extLst>
              <a:ext uri="{FF2B5EF4-FFF2-40B4-BE49-F238E27FC236}">
                <a16:creationId xmlns:a16="http://schemas.microsoft.com/office/drawing/2014/main" id="{C15C630C-D88F-2FF4-CBE7-F9D568493B8C}"/>
              </a:ext>
            </a:extLst>
          </p:cNvPr>
          <p:cNvGraphicFramePr>
            <a:graphicFrameLocks noGrp="1"/>
          </p:cNvGraphicFramePr>
          <p:nvPr>
            <p:extLst>
              <p:ext uri="{D42A27DB-BD31-4B8C-83A1-F6EECF244321}">
                <p14:modId xmlns:p14="http://schemas.microsoft.com/office/powerpoint/2010/main" val="35142346"/>
              </p:ext>
            </p:extLst>
          </p:nvPr>
        </p:nvGraphicFramePr>
        <p:xfrm>
          <a:off x="5216236" y="2481312"/>
          <a:ext cx="4816855" cy="727407"/>
        </p:xfrm>
        <a:graphic>
          <a:graphicData uri="http://schemas.openxmlformats.org/drawingml/2006/table">
            <a:tbl>
              <a:tblPr firstRow="1" bandRow="1">
                <a:tableStyleId>{EB344D84-9AFB-497E-A393-DC336BA19D2E}</a:tableStyleId>
              </a:tblPr>
              <a:tblGrid>
                <a:gridCol w="810436">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1285556">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Write</a:t>
                      </a:r>
                      <a:endParaRPr lang="en-US" sz="800">
                        <a:solidFill>
                          <a:schemeClr val="tx1"/>
                        </a:solidFill>
                      </a:endParaRPr>
                    </a:p>
                  </a:txBody>
                  <a:tcPr/>
                </a:tc>
                <a:tc>
                  <a:txBody>
                    <a:bodyPr/>
                    <a:lstStyle/>
                    <a:p>
                      <a:pPr algn="ctr"/>
                      <a:r>
                        <a:rPr lang="fr-FR" sz="800"/>
                        <a:t>0.2</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t>0.3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b="1">
                          <a:solidFill>
                            <a:srgbClr val="FF0000"/>
                          </a:solidFill>
                        </a:rPr>
                        <a:t>-33% *</a:t>
                      </a:r>
                      <a:endParaRPr lang="en-US" sz="800" b="1">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tc>
                <a:extLst>
                  <a:ext uri="{0D108BD9-81ED-4DB2-BD59-A6C34878D82A}">
                    <a16:rowId xmlns:a16="http://schemas.microsoft.com/office/drawing/2014/main" val="3217506885"/>
                  </a:ext>
                </a:extLst>
              </a:tr>
              <a:tr h="242469">
                <a:tc>
                  <a:txBody>
                    <a:bodyPr/>
                    <a:lstStyle/>
                    <a:p>
                      <a:pPr algn="ctr"/>
                      <a:r>
                        <a:rPr lang="en-US" sz="800" b="1">
                          <a:solidFill>
                            <a:schemeClr val="tx1"/>
                          </a:solidFill>
                        </a:rPr>
                        <a:t>Read</a:t>
                      </a:r>
                      <a:endParaRPr lang="en-US" sz="800">
                        <a:solidFill>
                          <a:schemeClr val="tx1"/>
                        </a:solidFill>
                      </a:endParaRPr>
                    </a:p>
                  </a:txBody>
                  <a:tcPr/>
                </a:tc>
                <a:tc>
                  <a:txBody>
                    <a:bodyPr/>
                    <a:lstStyle/>
                    <a:p>
                      <a:pPr algn="ctr"/>
                      <a:r>
                        <a:rPr lang="en-US" sz="800"/>
                        <a:t>0.25 </a:t>
                      </a:r>
                    </a:p>
                  </a:txBody>
                  <a:tcPr/>
                </a:tc>
                <a:tc>
                  <a:txBody>
                    <a:bodyPr/>
                    <a:lstStyle/>
                    <a:p>
                      <a:pPr algn="ctr"/>
                      <a:r>
                        <a:rPr lang="fr-FR" sz="800"/>
                        <a:t>0.55</a:t>
                      </a:r>
                      <a:endParaRPr lang="en-US" sz="800"/>
                    </a:p>
                  </a:txBody>
                  <a:tcPr/>
                </a:tc>
                <a:tc>
                  <a:txBody>
                    <a:bodyPr/>
                    <a:lstStyle/>
                    <a:p>
                      <a:pPr algn="ctr"/>
                      <a:r>
                        <a:rPr lang="fr-FR" sz="800" b="1">
                          <a:solidFill>
                            <a:srgbClr val="FF0000"/>
                          </a:solidFill>
                        </a:rPr>
                        <a:t>-63.63% *</a:t>
                      </a:r>
                      <a:endParaRPr lang="en-US" sz="800" b="1">
                        <a:solidFill>
                          <a:srgbClr val="FF0000"/>
                        </a:solidFill>
                      </a:endParaRPr>
                    </a:p>
                  </a:txBody>
                  <a:tcPr/>
                </a:tc>
                <a:tc>
                  <a:txBody>
                    <a:bodyPr/>
                    <a:lstStyle/>
                    <a:p>
                      <a:pPr algn="l"/>
                      <a:endParaRPr lang="en-US" sz="800" dirty="0"/>
                    </a:p>
                  </a:txBody>
                  <a:tcPr/>
                </a:tc>
                <a:extLst>
                  <a:ext uri="{0D108BD9-81ED-4DB2-BD59-A6C34878D82A}">
                    <a16:rowId xmlns:a16="http://schemas.microsoft.com/office/drawing/2014/main" val="3731594885"/>
                  </a:ext>
                </a:extLst>
              </a:tr>
            </a:tbl>
          </a:graphicData>
        </a:graphic>
      </p:graphicFrame>
      <p:sp>
        <p:nvSpPr>
          <p:cNvPr id="138" name="TextBox 137">
            <a:extLst>
              <a:ext uri="{FF2B5EF4-FFF2-40B4-BE49-F238E27FC236}">
                <a16:creationId xmlns:a16="http://schemas.microsoft.com/office/drawing/2014/main" id="{50B973B0-9BD3-559C-56CC-3F13EFF75A97}"/>
              </a:ext>
            </a:extLst>
          </p:cNvPr>
          <p:cNvSpPr txBox="1"/>
          <p:nvPr/>
        </p:nvSpPr>
        <p:spPr>
          <a:xfrm>
            <a:off x="5157687" y="2197550"/>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fr-FR" sz="1000" b="1" err="1">
                <a:solidFill>
                  <a:schemeClr val="accent2"/>
                </a:solidFill>
              </a:rPr>
              <a:t>Throughput</a:t>
            </a:r>
            <a:r>
              <a:rPr lang="fr-FR" sz="1000" b="1">
                <a:solidFill>
                  <a:schemeClr val="accent2"/>
                </a:solidFill>
              </a:rPr>
              <a:t> (MB/s)</a:t>
            </a:r>
            <a:endParaRPr lang="en-US" sz="1000" b="1">
              <a:solidFill>
                <a:schemeClr val="accent2"/>
              </a:solidFill>
            </a:endParaRPr>
          </a:p>
        </p:txBody>
      </p:sp>
      <p:cxnSp>
        <p:nvCxnSpPr>
          <p:cNvPr id="142" name="Straight Connector 141">
            <a:extLst>
              <a:ext uri="{FF2B5EF4-FFF2-40B4-BE49-F238E27FC236}">
                <a16:creationId xmlns:a16="http://schemas.microsoft.com/office/drawing/2014/main" id="{9F05EAA2-5464-9344-318E-72A30B2B6FF5}"/>
              </a:ext>
            </a:extLst>
          </p:cNvPr>
          <p:cNvCxnSpPr>
            <a:cxnSpLocks/>
          </p:cNvCxnSpPr>
          <p:nvPr/>
        </p:nvCxnSpPr>
        <p:spPr>
          <a:xfrm flipH="1" flipV="1">
            <a:off x="5113138" y="1025134"/>
            <a:ext cx="13133" cy="5613687"/>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graphicFrame>
        <p:nvGraphicFramePr>
          <p:cNvPr id="144" name="Table 143">
            <a:extLst>
              <a:ext uri="{FF2B5EF4-FFF2-40B4-BE49-F238E27FC236}">
                <a16:creationId xmlns:a16="http://schemas.microsoft.com/office/drawing/2014/main" id="{0290179D-B1AF-BC2E-812C-E1A168C66064}"/>
              </a:ext>
            </a:extLst>
          </p:cNvPr>
          <p:cNvGraphicFramePr>
            <a:graphicFrameLocks noGrp="1"/>
          </p:cNvGraphicFramePr>
          <p:nvPr/>
        </p:nvGraphicFramePr>
        <p:xfrm>
          <a:off x="5210600" y="3623453"/>
          <a:ext cx="4816855" cy="727407"/>
        </p:xfrm>
        <a:graphic>
          <a:graphicData uri="http://schemas.openxmlformats.org/drawingml/2006/table">
            <a:tbl>
              <a:tblPr firstRow="1" bandRow="1">
                <a:tableStyleId>{EB344D84-9AFB-497E-A393-DC336BA19D2E}</a:tableStyleId>
              </a:tblPr>
              <a:tblGrid>
                <a:gridCol w="810436">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1285556">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Write</a:t>
                      </a:r>
                      <a:endParaRPr lang="en-US" sz="800">
                        <a:solidFill>
                          <a:schemeClr val="tx1"/>
                        </a:solidFill>
                      </a:endParaRPr>
                    </a:p>
                  </a:txBody>
                  <a:tcPr/>
                </a:tc>
                <a:tc>
                  <a:txBody>
                    <a:bodyPr/>
                    <a:lstStyle/>
                    <a:p>
                      <a:pPr algn="ctr"/>
                      <a:r>
                        <a:rPr lang="fr-FR" sz="800"/>
                        <a:t>0.3 </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0.3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rgbClr val="00B050"/>
                          </a:solidFill>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tc>
                <a:extLst>
                  <a:ext uri="{0D108BD9-81ED-4DB2-BD59-A6C34878D82A}">
                    <a16:rowId xmlns:a16="http://schemas.microsoft.com/office/drawing/2014/main" val="3217506885"/>
                  </a:ext>
                </a:extLst>
              </a:tr>
              <a:tr h="242469">
                <a:tc>
                  <a:txBody>
                    <a:bodyPr/>
                    <a:lstStyle/>
                    <a:p>
                      <a:pPr algn="ctr"/>
                      <a:r>
                        <a:rPr lang="en-US" sz="800" b="1">
                          <a:solidFill>
                            <a:schemeClr val="tx1"/>
                          </a:solidFill>
                        </a:rPr>
                        <a:t>Read</a:t>
                      </a:r>
                      <a:endParaRPr lang="en-US" sz="800">
                        <a:solidFill>
                          <a:schemeClr val="tx1"/>
                        </a:solidFill>
                      </a:endParaRPr>
                    </a:p>
                  </a:txBody>
                  <a:tcPr/>
                </a:tc>
                <a:tc>
                  <a:txBody>
                    <a:bodyPr/>
                    <a:lstStyle/>
                    <a:p>
                      <a:pPr algn="ctr"/>
                      <a:r>
                        <a:rPr lang="en-US" sz="800"/>
                        <a:t>0.63 </a:t>
                      </a:r>
                    </a:p>
                  </a:txBody>
                  <a:tcPr/>
                </a:tc>
                <a:tc>
                  <a:txBody>
                    <a:bodyPr/>
                    <a:lstStyle/>
                    <a:p>
                      <a:pPr algn="ctr"/>
                      <a:r>
                        <a:rPr lang="fr-FR" sz="800"/>
                        <a:t>0.55</a:t>
                      </a:r>
                      <a:endParaRPr lang="en-US" sz="800"/>
                    </a:p>
                  </a:txBody>
                  <a:tcPr/>
                </a:tc>
                <a:tc>
                  <a:txBody>
                    <a:bodyPr/>
                    <a:lstStyle/>
                    <a:p>
                      <a:pPr algn="ctr"/>
                      <a:r>
                        <a:rPr lang="fr-FR" sz="800" b="1">
                          <a:solidFill>
                            <a:srgbClr val="00B050"/>
                          </a:solidFill>
                        </a:rPr>
                        <a:t>+14.5% *</a:t>
                      </a:r>
                      <a:endParaRPr lang="en-US" sz="800" b="1">
                        <a:solidFill>
                          <a:srgbClr val="00B050"/>
                        </a:solidFill>
                      </a:endParaRPr>
                    </a:p>
                  </a:txBody>
                  <a:tcPr/>
                </a:tc>
                <a:tc>
                  <a:txBody>
                    <a:bodyPr/>
                    <a:lstStyle/>
                    <a:p>
                      <a:pPr algn="l"/>
                      <a:endParaRPr lang="en-US" sz="800"/>
                    </a:p>
                  </a:txBody>
                  <a:tcPr/>
                </a:tc>
                <a:extLst>
                  <a:ext uri="{0D108BD9-81ED-4DB2-BD59-A6C34878D82A}">
                    <a16:rowId xmlns:a16="http://schemas.microsoft.com/office/drawing/2014/main" val="3731594885"/>
                  </a:ext>
                </a:extLst>
              </a:tr>
            </a:tbl>
          </a:graphicData>
        </a:graphic>
      </p:graphicFrame>
      <p:pic>
        <p:nvPicPr>
          <p:cNvPr id="139" name="Picture 2">
            <a:extLst>
              <a:ext uri="{FF2B5EF4-FFF2-40B4-BE49-F238E27FC236}">
                <a16:creationId xmlns:a16="http://schemas.microsoft.com/office/drawing/2014/main" id="{A773532A-8390-3BBF-BD35-FB484C4ED3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3835" y="3426094"/>
            <a:ext cx="3168165" cy="1568015"/>
          </a:xfrm>
          <a:prstGeom prst="rect">
            <a:avLst/>
          </a:prstGeom>
          <a:noFill/>
          <a:extLst>
            <a:ext uri="{909E8E84-426E-40DD-AFC4-6F175D3DCCD1}">
              <a14:hiddenFill xmlns:a14="http://schemas.microsoft.com/office/drawing/2010/main">
                <a:solidFill>
                  <a:srgbClr val="FFFFFF"/>
                </a:solidFill>
              </a14:hiddenFill>
            </a:ext>
          </a:extLst>
        </p:spPr>
      </p:pic>
      <p:sp>
        <p:nvSpPr>
          <p:cNvPr id="145" name="TextBox 144">
            <a:extLst>
              <a:ext uri="{FF2B5EF4-FFF2-40B4-BE49-F238E27FC236}">
                <a16:creationId xmlns:a16="http://schemas.microsoft.com/office/drawing/2014/main" id="{D57047BB-72B7-5C20-1882-481B1D620DDE}"/>
              </a:ext>
            </a:extLst>
          </p:cNvPr>
          <p:cNvSpPr txBox="1"/>
          <p:nvPr/>
        </p:nvSpPr>
        <p:spPr>
          <a:xfrm>
            <a:off x="5119238" y="3208719"/>
            <a:ext cx="6975093" cy="369332"/>
          </a:xfrm>
          <a:prstGeom prst="rect">
            <a:avLst/>
          </a:prstGeom>
          <a:noFill/>
        </p:spPr>
        <p:txBody>
          <a:bodyPr wrap="square">
            <a:spAutoFit/>
          </a:bodyPr>
          <a:lstStyle/>
          <a:p>
            <a:r>
              <a:rPr lang="fr-FR" sz="900" b="1" err="1">
                <a:solidFill>
                  <a:srgbClr val="00B050"/>
                </a:solidFill>
              </a:rPr>
              <a:t>Throughput</a:t>
            </a:r>
            <a:r>
              <a:rPr lang="fr-FR" sz="900" b="1">
                <a:solidFill>
                  <a:srgbClr val="00B050"/>
                </a:solidFill>
              </a:rPr>
              <a:t> (MB/s) w/ </a:t>
            </a:r>
            <a:r>
              <a:rPr lang="en-US" sz="900" b="1">
                <a:solidFill>
                  <a:srgbClr val="00B050"/>
                </a:solidFill>
              </a:rPr>
              <a:t>stm32h5xx_hal_hcd.c / </a:t>
            </a:r>
            <a:r>
              <a:rPr lang="en-US" sz="900" b="1" err="1">
                <a:solidFill>
                  <a:srgbClr val="00B050"/>
                </a:solidFill>
              </a:rPr>
              <a:t>HCD_HC_IN_IRQHandler</a:t>
            </a:r>
            <a:r>
              <a:rPr lang="en-US" sz="900" b="1">
                <a:solidFill>
                  <a:srgbClr val="00B050"/>
                </a:solidFill>
              </a:rPr>
              <a:t>() static function enhancement request submitted </a:t>
            </a:r>
          </a:p>
          <a:p>
            <a:r>
              <a:rPr lang="en-US" sz="900" b="1">
                <a:solidFill>
                  <a:srgbClr val="00B0F0"/>
                </a:solidFill>
                <a:hlinkClick r:id="rId3">
                  <a:extLst>
                    <a:ext uri="{A12FA001-AC4F-418D-AE19-62706E023703}">
                      <ahyp:hlinkClr xmlns:ahyp="http://schemas.microsoft.com/office/drawing/2018/hyperlinkcolor" val="tx"/>
                    </a:ext>
                  </a:extLst>
                </a:hlinkClick>
              </a:rPr>
              <a:t>Bugzilla Ticket 217913</a:t>
            </a:r>
            <a:endParaRPr lang="en-US" sz="900" b="1">
              <a:solidFill>
                <a:srgbClr val="00B0F0"/>
              </a:solidFill>
            </a:endParaRPr>
          </a:p>
        </p:txBody>
      </p:sp>
      <p:cxnSp>
        <p:nvCxnSpPr>
          <p:cNvPr id="147" name="Connector: Curved 146">
            <a:extLst>
              <a:ext uri="{FF2B5EF4-FFF2-40B4-BE49-F238E27FC236}">
                <a16:creationId xmlns:a16="http://schemas.microsoft.com/office/drawing/2014/main" id="{52577EB1-9DED-E956-968D-17F578F518BA}"/>
              </a:ext>
            </a:extLst>
          </p:cNvPr>
          <p:cNvCxnSpPr>
            <a:cxnSpLocks/>
            <a:stCxn id="145" idx="2"/>
          </p:cNvCxnSpPr>
          <p:nvPr/>
        </p:nvCxnSpPr>
        <p:spPr>
          <a:xfrm rot="16200000" flipH="1">
            <a:off x="8585033" y="3599803"/>
            <a:ext cx="837758" cy="794254"/>
          </a:xfrm>
          <a:prstGeom prst="curvedConnector3">
            <a:avLst>
              <a:gd name="adj1" fmla="val 50000"/>
            </a:avLst>
          </a:prstGeom>
          <a:ln w="22225">
            <a:solidFill>
              <a:srgbClr val="FF0000"/>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BFF88A13-79EA-8EB9-F552-E292A25A3B23}"/>
              </a:ext>
            </a:extLst>
          </p:cNvPr>
          <p:cNvSpPr/>
          <p:nvPr/>
        </p:nvSpPr>
        <p:spPr>
          <a:xfrm>
            <a:off x="5157687" y="4415809"/>
            <a:ext cx="3866148" cy="4396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800">
                <a:solidFill>
                  <a:schemeClr val="tx1"/>
                </a:solidFill>
              </a:rPr>
              <a:t>By setting the channel status to </a:t>
            </a:r>
            <a:r>
              <a:rPr lang="en-US" altLang="en-US" sz="800" b="1">
                <a:solidFill>
                  <a:schemeClr val="tx1"/>
                </a:solidFill>
                <a:cs typeface="Courier New" panose="02070309020205020404" pitchFamily="49" charset="0"/>
              </a:rPr>
              <a:t>USB_CH_RX_VALID</a:t>
            </a:r>
            <a:r>
              <a:rPr lang="en-US" altLang="en-US" sz="800">
                <a:solidFill>
                  <a:schemeClr val="tx1"/>
                </a:solidFill>
              </a:rPr>
              <a:t>, it becomes immediately ready to receive data again without delays.</a:t>
            </a:r>
          </a:p>
          <a:p>
            <a:r>
              <a:rPr lang="en-US" altLang="en-US" sz="800">
                <a:solidFill>
                  <a:schemeClr val="tx1"/>
                </a:solidFill>
              </a:rPr>
              <a:t>(*) Throughput (MB/s): The higher the better</a:t>
            </a:r>
          </a:p>
        </p:txBody>
      </p:sp>
      <p:sp>
        <p:nvSpPr>
          <p:cNvPr id="9" name="Title 2">
            <a:extLst>
              <a:ext uri="{FF2B5EF4-FFF2-40B4-BE49-F238E27FC236}">
                <a16:creationId xmlns:a16="http://schemas.microsoft.com/office/drawing/2014/main" id="{821A3A04-430B-4074-E30E-FE42B6D01CD0}"/>
              </a:ext>
            </a:extLst>
          </p:cNvPr>
          <p:cNvSpPr>
            <a:spLocks noGrp="1"/>
          </p:cNvSpPr>
          <p:nvPr>
            <p:ph type="title"/>
          </p:nvPr>
        </p:nvSpPr>
        <p:spPr>
          <a:xfrm>
            <a:off x="300037" y="-1"/>
            <a:ext cx="11609159" cy="1304925"/>
          </a:xfrm>
        </p:spPr>
        <p:txBody>
          <a:bodyPr/>
          <a:lstStyle/>
          <a:p>
            <a:r>
              <a:rPr lang="en-US"/>
              <a:t>ST Competitors MW Benchmark: USB</a:t>
            </a:r>
            <a:br>
              <a:rPr lang="en-US" b="1"/>
            </a:br>
            <a:r>
              <a:rPr lang="en-US" sz="2400" b="1">
                <a:solidFill>
                  <a:schemeClr val="accent2"/>
                </a:solidFill>
              </a:rPr>
              <a:t>ST vs Renesas Flowcharts | Tests</a:t>
            </a:r>
            <a:br>
              <a:rPr lang="en-US" sz="2400" b="1">
                <a:solidFill>
                  <a:schemeClr val="accent2"/>
                </a:solidFill>
              </a:rPr>
            </a:br>
            <a:endParaRPr lang="en-US" sz="2400" b="1">
              <a:solidFill>
                <a:schemeClr val="accent2"/>
              </a:solidFill>
            </a:endParaRPr>
          </a:p>
        </p:txBody>
      </p:sp>
      <p:sp>
        <p:nvSpPr>
          <p:cNvPr id="16" name="TextBox 15">
            <a:extLst>
              <a:ext uri="{FF2B5EF4-FFF2-40B4-BE49-F238E27FC236}">
                <a16:creationId xmlns:a16="http://schemas.microsoft.com/office/drawing/2014/main" id="{CAC436B1-A0AF-2105-7E94-140D3C7CA6EF}"/>
              </a:ext>
            </a:extLst>
          </p:cNvPr>
          <p:cNvSpPr txBox="1"/>
          <p:nvPr/>
        </p:nvSpPr>
        <p:spPr>
          <a:xfrm>
            <a:off x="10137629" y="1156182"/>
            <a:ext cx="1908042" cy="954107"/>
          </a:xfrm>
          <a:prstGeom prst="rect">
            <a:avLst/>
          </a:prstGeom>
          <a:noFill/>
        </p:spPr>
        <p:txBody>
          <a:bodyPr wrap="square">
            <a:spAutoFit/>
          </a:bodyPr>
          <a:lstStyle/>
          <a:p>
            <a:r>
              <a:rPr lang="en-US" sz="800" b="1">
                <a:solidFill>
                  <a:schemeClr val="accent3"/>
                </a:solidFill>
              </a:rPr>
              <a:t>RA</a:t>
            </a:r>
            <a:r>
              <a:rPr lang="en-US" sz="800"/>
              <a:t> bypasses USBX enumeration phase by </a:t>
            </a:r>
            <a:r>
              <a:rPr lang="en-US" sz="800" err="1"/>
              <a:t>rm_usbx_ports</a:t>
            </a:r>
            <a:r>
              <a:rPr lang="en-US" sz="800"/>
              <a:t> porting layer</a:t>
            </a:r>
          </a:p>
          <a:p>
            <a:r>
              <a:rPr lang="en-US" sz="800" b="1">
                <a:solidFill>
                  <a:schemeClr val="accent3"/>
                </a:solidFill>
              </a:rPr>
              <a:t>vs</a:t>
            </a:r>
            <a:r>
              <a:rPr lang="en-US" sz="800"/>
              <a:t> </a:t>
            </a:r>
            <a:r>
              <a:rPr lang="en-US" sz="800" b="1">
                <a:solidFill>
                  <a:schemeClr val="accent3"/>
                </a:solidFill>
              </a:rPr>
              <a:t>ST</a:t>
            </a:r>
            <a:r>
              <a:rPr lang="en-US" sz="800"/>
              <a:t> uses USBX enumeration phase that  </a:t>
            </a:r>
            <a:r>
              <a:rPr lang="en-US" altLang="en-US" sz="800"/>
              <a:t>uses UX_DEVICE_ADDRESS_SET_WAIT ( 50 </a:t>
            </a:r>
            <a:r>
              <a:rPr lang="en-US" altLang="en-US" sz="800" err="1"/>
              <a:t>ms</a:t>
            </a:r>
            <a:r>
              <a:rPr lang="en-US" altLang="en-US" sz="800"/>
              <a:t>) constant to wait after setting the device address </a:t>
            </a:r>
            <a:endParaRPr lang="en-US" sz="800"/>
          </a:p>
        </p:txBody>
      </p:sp>
      <p:cxnSp>
        <p:nvCxnSpPr>
          <p:cNvPr id="21" name="Connector: Curved 20">
            <a:extLst>
              <a:ext uri="{FF2B5EF4-FFF2-40B4-BE49-F238E27FC236}">
                <a16:creationId xmlns:a16="http://schemas.microsoft.com/office/drawing/2014/main" id="{38BEE861-DF6E-34F6-DEB7-4FDDD53C7686}"/>
              </a:ext>
            </a:extLst>
          </p:cNvPr>
          <p:cNvCxnSpPr>
            <a:endCxn id="16" idx="1"/>
          </p:cNvCxnSpPr>
          <p:nvPr/>
        </p:nvCxnSpPr>
        <p:spPr>
          <a:xfrm flipV="1">
            <a:off x="8670792" y="1633236"/>
            <a:ext cx="1466837" cy="212404"/>
          </a:xfrm>
          <a:prstGeom prst="curvedConnector3">
            <a:avLst/>
          </a:prstGeom>
          <a:ln w="22225">
            <a:solidFill>
              <a:srgbClr val="FF0000"/>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74D89A1-AB65-51C7-C161-1DAE419615E3}"/>
              </a:ext>
            </a:extLst>
          </p:cNvPr>
          <p:cNvSpPr>
            <a:spLocks noGrp="1"/>
          </p:cNvSpPr>
          <p:nvPr>
            <p:ph type="sldNum" sz="quarter" idx="12"/>
          </p:nvPr>
        </p:nvSpPr>
        <p:spPr/>
        <p:txBody>
          <a:bodyPr/>
          <a:lstStyle/>
          <a:p>
            <a:fld id="{40A7B169-58CE-4E65-B1F9-ACF9E46440C2}" type="slidenum">
              <a:rPr lang="en-US" smtClean="0"/>
              <a:t>20</a:t>
            </a:fld>
            <a:endParaRPr lang="en-US"/>
          </a:p>
        </p:txBody>
      </p:sp>
    </p:spTree>
    <p:extLst>
      <p:ext uri="{BB962C8B-B14F-4D97-AF65-F5344CB8AC3E}">
        <p14:creationId xmlns:p14="http://schemas.microsoft.com/office/powerpoint/2010/main" val="1180246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392760-59EE-08FC-0730-D7312C0258BF}"/>
              </a:ext>
            </a:extLst>
          </p:cNvPr>
          <p:cNvSpPr>
            <a:spLocks noGrp="1"/>
          </p:cNvSpPr>
          <p:nvPr>
            <p:ph type="title"/>
          </p:nvPr>
        </p:nvSpPr>
        <p:spPr/>
        <p:txBody>
          <a:bodyPr/>
          <a:lstStyle/>
          <a:p>
            <a:r>
              <a:rPr lang="en-US" dirty="0"/>
              <a:t>ST Competitors MW Benchmark: USB</a:t>
            </a:r>
            <a:br>
              <a:rPr lang="en-US" b="1" dirty="0"/>
            </a:br>
            <a:r>
              <a:rPr lang="en-US" sz="1600" b="1" dirty="0">
                <a:solidFill>
                  <a:schemeClr val="accent2"/>
                </a:solidFill>
              </a:rPr>
              <a:t>ST vs Renesas: Cube2 low footprint profiles optimization</a:t>
            </a:r>
          </a:p>
        </p:txBody>
      </p:sp>
      <p:sp>
        <p:nvSpPr>
          <p:cNvPr id="4" name="Slide Number Placeholder 3">
            <a:extLst>
              <a:ext uri="{FF2B5EF4-FFF2-40B4-BE49-F238E27FC236}">
                <a16:creationId xmlns:a16="http://schemas.microsoft.com/office/drawing/2014/main" id="{A4152AD3-9B8B-7770-6799-2393C5C8E664}"/>
              </a:ext>
            </a:extLst>
          </p:cNvPr>
          <p:cNvSpPr>
            <a:spLocks noGrp="1"/>
          </p:cNvSpPr>
          <p:nvPr>
            <p:ph type="sldNum" sz="quarter" idx="12"/>
          </p:nvPr>
        </p:nvSpPr>
        <p:spPr/>
        <p:txBody>
          <a:bodyPr/>
          <a:lstStyle/>
          <a:p>
            <a:fld id="{40A7B169-58CE-4E65-B1F9-ACF9E46440C2}" type="slidenum">
              <a:rPr lang="en-US" smtClean="0"/>
              <a:t>21</a:t>
            </a:fld>
            <a:endParaRPr lang="en-US"/>
          </a:p>
        </p:txBody>
      </p:sp>
      <p:sp>
        <p:nvSpPr>
          <p:cNvPr id="17" name="Rectangle 16">
            <a:extLst>
              <a:ext uri="{FF2B5EF4-FFF2-40B4-BE49-F238E27FC236}">
                <a16:creationId xmlns:a16="http://schemas.microsoft.com/office/drawing/2014/main" id="{F0175DA0-5EFC-88B6-7285-A9F7FEED3D4E}"/>
              </a:ext>
            </a:extLst>
          </p:cNvPr>
          <p:cNvSpPr/>
          <p:nvPr/>
        </p:nvSpPr>
        <p:spPr>
          <a:xfrm>
            <a:off x="6480047" y="3573276"/>
            <a:ext cx="5429147" cy="23683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000" dirty="0">
                <a:solidFill>
                  <a:schemeClr val="tx1"/>
                </a:solidFill>
              </a:rPr>
              <a:t>After applying the Cube 2–inspired optimizations (USBX/</a:t>
            </a:r>
            <a:r>
              <a:rPr lang="en-US" sz="1000" dirty="0" err="1">
                <a:solidFill>
                  <a:schemeClr val="tx1"/>
                </a:solidFill>
              </a:rPr>
              <a:t>FreeRTOS</a:t>
            </a:r>
            <a:r>
              <a:rPr lang="en-US" sz="1000" dirty="0">
                <a:solidFill>
                  <a:schemeClr val="tx1"/>
                </a:solidFill>
              </a:rPr>
              <a:t>), STM32 Cube1 projects (USBX/</a:t>
            </a:r>
            <a:r>
              <a:rPr lang="en-US" sz="1000" dirty="0" err="1">
                <a:solidFill>
                  <a:schemeClr val="tx1"/>
                </a:solidFill>
              </a:rPr>
              <a:t>ThreadX</a:t>
            </a:r>
            <a:r>
              <a:rPr lang="en-US" sz="1000" dirty="0">
                <a:solidFill>
                  <a:schemeClr val="tx1"/>
                </a:solidFill>
              </a:rPr>
              <a:t>) shows a clear improvement in both footprint and startup performance versus Renesas across USBX classes.</a:t>
            </a:r>
          </a:p>
          <a:p>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The footprint optimization is especially effective on RAM, with substantial memory reductions and lower initialization time, while maintaining comparable or better code size in most cases.</a:t>
            </a:r>
          </a:p>
          <a:p>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These results suggest that aligning the software architecture and configuration with the Cube 2 approach helps eliminate unnecessary memory overhead and improves overall efficiency, particularly for CDC and HID.</a:t>
            </a:r>
          </a:p>
          <a:p>
            <a:endParaRPr lang="en-US" sz="1000" dirty="0">
              <a:solidFill>
                <a:schemeClr val="tx1"/>
              </a:solidFill>
            </a:endParaRPr>
          </a:p>
          <a:p>
            <a:pPr marL="171450" indent="-171450">
              <a:buFont typeface="Arial" panose="020B0604020202020204" pitchFamily="34" charset="0"/>
              <a:buChar char="•"/>
            </a:pPr>
            <a:r>
              <a:rPr lang="en-US" sz="1000" dirty="0">
                <a:solidFill>
                  <a:schemeClr val="tx1"/>
                </a:solidFill>
              </a:rPr>
              <a:t>MSC remains the most demanding class, but ST still achieves a significant reduction in total footprint and </a:t>
            </a:r>
            <a:r>
              <a:rPr lang="en-US" sz="1000" dirty="0" err="1">
                <a:solidFill>
                  <a:schemeClr val="tx1"/>
                </a:solidFill>
              </a:rPr>
              <a:t>init</a:t>
            </a:r>
            <a:r>
              <a:rPr lang="en-US" sz="1000" dirty="0">
                <a:solidFill>
                  <a:schemeClr val="tx1"/>
                </a:solidFill>
              </a:rPr>
              <a:t> time compared with Renesas.</a:t>
            </a:r>
          </a:p>
        </p:txBody>
      </p:sp>
      <p:graphicFrame>
        <p:nvGraphicFramePr>
          <p:cNvPr id="18" name="Table 17">
            <a:extLst>
              <a:ext uri="{FF2B5EF4-FFF2-40B4-BE49-F238E27FC236}">
                <a16:creationId xmlns:a16="http://schemas.microsoft.com/office/drawing/2014/main" id="{024B2F49-E6D5-58D8-91EE-7D784780EF95}"/>
              </a:ext>
            </a:extLst>
          </p:cNvPr>
          <p:cNvGraphicFramePr>
            <a:graphicFrameLocks noGrp="1"/>
          </p:cNvGraphicFramePr>
          <p:nvPr>
            <p:extLst>
              <p:ext uri="{D42A27DB-BD31-4B8C-83A1-F6EECF244321}">
                <p14:modId xmlns:p14="http://schemas.microsoft.com/office/powerpoint/2010/main" val="3753552379"/>
              </p:ext>
            </p:extLst>
          </p:nvPr>
        </p:nvGraphicFramePr>
        <p:xfrm>
          <a:off x="460677" y="4255192"/>
          <a:ext cx="5894404" cy="2368330"/>
        </p:xfrm>
        <a:graphic>
          <a:graphicData uri="http://schemas.openxmlformats.org/drawingml/2006/table">
            <a:tbl>
              <a:tblPr firstRow="1" bandRow="1">
                <a:tableStyleId>{EB344D84-9AFB-497E-A393-DC336BA19D2E}</a:tableStyleId>
              </a:tblPr>
              <a:tblGrid>
                <a:gridCol w="1382783">
                  <a:extLst>
                    <a:ext uri="{9D8B030D-6E8A-4147-A177-3AD203B41FA5}">
                      <a16:colId xmlns:a16="http://schemas.microsoft.com/office/drawing/2014/main" val="1473133747"/>
                    </a:ext>
                  </a:extLst>
                </a:gridCol>
                <a:gridCol w="1251879">
                  <a:extLst>
                    <a:ext uri="{9D8B030D-6E8A-4147-A177-3AD203B41FA5}">
                      <a16:colId xmlns:a16="http://schemas.microsoft.com/office/drawing/2014/main" val="4162598800"/>
                    </a:ext>
                  </a:extLst>
                </a:gridCol>
                <a:gridCol w="1641288">
                  <a:extLst>
                    <a:ext uri="{9D8B030D-6E8A-4147-A177-3AD203B41FA5}">
                      <a16:colId xmlns:a16="http://schemas.microsoft.com/office/drawing/2014/main" val="1196173778"/>
                    </a:ext>
                  </a:extLst>
                </a:gridCol>
                <a:gridCol w="1618454">
                  <a:extLst>
                    <a:ext uri="{9D8B030D-6E8A-4147-A177-3AD203B41FA5}">
                      <a16:colId xmlns:a16="http://schemas.microsoft.com/office/drawing/2014/main" val="2713348666"/>
                    </a:ext>
                  </a:extLst>
                </a:gridCol>
              </a:tblGrid>
              <a:tr h="358159">
                <a:tc>
                  <a:txBody>
                    <a:bodyPr/>
                    <a:lstStyle/>
                    <a:p>
                      <a:pPr algn="ctr"/>
                      <a:endParaRPr lang="en-US" sz="8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t>STM32H573xx</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800" dirty="0"/>
                        <a:t>ST vs Renesas </a:t>
                      </a:r>
                    </a:p>
                    <a:p>
                      <a:pPr algn="ctr"/>
                      <a:r>
                        <a:rPr lang="en-US" sz="800" dirty="0"/>
                        <a:t>First Configuration</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800" dirty="0"/>
                        <a:t>ST vs Renesas</a:t>
                      </a:r>
                    </a:p>
                    <a:p>
                      <a:pPr algn="ctr"/>
                      <a:r>
                        <a:rPr lang="en-US" sz="800" dirty="0"/>
                        <a:t>Low Footprint Configuration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7373398"/>
                  </a:ext>
                </a:extLst>
              </a:tr>
              <a:tr h="205724">
                <a:tc rowSpan="3">
                  <a:txBody>
                    <a:bodyPr/>
                    <a:lstStyle/>
                    <a:p>
                      <a:pPr marL="0" algn="l" defTabSz="914400" rtl="0" eaLnBrk="1" fontAlgn="ctr" latinLnBrk="0" hangingPunct="1">
                        <a:buNone/>
                      </a:pPr>
                      <a:r>
                        <a:rPr lang="en-US" sz="800" b="1" kern="1200" dirty="0">
                          <a:solidFill>
                            <a:schemeClr val="dk1"/>
                          </a:solidFill>
                          <a:latin typeface="+mn-lt"/>
                          <a:ea typeface="+mn-ea"/>
                          <a:cs typeface="+mn-cs"/>
                        </a:rPr>
                        <a:t> CDC Device</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ROM</a:t>
                      </a:r>
                    </a:p>
                  </a:txBody>
                  <a:tcPr marL="0" marR="0" marT="0" marB="0" anchor="ctr">
                    <a:lnT w="12700" cap="flat" cmpd="sng" algn="ctr">
                      <a:solidFill>
                        <a:schemeClr val="tx1"/>
                      </a:solidFill>
                      <a:prstDash val="solid"/>
                      <a:round/>
                      <a:headEnd type="none" w="med" len="med"/>
                      <a:tailEnd type="none" w="med" len="med"/>
                    </a:lnT>
                  </a:tcPr>
                </a:tc>
                <a:tc>
                  <a:txBody>
                    <a:bodyPr/>
                    <a:lstStyle/>
                    <a:p>
                      <a:pPr algn="ctr">
                        <a:buNone/>
                      </a:pPr>
                      <a:r>
                        <a:rPr lang="en-US" sz="800" b="1" kern="1200" dirty="0">
                          <a:solidFill>
                            <a:schemeClr val="tx1"/>
                          </a:solidFill>
                          <a:latin typeface="+mn-lt"/>
                          <a:ea typeface="+mn-ea"/>
                          <a:cs typeface="+mn-cs"/>
                        </a:rPr>
                        <a:t>-18%</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algn="ctr" fontAlgn="b">
                        <a:buNone/>
                      </a:pPr>
                      <a:r>
                        <a:rPr lang="en-US" sz="800" b="1" kern="1200" dirty="0">
                          <a:solidFill>
                            <a:srgbClr val="00B050"/>
                          </a:solidFill>
                          <a:latin typeface="+mn-lt"/>
                          <a:ea typeface="+mn-ea"/>
                          <a:cs typeface="+mn-cs"/>
                        </a:rPr>
                        <a:t>-26.40%</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89852517"/>
                  </a:ext>
                </a:extLst>
              </a:tr>
              <a:tr h="205724">
                <a:tc vMerge="1">
                  <a:txBody>
                    <a:bodyPr/>
                    <a:lstStyle/>
                    <a:p>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RAM</a:t>
                      </a:r>
                    </a:p>
                  </a:txBody>
                  <a:tcPr marL="0" marR="0" marT="0" marB="0" anchor="ctr"/>
                </a:tc>
                <a:tc>
                  <a:txBody>
                    <a:bodyPr/>
                    <a:lstStyle/>
                    <a:p>
                      <a:pPr algn="ctr">
                        <a:buNone/>
                      </a:pPr>
                      <a:r>
                        <a:rPr lang="en-US" sz="800" b="1" kern="1200" dirty="0">
                          <a:solidFill>
                            <a:schemeClr val="tx1"/>
                          </a:solidFill>
                          <a:latin typeface="+mn-lt"/>
                          <a:ea typeface="+mn-ea"/>
                          <a:cs typeface="+mn-cs"/>
                        </a:rPr>
                        <a:t>-71%</a:t>
                      </a:r>
                    </a:p>
                  </a:txBody>
                  <a:tcPr marL="50800" marR="50800" marT="12700" marB="12700" anchor="ctr"/>
                </a:tc>
                <a:tc>
                  <a:txBody>
                    <a:bodyPr/>
                    <a:lstStyle/>
                    <a:p>
                      <a:pPr algn="ctr" fontAlgn="b">
                        <a:buNone/>
                      </a:pPr>
                      <a:r>
                        <a:rPr lang="en-US" sz="800" b="1" kern="1200" dirty="0">
                          <a:solidFill>
                            <a:srgbClr val="F68F1E"/>
                          </a:solidFill>
                          <a:latin typeface="+mn-lt"/>
                          <a:ea typeface="+mn-ea"/>
                          <a:cs typeface="+mn-cs"/>
                        </a:rPr>
                        <a:t>-67.18%</a:t>
                      </a:r>
                    </a:p>
                  </a:txBody>
                  <a:tcPr marL="0" marR="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65877290"/>
                  </a:ext>
                </a:extLst>
              </a:tr>
              <a:tr h="258609">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Init execution time (</a:t>
                      </a:r>
                      <a:r>
                        <a:rPr lang="en-US" sz="800" kern="1200" dirty="0" err="1">
                          <a:solidFill>
                            <a:schemeClr val="dk1"/>
                          </a:solidFill>
                          <a:latin typeface="+mn-lt"/>
                          <a:ea typeface="+mn-ea"/>
                          <a:cs typeface="+mn-cs"/>
                        </a:rPr>
                        <a:t>ms</a:t>
                      </a:r>
                      <a:r>
                        <a:rPr lang="en-US" sz="800" kern="1200" dirty="0">
                          <a:solidFill>
                            <a:schemeClr val="dk1"/>
                          </a:solidFill>
                          <a:latin typeface="+mn-lt"/>
                          <a:ea typeface="+mn-ea"/>
                          <a:cs typeface="+mn-cs"/>
                        </a:rPr>
                        <a:t>) </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tx1"/>
                          </a:solidFill>
                        </a:rPr>
                        <a:t>-95%</a:t>
                      </a:r>
                    </a:p>
                  </a:txBody>
                  <a:tcP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b">
                        <a:buNone/>
                      </a:pPr>
                      <a:r>
                        <a:rPr lang="en-US" sz="800" b="1" kern="1200" dirty="0">
                          <a:solidFill>
                            <a:srgbClr val="00B050"/>
                          </a:solidFill>
                          <a:latin typeface="+mn-lt"/>
                          <a:ea typeface="+mn-ea"/>
                          <a:cs typeface="+mn-cs"/>
                        </a:rPr>
                        <a:t>-95.45%</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167151039"/>
                  </a:ext>
                </a:extLst>
              </a:tr>
              <a:tr h="205724">
                <a:tc rowSpan="3">
                  <a:txBody>
                    <a:bodyPr/>
                    <a:lstStyle/>
                    <a:p>
                      <a:pPr marL="0" algn="l" defTabSz="914400" rtl="0" eaLnBrk="1" latinLnBrk="0" hangingPunct="1"/>
                      <a:r>
                        <a:rPr lang="en-US" sz="800" b="1" kern="1200" dirty="0">
                          <a:solidFill>
                            <a:schemeClr val="dk1"/>
                          </a:solidFill>
                          <a:latin typeface="+mn-lt"/>
                          <a:ea typeface="+mn-ea"/>
                          <a:cs typeface="+mn-cs"/>
                        </a:rPr>
                        <a:t>HID Host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ROM</a:t>
                      </a:r>
                    </a:p>
                  </a:txBody>
                  <a:tcPr marL="0" marR="0" marT="0" marB="0" anchor="ctr">
                    <a:lnT w="12700" cap="flat" cmpd="sng" algn="ctr">
                      <a:solidFill>
                        <a:schemeClr val="tx1"/>
                      </a:solidFill>
                      <a:prstDash val="solid"/>
                      <a:round/>
                      <a:headEnd type="none" w="med" len="med"/>
                      <a:tailEnd type="none" w="med" len="med"/>
                    </a:lnT>
                  </a:tcPr>
                </a:tc>
                <a:tc>
                  <a:txBody>
                    <a:bodyPr/>
                    <a:lstStyle/>
                    <a:p>
                      <a:pPr algn="ctr">
                        <a:buNone/>
                      </a:pPr>
                      <a:r>
                        <a:rPr lang="en-US" sz="800" b="1" kern="1200" dirty="0">
                          <a:solidFill>
                            <a:schemeClr val="tx1"/>
                          </a:solidFill>
                          <a:latin typeface="+mn-lt"/>
                          <a:ea typeface="+mn-ea"/>
                          <a:cs typeface="+mn-cs"/>
                        </a:rPr>
                        <a:t>-17%</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algn="ctr" fontAlgn="b">
                        <a:buNone/>
                      </a:pPr>
                      <a:r>
                        <a:rPr lang="en-US" sz="800" b="1" kern="1200" dirty="0">
                          <a:solidFill>
                            <a:srgbClr val="F68F1E"/>
                          </a:solidFill>
                          <a:latin typeface="+mn-lt"/>
                          <a:ea typeface="+mn-ea"/>
                          <a:cs typeface="+mn-cs"/>
                        </a:rPr>
                        <a:t>-14.21%</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43761847"/>
                  </a:ext>
                </a:extLst>
              </a:tr>
              <a:tr h="205724">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RAM</a:t>
                      </a:r>
                    </a:p>
                  </a:txBody>
                  <a:tcPr marL="0" marR="0" marT="0" marB="0" anchor="ctr"/>
                </a:tc>
                <a:tc>
                  <a:txBody>
                    <a:bodyPr/>
                    <a:lstStyle/>
                    <a:p>
                      <a:pPr algn="ctr">
                        <a:buNone/>
                      </a:pPr>
                      <a:r>
                        <a:rPr lang="en-US" sz="800" b="1" kern="1200" dirty="0">
                          <a:solidFill>
                            <a:schemeClr val="tx1"/>
                          </a:solidFill>
                          <a:latin typeface="+mn-lt"/>
                          <a:ea typeface="+mn-ea"/>
                          <a:cs typeface="+mn-cs"/>
                        </a:rPr>
                        <a:t>-56%</a:t>
                      </a:r>
                    </a:p>
                  </a:txBody>
                  <a:tcPr marL="50800" marR="50800" marT="12700" marB="12700" anchor="ctr"/>
                </a:tc>
                <a:tc>
                  <a:txBody>
                    <a:bodyPr/>
                    <a:lstStyle/>
                    <a:p>
                      <a:pPr algn="ctr" fontAlgn="b">
                        <a:buNone/>
                      </a:pPr>
                      <a:r>
                        <a:rPr lang="en-US" sz="800" b="1" kern="1200" dirty="0">
                          <a:solidFill>
                            <a:srgbClr val="F68F1E"/>
                          </a:solidFill>
                          <a:latin typeface="+mn-lt"/>
                          <a:ea typeface="+mn-ea"/>
                          <a:cs typeface="+mn-cs"/>
                        </a:rPr>
                        <a:t>-52.94%</a:t>
                      </a:r>
                    </a:p>
                  </a:txBody>
                  <a:tcPr marL="0" marR="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27317584"/>
                  </a:ext>
                </a:extLst>
              </a:tr>
              <a:tr h="258609">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Init execution time (</a:t>
                      </a:r>
                      <a:r>
                        <a:rPr lang="en-US" sz="800" kern="1200" dirty="0" err="1">
                          <a:solidFill>
                            <a:schemeClr val="dk1"/>
                          </a:solidFill>
                          <a:latin typeface="+mn-lt"/>
                          <a:ea typeface="+mn-ea"/>
                          <a:cs typeface="+mn-cs"/>
                        </a:rPr>
                        <a:t>ms</a:t>
                      </a:r>
                      <a:r>
                        <a:rPr lang="en-US" sz="800" kern="1200" dirty="0">
                          <a:solidFill>
                            <a:schemeClr val="dk1"/>
                          </a:solidFill>
                          <a:latin typeface="+mn-lt"/>
                          <a:ea typeface="+mn-ea"/>
                          <a:cs typeface="+mn-cs"/>
                        </a:rPr>
                        <a:t>) </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tx1"/>
                          </a:solidFill>
                        </a:rPr>
                        <a:t>-51%</a:t>
                      </a:r>
                    </a:p>
                  </a:txBody>
                  <a:tcP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b">
                        <a:buNone/>
                      </a:pPr>
                      <a:r>
                        <a:rPr lang="en-US" sz="800" b="1" kern="1200" dirty="0">
                          <a:solidFill>
                            <a:srgbClr val="00B050"/>
                          </a:solidFill>
                          <a:latin typeface="+mn-lt"/>
                          <a:ea typeface="+mn-ea"/>
                          <a:cs typeface="+mn-cs"/>
                        </a:rPr>
                        <a:t>-55.35%</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953078685"/>
                  </a:ext>
                </a:extLst>
              </a:tr>
              <a:tr h="205724">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dk1"/>
                          </a:solidFill>
                          <a:latin typeface="+mn-lt"/>
                          <a:ea typeface="+mn-ea"/>
                          <a:cs typeface="+mn-cs"/>
                        </a:rPr>
                        <a:t> MSC Host</a:t>
                      </a:r>
                    </a:p>
                    <a:p>
                      <a:pPr marL="0" algn="l" defTabSz="914400" rtl="0" eaLnBrk="1" latinLnBrk="0" hangingPunct="1"/>
                      <a:endParaRPr lang="en-US" sz="800" b="1"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ROM</a:t>
                      </a:r>
                    </a:p>
                  </a:txBody>
                  <a:tcPr marL="0" marR="0" marT="0" marB="0" anchor="ct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tx1"/>
                          </a:solidFill>
                          <a:latin typeface="+mn-lt"/>
                          <a:ea typeface="+mn-ea"/>
                          <a:cs typeface="+mn-cs"/>
                        </a:rPr>
                        <a:t>-35%</a:t>
                      </a:r>
                    </a:p>
                  </a:txBody>
                  <a:tcPr marL="50800" marR="50800" marT="12700" marB="12700" anchor="ctr">
                    <a:lnT w="12700" cap="flat" cmpd="sng" algn="ctr">
                      <a:solidFill>
                        <a:schemeClr val="tx1"/>
                      </a:solidFill>
                      <a:prstDash val="solid"/>
                      <a:round/>
                      <a:headEnd type="none" w="med" len="med"/>
                      <a:tailEnd type="none" w="med" len="med"/>
                    </a:lnT>
                  </a:tcPr>
                </a:tc>
                <a:tc>
                  <a:txBody>
                    <a:bodyPr/>
                    <a:lstStyle/>
                    <a:p>
                      <a:pPr algn="ctr" fontAlgn="b">
                        <a:buNone/>
                      </a:pPr>
                      <a:r>
                        <a:rPr lang="en-US" sz="800" b="1" kern="1200" dirty="0">
                          <a:solidFill>
                            <a:srgbClr val="00B050"/>
                          </a:solidFill>
                          <a:latin typeface="+mn-lt"/>
                          <a:ea typeface="+mn-ea"/>
                          <a:cs typeface="+mn-cs"/>
                        </a:rPr>
                        <a:t>-46.90%</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20049939"/>
                  </a:ext>
                </a:extLst>
              </a:tr>
              <a:tr h="205724">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RAM</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tx1"/>
                          </a:solidFill>
                          <a:latin typeface="+mn-lt"/>
                          <a:ea typeface="+mn-ea"/>
                          <a:cs typeface="+mn-cs"/>
                        </a:rPr>
                        <a:t>+22%</a:t>
                      </a:r>
                    </a:p>
                  </a:txBody>
                  <a:tcPr marL="50800" marR="50800" marT="12700" marB="12700" anchor="ctr"/>
                </a:tc>
                <a:tc>
                  <a:txBody>
                    <a:bodyPr/>
                    <a:lstStyle/>
                    <a:p>
                      <a:pPr algn="ctr" fontAlgn="b">
                        <a:buNone/>
                      </a:pPr>
                      <a:r>
                        <a:rPr lang="en-US" sz="800" b="1" kern="1200" dirty="0">
                          <a:solidFill>
                            <a:srgbClr val="00B050"/>
                          </a:solidFill>
                          <a:latin typeface="+mn-lt"/>
                          <a:ea typeface="+mn-ea"/>
                          <a:cs typeface="+mn-cs"/>
                        </a:rPr>
                        <a:t>-42.93%</a:t>
                      </a:r>
                    </a:p>
                  </a:txBody>
                  <a:tcPr marL="0" marR="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91236647"/>
                  </a:ext>
                </a:extLst>
              </a:tr>
              <a:tr h="258609">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Init execution time (</a:t>
                      </a:r>
                      <a:r>
                        <a:rPr lang="en-US" sz="800" kern="1200" dirty="0" err="1">
                          <a:solidFill>
                            <a:schemeClr val="dk1"/>
                          </a:solidFill>
                          <a:latin typeface="+mn-lt"/>
                          <a:ea typeface="+mn-ea"/>
                          <a:cs typeface="+mn-cs"/>
                        </a:rPr>
                        <a:t>ms</a:t>
                      </a:r>
                      <a:r>
                        <a:rPr lang="en-US" sz="800" kern="1200" dirty="0">
                          <a:solidFill>
                            <a:schemeClr val="dk1"/>
                          </a:solidFill>
                          <a:latin typeface="+mn-lt"/>
                          <a:ea typeface="+mn-ea"/>
                          <a:cs typeface="+mn-cs"/>
                        </a:rPr>
                        <a:t>) </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schemeClr val="tx1"/>
                          </a:solidFill>
                        </a:rPr>
                        <a:t>-56%</a:t>
                      </a:r>
                    </a:p>
                  </a:txBody>
                  <a:tcP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fontAlgn="b">
                        <a:buNone/>
                      </a:pPr>
                      <a:r>
                        <a:rPr lang="en-US" sz="800" b="1" kern="1200" dirty="0">
                          <a:solidFill>
                            <a:srgbClr val="F68F1E"/>
                          </a:solidFill>
                          <a:latin typeface="+mn-lt"/>
                          <a:ea typeface="+mn-ea"/>
                          <a:cs typeface="+mn-cs"/>
                        </a:rPr>
                        <a:t>-41.67%</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571361046"/>
                  </a:ext>
                </a:extLst>
              </a:tr>
            </a:tbl>
          </a:graphicData>
        </a:graphic>
      </p:graphicFrame>
      <p:graphicFrame>
        <p:nvGraphicFramePr>
          <p:cNvPr id="19" name="Table 18">
            <a:extLst>
              <a:ext uri="{FF2B5EF4-FFF2-40B4-BE49-F238E27FC236}">
                <a16:creationId xmlns:a16="http://schemas.microsoft.com/office/drawing/2014/main" id="{F2983444-020B-3114-77C0-167D2794BAEF}"/>
              </a:ext>
            </a:extLst>
          </p:cNvPr>
          <p:cNvGraphicFramePr>
            <a:graphicFrameLocks noGrp="1"/>
          </p:cNvGraphicFramePr>
          <p:nvPr>
            <p:extLst>
              <p:ext uri="{D42A27DB-BD31-4B8C-83A1-F6EECF244321}">
                <p14:modId xmlns:p14="http://schemas.microsoft.com/office/powerpoint/2010/main" val="894448143"/>
              </p:ext>
            </p:extLst>
          </p:nvPr>
        </p:nvGraphicFramePr>
        <p:xfrm>
          <a:off x="460677" y="1304924"/>
          <a:ext cx="5894404" cy="2467371"/>
        </p:xfrm>
        <a:graphic>
          <a:graphicData uri="http://schemas.openxmlformats.org/drawingml/2006/table">
            <a:tbl>
              <a:tblPr firstRow="1" bandRow="1">
                <a:tableStyleId>{EB344D84-9AFB-497E-A393-DC336BA19D2E}</a:tableStyleId>
              </a:tblPr>
              <a:tblGrid>
                <a:gridCol w="1084898">
                  <a:extLst>
                    <a:ext uri="{9D8B030D-6E8A-4147-A177-3AD203B41FA5}">
                      <a16:colId xmlns:a16="http://schemas.microsoft.com/office/drawing/2014/main" val="1473133747"/>
                    </a:ext>
                  </a:extLst>
                </a:gridCol>
                <a:gridCol w="1115329">
                  <a:extLst>
                    <a:ext uri="{9D8B030D-6E8A-4147-A177-3AD203B41FA5}">
                      <a16:colId xmlns:a16="http://schemas.microsoft.com/office/drawing/2014/main" val="4162598800"/>
                    </a:ext>
                  </a:extLst>
                </a:gridCol>
                <a:gridCol w="1154579">
                  <a:extLst>
                    <a:ext uri="{9D8B030D-6E8A-4147-A177-3AD203B41FA5}">
                      <a16:colId xmlns:a16="http://schemas.microsoft.com/office/drawing/2014/main" val="1196173778"/>
                    </a:ext>
                  </a:extLst>
                </a:gridCol>
                <a:gridCol w="1269799">
                  <a:extLst>
                    <a:ext uri="{9D8B030D-6E8A-4147-A177-3AD203B41FA5}">
                      <a16:colId xmlns:a16="http://schemas.microsoft.com/office/drawing/2014/main" val="2713348666"/>
                    </a:ext>
                  </a:extLst>
                </a:gridCol>
                <a:gridCol w="1269799">
                  <a:extLst>
                    <a:ext uri="{9D8B030D-6E8A-4147-A177-3AD203B41FA5}">
                      <a16:colId xmlns:a16="http://schemas.microsoft.com/office/drawing/2014/main" val="638249204"/>
                    </a:ext>
                  </a:extLst>
                </a:gridCol>
              </a:tblGrid>
              <a:tr h="35815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kern="1200" dirty="0">
                          <a:solidFill>
                            <a:schemeClr val="bg1"/>
                          </a:solidFill>
                          <a:effectLst/>
                          <a:latin typeface="Aptos Narrow" panose="020B0004020202020204" pitchFamily="34" charset="0"/>
                          <a:ea typeface="+mn-ea"/>
                          <a:cs typeface="+mn-cs"/>
                        </a:rPr>
                        <a:t>USBX applications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buNone/>
                      </a:pPr>
                      <a:endParaRPr lang="en-US" sz="1000" b="1" i="0" u="none" strike="noStrike" dirty="0">
                        <a:solidFill>
                          <a:schemeClr val="bg1"/>
                        </a:solidFill>
                        <a:effectLst/>
                        <a:latin typeface="Aptos Narrow" panose="020B00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000" b="1" i="0" u="none" strike="noStrike" dirty="0">
                          <a:solidFill>
                            <a:schemeClr val="bg1"/>
                          </a:solidFill>
                          <a:effectLst/>
                          <a:latin typeface="Aptos Narrow" panose="020B0004020202020204" pitchFamily="34" charset="0"/>
                        </a:rPr>
                        <a:t>STM32H573xx First Configuration </a:t>
                      </a: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000" b="1" i="0" u="none" strike="noStrike" dirty="0">
                          <a:solidFill>
                            <a:schemeClr val="bg1"/>
                          </a:solidFill>
                          <a:effectLst/>
                          <a:latin typeface="Aptos Narrow" panose="020B0004020202020204" pitchFamily="34" charset="0"/>
                        </a:rPr>
                        <a:t>STM32H573xx Low footprint Configuration </a:t>
                      </a: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000" b="1" i="0" u="none" strike="noStrike" dirty="0">
                          <a:solidFill>
                            <a:schemeClr val="bg1"/>
                          </a:solidFill>
                          <a:effectLst/>
                          <a:latin typeface="Aptos Narrow" panose="020B0004020202020204" pitchFamily="34" charset="0"/>
                        </a:rPr>
                        <a:t>Low Footprint Configuration vs First Configuration</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7373398"/>
                  </a:ext>
                </a:extLst>
              </a:tr>
              <a:tr h="205724">
                <a:tc rowSpan="3">
                  <a:txBody>
                    <a:bodyPr/>
                    <a:lstStyle/>
                    <a:p>
                      <a:pPr marL="0" algn="l" defTabSz="914400" rtl="0" eaLnBrk="1" fontAlgn="ctr" latinLnBrk="0" hangingPunct="1">
                        <a:buNone/>
                      </a:pPr>
                      <a:r>
                        <a:rPr lang="en-US" sz="800" b="1" kern="1200" dirty="0">
                          <a:solidFill>
                            <a:schemeClr val="dk1"/>
                          </a:solidFill>
                          <a:latin typeface="+mn-lt"/>
                          <a:ea typeface="+mn-ea"/>
                          <a:cs typeface="+mn-cs"/>
                        </a:rPr>
                        <a:t> CDC Device</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ROM</a:t>
                      </a:r>
                    </a:p>
                  </a:txBody>
                  <a:tcPr marL="0" marR="0" marT="0" marB="0" anchor="ctr">
                    <a:lnT w="12700" cap="flat" cmpd="sng" algn="ctr">
                      <a:solidFill>
                        <a:schemeClr val="tx1"/>
                      </a:solidFill>
                      <a:prstDash val="solid"/>
                      <a:round/>
                      <a:headEnd type="none" w="med" len="med"/>
                      <a:tailEnd type="none" w="med" len="med"/>
                    </a:lnT>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33260</a:t>
                      </a:r>
                    </a:p>
                  </a:txBody>
                  <a:tcPr marL="0" marR="0" marT="0" marB="0" anchor="ctr">
                    <a:lnT w="12700" cap="flat" cmpd="sng" algn="ctr">
                      <a:solidFill>
                        <a:schemeClr val="tx1"/>
                      </a:solidFill>
                      <a:prstDash val="solid"/>
                      <a:round/>
                      <a:headEnd type="none" w="med" len="med"/>
                      <a:tailEnd type="none" w="med" len="med"/>
                    </a:lnT>
                  </a:tcPr>
                </a:tc>
                <a:tc>
                  <a:txBody>
                    <a:bodyPr/>
                    <a:lstStyle/>
                    <a:p>
                      <a:pPr marL="0" algn="ctr" defTabSz="914400" rtl="0" eaLnBrk="1" fontAlgn="b" latinLnBrk="0" hangingPunct="1">
                        <a:buNone/>
                      </a:pPr>
                      <a:r>
                        <a:rPr lang="en-US" sz="800" b="1" kern="1200">
                          <a:solidFill>
                            <a:schemeClr val="tx1"/>
                          </a:solidFill>
                          <a:latin typeface="+mn-lt"/>
                          <a:ea typeface="+mn-ea"/>
                          <a:cs typeface="+mn-cs"/>
                        </a:rPr>
                        <a:t>33284</a:t>
                      </a:r>
                    </a:p>
                  </a:txBody>
                  <a:tcPr marL="0" marR="0" marT="0" marB="0" anchor="ctr">
                    <a:lnT w="12700" cap="flat" cmpd="sng" algn="ctr">
                      <a:solidFill>
                        <a:schemeClr val="tx1"/>
                      </a:solidFill>
                      <a:prstDash val="solid"/>
                      <a:round/>
                      <a:headEnd type="none" w="med" len="med"/>
                      <a:tailEnd type="none" w="med" len="med"/>
                    </a:lnT>
                  </a:tcPr>
                </a:tc>
                <a:tc>
                  <a:txBody>
                    <a:bodyPr/>
                    <a:lstStyle/>
                    <a:p>
                      <a:pPr marL="0" algn="ctr" defTabSz="914400" rtl="0" eaLnBrk="1" fontAlgn="b" latinLnBrk="0" hangingPunct="1">
                        <a:buNone/>
                      </a:pPr>
                      <a:r>
                        <a:rPr lang="en-US" sz="800" b="0" kern="1200" dirty="0">
                          <a:solidFill>
                            <a:srgbClr val="FF0000"/>
                          </a:solidFill>
                          <a:latin typeface="+mn-lt"/>
                          <a:ea typeface="+mn-ea"/>
                          <a:cs typeface="+mn-cs"/>
                        </a:rPr>
                        <a:t>0.07%</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89852517"/>
                  </a:ext>
                </a:extLst>
              </a:tr>
              <a:tr h="205724">
                <a:tc vMerge="1">
                  <a:txBody>
                    <a:bodyPr/>
                    <a:lstStyle/>
                    <a:p>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RAM</a:t>
                      </a:r>
                    </a:p>
                  </a:txBody>
                  <a:tcPr marL="0" marR="0" marT="0" marB="0" anchor="ctr"/>
                </a:tc>
                <a:tc>
                  <a:txBody>
                    <a:bodyPr/>
                    <a:lstStyle/>
                    <a:p>
                      <a:pPr marL="0" algn="ctr" defTabSz="914400" rtl="0" eaLnBrk="1" fontAlgn="b" latinLnBrk="0" hangingPunct="1">
                        <a:buNone/>
                      </a:pPr>
                      <a:r>
                        <a:rPr lang="en-US" sz="800" b="1" kern="1200" dirty="0">
                          <a:solidFill>
                            <a:schemeClr val="tx1"/>
                          </a:solidFill>
                          <a:latin typeface="+mn-lt"/>
                          <a:ea typeface="+mn-ea"/>
                          <a:cs typeface="+mn-cs"/>
                        </a:rPr>
                        <a:t>18,830</a:t>
                      </a:r>
                    </a:p>
                  </a:txBody>
                  <a:tcPr marL="0" marR="0" marT="0" marB="0" anchor="ctr"/>
                </a:tc>
                <a:tc>
                  <a:txBody>
                    <a:bodyPr/>
                    <a:lstStyle/>
                    <a:p>
                      <a:pPr marL="0" algn="ctr" defTabSz="914400" rtl="0" eaLnBrk="1" fontAlgn="b" latinLnBrk="0" hangingPunct="1">
                        <a:buNone/>
                      </a:pPr>
                      <a:r>
                        <a:rPr lang="en-US" sz="800" b="1" kern="1200" dirty="0">
                          <a:solidFill>
                            <a:schemeClr val="tx1"/>
                          </a:solidFill>
                          <a:latin typeface="+mn-lt"/>
                          <a:ea typeface="+mn-ea"/>
                          <a:cs typeface="+mn-cs"/>
                        </a:rPr>
                        <a:t>17,422</a:t>
                      </a:r>
                    </a:p>
                  </a:txBody>
                  <a:tcPr marL="0" marR="0" marT="0" marB="0" anchor="ctr"/>
                </a:tc>
                <a:tc>
                  <a:txBody>
                    <a:bodyPr/>
                    <a:lstStyle/>
                    <a:p>
                      <a:pPr marL="0" algn="ctr" defTabSz="914400" rtl="0" eaLnBrk="1" fontAlgn="b" latinLnBrk="0" hangingPunct="1">
                        <a:buNone/>
                      </a:pPr>
                      <a:r>
                        <a:rPr lang="en-US" sz="800" b="1" kern="1200" dirty="0">
                          <a:solidFill>
                            <a:srgbClr val="00B050"/>
                          </a:solidFill>
                          <a:latin typeface="+mn-lt"/>
                          <a:ea typeface="+mn-ea"/>
                          <a:cs typeface="+mn-cs"/>
                        </a:rPr>
                        <a:t>-7.48%</a:t>
                      </a:r>
                    </a:p>
                  </a:txBody>
                  <a:tcPr marL="0" marR="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65877290"/>
                  </a:ext>
                </a:extLst>
              </a:tr>
              <a:tr h="258609">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Init execution time (</a:t>
                      </a:r>
                      <a:r>
                        <a:rPr lang="en-US" sz="800" kern="1200" dirty="0" err="1">
                          <a:solidFill>
                            <a:schemeClr val="dk1"/>
                          </a:solidFill>
                          <a:latin typeface="+mn-lt"/>
                          <a:ea typeface="+mn-ea"/>
                          <a:cs typeface="+mn-cs"/>
                        </a:rPr>
                        <a:t>ms</a:t>
                      </a:r>
                      <a:r>
                        <a:rPr lang="en-US" sz="800" kern="1200" dirty="0">
                          <a:solidFill>
                            <a:schemeClr val="dk1"/>
                          </a:solidFill>
                          <a:latin typeface="+mn-lt"/>
                          <a:ea typeface="+mn-ea"/>
                          <a:cs typeface="+mn-cs"/>
                        </a:rPr>
                        <a:t>) </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0.6</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0.5</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b" latinLnBrk="0" hangingPunct="1">
                        <a:buNone/>
                      </a:pPr>
                      <a:r>
                        <a:rPr lang="en-US" sz="800" b="0" kern="1200" dirty="0">
                          <a:solidFill>
                            <a:srgbClr val="00B050"/>
                          </a:solidFill>
                          <a:latin typeface="+mn-lt"/>
                          <a:ea typeface="+mn-ea"/>
                          <a:cs typeface="+mn-cs"/>
                        </a:rPr>
                        <a:t>-16.67%</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167151039"/>
                  </a:ext>
                </a:extLst>
              </a:tr>
              <a:tr h="205724">
                <a:tc rowSpan="3">
                  <a:txBody>
                    <a:bodyPr/>
                    <a:lstStyle/>
                    <a:p>
                      <a:pPr marL="0" algn="l" defTabSz="914400" rtl="0" eaLnBrk="1" latinLnBrk="0" hangingPunct="1"/>
                      <a:r>
                        <a:rPr lang="en-US" sz="800" b="1" kern="1200" dirty="0">
                          <a:solidFill>
                            <a:schemeClr val="dk1"/>
                          </a:solidFill>
                          <a:latin typeface="+mn-lt"/>
                          <a:ea typeface="+mn-ea"/>
                          <a:cs typeface="+mn-cs"/>
                        </a:rPr>
                        <a:t>HID Host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ROM</a:t>
                      </a:r>
                    </a:p>
                  </a:txBody>
                  <a:tcPr marL="0" marR="0" marT="0" marB="0" anchor="ctr">
                    <a:lnT w="12700" cap="flat" cmpd="sng" algn="ctr">
                      <a:solidFill>
                        <a:schemeClr val="tx1"/>
                      </a:solidFill>
                      <a:prstDash val="solid"/>
                      <a:round/>
                      <a:headEnd type="none" w="med" len="med"/>
                      <a:tailEnd type="none" w="med" len="med"/>
                    </a:lnT>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54,095</a:t>
                      </a:r>
                    </a:p>
                  </a:txBody>
                  <a:tcPr marL="0" marR="0" marT="0" marB="0" anchor="ctr">
                    <a:lnT w="12700" cap="flat" cmpd="sng" algn="ctr">
                      <a:solidFill>
                        <a:schemeClr val="tx1"/>
                      </a:solidFill>
                      <a:prstDash val="solid"/>
                      <a:round/>
                      <a:headEnd type="none" w="med" len="med"/>
                      <a:tailEnd type="none" w="med" len="med"/>
                    </a:lnT>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52655</a:t>
                      </a:r>
                    </a:p>
                  </a:txBody>
                  <a:tcPr marL="0" marR="0" marT="0" marB="0" anchor="ctr">
                    <a:lnT w="12700" cap="flat" cmpd="sng" algn="ctr">
                      <a:solidFill>
                        <a:schemeClr val="tx1"/>
                      </a:solidFill>
                      <a:prstDash val="solid"/>
                      <a:round/>
                      <a:headEnd type="none" w="med" len="med"/>
                      <a:tailEnd type="none" w="med" len="med"/>
                    </a:lnT>
                  </a:tcPr>
                </a:tc>
                <a:tc>
                  <a:txBody>
                    <a:bodyPr/>
                    <a:lstStyle/>
                    <a:p>
                      <a:pPr marL="0" algn="ctr" defTabSz="914400" rtl="0" eaLnBrk="1" fontAlgn="b" latinLnBrk="0" hangingPunct="1">
                        <a:buNone/>
                      </a:pPr>
                      <a:r>
                        <a:rPr lang="en-US" sz="800" b="0" kern="1200" dirty="0">
                          <a:solidFill>
                            <a:srgbClr val="00B050"/>
                          </a:solidFill>
                          <a:latin typeface="+mn-lt"/>
                          <a:ea typeface="+mn-ea"/>
                          <a:cs typeface="+mn-cs"/>
                        </a:rPr>
                        <a:t>-2.66%</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743761847"/>
                  </a:ext>
                </a:extLst>
              </a:tr>
              <a:tr h="205724">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RAM</a:t>
                      </a:r>
                    </a:p>
                  </a:txBody>
                  <a:tcPr marL="0" marR="0" marT="0" marB="0" anchor="ctr"/>
                </a:tc>
                <a:tc>
                  <a:txBody>
                    <a:bodyPr/>
                    <a:lstStyle/>
                    <a:p>
                      <a:pPr marL="0" algn="ctr" defTabSz="914400" rtl="0" eaLnBrk="1" fontAlgn="b" latinLnBrk="0" hangingPunct="1">
                        <a:buNone/>
                      </a:pPr>
                      <a:r>
                        <a:rPr lang="en-US" sz="800" b="1" kern="1200" dirty="0">
                          <a:solidFill>
                            <a:schemeClr val="tx1"/>
                          </a:solidFill>
                          <a:latin typeface="+mn-lt"/>
                          <a:ea typeface="+mn-ea"/>
                          <a:cs typeface="+mn-cs"/>
                        </a:rPr>
                        <a:t>43,733</a:t>
                      </a:r>
                    </a:p>
                  </a:txBody>
                  <a:tcPr marL="0" marR="0" marT="0" marB="0" anchor="ctr"/>
                </a:tc>
                <a:tc>
                  <a:txBody>
                    <a:bodyPr/>
                    <a:lstStyle/>
                    <a:p>
                      <a:pPr marL="0" algn="ctr" defTabSz="914400" rtl="0" eaLnBrk="1" fontAlgn="b" latinLnBrk="0" hangingPunct="1">
                        <a:buNone/>
                      </a:pPr>
                      <a:r>
                        <a:rPr lang="en-US" sz="800" b="1" kern="1200" dirty="0">
                          <a:solidFill>
                            <a:schemeClr val="tx1"/>
                          </a:solidFill>
                          <a:latin typeface="+mn-lt"/>
                          <a:ea typeface="+mn-ea"/>
                          <a:cs typeface="+mn-cs"/>
                        </a:rPr>
                        <a:t>36,657</a:t>
                      </a:r>
                    </a:p>
                  </a:txBody>
                  <a:tcPr marL="0" marR="0" marT="0" marB="0" anchor="ctr"/>
                </a:tc>
                <a:tc>
                  <a:txBody>
                    <a:bodyPr/>
                    <a:lstStyle/>
                    <a:p>
                      <a:pPr marL="0" algn="ctr" defTabSz="914400" rtl="0" eaLnBrk="1" fontAlgn="b" latinLnBrk="0" hangingPunct="1">
                        <a:buNone/>
                      </a:pPr>
                      <a:r>
                        <a:rPr lang="en-US" sz="800" b="1" kern="1200" dirty="0">
                          <a:solidFill>
                            <a:srgbClr val="00B050"/>
                          </a:solidFill>
                          <a:latin typeface="+mn-lt"/>
                          <a:ea typeface="+mn-ea"/>
                          <a:cs typeface="+mn-cs"/>
                        </a:rPr>
                        <a:t>-16.18%</a:t>
                      </a:r>
                    </a:p>
                  </a:txBody>
                  <a:tcPr marL="0" marR="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27317584"/>
                  </a:ext>
                </a:extLst>
              </a:tr>
              <a:tr h="258609">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Init execution time (</a:t>
                      </a:r>
                      <a:r>
                        <a:rPr lang="en-US" sz="800" kern="1200" dirty="0" err="1">
                          <a:solidFill>
                            <a:schemeClr val="dk1"/>
                          </a:solidFill>
                          <a:latin typeface="+mn-lt"/>
                          <a:ea typeface="+mn-ea"/>
                          <a:cs typeface="+mn-cs"/>
                        </a:rPr>
                        <a:t>ms</a:t>
                      </a:r>
                      <a:r>
                        <a:rPr lang="en-US" sz="800" kern="1200" dirty="0">
                          <a:solidFill>
                            <a:schemeClr val="dk1"/>
                          </a:solidFill>
                          <a:latin typeface="+mn-lt"/>
                          <a:ea typeface="+mn-ea"/>
                          <a:cs typeface="+mn-cs"/>
                        </a:rPr>
                        <a:t>) </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0.97</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0.71</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b" latinLnBrk="0" hangingPunct="1">
                        <a:buNone/>
                      </a:pPr>
                      <a:r>
                        <a:rPr lang="en-US" sz="800" b="0" kern="1200" dirty="0">
                          <a:solidFill>
                            <a:srgbClr val="00B050"/>
                          </a:solidFill>
                          <a:latin typeface="+mn-lt"/>
                          <a:ea typeface="+mn-ea"/>
                          <a:cs typeface="+mn-cs"/>
                        </a:rPr>
                        <a:t>-26.80%</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953078685"/>
                  </a:ext>
                </a:extLst>
              </a:tr>
              <a:tr h="205724">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dirty="0">
                          <a:solidFill>
                            <a:schemeClr val="dk1"/>
                          </a:solidFill>
                          <a:latin typeface="+mn-lt"/>
                          <a:ea typeface="+mn-ea"/>
                          <a:cs typeface="+mn-cs"/>
                        </a:rPr>
                        <a:t> MSC Host</a:t>
                      </a:r>
                    </a:p>
                    <a:p>
                      <a:pPr marL="0" algn="l" defTabSz="914400" rtl="0" eaLnBrk="1" latinLnBrk="0" hangingPunct="1"/>
                      <a:endParaRPr lang="en-US" sz="800" b="1"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ROM</a:t>
                      </a:r>
                    </a:p>
                  </a:txBody>
                  <a:tcPr marL="0" marR="0" marT="0" marB="0" anchor="ctr">
                    <a:lnT w="12700" cap="flat" cmpd="sng" algn="ctr">
                      <a:solidFill>
                        <a:schemeClr val="tx1"/>
                      </a:solidFill>
                      <a:prstDash val="solid"/>
                      <a:round/>
                      <a:headEnd type="none" w="med" len="med"/>
                      <a:tailEnd type="none" w="med" len="med"/>
                    </a:lnT>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70480</a:t>
                      </a:r>
                    </a:p>
                  </a:txBody>
                  <a:tcPr marL="0" marR="0" marT="0" marB="0" anchor="ctr">
                    <a:lnT w="12700" cap="flat" cmpd="sng" algn="ctr">
                      <a:solidFill>
                        <a:schemeClr val="tx1"/>
                      </a:solidFill>
                      <a:prstDash val="solid"/>
                      <a:round/>
                      <a:headEnd type="none" w="med" len="med"/>
                      <a:tailEnd type="none" w="med" len="med"/>
                    </a:lnT>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70476</a:t>
                      </a:r>
                    </a:p>
                  </a:txBody>
                  <a:tcPr marL="0" marR="0" marT="0" marB="0" anchor="ctr">
                    <a:lnT w="12700" cap="flat" cmpd="sng" algn="ctr">
                      <a:solidFill>
                        <a:schemeClr val="tx1"/>
                      </a:solidFill>
                      <a:prstDash val="solid"/>
                      <a:round/>
                      <a:headEnd type="none" w="med" len="med"/>
                      <a:tailEnd type="none" w="med" len="med"/>
                    </a:lnT>
                  </a:tcPr>
                </a:tc>
                <a:tc>
                  <a:txBody>
                    <a:bodyPr/>
                    <a:lstStyle/>
                    <a:p>
                      <a:pPr marL="0" algn="ctr" defTabSz="914400" rtl="0" eaLnBrk="1" fontAlgn="b" latinLnBrk="0" hangingPunct="1">
                        <a:buNone/>
                      </a:pPr>
                      <a:r>
                        <a:rPr lang="en-US" sz="800" b="0" kern="1200" dirty="0">
                          <a:solidFill>
                            <a:srgbClr val="00B050"/>
                          </a:solidFill>
                          <a:latin typeface="+mn-lt"/>
                          <a:ea typeface="+mn-ea"/>
                          <a:cs typeface="+mn-cs"/>
                        </a:rPr>
                        <a:t>-0.01%</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20049939"/>
                  </a:ext>
                </a:extLst>
              </a:tr>
              <a:tr h="205724">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RAM</a:t>
                      </a:r>
                    </a:p>
                  </a:txBody>
                  <a:tcPr marL="0" marR="0" marT="0" marB="0" anchor="ctr"/>
                </a:tc>
                <a:tc>
                  <a:txBody>
                    <a:bodyPr/>
                    <a:lstStyle/>
                    <a:p>
                      <a:pPr marL="0" algn="ctr" defTabSz="914400" rtl="0" eaLnBrk="1" fontAlgn="b" latinLnBrk="0" hangingPunct="1">
                        <a:buNone/>
                      </a:pPr>
                      <a:r>
                        <a:rPr lang="en-US" sz="800" b="1" kern="1200">
                          <a:solidFill>
                            <a:schemeClr val="tx1"/>
                          </a:solidFill>
                          <a:latin typeface="+mn-lt"/>
                          <a:ea typeface="+mn-ea"/>
                          <a:cs typeface="+mn-cs"/>
                        </a:rPr>
                        <a:t>108,109</a:t>
                      </a:r>
                    </a:p>
                  </a:txBody>
                  <a:tcPr marL="0" marR="0" marT="0" marB="0" anchor="ctr"/>
                </a:tc>
                <a:tc>
                  <a:txBody>
                    <a:bodyPr/>
                    <a:lstStyle/>
                    <a:p>
                      <a:pPr marL="0" algn="ctr" defTabSz="914400" rtl="0" eaLnBrk="1" fontAlgn="b" latinLnBrk="0" hangingPunct="1">
                        <a:buNone/>
                      </a:pPr>
                      <a:r>
                        <a:rPr lang="en-US" sz="800" b="1" kern="1200" dirty="0">
                          <a:solidFill>
                            <a:schemeClr val="tx1"/>
                          </a:solidFill>
                          <a:latin typeface="+mn-lt"/>
                          <a:ea typeface="+mn-ea"/>
                          <a:cs typeface="+mn-cs"/>
                        </a:rPr>
                        <a:t>69,197</a:t>
                      </a:r>
                    </a:p>
                  </a:txBody>
                  <a:tcPr marL="0" marR="0" marT="0" marB="0" anchor="ctr"/>
                </a:tc>
                <a:tc>
                  <a:txBody>
                    <a:bodyPr/>
                    <a:lstStyle/>
                    <a:p>
                      <a:pPr marL="0" algn="ctr" defTabSz="914400" rtl="0" eaLnBrk="1" fontAlgn="b" latinLnBrk="0" hangingPunct="1">
                        <a:buNone/>
                      </a:pPr>
                      <a:r>
                        <a:rPr lang="en-US" sz="800" b="1" kern="1200" dirty="0">
                          <a:solidFill>
                            <a:srgbClr val="00B050"/>
                          </a:solidFill>
                          <a:latin typeface="+mn-lt"/>
                          <a:ea typeface="+mn-ea"/>
                          <a:cs typeface="+mn-cs"/>
                        </a:rPr>
                        <a:t>-35.99%</a:t>
                      </a:r>
                    </a:p>
                  </a:txBody>
                  <a:tcPr marL="0" marR="0" marT="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91236647"/>
                  </a:ext>
                </a:extLst>
              </a:tr>
              <a:tr h="258609">
                <a:tc vMerge="1">
                  <a:txBody>
                    <a:bodyPr/>
                    <a:lstStyle/>
                    <a:p>
                      <a:pPr algn="ctr"/>
                      <a:endParaRPr lang="en-US" sz="800" dirty="0">
                        <a:solidFill>
                          <a:schemeClr val="tx1"/>
                        </a:solidFill>
                      </a:endParaRPr>
                    </a:p>
                  </a:txBody>
                  <a:tcPr/>
                </a:tc>
                <a:tc>
                  <a:txBody>
                    <a:bodyPr/>
                    <a:lstStyle/>
                    <a:p>
                      <a:pPr marL="0" algn="l" defTabSz="914400" rtl="0" eaLnBrk="1" fontAlgn="b" latinLnBrk="0" hangingPunct="1">
                        <a:buNone/>
                      </a:pPr>
                      <a:r>
                        <a:rPr lang="en-US" sz="800" kern="1200" dirty="0">
                          <a:solidFill>
                            <a:schemeClr val="dk1"/>
                          </a:solidFill>
                          <a:latin typeface="+mn-lt"/>
                          <a:ea typeface="+mn-ea"/>
                          <a:cs typeface="+mn-cs"/>
                        </a:rPr>
                        <a:t>Init execution time (</a:t>
                      </a:r>
                      <a:r>
                        <a:rPr lang="en-US" sz="800" kern="1200" dirty="0" err="1">
                          <a:solidFill>
                            <a:schemeClr val="dk1"/>
                          </a:solidFill>
                          <a:latin typeface="+mn-lt"/>
                          <a:ea typeface="+mn-ea"/>
                          <a:cs typeface="+mn-cs"/>
                        </a:rPr>
                        <a:t>ms</a:t>
                      </a:r>
                      <a:r>
                        <a:rPr lang="en-US" sz="800" kern="1200" dirty="0">
                          <a:solidFill>
                            <a:schemeClr val="dk1"/>
                          </a:solidFill>
                          <a:latin typeface="+mn-lt"/>
                          <a:ea typeface="+mn-ea"/>
                          <a:cs typeface="+mn-cs"/>
                        </a:rPr>
                        <a:t>) </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2.77</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b" latinLnBrk="0" hangingPunct="1">
                        <a:buNone/>
                      </a:pPr>
                      <a:r>
                        <a:rPr lang="en-US" sz="800" b="1" kern="1200" dirty="0">
                          <a:solidFill>
                            <a:schemeClr val="tx1"/>
                          </a:solidFill>
                          <a:latin typeface="+mn-lt"/>
                          <a:ea typeface="+mn-ea"/>
                          <a:cs typeface="+mn-cs"/>
                        </a:rPr>
                        <a:t>2.24</a:t>
                      </a:r>
                    </a:p>
                  </a:txBody>
                  <a:tcPr marL="0" marR="0" marT="0" marB="0" anchor="ctr">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algn="ctr" defTabSz="914400" rtl="0" eaLnBrk="1" fontAlgn="b" latinLnBrk="0" hangingPunct="1">
                        <a:buNone/>
                      </a:pPr>
                      <a:r>
                        <a:rPr lang="en-US" sz="800" b="0" kern="1200" dirty="0">
                          <a:solidFill>
                            <a:srgbClr val="00B050"/>
                          </a:solidFill>
                          <a:latin typeface="+mn-lt"/>
                          <a:ea typeface="+mn-ea"/>
                          <a:cs typeface="+mn-cs"/>
                        </a:rPr>
                        <a:t>-19.13%</a:t>
                      </a:r>
                    </a:p>
                  </a:txBody>
                  <a:tcPr marL="0" marR="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571361046"/>
                  </a:ext>
                </a:extLst>
              </a:tr>
            </a:tbl>
          </a:graphicData>
        </a:graphic>
      </p:graphicFrame>
      <p:sp>
        <p:nvSpPr>
          <p:cNvPr id="20" name="Rectangle 19">
            <a:extLst>
              <a:ext uri="{FF2B5EF4-FFF2-40B4-BE49-F238E27FC236}">
                <a16:creationId xmlns:a16="http://schemas.microsoft.com/office/drawing/2014/main" id="{F2E88DF0-9A59-CA57-63F5-E7D94C490BCF}"/>
              </a:ext>
            </a:extLst>
          </p:cNvPr>
          <p:cNvSpPr/>
          <p:nvPr/>
        </p:nvSpPr>
        <p:spPr>
          <a:xfrm>
            <a:off x="6480048" y="6067423"/>
            <a:ext cx="5429148" cy="52708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sz="1000" dirty="0">
                <a:solidFill>
                  <a:schemeClr val="tx1"/>
                </a:solidFill>
              </a:rPr>
              <a:t>By applying the same low footprint optimizations on Renesas projects (to keep same scenario), these latter have significant gain also, but STM32 ROM and RAM footprint still better than Renesas.</a:t>
            </a:r>
          </a:p>
        </p:txBody>
      </p:sp>
      <p:pic>
        <p:nvPicPr>
          <p:cNvPr id="22" name="Picture 21">
            <a:extLst>
              <a:ext uri="{FF2B5EF4-FFF2-40B4-BE49-F238E27FC236}">
                <a16:creationId xmlns:a16="http://schemas.microsoft.com/office/drawing/2014/main" id="{1531DA95-DD53-5C14-E1DB-FD9183EFE37D}"/>
              </a:ext>
            </a:extLst>
          </p:cNvPr>
          <p:cNvPicPr>
            <a:picLocks noChangeAspect="1"/>
          </p:cNvPicPr>
          <p:nvPr/>
        </p:nvPicPr>
        <p:blipFill>
          <a:blip r:embed="rId2"/>
          <a:stretch>
            <a:fillRect/>
          </a:stretch>
        </p:blipFill>
        <p:spPr>
          <a:xfrm>
            <a:off x="7211791" y="1286466"/>
            <a:ext cx="3541759" cy="2160993"/>
          </a:xfrm>
          <a:prstGeom prst="rect">
            <a:avLst/>
          </a:prstGeom>
        </p:spPr>
      </p:pic>
    </p:spTree>
    <p:extLst>
      <p:ext uri="{BB962C8B-B14F-4D97-AF65-F5344CB8AC3E}">
        <p14:creationId xmlns:p14="http://schemas.microsoft.com/office/powerpoint/2010/main" val="1868878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66438-C585-02D2-028F-433C43909202}"/>
            </a:ext>
          </a:extLst>
        </p:cNvPr>
        <p:cNvGrpSpPr/>
        <p:nvPr/>
      </p:nvGrpSpPr>
      <p:grpSpPr>
        <a:xfrm>
          <a:off x="0" y="0"/>
          <a:ext cx="0" cy="0"/>
          <a:chOff x="0" y="0"/>
          <a:chExt cx="0" cy="0"/>
        </a:xfrm>
      </p:grpSpPr>
      <p:sp>
        <p:nvSpPr>
          <p:cNvPr id="88" name="TextBox 87">
            <a:extLst>
              <a:ext uri="{FF2B5EF4-FFF2-40B4-BE49-F238E27FC236}">
                <a16:creationId xmlns:a16="http://schemas.microsoft.com/office/drawing/2014/main" id="{ED484498-88C9-FE81-0DED-E079ABA1B594}"/>
              </a:ext>
            </a:extLst>
          </p:cNvPr>
          <p:cNvSpPr txBox="1"/>
          <p:nvPr/>
        </p:nvSpPr>
        <p:spPr>
          <a:xfrm>
            <a:off x="6206540" y="1199676"/>
            <a:ext cx="5561788" cy="461665"/>
          </a:xfrm>
          <a:prstGeom prst="rect">
            <a:avLst/>
          </a:prstGeom>
          <a:noFill/>
        </p:spPr>
        <p:txBody>
          <a:bodyPr wrap="square" rtlCol="0">
            <a:spAutoFit/>
          </a:bodyPr>
          <a:lstStyle/>
          <a:p>
            <a:r>
              <a:rPr lang="en-US" sz="1400" b="1" dirty="0">
                <a:solidFill>
                  <a:srgbClr val="0070C0"/>
                </a:solidFill>
              </a:rPr>
              <a:t>BareMetal mode : ST/NXP USB Library USB HID device class</a:t>
            </a:r>
          </a:p>
          <a:p>
            <a:r>
              <a:rPr lang="en-US" sz="1000" b="1" dirty="0">
                <a:solidFill>
                  <a:srgbClr val="002060"/>
                </a:solidFill>
              </a:rPr>
              <a:t>STM32U575xx (CM33) vs MCX-N9 XX (CM33)</a:t>
            </a:r>
          </a:p>
        </p:txBody>
      </p:sp>
      <p:cxnSp>
        <p:nvCxnSpPr>
          <p:cNvPr id="89" name="Straight Connector 88">
            <a:extLst>
              <a:ext uri="{FF2B5EF4-FFF2-40B4-BE49-F238E27FC236}">
                <a16:creationId xmlns:a16="http://schemas.microsoft.com/office/drawing/2014/main" id="{FC46472E-4CAD-0B6D-6ED2-AEAF8D43337E}"/>
              </a:ext>
            </a:extLst>
          </p:cNvPr>
          <p:cNvCxnSpPr>
            <a:cxnSpLocks/>
          </p:cNvCxnSpPr>
          <p:nvPr/>
        </p:nvCxnSpPr>
        <p:spPr>
          <a:xfrm flipH="1" flipV="1">
            <a:off x="6083340" y="1411101"/>
            <a:ext cx="12660" cy="5356379"/>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sp>
        <p:nvSpPr>
          <p:cNvPr id="90" name="TextBox 89">
            <a:extLst>
              <a:ext uri="{FF2B5EF4-FFF2-40B4-BE49-F238E27FC236}">
                <a16:creationId xmlns:a16="http://schemas.microsoft.com/office/drawing/2014/main" id="{BD40CD94-D356-FBAE-CCA0-D22CE6061C73}"/>
              </a:ext>
            </a:extLst>
          </p:cNvPr>
          <p:cNvSpPr txBox="1"/>
          <p:nvPr/>
        </p:nvSpPr>
        <p:spPr>
          <a:xfrm>
            <a:off x="116732" y="1179447"/>
            <a:ext cx="5435896" cy="461665"/>
          </a:xfrm>
          <a:prstGeom prst="rect">
            <a:avLst/>
          </a:prstGeom>
          <a:noFill/>
        </p:spPr>
        <p:txBody>
          <a:bodyPr wrap="square" rtlCol="0">
            <a:spAutoFit/>
          </a:bodyPr>
          <a:lstStyle/>
          <a:p>
            <a:r>
              <a:rPr lang="en-US" sz="1400" b="1" dirty="0">
                <a:solidFill>
                  <a:srgbClr val="0070C0"/>
                </a:solidFill>
              </a:rPr>
              <a:t>BareMetal mode : ST/NXP USB Library CDC device class</a:t>
            </a:r>
          </a:p>
          <a:p>
            <a:r>
              <a:rPr lang="en-US" sz="1000" b="1" dirty="0">
                <a:solidFill>
                  <a:srgbClr val="002060"/>
                </a:solidFill>
              </a:rPr>
              <a:t>STM32U575xx (CM33) vs MCX-N9 XX (CM33)</a:t>
            </a:r>
          </a:p>
        </p:txBody>
      </p:sp>
      <p:grpSp>
        <p:nvGrpSpPr>
          <p:cNvPr id="242" name="Group 241">
            <a:extLst>
              <a:ext uri="{FF2B5EF4-FFF2-40B4-BE49-F238E27FC236}">
                <a16:creationId xmlns:a16="http://schemas.microsoft.com/office/drawing/2014/main" id="{D1D5C9BC-6F44-5A96-B944-D96FF24C14F6}"/>
              </a:ext>
            </a:extLst>
          </p:cNvPr>
          <p:cNvGrpSpPr/>
          <p:nvPr/>
        </p:nvGrpSpPr>
        <p:grpSpPr>
          <a:xfrm>
            <a:off x="6615168" y="2075757"/>
            <a:ext cx="5364137" cy="3582567"/>
            <a:chOff x="7715355" y="1881323"/>
            <a:chExt cx="4697338" cy="3119226"/>
          </a:xfrm>
        </p:grpSpPr>
        <p:cxnSp>
          <p:nvCxnSpPr>
            <p:cNvPr id="76" name="Connector: Elbow 75">
              <a:extLst>
                <a:ext uri="{FF2B5EF4-FFF2-40B4-BE49-F238E27FC236}">
                  <a16:creationId xmlns:a16="http://schemas.microsoft.com/office/drawing/2014/main" id="{6D33C695-4E9B-3841-60BD-636F757FE5DB}"/>
                </a:ext>
              </a:extLst>
            </p:cNvPr>
            <p:cNvCxnSpPr>
              <a:cxnSpLocks/>
              <a:stCxn id="36" idx="3"/>
              <a:endCxn id="36" idx="0"/>
            </p:cNvCxnSpPr>
            <p:nvPr/>
          </p:nvCxnSpPr>
          <p:spPr>
            <a:xfrm flipH="1" flipV="1">
              <a:off x="8469213" y="3331550"/>
              <a:ext cx="743747" cy="242993"/>
            </a:xfrm>
            <a:prstGeom prst="bentConnector4">
              <a:avLst>
                <a:gd name="adj1" fmla="val -30736"/>
                <a:gd name="adj2" fmla="val 152265"/>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F0C49ADF-E9F1-BB56-48CA-2482BE1E06A5}"/>
                </a:ext>
              </a:extLst>
            </p:cNvPr>
            <p:cNvGrpSpPr/>
            <p:nvPr/>
          </p:nvGrpSpPr>
          <p:grpSpPr>
            <a:xfrm>
              <a:off x="7715355" y="1881323"/>
              <a:ext cx="4697338" cy="3119226"/>
              <a:chOff x="97666" y="1814154"/>
              <a:chExt cx="4697338" cy="3119226"/>
            </a:xfrm>
          </p:grpSpPr>
          <p:grpSp>
            <p:nvGrpSpPr>
              <p:cNvPr id="91" name="Group 90">
                <a:extLst>
                  <a:ext uri="{FF2B5EF4-FFF2-40B4-BE49-F238E27FC236}">
                    <a16:creationId xmlns:a16="http://schemas.microsoft.com/office/drawing/2014/main" id="{C52D732F-0CED-F32F-791A-767D380AFA4D}"/>
                  </a:ext>
                </a:extLst>
              </p:cNvPr>
              <p:cNvGrpSpPr/>
              <p:nvPr/>
            </p:nvGrpSpPr>
            <p:grpSpPr>
              <a:xfrm>
                <a:off x="97666" y="1814154"/>
                <a:ext cx="1801636" cy="2987143"/>
                <a:chOff x="97666" y="1814154"/>
                <a:chExt cx="1801636" cy="2987143"/>
              </a:xfrm>
            </p:grpSpPr>
            <p:grpSp>
              <p:nvGrpSpPr>
                <p:cNvPr id="5" name="Group 4">
                  <a:extLst>
                    <a:ext uri="{FF2B5EF4-FFF2-40B4-BE49-F238E27FC236}">
                      <a16:creationId xmlns:a16="http://schemas.microsoft.com/office/drawing/2014/main" id="{B335F501-1C7E-33AB-281C-40100B593B7F}"/>
                    </a:ext>
                  </a:extLst>
                </p:cNvPr>
                <p:cNvGrpSpPr/>
                <p:nvPr/>
              </p:nvGrpSpPr>
              <p:grpSpPr>
                <a:xfrm>
                  <a:off x="97666" y="1814154"/>
                  <a:ext cx="1737627" cy="2987143"/>
                  <a:chOff x="857847" y="1024959"/>
                  <a:chExt cx="1612604" cy="3065912"/>
                </a:xfrm>
              </p:grpSpPr>
              <p:grpSp>
                <p:nvGrpSpPr>
                  <p:cNvPr id="21" name="Group 20">
                    <a:extLst>
                      <a:ext uri="{FF2B5EF4-FFF2-40B4-BE49-F238E27FC236}">
                        <a16:creationId xmlns:a16="http://schemas.microsoft.com/office/drawing/2014/main" id="{A93E608E-46FB-05D9-FAF0-7746AE9B4954}"/>
                      </a:ext>
                    </a:extLst>
                  </p:cNvPr>
                  <p:cNvGrpSpPr/>
                  <p:nvPr/>
                </p:nvGrpSpPr>
                <p:grpSpPr>
                  <a:xfrm>
                    <a:off x="857847" y="1330662"/>
                    <a:ext cx="1612604" cy="2760209"/>
                    <a:chOff x="359389" y="2245433"/>
                    <a:chExt cx="1612604" cy="2760209"/>
                  </a:xfrm>
                </p:grpSpPr>
                <p:sp>
                  <p:nvSpPr>
                    <p:cNvPr id="7" name="Rectangle 6">
                      <a:extLst>
                        <a:ext uri="{FF2B5EF4-FFF2-40B4-BE49-F238E27FC236}">
                          <a16:creationId xmlns:a16="http://schemas.microsoft.com/office/drawing/2014/main" id="{7DC0AEA1-69EF-21FE-7DB3-820FC6BB2F24}"/>
                        </a:ext>
                      </a:extLst>
                    </p:cNvPr>
                    <p:cNvSpPr/>
                    <p:nvPr/>
                  </p:nvSpPr>
                  <p:spPr>
                    <a:xfrm>
                      <a:off x="361664" y="2943050"/>
                      <a:ext cx="1387575" cy="26509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 USB </a:t>
                      </a:r>
                      <a:r>
                        <a:rPr lang="fr-FR" sz="800" err="1">
                          <a:solidFill>
                            <a:schemeClr val="tx1"/>
                          </a:solidFill>
                        </a:rPr>
                        <a:t>Device</a:t>
                      </a:r>
                      <a:r>
                        <a:rPr lang="fr-FR" sz="800">
                          <a:solidFill>
                            <a:schemeClr val="tx1"/>
                          </a:solidFill>
                        </a:rPr>
                        <a:t> Init</a:t>
                      </a:r>
                    </a:p>
                  </p:txBody>
                </p:sp>
                <p:cxnSp>
                  <p:nvCxnSpPr>
                    <p:cNvPr id="9" name="Straight Arrow Connector 8">
                      <a:extLst>
                        <a:ext uri="{FF2B5EF4-FFF2-40B4-BE49-F238E27FC236}">
                          <a16:creationId xmlns:a16="http://schemas.microsoft.com/office/drawing/2014/main" id="{6DBB5BF0-C086-0672-1D04-9F3ED75BAAA7}"/>
                        </a:ext>
                      </a:extLst>
                    </p:cNvPr>
                    <p:cNvCxnSpPr>
                      <a:cxnSpLocks/>
                      <a:stCxn id="7" idx="2"/>
                      <a:endCxn id="36" idx="0"/>
                    </p:cNvCxnSpPr>
                    <p:nvPr/>
                  </p:nvCxnSpPr>
                  <p:spPr>
                    <a:xfrm>
                      <a:off x="1055452" y="3208147"/>
                      <a:ext cx="3554" cy="22005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5" name="Straight Arrow Connector 14">
                      <a:extLst>
                        <a:ext uri="{FF2B5EF4-FFF2-40B4-BE49-F238E27FC236}">
                          <a16:creationId xmlns:a16="http://schemas.microsoft.com/office/drawing/2014/main" id="{8F5F8C0F-4809-7D51-D47B-51CE85A451A5}"/>
                        </a:ext>
                      </a:extLst>
                    </p:cNvPr>
                    <p:cNvCxnSpPr>
                      <a:cxnSpLocks/>
                      <a:stCxn id="11" idx="4"/>
                      <a:endCxn id="18" idx="0"/>
                    </p:cNvCxnSpPr>
                    <p:nvPr/>
                  </p:nvCxnSpPr>
                  <p:spPr>
                    <a:xfrm>
                      <a:off x="1055452" y="2245433"/>
                      <a:ext cx="0" cy="21381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8" name="Rectangle 17">
                      <a:extLst>
                        <a:ext uri="{FF2B5EF4-FFF2-40B4-BE49-F238E27FC236}">
                          <a16:creationId xmlns:a16="http://schemas.microsoft.com/office/drawing/2014/main" id="{16E10B03-8F5A-280C-0CF8-71045CF040F4}"/>
                        </a:ext>
                      </a:extLst>
                    </p:cNvPr>
                    <p:cNvSpPr/>
                    <p:nvPr/>
                  </p:nvSpPr>
                  <p:spPr>
                    <a:xfrm>
                      <a:off x="361664" y="2459248"/>
                      <a:ext cx="1387575"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err="1">
                          <a:solidFill>
                            <a:schemeClr val="tx1"/>
                          </a:solidFill>
                        </a:rPr>
                        <a:t>Clock</a:t>
                      </a:r>
                      <a:r>
                        <a:rPr lang="fr-FR" sz="800">
                          <a:solidFill>
                            <a:schemeClr val="tx1"/>
                          </a:solidFill>
                        </a:rPr>
                        <a:t> configuration</a:t>
                      </a:r>
                      <a:endParaRPr lang="en-US" sz="800">
                        <a:solidFill>
                          <a:schemeClr val="tx1"/>
                        </a:solidFill>
                      </a:endParaRPr>
                    </a:p>
                  </p:txBody>
                </p:sp>
                <p:cxnSp>
                  <p:nvCxnSpPr>
                    <p:cNvPr id="19" name="Straight Arrow Connector 18">
                      <a:extLst>
                        <a:ext uri="{FF2B5EF4-FFF2-40B4-BE49-F238E27FC236}">
                          <a16:creationId xmlns:a16="http://schemas.microsoft.com/office/drawing/2014/main" id="{8987AFD5-8D95-DD52-E57E-44E4FFEE81F4}"/>
                        </a:ext>
                      </a:extLst>
                    </p:cNvPr>
                    <p:cNvCxnSpPr>
                      <a:cxnSpLocks/>
                      <a:stCxn id="18" idx="2"/>
                      <a:endCxn id="7" idx="0"/>
                    </p:cNvCxnSpPr>
                    <p:nvPr/>
                  </p:nvCxnSpPr>
                  <p:spPr>
                    <a:xfrm>
                      <a:off x="1055452" y="2745875"/>
                      <a:ext cx="0" cy="19717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6" name="Diamond 35">
                      <a:extLst>
                        <a:ext uri="{FF2B5EF4-FFF2-40B4-BE49-F238E27FC236}">
                          <a16:creationId xmlns:a16="http://schemas.microsoft.com/office/drawing/2014/main" id="{E59C974B-3C07-C3B4-98D0-C3E52DBAE23B}"/>
                        </a:ext>
                      </a:extLst>
                    </p:cNvPr>
                    <p:cNvSpPr/>
                    <p:nvPr/>
                  </p:nvSpPr>
                  <p:spPr>
                    <a:xfrm>
                      <a:off x="368771" y="3428199"/>
                      <a:ext cx="1380468" cy="498801"/>
                    </a:xfrm>
                    <a:prstGeom prst="diamond">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Arial"/>
                        </a:defRPr>
                      </a:lvl1pPr>
                      <a:lvl2pPr marL="457200" algn="l" defTabSz="914400" rtl="0" eaLnBrk="1" latinLnBrk="0" hangingPunct="1">
                        <a:defRPr sz="1800" kern="1200">
                          <a:solidFill>
                            <a:srgbClr val="FFFFFF"/>
                          </a:solidFill>
                          <a:latin typeface="Arial"/>
                        </a:defRPr>
                      </a:lvl2pPr>
                      <a:lvl3pPr marL="914400" algn="l" defTabSz="914400" rtl="0" eaLnBrk="1" latinLnBrk="0" hangingPunct="1">
                        <a:defRPr sz="1800" kern="1200">
                          <a:solidFill>
                            <a:srgbClr val="FFFFFF"/>
                          </a:solidFill>
                          <a:latin typeface="Arial"/>
                        </a:defRPr>
                      </a:lvl3pPr>
                      <a:lvl4pPr marL="1371600" algn="l" defTabSz="914400" rtl="0" eaLnBrk="1" latinLnBrk="0" hangingPunct="1">
                        <a:defRPr sz="1800" kern="1200">
                          <a:solidFill>
                            <a:srgbClr val="FFFFFF"/>
                          </a:solidFill>
                          <a:latin typeface="Arial"/>
                        </a:defRPr>
                      </a:lvl4pPr>
                      <a:lvl5pPr marL="1828800" algn="l" defTabSz="914400" rtl="0" eaLnBrk="1" latinLnBrk="0" hangingPunct="1">
                        <a:defRPr sz="1800" kern="1200">
                          <a:solidFill>
                            <a:srgbClr val="FFFFFF"/>
                          </a:solidFill>
                          <a:latin typeface="Arial"/>
                        </a:defRPr>
                      </a:lvl5pPr>
                      <a:lvl6pPr marL="2286000" algn="l" defTabSz="914400" rtl="0" eaLnBrk="1" latinLnBrk="0" hangingPunct="1">
                        <a:defRPr sz="1800" kern="1200">
                          <a:solidFill>
                            <a:srgbClr val="FFFFFF"/>
                          </a:solidFill>
                          <a:latin typeface="Arial"/>
                        </a:defRPr>
                      </a:lvl6pPr>
                      <a:lvl7pPr marL="2743200" algn="l" defTabSz="914400" rtl="0" eaLnBrk="1" latinLnBrk="0" hangingPunct="1">
                        <a:defRPr sz="1800" kern="1200">
                          <a:solidFill>
                            <a:srgbClr val="FFFFFF"/>
                          </a:solidFill>
                          <a:latin typeface="Arial"/>
                        </a:defRPr>
                      </a:lvl7pPr>
                      <a:lvl8pPr marL="3200400" algn="l" defTabSz="914400" rtl="0" eaLnBrk="1" latinLnBrk="0" hangingPunct="1">
                        <a:defRPr sz="1800" kern="1200">
                          <a:solidFill>
                            <a:srgbClr val="FFFFFF"/>
                          </a:solidFill>
                          <a:latin typeface="Arial"/>
                        </a:defRPr>
                      </a:lvl8pPr>
                      <a:lvl9pPr marL="3657600" algn="l" defTabSz="914400" rtl="0" eaLnBrk="1" latinLnBrk="0" hangingPunct="1">
                        <a:defRPr sz="1800" kern="1200">
                          <a:solidFill>
                            <a:srgbClr val="FFFFFF"/>
                          </a:solidFill>
                          <a:latin typeface="Arial"/>
                        </a:defRPr>
                      </a:lvl9pPr>
                    </a:lstStyle>
                    <a:p>
                      <a:pPr algn="ctr">
                        <a:buClr>
                          <a:srgbClr val="FFFFFF"/>
                        </a:buClr>
                      </a:pPr>
                      <a:r>
                        <a:rPr lang="fr-FR" sz="800">
                          <a:solidFill>
                            <a:schemeClr val="tx1"/>
                          </a:solidFill>
                        </a:rPr>
                        <a:t>Is </a:t>
                      </a:r>
                      <a:r>
                        <a:rPr lang="fr-FR" sz="800" err="1">
                          <a:solidFill>
                            <a:schemeClr val="tx1"/>
                          </a:solidFill>
                        </a:rPr>
                        <a:t>device</a:t>
                      </a:r>
                      <a:r>
                        <a:rPr lang="fr-FR" sz="800">
                          <a:solidFill>
                            <a:schemeClr val="tx1"/>
                          </a:solidFill>
                        </a:rPr>
                        <a:t> </a:t>
                      </a:r>
                      <a:r>
                        <a:rPr lang="fr-FR" sz="800" err="1">
                          <a:solidFill>
                            <a:schemeClr val="tx1"/>
                          </a:solidFill>
                        </a:rPr>
                        <a:t>inserted</a:t>
                      </a:r>
                      <a:r>
                        <a:rPr lang="fr-FR" sz="800">
                          <a:solidFill>
                            <a:schemeClr val="tx1"/>
                          </a:solidFill>
                        </a:rPr>
                        <a:t> ?</a:t>
                      </a:r>
                      <a:endParaRPr lang="en-US" sz="800">
                        <a:solidFill>
                          <a:schemeClr val="tx1"/>
                        </a:solidFill>
                      </a:endParaRPr>
                    </a:p>
                  </p:txBody>
                </p:sp>
                <p:sp>
                  <p:nvSpPr>
                    <p:cNvPr id="67" name="Rectangle 66">
                      <a:extLst>
                        <a:ext uri="{FF2B5EF4-FFF2-40B4-BE49-F238E27FC236}">
                          <a16:creationId xmlns:a16="http://schemas.microsoft.com/office/drawing/2014/main" id="{5BF73C9B-14A8-421D-0C6C-BB20AEAD1FF5}"/>
                        </a:ext>
                      </a:extLst>
                    </p:cNvPr>
                    <p:cNvSpPr/>
                    <p:nvPr/>
                  </p:nvSpPr>
                  <p:spPr>
                    <a:xfrm>
                      <a:off x="359389" y="4147079"/>
                      <a:ext cx="1389850"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USB </a:t>
                      </a:r>
                      <a:r>
                        <a:rPr lang="fr-FR" sz="800" err="1">
                          <a:solidFill>
                            <a:schemeClr val="tx1"/>
                          </a:solidFill>
                        </a:rPr>
                        <a:t>enemeration</a:t>
                      </a:r>
                      <a:endParaRPr lang="en-US" sz="800">
                        <a:solidFill>
                          <a:schemeClr val="tx1"/>
                        </a:solidFill>
                      </a:endParaRPr>
                    </a:p>
                  </p:txBody>
                </p:sp>
                <p:cxnSp>
                  <p:nvCxnSpPr>
                    <p:cNvPr id="68" name="Straight Arrow Connector 67">
                      <a:extLst>
                        <a:ext uri="{FF2B5EF4-FFF2-40B4-BE49-F238E27FC236}">
                          <a16:creationId xmlns:a16="http://schemas.microsoft.com/office/drawing/2014/main" id="{3B5E56D0-CE57-41B0-9A21-1B542CA13994}"/>
                        </a:ext>
                      </a:extLst>
                    </p:cNvPr>
                    <p:cNvCxnSpPr>
                      <a:cxnSpLocks/>
                      <a:stCxn id="36" idx="2"/>
                      <a:endCxn id="67" idx="0"/>
                    </p:cNvCxnSpPr>
                    <p:nvPr/>
                  </p:nvCxnSpPr>
                  <p:spPr>
                    <a:xfrm flipH="1">
                      <a:off x="1054314" y="3927000"/>
                      <a:ext cx="4690" cy="22007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81" name="Straight Arrow Connector 80">
                      <a:extLst>
                        <a:ext uri="{FF2B5EF4-FFF2-40B4-BE49-F238E27FC236}">
                          <a16:creationId xmlns:a16="http://schemas.microsoft.com/office/drawing/2014/main" id="{0E823C76-1F53-88A5-6840-293A431A201C}"/>
                        </a:ext>
                      </a:extLst>
                    </p:cNvPr>
                    <p:cNvCxnSpPr>
                      <a:cxnSpLocks/>
                      <a:stCxn id="67" idx="2"/>
                      <a:endCxn id="106" idx="0"/>
                    </p:cNvCxnSpPr>
                    <p:nvPr/>
                  </p:nvCxnSpPr>
                  <p:spPr>
                    <a:xfrm>
                      <a:off x="1054314" y="4433706"/>
                      <a:ext cx="0" cy="28530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106" name="Rectangle 105">
                      <a:extLst>
                        <a:ext uri="{FF2B5EF4-FFF2-40B4-BE49-F238E27FC236}">
                          <a16:creationId xmlns:a16="http://schemas.microsoft.com/office/drawing/2014/main" id="{ECF8E045-A901-FD37-3E71-D4F4A395641F}"/>
                        </a:ext>
                      </a:extLst>
                    </p:cNvPr>
                    <p:cNvSpPr/>
                    <p:nvPr/>
                  </p:nvSpPr>
                  <p:spPr>
                    <a:xfrm>
                      <a:off x="359389" y="4719015"/>
                      <a:ext cx="1389850" cy="28662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err="1">
                          <a:solidFill>
                            <a:schemeClr val="tx1"/>
                          </a:solidFill>
                        </a:rPr>
                        <a:t>Send</a:t>
                      </a:r>
                      <a:r>
                        <a:rPr lang="fr-FR" sz="800">
                          <a:solidFill>
                            <a:schemeClr val="tx1"/>
                          </a:solidFill>
                        </a:rPr>
                        <a:t> mouse report</a:t>
                      </a:r>
                      <a:endParaRPr lang="en-US" sz="800">
                        <a:solidFill>
                          <a:schemeClr val="tx1"/>
                        </a:solidFill>
                      </a:endParaRPr>
                    </a:p>
                  </p:txBody>
                </p:sp>
                <p:cxnSp>
                  <p:nvCxnSpPr>
                    <p:cNvPr id="134" name="Straight Arrow Connector 133">
                      <a:extLst>
                        <a:ext uri="{FF2B5EF4-FFF2-40B4-BE49-F238E27FC236}">
                          <a16:creationId xmlns:a16="http://schemas.microsoft.com/office/drawing/2014/main" id="{7B3F358B-CD74-FF3D-C557-B081E1D731A8}"/>
                        </a:ext>
                      </a:extLst>
                    </p:cNvPr>
                    <p:cNvCxnSpPr>
                      <a:cxnSpLocks/>
                      <a:stCxn id="18" idx="3"/>
                      <a:endCxn id="92" idx="1"/>
                    </p:cNvCxnSpPr>
                    <p:nvPr/>
                  </p:nvCxnSpPr>
                  <p:spPr>
                    <a:xfrm flipV="1">
                      <a:off x="1749238" y="2562643"/>
                      <a:ext cx="222755" cy="3991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35" name="Straight Arrow Connector 134">
                      <a:extLst>
                        <a:ext uri="{FF2B5EF4-FFF2-40B4-BE49-F238E27FC236}">
                          <a16:creationId xmlns:a16="http://schemas.microsoft.com/office/drawing/2014/main" id="{8D3C86F2-397D-7277-FCB2-97FE28572CED}"/>
                        </a:ext>
                      </a:extLst>
                    </p:cNvPr>
                    <p:cNvCxnSpPr>
                      <a:cxnSpLocks/>
                      <a:stCxn id="7" idx="3"/>
                      <a:endCxn id="96" idx="1"/>
                    </p:cNvCxnSpPr>
                    <p:nvPr/>
                  </p:nvCxnSpPr>
                  <p:spPr>
                    <a:xfrm>
                      <a:off x="1749239" y="3075599"/>
                      <a:ext cx="222752" cy="316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13" name="Connector: Elbow 12">
                      <a:extLst>
                        <a:ext uri="{FF2B5EF4-FFF2-40B4-BE49-F238E27FC236}">
                          <a16:creationId xmlns:a16="http://schemas.microsoft.com/office/drawing/2014/main" id="{565BC4AA-3B43-A9DF-DA1D-9AFFC2FD4B1C}"/>
                        </a:ext>
                      </a:extLst>
                    </p:cNvPr>
                    <p:cNvCxnSpPr>
                      <a:cxnSpLocks/>
                      <a:stCxn id="106" idx="2"/>
                      <a:endCxn id="36" idx="1"/>
                    </p:cNvCxnSpPr>
                    <p:nvPr/>
                  </p:nvCxnSpPr>
                  <p:spPr>
                    <a:xfrm rot="5400000" flipH="1">
                      <a:off x="47522" y="3998849"/>
                      <a:ext cx="1328042" cy="685544"/>
                    </a:xfrm>
                    <a:prstGeom prst="bentConnector4">
                      <a:avLst>
                        <a:gd name="adj1" fmla="val -17667"/>
                        <a:gd name="adj2" fmla="val 132315"/>
                      </a:avLst>
                    </a:prstGeom>
                    <a:ln w="22225">
                      <a:headEnd type="none" w="lg" len="lg"/>
                      <a:tailEnd type="none" w="lg" len="lg"/>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802D12B5-F7C4-4DF6-4768-9C6E26127C75}"/>
                      </a:ext>
                    </a:extLst>
                  </p:cNvPr>
                  <p:cNvSpPr/>
                  <p:nvPr/>
                </p:nvSpPr>
                <p:spPr>
                  <a:xfrm>
                    <a:off x="1180565" y="1024959"/>
                    <a:ext cx="746688" cy="305703"/>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fr-FR" sz="800">
                        <a:solidFill>
                          <a:srgbClr val="000000"/>
                        </a:solidFill>
                      </a:rPr>
                      <a:t>Start</a:t>
                    </a:r>
                    <a:endParaRPr lang="en-US" sz="800" err="1">
                      <a:solidFill>
                        <a:srgbClr val="000000"/>
                      </a:solidFill>
                    </a:endParaRPr>
                  </a:p>
                </p:txBody>
              </p:sp>
            </p:grpSp>
            <p:sp>
              <p:nvSpPr>
                <p:cNvPr id="77" name="TextBox 56">
                  <a:extLst>
                    <a:ext uri="{FF2B5EF4-FFF2-40B4-BE49-F238E27FC236}">
                      <a16:creationId xmlns:a16="http://schemas.microsoft.com/office/drawing/2014/main" id="{96239DEE-2D6B-2355-3140-DC13736E71DF}"/>
                    </a:ext>
                  </a:extLst>
                </p:cNvPr>
                <p:cNvSpPr txBox="1"/>
                <p:nvPr/>
              </p:nvSpPr>
              <p:spPr>
                <a:xfrm>
                  <a:off x="881965" y="3748777"/>
                  <a:ext cx="489019"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78" name="TextBox 77">
                  <a:extLst>
                    <a:ext uri="{FF2B5EF4-FFF2-40B4-BE49-F238E27FC236}">
                      <a16:creationId xmlns:a16="http://schemas.microsoft.com/office/drawing/2014/main" id="{1DC7A685-0590-56C2-15BF-26A71593848E}"/>
                    </a:ext>
                  </a:extLst>
                </p:cNvPr>
                <p:cNvSpPr txBox="1"/>
                <p:nvPr/>
              </p:nvSpPr>
              <p:spPr>
                <a:xfrm>
                  <a:off x="1510962" y="3290583"/>
                  <a:ext cx="388340"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grpSp>
          <p:sp>
            <p:nvSpPr>
              <p:cNvPr id="92" name="TextBox 71">
                <a:extLst>
                  <a:ext uri="{FF2B5EF4-FFF2-40B4-BE49-F238E27FC236}">
                    <a16:creationId xmlns:a16="http://schemas.microsoft.com/office/drawing/2014/main" id="{71EE1036-9CC6-AB25-1151-651CAB7C59DD}"/>
                  </a:ext>
                </a:extLst>
              </p:cNvPr>
              <p:cNvSpPr txBox="1"/>
              <p:nvPr/>
            </p:nvSpPr>
            <p:spPr>
              <a:xfrm>
                <a:off x="1835293" y="2220084"/>
                <a:ext cx="2629344" cy="40195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rgbClr val="03234B"/>
                    </a:solidFill>
                    <a:latin typeface="Arial"/>
                    <a:ea typeface="+mn-ea"/>
                    <a:cs typeface="+mn-cs"/>
                  </a:defRPr>
                </a:lvl1pPr>
                <a:lvl2pPr marL="457200" algn="l" defTabSz="914400" rtl="0" eaLnBrk="1" latinLnBrk="0" hangingPunct="1">
                  <a:defRPr sz="1800" kern="1200">
                    <a:solidFill>
                      <a:srgbClr val="03234B"/>
                    </a:solidFill>
                    <a:latin typeface="Arial"/>
                    <a:ea typeface="+mn-ea"/>
                    <a:cs typeface="+mn-cs"/>
                  </a:defRPr>
                </a:lvl2pPr>
                <a:lvl3pPr marL="914400" algn="l" defTabSz="914400" rtl="0" eaLnBrk="1" latinLnBrk="0" hangingPunct="1">
                  <a:defRPr sz="1800" kern="1200">
                    <a:solidFill>
                      <a:srgbClr val="03234B"/>
                    </a:solidFill>
                    <a:latin typeface="Arial"/>
                    <a:ea typeface="+mn-ea"/>
                    <a:cs typeface="+mn-cs"/>
                  </a:defRPr>
                </a:lvl3pPr>
                <a:lvl4pPr marL="1371600" algn="l" defTabSz="914400" rtl="0" eaLnBrk="1" latinLnBrk="0" hangingPunct="1">
                  <a:defRPr sz="1800" kern="1200">
                    <a:solidFill>
                      <a:srgbClr val="03234B"/>
                    </a:solidFill>
                    <a:latin typeface="Arial"/>
                    <a:ea typeface="+mn-ea"/>
                    <a:cs typeface="+mn-cs"/>
                  </a:defRPr>
                </a:lvl4pPr>
                <a:lvl5pPr marL="1828800" algn="l" defTabSz="914400" rtl="0" eaLnBrk="1" latinLnBrk="0" hangingPunct="1">
                  <a:defRPr sz="1800" kern="1200">
                    <a:solidFill>
                      <a:srgbClr val="03234B"/>
                    </a:solidFill>
                    <a:latin typeface="Arial"/>
                    <a:ea typeface="+mn-ea"/>
                    <a:cs typeface="+mn-cs"/>
                  </a:defRPr>
                </a:lvl5pPr>
                <a:lvl6pPr marL="2286000" algn="l" defTabSz="914400" rtl="0" eaLnBrk="1" latinLnBrk="0" hangingPunct="1">
                  <a:defRPr sz="1800" kern="1200">
                    <a:solidFill>
                      <a:srgbClr val="03234B"/>
                    </a:solidFill>
                    <a:latin typeface="Arial"/>
                    <a:ea typeface="+mn-ea"/>
                    <a:cs typeface="+mn-cs"/>
                  </a:defRPr>
                </a:lvl6pPr>
                <a:lvl7pPr marL="2743200" algn="l" defTabSz="914400" rtl="0" eaLnBrk="1" latinLnBrk="0" hangingPunct="1">
                  <a:defRPr sz="1800" kern="1200">
                    <a:solidFill>
                      <a:srgbClr val="03234B"/>
                    </a:solidFill>
                    <a:latin typeface="Arial"/>
                    <a:ea typeface="+mn-ea"/>
                    <a:cs typeface="+mn-cs"/>
                  </a:defRPr>
                </a:lvl7pPr>
                <a:lvl8pPr marL="3200400" algn="l" defTabSz="914400" rtl="0" eaLnBrk="1" latinLnBrk="0" hangingPunct="1">
                  <a:defRPr sz="1800" kern="1200">
                    <a:solidFill>
                      <a:srgbClr val="03234B"/>
                    </a:solidFill>
                    <a:latin typeface="Arial"/>
                    <a:ea typeface="+mn-ea"/>
                    <a:cs typeface="+mn-cs"/>
                  </a:defRPr>
                </a:lvl8pPr>
                <a:lvl9pPr marL="3657600" algn="l" defTabSz="914400" rtl="0" eaLnBrk="1" latinLnBrk="0" hangingPunct="1">
                  <a:defRPr sz="1800" kern="1200">
                    <a:solidFill>
                      <a:srgbClr val="03234B"/>
                    </a:solidFill>
                    <a:latin typeface="Arial"/>
                    <a:ea typeface="+mn-ea"/>
                    <a:cs typeface="+mn-cs"/>
                  </a:defRPr>
                </a:lvl9pPr>
              </a:lstStyle>
              <a:p>
                <a:pPr>
                  <a:defRPr/>
                </a:pPr>
                <a:r>
                  <a:rPr lang="en-US" sz="800" dirty="0">
                    <a:cs typeface="Arial"/>
                  </a:rPr>
                  <a:t>C</a:t>
                </a:r>
                <a:r>
                  <a:rPr kumimoji="0" lang="en-US" sz="800" b="0" i="0" u="none" strike="noStrike" kern="1200" cap="none" spc="0" normalizeH="0" baseline="0" noProof="0" dirty="0">
                    <a:ln>
                      <a:noFill/>
                    </a:ln>
                    <a:solidFill>
                      <a:srgbClr val="03234B"/>
                    </a:solidFill>
                    <a:effectLst/>
                    <a:uLnTx/>
                    <a:uFillTx/>
                    <a:latin typeface="Arial"/>
                    <a:ea typeface="+mn-ea"/>
                    <a:cs typeface="Arial"/>
                  </a:rPr>
                  <a:t>lock source : </a:t>
                </a:r>
                <a:r>
                  <a:rPr lang="fr-FR" sz="800" b="1" dirty="0"/>
                  <a:t>HSI (ST) </a:t>
                </a:r>
                <a:r>
                  <a:rPr lang="fr-FR" sz="800" dirty="0"/>
                  <a:t>/ </a:t>
                </a:r>
                <a:r>
                  <a:rPr lang="fr-FR" sz="800" b="1" dirty="0"/>
                  <a:t>FIRC_48M (NXP)</a:t>
                </a:r>
              </a:p>
              <a:p>
                <a:pPr>
                  <a:defRPr/>
                </a:pPr>
                <a:r>
                  <a:rPr lang="en-US" sz="800" dirty="0"/>
                  <a:t>Clock frequency: </a:t>
                </a:r>
                <a:r>
                  <a:rPr lang="en-US" sz="800" b="1" dirty="0"/>
                  <a:t>CM33: 150 MHz (ST and </a:t>
                </a:r>
                <a:r>
                  <a:rPr lang="fr-FR" sz="800" b="1" dirty="0"/>
                  <a:t>NXP</a:t>
                </a:r>
                <a:r>
                  <a:rPr lang="en-US" sz="800" b="1" dirty="0"/>
                  <a:t>)</a:t>
                </a:r>
              </a:p>
              <a:p>
                <a:pPr>
                  <a:defRPr/>
                </a:pPr>
                <a:r>
                  <a:rPr lang="en-US" sz="800" b="1" dirty="0"/>
                  <a:t>                     </a:t>
                </a:r>
              </a:p>
            </p:txBody>
          </p:sp>
          <p:sp>
            <p:nvSpPr>
              <p:cNvPr id="96" name="TextBox 39">
                <a:extLst>
                  <a:ext uri="{FF2B5EF4-FFF2-40B4-BE49-F238E27FC236}">
                    <a16:creationId xmlns:a16="http://schemas.microsoft.com/office/drawing/2014/main" id="{026A3D18-C32E-ACE3-649D-1F2DD288E9A2}"/>
                  </a:ext>
                </a:extLst>
              </p:cNvPr>
              <p:cNvSpPr txBox="1"/>
              <p:nvPr/>
            </p:nvSpPr>
            <p:spPr>
              <a:xfrm>
                <a:off x="1835293" y="2723869"/>
                <a:ext cx="2959711"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t>U5/</a:t>
                </a:r>
                <a:r>
                  <a:rPr lang="en-US" sz="800" b="1">
                    <a:solidFill>
                      <a:srgbClr val="002060"/>
                    </a:solidFill>
                  </a:rPr>
                  <a:t> MCX-N9:</a:t>
                </a:r>
                <a:r>
                  <a:rPr lang="en-US" sz="800"/>
                  <a:t> USB Full Speed, USB Device</a:t>
                </a:r>
                <a:r>
                  <a:rPr lang="en-US" sz="1000"/>
                  <a:t>, </a:t>
                </a:r>
                <a:r>
                  <a:rPr lang="en-US" sz="800"/>
                  <a:t>CDC class</a:t>
                </a:r>
              </a:p>
              <a:p>
                <a:r>
                  <a:rPr lang="en-US" sz="800" b="1"/>
                  <a:t>H7/ </a:t>
                </a:r>
                <a:r>
                  <a:rPr lang="en-US" sz="800" b="1">
                    <a:solidFill>
                      <a:srgbClr val="002060"/>
                    </a:solidFill>
                  </a:rPr>
                  <a:t>RT1170: </a:t>
                </a:r>
                <a:r>
                  <a:rPr lang="en-US" sz="800"/>
                  <a:t>USB High Speed, USB Device</a:t>
                </a:r>
                <a:r>
                  <a:rPr lang="en-US" sz="1000"/>
                  <a:t>, </a:t>
                </a:r>
                <a:r>
                  <a:rPr lang="en-US" sz="800"/>
                  <a:t>CDC class</a:t>
                </a:r>
              </a:p>
            </p:txBody>
          </p:sp>
          <p:sp>
            <p:nvSpPr>
              <p:cNvPr id="101" name="Rectangle: Folded Corner 100">
                <a:extLst>
                  <a:ext uri="{FF2B5EF4-FFF2-40B4-BE49-F238E27FC236}">
                    <a16:creationId xmlns:a16="http://schemas.microsoft.com/office/drawing/2014/main" id="{56DFA384-0829-DE33-14C2-17BD0E1007C2}"/>
                  </a:ext>
                </a:extLst>
              </p:cNvPr>
              <p:cNvSpPr/>
              <p:nvPr/>
            </p:nvSpPr>
            <p:spPr>
              <a:xfrm>
                <a:off x="2336606" y="4044988"/>
                <a:ext cx="1139889" cy="888392"/>
              </a:xfrm>
              <a:prstGeom prst="foldedCorner">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solidFill>
                  </a:rPr>
                  <a:t>USB host (PC) identify, assign address and configure USB device (MCU)</a:t>
                </a:r>
              </a:p>
            </p:txBody>
          </p:sp>
          <p:cxnSp>
            <p:nvCxnSpPr>
              <p:cNvPr id="102" name="Connector: Curved 101">
                <a:extLst>
                  <a:ext uri="{FF2B5EF4-FFF2-40B4-BE49-F238E27FC236}">
                    <a16:creationId xmlns:a16="http://schemas.microsoft.com/office/drawing/2014/main" id="{50AE647C-091C-5FEE-B31A-4D80DB897909}"/>
                  </a:ext>
                </a:extLst>
              </p:cNvPr>
              <p:cNvCxnSpPr>
                <a:cxnSpLocks/>
                <a:stCxn id="67" idx="3"/>
                <a:endCxn id="101" idx="1"/>
              </p:cNvCxnSpPr>
              <p:nvPr/>
            </p:nvCxnSpPr>
            <p:spPr>
              <a:xfrm>
                <a:off x="1595271" y="4104423"/>
                <a:ext cx="741335" cy="384761"/>
              </a:xfrm>
              <a:prstGeom prst="curvedConnector3">
                <a:avLst/>
              </a:prstGeom>
              <a:ln w="12700">
                <a:headEnd type="none" w="lg" len="lg"/>
                <a:tailEnd type="triangle"/>
              </a:ln>
            </p:spPr>
            <p:style>
              <a:lnRef idx="1">
                <a:schemeClr val="accent4"/>
              </a:lnRef>
              <a:fillRef idx="0">
                <a:schemeClr val="accent4"/>
              </a:fillRef>
              <a:effectRef idx="0">
                <a:schemeClr val="accent4"/>
              </a:effectRef>
              <a:fontRef idx="minor">
                <a:schemeClr val="tx1"/>
              </a:fontRef>
            </p:style>
          </p:cxnSp>
        </p:grpSp>
      </p:grpSp>
      <p:sp>
        <p:nvSpPr>
          <p:cNvPr id="107" name="Rectangle 106">
            <a:extLst>
              <a:ext uri="{FF2B5EF4-FFF2-40B4-BE49-F238E27FC236}">
                <a16:creationId xmlns:a16="http://schemas.microsoft.com/office/drawing/2014/main" id="{1B208167-7E5D-32CB-DCDE-D3019ADE80AA}"/>
              </a:ext>
            </a:extLst>
          </p:cNvPr>
          <p:cNvSpPr/>
          <p:nvPr/>
        </p:nvSpPr>
        <p:spPr>
          <a:xfrm>
            <a:off x="6218372" y="6133599"/>
            <a:ext cx="5845932" cy="55910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a:solidFill>
                  <a:schemeClr val="accent2"/>
                </a:solidFill>
              </a:rPr>
              <a:t>USB HID device class: </a:t>
            </a:r>
            <a:r>
              <a:rPr lang="fr-FR" sz="800">
                <a:solidFill>
                  <a:schemeClr val="tx1"/>
                </a:solidFill>
              </a:rPr>
              <a:t>USB </a:t>
            </a:r>
            <a:r>
              <a:rPr lang="en-US" sz="800" b="1">
                <a:solidFill>
                  <a:schemeClr val="tx1"/>
                </a:solidFill>
              </a:rPr>
              <a:t>Human Interface Device </a:t>
            </a:r>
            <a:r>
              <a:rPr lang="fr-FR" sz="800" err="1">
                <a:solidFill>
                  <a:schemeClr val="tx1"/>
                </a:solidFill>
              </a:rPr>
              <a:t>allows</a:t>
            </a:r>
            <a:r>
              <a:rPr lang="fr-FR" sz="800" b="1">
                <a:solidFill>
                  <a:schemeClr val="tx1"/>
                </a:solidFill>
              </a:rPr>
              <a:t> </a:t>
            </a:r>
            <a:r>
              <a:rPr lang="en-US" sz="800">
                <a:solidFill>
                  <a:schemeClr val="tx1"/>
                </a:solidFill>
              </a:rPr>
              <a:t>to enable communication between </a:t>
            </a:r>
            <a:r>
              <a:rPr lang="en-US" sz="800" b="1" u="sng">
                <a:solidFill>
                  <a:schemeClr val="tx1"/>
                </a:solidFill>
              </a:rPr>
              <a:t>device (MCU) </a:t>
            </a:r>
            <a:r>
              <a:rPr lang="en-US" sz="800">
                <a:solidFill>
                  <a:schemeClr val="tx1"/>
                </a:solidFill>
              </a:rPr>
              <a:t>and host (PC).</a:t>
            </a:r>
          </a:p>
        </p:txBody>
      </p:sp>
      <p:grpSp>
        <p:nvGrpSpPr>
          <p:cNvPr id="237" name="Group 236">
            <a:extLst>
              <a:ext uri="{FF2B5EF4-FFF2-40B4-BE49-F238E27FC236}">
                <a16:creationId xmlns:a16="http://schemas.microsoft.com/office/drawing/2014/main" id="{BE0B4E33-F54F-C4E9-E161-3EA57E882A37}"/>
              </a:ext>
            </a:extLst>
          </p:cNvPr>
          <p:cNvGrpSpPr/>
          <p:nvPr/>
        </p:nvGrpSpPr>
        <p:grpSpPr>
          <a:xfrm>
            <a:off x="346555" y="1928946"/>
            <a:ext cx="5469529" cy="3783897"/>
            <a:chOff x="6899673" y="1795327"/>
            <a:chExt cx="4788596" cy="3407677"/>
          </a:xfrm>
        </p:grpSpPr>
        <p:sp>
          <p:nvSpPr>
            <p:cNvPr id="208" name="TextBox 56">
              <a:extLst>
                <a:ext uri="{FF2B5EF4-FFF2-40B4-BE49-F238E27FC236}">
                  <a16:creationId xmlns:a16="http://schemas.microsoft.com/office/drawing/2014/main" id="{D18E65E8-BA4D-5064-49A9-74145AE491D5}"/>
                </a:ext>
              </a:extLst>
            </p:cNvPr>
            <p:cNvSpPr txBox="1"/>
            <p:nvPr/>
          </p:nvSpPr>
          <p:spPr>
            <a:xfrm>
              <a:off x="7694104" y="3560544"/>
              <a:ext cx="489019"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216" name="TextBox 215">
              <a:extLst>
                <a:ext uri="{FF2B5EF4-FFF2-40B4-BE49-F238E27FC236}">
                  <a16:creationId xmlns:a16="http://schemas.microsoft.com/office/drawing/2014/main" id="{418414F2-7F03-859A-EE3E-EE55552753EE}"/>
                </a:ext>
              </a:extLst>
            </p:cNvPr>
            <p:cNvSpPr txBox="1"/>
            <p:nvPr/>
          </p:nvSpPr>
          <p:spPr>
            <a:xfrm>
              <a:off x="8280068" y="3172760"/>
              <a:ext cx="388340"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sp>
          <p:nvSpPr>
            <p:cNvPr id="220" name="TextBox 56">
              <a:extLst>
                <a:ext uri="{FF2B5EF4-FFF2-40B4-BE49-F238E27FC236}">
                  <a16:creationId xmlns:a16="http://schemas.microsoft.com/office/drawing/2014/main" id="{F95A5BB1-DB2D-4469-D737-A5B90D621CBC}"/>
                </a:ext>
              </a:extLst>
            </p:cNvPr>
            <p:cNvSpPr txBox="1"/>
            <p:nvPr/>
          </p:nvSpPr>
          <p:spPr>
            <a:xfrm>
              <a:off x="7716790" y="4722899"/>
              <a:ext cx="489019"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221" name="TextBox 220">
              <a:extLst>
                <a:ext uri="{FF2B5EF4-FFF2-40B4-BE49-F238E27FC236}">
                  <a16:creationId xmlns:a16="http://schemas.microsoft.com/office/drawing/2014/main" id="{7DE236FA-30CF-3980-927D-86CA791A13D1}"/>
                </a:ext>
              </a:extLst>
            </p:cNvPr>
            <p:cNvSpPr txBox="1"/>
            <p:nvPr/>
          </p:nvSpPr>
          <p:spPr>
            <a:xfrm>
              <a:off x="8302754" y="4335115"/>
              <a:ext cx="388340"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grpSp>
          <p:nvGrpSpPr>
            <p:cNvPr id="236" name="Group 235">
              <a:extLst>
                <a:ext uri="{FF2B5EF4-FFF2-40B4-BE49-F238E27FC236}">
                  <a16:creationId xmlns:a16="http://schemas.microsoft.com/office/drawing/2014/main" id="{23762867-3831-E523-71DB-4063DEA9C32D}"/>
                </a:ext>
              </a:extLst>
            </p:cNvPr>
            <p:cNvGrpSpPr/>
            <p:nvPr/>
          </p:nvGrpSpPr>
          <p:grpSpPr>
            <a:xfrm>
              <a:off x="6899673" y="1795327"/>
              <a:ext cx="4788596" cy="3407677"/>
              <a:chOff x="6899673" y="1795327"/>
              <a:chExt cx="4788596" cy="3407677"/>
            </a:xfrm>
          </p:grpSpPr>
          <p:grpSp>
            <p:nvGrpSpPr>
              <p:cNvPr id="108" name="Group 107">
                <a:extLst>
                  <a:ext uri="{FF2B5EF4-FFF2-40B4-BE49-F238E27FC236}">
                    <a16:creationId xmlns:a16="http://schemas.microsoft.com/office/drawing/2014/main" id="{DA5F8E6E-67C2-6AE1-0E97-C9BD28752869}"/>
                  </a:ext>
                </a:extLst>
              </p:cNvPr>
              <p:cNvGrpSpPr/>
              <p:nvPr/>
            </p:nvGrpSpPr>
            <p:grpSpPr>
              <a:xfrm>
                <a:off x="6899673" y="1795327"/>
                <a:ext cx="1833257" cy="3407677"/>
                <a:chOff x="1179928" y="945268"/>
                <a:chExt cx="2373928" cy="4055848"/>
              </a:xfrm>
            </p:grpSpPr>
            <p:sp>
              <p:nvSpPr>
                <p:cNvPr id="110" name="Rectangle 109">
                  <a:extLst>
                    <a:ext uri="{FF2B5EF4-FFF2-40B4-BE49-F238E27FC236}">
                      <a16:creationId xmlns:a16="http://schemas.microsoft.com/office/drawing/2014/main" id="{B908AED9-269D-3AE7-8B19-CAE4528BC887}"/>
                    </a:ext>
                  </a:extLst>
                </p:cNvPr>
                <p:cNvSpPr/>
                <p:nvPr/>
              </p:nvSpPr>
              <p:spPr>
                <a:xfrm>
                  <a:off x="1183382" y="1508741"/>
                  <a:ext cx="2057456" cy="268290"/>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Clock configuration</a:t>
                  </a:r>
                </a:p>
              </p:txBody>
            </p:sp>
            <p:sp>
              <p:nvSpPr>
                <p:cNvPr id="111" name="Rectangle 110">
                  <a:extLst>
                    <a:ext uri="{FF2B5EF4-FFF2-40B4-BE49-F238E27FC236}">
                      <a16:creationId xmlns:a16="http://schemas.microsoft.com/office/drawing/2014/main" id="{52E7EC76-44A7-F02C-56CE-230B000AB097}"/>
                    </a:ext>
                  </a:extLst>
                </p:cNvPr>
                <p:cNvSpPr/>
                <p:nvPr/>
              </p:nvSpPr>
              <p:spPr>
                <a:xfrm>
                  <a:off x="1179928" y="2033535"/>
                  <a:ext cx="2057456" cy="301350"/>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USB configuration</a:t>
                  </a:r>
                </a:p>
              </p:txBody>
            </p:sp>
            <p:sp>
              <p:nvSpPr>
                <p:cNvPr id="112" name="Diamond 111">
                  <a:extLst>
                    <a:ext uri="{FF2B5EF4-FFF2-40B4-BE49-F238E27FC236}">
                      <a16:creationId xmlns:a16="http://schemas.microsoft.com/office/drawing/2014/main" id="{847346F1-C205-1390-57E9-625CF7BABA6A}"/>
                    </a:ext>
                  </a:extLst>
                </p:cNvPr>
                <p:cNvSpPr/>
                <p:nvPr/>
              </p:nvSpPr>
              <p:spPr>
                <a:xfrm>
                  <a:off x="1374736" y="3867327"/>
                  <a:ext cx="1707347" cy="625445"/>
                </a:xfrm>
                <a:prstGeom prst="diamond">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If USB Receive data  </a:t>
                  </a:r>
                </a:p>
              </p:txBody>
            </p:sp>
            <p:sp>
              <p:nvSpPr>
                <p:cNvPr id="113" name="Rectangle 112">
                  <a:extLst>
                    <a:ext uri="{FF2B5EF4-FFF2-40B4-BE49-F238E27FC236}">
                      <a16:creationId xmlns:a16="http://schemas.microsoft.com/office/drawing/2014/main" id="{5BA653DB-4640-6CB8-0338-14AAD46FAE2A}"/>
                    </a:ext>
                  </a:extLst>
                </p:cNvPr>
                <p:cNvSpPr/>
                <p:nvPr/>
              </p:nvSpPr>
              <p:spPr>
                <a:xfrm>
                  <a:off x="1199682" y="4699764"/>
                  <a:ext cx="2057456" cy="301351"/>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USB transmit data </a:t>
                  </a:r>
                </a:p>
              </p:txBody>
            </p:sp>
            <p:cxnSp>
              <p:nvCxnSpPr>
                <p:cNvPr id="114" name="Straight Arrow Connector 113">
                  <a:extLst>
                    <a:ext uri="{FF2B5EF4-FFF2-40B4-BE49-F238E27FC236}">
                      <a16:creationId xmlns:a16="http://schemas.microsoft.com/office/drawing/2014/main" id="{C8D2F316-6BA3-C695-CA26-5D65AF84CA19}"/>
                    </a:ext>
                  </a:extLst>
                </p:cNvPr>
                <p:cNvCxnSpPr>
                  <a:cxnSpLocks/>
                  <a:stCxn id="116" idx="2"/>
                  <a:endCxn id="144" idx="0"/>
                </p:cNvCxnSpPr>
                <p:nvPr/>
              </p:nvCxnSpPr>
              <p:spPr>
                <a:xfrm>
                  <a:off x="2219517" y="3080665"/>
                  <a:ext cx="1" cy="23828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07190365-B33B-CA26-DEEF-FFD60DB2EC82}"/>
                    </a:ext>
                  </a:extLst>
                </p:cNvPr>
                <p:cNvCxnSpPr>
                  <a:cxnSpLocks/>
                  <a:stCxn id="112" idx="2"/>
                  <a:endCxn id="113" idx="0"/>
                </p:cNvCxnSpPr>
                <p:nvPr/>
              </p:nvCxnSpPr>
              <p:spPr>
                <a:xfrm>
                  <a:off x="2228411" y="4492772"/>
                  <a:ext cx="0" cy="206992"/>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16" name="Diamond 115">
                  <a:extLst>
                    <a:ext uri="{FF2B5EF4-FFF2-40B4-BE49-F238E27FC236}">
                      <a16:creationId xmlns:a16="http://schemas.microsoft.com/office/drawing/2014/main" id="{E15A8C89-F90B-98AA-3C45-5A1BDAB4791D}"/>
                    </a:ext>
                  </a:extLst>
                </p:cNvPr>
                <p:cNvSpPr/>
                <p:nvPr/>
              </p:nvSpPr>
              <p:spPr>
                <a:xfrm>
                  <a:off x="1365843" y="2520496"/>
                  <a:ext cx="1707349" cy="560168"/>
                </a:xfrm>
                <a:prstGeom prst="diamond">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FFFFFF"/>
                    </a:buClr>
                  </a:pPr>
                  <a:r>
                    <a:rPr lang="fr-FR" sz="800">
                      <a:solidFill>
                        <a:schemeClr val="tx1"/>
                      </a:solidFill>
                    </a:rPr>
                    <a:t>Is </a:t>
                  </a:r>
                  <a:r>
                    <a:rPr lang="fr-FR" sz="800" err="1">
                      <a:solidFill>
                        <a:schemeClr val="tx1"/>
                      </a:solidFill>
                    </a:rPr>
                    <a:t>device</a:t>
                  </a:r>
                  <a:r>
                    <a:rPr lang="fr-FR" sz="800">
                      <a:solidFill>
                        <a:schemeClr val="tx1"/>
                      </a:solidFill>
                    </a:rPr>
                    <a:t> </a:t>
                  </a:r>
                  <a:r>
                    <a:rPr lang="fr-FR" sz="800" err="1">
                      <a:solidFill>
                        <a:schemeClr val="tx1"/>
                      </a:solidFill>
                    </a:rPr>
                    <a:t>inserted</a:t>
                  </a:r>
                  <a:r>
                    <a:rPr lang="fr-FR" sz="800">
                      <a:solidFill>
                        <a:schemeClr val="tx1"/>
                      </a:solidFill>
                    </a:rPr>
                    <a:t> ?</a:t>
                  </a:r>
                  <a:endParaRPr lang="en-US" sz="800">
                    <a:solidFill>
                      <a:schemeClr val="tx1"/>
                    </a:solidFill>
                  </a:endParaRPr>
                </a:p>
              </p:txBody>
            </p:sp>
            <p:cxnSp>
              <p:nvCxnSpPr>
                <p:cNvPr id="117" name="Connector: Elbow 116">
                  <a:extLst>
                    <a:ext uri="{FF2B5EF4-FFF2-40B4-BE49-F238E27FC236}">
                      <a16:creationId xmlns:a16="http://schemas.microsoft.com/office/drawing/2014/main" id="{5D4B8273-0979-7084-939D-2B1CFCA05944}"/>
                    </a:ext>
                  </a:extLst>
                </p:cNvPr>
                <p:cNvCxnSpPr>
                  <a:cxnSpLocks/>
                  <a:stCxn id="113" idx="2"/>
                  <a:endCxn id="116" idx="1"/>
                </p:cNvCxnSpPr>
                <p:nvPr/>
              </p:nvCxnSpPr>
              <p:spPr>
                <a:xfrm rot="5400000" flipH="1">
                  <a:off x="696860" y="3469565"/>
                  <a:ext cx="2200534" cy="862568"/>
                </a:xfrm>
                <a:prstGeom prst="bentConnector4">
                  <a:avLst>
                    <a:gd name="adj1" fmla="val -12364"/>
                    <a:gd name="adj2" fmla="val 153582"/>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90EF6118-A344-673C-DF0F-326F0AF2B2C0}"/>
                    </a:ext>
                  </a:extLst>
                </p:cNvPr>
                <p:cNvCxnSpPr>
                  <a:cxnSpLocks/>
                  <a:stCxn id="111" idx="2"/>
                  <a:endCxn id="116" idx="0"/>
                </p:cNvCxnSpPr>
                <p:nvPr/>
              </p:nvCxnSpPr>
              <p:spPr>
                <a:xfrm>
                  <a:off x="2208657" y="2334886"/>
                  <a:ext cx="10861" cy="18561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77864942-CC9F-A1D2-771C-9509852C1F9E}"/>
                    </a:ext>
                  </a:extLst>
                </p:cNvPr>
                <p:cNvCxnSpPr>
                  <a:cxnSpLocks/>
                  <a:stCxn id="116" idx="3"/>
                </p:cNvCxnSpPr>
                <p:nvPr/>
              </p:nvCxnSpPr>
              <p:spPr>
                <a:xfrm flipH="1" flipV="1">
                  <a:off x="2266823" y="2438570"/>
                  <a:ext cx="806368" cy="362012"/>
                </a:xfrm>
                <a:prstGeom prst="bentConnector3">
                  <a:avLst>
                    <a:gd name="adj1" fmla="val -3671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D83C67F8-E3DB-3199-0162-E0CC89DE272E}"/>
                    </a:ext>
                  </a:extLst>
                </p:cNvPr>
                <p:cNvCxnSpPr>
                  <a:cxnSpLocks/>
                  <a:stCxn id="110" idx="3"/>
                  <a:endCxn id="222" idx="1"/>
                </p:cNvCxnSpPr>
                <p:nvPr/>
              </p:nvCxnSpPr>
              <p:spPr>
                <a:xfrm flipV="1">
                  <a:off x="3240838" y="1620221"/>
                  <a:ext cx="313018" cy="2266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3CC4C006-26D3-04ED-137F-1D7CD6B2954F}"/>
                    </a:ext>
                  </a:extLst>
                </p:cNvPr>
                <p:cNvCxnSpPr>
                  <a:cxnSpLocks/>
                  <a:stCxn id="110" idx="2"/>
                  <a:endCxn id="111" idx="0"/>
                </p:cNvCxnSpPr>
                <p:nvPr/>
              </p:nvCxnSpPr>
              <p:spPr>
                <a:xfrm flipH="1">
                  <a:off x="2208657" y="1777031"/>
                  <a:ext cx="3454" cy="256504"/>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7150BA6D-9D61-62BE-5953-2979D242AF6D}"/>
                    </a:ext>
                  </a:extLst>
                </p:cNvPr>
                <p:cNvCxnSpPr>
                  <a:cxnSpLocks/>
                  <a:stCxn id="111" idx="3"/>
                  <a:endCxn id="228" idx="1"/>
                </p:cNvCxnSpPr>
                <p:nvPr/>
              </p:nvCxnSpPr>
              <p:spPr>
                <a:xfrm>
                  <a:off x="3237384" y="2184210"/>
                  <a:ext cx="310810" cy="1432"/>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32" name="Oval 131">
                  <a:extLst>
                    <a:ext uri="{FF2B5EF4-FFF2-40B4-BE49-F238E27FC236}">
                      <a16:creationId xmlns:a16="http://schemas.microsoft.com/office/drawing/2014/main" id="{784C3563-AE2C-2F65-EFB7-D25C613A92D5}"/>
                    </a:ext>
                  </a:extLst>
                </p:cNvPr>
                <p:cNvSpPr/>
                <p:nvPr/>
              </p:nvSpPr>
              <p:spPr>
                <a:xfrm>
                  <a:off x="1743224" y="945268"/>
                  <a:ext cx="937773" cy="388119"/>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buClr>
                      <a:schemeClr val="bg1"/>
                    </a:buClr>
                  </a:pPr>
                  <a:r>
                    <a:rPr lang="fr-FR" sz="800">
                      <a:solidFill>
                        <a:srgbClr val="000000"/>
                      </a:solidFill>
                    </a:rPr>
                    <a:t>Start</a:t>
                  </a:r>
                  <a:endParaRPr lang="en-US" sz="800" err="1">
                    <a:solidFill>
                      <a:srgbClr val="000000"/>
                    </a:solidFill>
                  </a:endParaRPr>
                </a:p>
              </p:txBody>
            </p:sp>
            <p:cxnSp>
              <p:nvCxnSpPr>
                <p:cNvPr id="141" name="Straight Arrow Connector 140">
                  <a:extLst>
                    <a:ext uri="{FF2B5EF4-FFF2-40B4-BE49-F238E27FC236}">
                      <a16:creationId xmlns:a16="http://schemas.microsoft.com/office/drawing/2014/main" id="{59292E52-81F3-E309-CE2D-14D9EC20CBE2}"/>
                    </a:ext>
                  </a:extLst>
                </p:cNvPr>
                <p:cNvCxnSpPr>
                  <a:cxnSpLocks/>
                  <a:stCxn id="132" idx="4"/>
                  <a:endCxn id="110" idx="0"/>
                </p:cNvCxnSpPr>
                <p:nvPr/>
              </p:nvCxnSpPr>
              <p:spPr>
                <a:xfrm>
                  <a:off x="2212110" y="1333387"/>
                  <a:ext cx="0" cy="17535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44" name="Rectangle 143">
                  <a:extLst>
                    <a:ext uri="{FF2B5EF4-FFF2-40B4-BE49-F238E27FC236}">
                      <a16:creationId xmlns:a16="http://schemas.microsoft.com/office/drawing/2014/main" id="{DD13DD0A-0D95-C69B-0C45-DE4FB5506446}"/>
                    </a:ext>
                  </a:extLst>
                </p:cNvPr>
                <p:cNvSpPr/>
                <p:nvPr/>
              </p:nvSpPr>
              <p:spPr>
                <a:xfrm>
                  <a:off x="1190790" y="3318951"/>
                  <a:ext cx="2057456" cy="268290"/>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fr-FR" sz="800">
                      <a:solidFill>
                        <a:schemeClr val="tx1"/>
                      </a:solidFill>
                    </a:rPr>
                    <a:t>USB </a:t>
                  </a:r>
                  <a:r>
                    <a:rPr lang="fr-FR" sz="800" err="1">
                      <a:solidFill>
                        <a:schemeClr val="tx1"/>
                      </a:solidFill>
                    </a:rPr>
                    <a:t>enemeration</a:t>
                  </a:r>
                  <a:r>
                    <a:rPr lang="fr-FR" sz="800">
                      <a:solidFill>
                        <a:schemeClr val="tx1"/>
                      </a:solidFill>
                    </a:rPr>
                    <a:t> </a:t>
                  </a:r>
                  <a:endParaRPr lang="en-US" sz="800">
                    <a:solidFill>
                      <a:schemeClr val="tx1"/>
                    </a:solidFill>
                  </a:endParaRPr>
                </a:p>
              </p:txBody>
            </p:sp>
            <p:cxnSp>
              <p:nvCxnSpPr>
                <p:cNvPr id="145" name="Straight Arrow Connector 144">
                  <a:extLst>
                    <a:ext uri="{FF2B5EF4-FFF2-40B4-BE49-F238E27FC236}">
                      <a16:creationId xmlns:a16="http://schemas.microsoft.com/office/drawing/2014/main" id="{0A49FBB6-6E49-DB29-F180-ADE51607435E}"/>
                    </a:ext>
                  </a:extLst>
                </p:cNvPr>
                <p:cNvCxnSpPr>
                  <a:cxnSpLocks/>
                  <a:stCxn id="144" idx="2"/>
                  <a:endCxn id="112" idx="0"/>
                </p:cNvCxnSpPr>
                <p:nvPr/>
              </p:nvCxnSpPr>
              <p:spPr>
                <a:xfrm>
                  <a:off x="2219519" y="3587241"/>
                  <a:ext cx="8892" cy="28008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36F8CBD6-F753-BBF7-F51C-D7A8293D83C9}"/>
                    </a:ext>
                  </a:extLst>
                </p:cNvPr>
                <p:cNvCxnSpPr>
                  <a:cxnSpLocks/>
                  <a:stCxn id="112" idx="3"/>
                </p:cNvCxnSpPr>
                <p:nvPr/>
              </p:nvCxnSpPr>
              <p:spPr>
                <a:xfrm flipH="1" flipV="1">
                  <a:off x="2266823" y="3706110"/>
                  <a:ext cx="815260" cy="473940"/>
                </a:xfrm>
                <a:prstGeom prst="bentConnector3">
                  <a:avLst>
                    <a:gd name="adj1" fmla="val -36310"/>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sp>
            <p:nvSpPr>
              <p:cNvPr id="222" name="TextBox 71">
                <a:extLst>
                  <a:ext uri="{FF2B5EF4-FFF2-40B4-BE49-F238E27FC236}">
                    <a16:creationId xmlns:a16="http://schemas.microsoft.com/office/drawing/2014/main" id="{36836972-5768-90B3-21A6-DC6B61E3B71E}"/>
                  </a:ext>
                </a:extLst>
              </p:cNvPr>
              <p:cNvSpPr txBox="1"/>
              <p:nvPr/>
            </p:nvSpPr>
            <p:spPr>
              <a:xfrm>
                <a:off x="8732930" y="2154532"/>
                <a:ext cx="2629344" cy="41576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rgbClr val="03234B"/>
                    </a:solidFill>
                    <a:latin typeface="Arial"/>
                    <a:ea typeface="+mn-ea"/>
                    <a:cs typeface="+mn-cs"/>
                  </a:defRPr>
                </a:lvl1pPr>
                <a:lvl2pPr marL="457200" algn="l" defTabSz="914400" rtl="0" eaLnBrk="1" latinLnBrk="0" hangingPunct="1">
                  <a:defRPr sz="1800" kern="1200">
                    <a:solidFill>
                      <a:srgbClr val="03234B"/>
                    </a:solidFill>
                    <a:latin typeface="Arial"/>
                    <a:ea typeface="+mn-ea"/>
                    <a:cs typeface="+mn-cs"/>
                  </a:defRPr>
                </a:lvl2pPr>
                <a:lvl3pPr marL="914400" algn="l" defTabSz="914400" rtl="0" eaLnBrk="1" latinLnBrk="0" hangingPunct="1">
                  <a:defRPr sz="1800" kern="1200">
                    <a:solidFill>
                      <a:srgbClr val="03234B"/>
                    </a:solidFill>
                    <a:latin typeface="Arial"/>
                    <a:ea typeface="+mn-ea"/>
                    <a:cs typeface="+mn-cs"/>
                  </a:defRPr>
                </a:lvl3pPr>
                <a:lvl4pPr marL="1371600" algn="l" defTabSz="914400" rtl="0" eaLnBrk="1" latinLnBrk="0" hangingPunct="1">
                  <a:defRPr sz="1800" kern="1200">
                    <a:solidFill>
                      <a:srgbClr val="03234B"/>
                    </a:solidFill>
                    <a:latin typeface="Arial"/>
                    <a:ea typeface="+mn-ea"/>
                    <a:cs typeface="+mn-cs"/>
                  </a:defRPr>
                </a:lvl4pPr>
                <a:lvl5pPr marL="1828800" algn="l" defTabSz="914400" rtl="0" eaLnBrk="1" latinLnBrk="0" hangingPunct="1">
                  <a:defRPr sz="1800" kern="1200">
                    <a:solidFill>
                      <a:srgbClr val="03234B"/>
                    </a:solidFill>
                    <a:latin typeface="Arial"/>
                    <a:ea typeface="+mn-ea"/>
                    <a:cs typeface="+mn-cs"/>
                  </a:defRPr>
                </a:lvl5pPr>
                <a:lvl6pPr marL="2286000" algn="l" defTabSz="914400" rtl="0" eaLnBrk="1" latinLnBrk="0" hangingPunct="1">
                  <a:defRPr sz="1800" kern="1200">
                    <a:solidFill>
                      <a:srgbClr val="03234B"/>
                    </a:solidFill>
                    <a:latin typeface="Arial"/>
                    <a:ea typeface="+mn-ea"/>
                    <a:cs typeface="+mn-cs"/>
                  </a:defRPr>
                </a:lvl6pPr>
                <a:lvl7pPr marL="2743200" algn="l" defTabSz="914400" rtl="0" eaLnBrk="1" latinLnBrk="0" hangingPunct="1">
                  <a:defRPr sz="1800" kern="1200">
                    <a:solidFill>
                      <a:srgbClr val="03234B"/>
                    </a:solidFill>
                    <a:latin typeface="Arial"/>
                    <a:ea typeface="+mn-ea"/>
                    <a:cs typeface="+mn-cs"/>
                  </a:defRPr>
                </a:lvl7pPr>
                <a:lvl8pPr marL="3200400" algn="l" defTabSz="914400" rtl="0" eaLnBrk="1" latinLnBrk="0" hangingPunct="1">
                  <a:defRPr sz="1800" kern="1200">
                    <a:solidFill>
                      <a:srgbClr val="03234B"/>
                    </a:solidFill>
                    <a:latin typeface="Arial"/>
                    <a:ea typeface="+mn-ea"/>
                    <a:cs typeface="+mn-cs"/>
                  </a:defRPr>
                </a:lvl8pPr>
                <a:lvl9pPr marL="3657600" algn="l" defTabSz="914400" rtl="0" eaLnBrk="1" latinLnBrk="0" hangingPunct="1">
                  <a:defRPr sz="1800" kern="1200">
                    <a:solidFill>
                      <a:srgbClr val="03234B"/>
                    </a:solidFill>
                    <a:latin typeface="Arial"/>
                    <a:ea typeface="+mn-ea"/>
                    <a:cs typeface="+mn-cs"/>
                  </a:defRPr>
                </a:lvl9pPr>
              </a:lstStyle>
              <a:p>
                <a:pPr>
                  <a:defRPr/>
                </a:pPr>
                <a:r>
                  <a:rPr lang="en-US" sz="800" dirty="0">
                    <a:cs typeface="Arial"/>
                  </a:rPr>
                  <a:t>C</a:t>
                </a:r>
                <a:r>
                  <a:rPr kumimoji="0" lang="en-US" sz="800" b="0" i="0" u="none" strike="noStrike" kern="1200" cap="none" spc="0" normalizeH="0" baseline="0" noProof="0" dirty="0">
                    <a:ln>
                      <a:noFill/>
                    </a:ln>
                    <a:solidFill>
                      <a:srgbClr val="03234B"/>
                    </a:solidFill>
                    <a:effectLst/>
                    <a:uLnTx/>
                    <a:uFillTx/>
                    <a:latin typeface="Arial"/>
                    <a:ea typeface="+mn-ea"/>
                    <a:cs typeface="Arial"/>
                  </a:rPr>
                  <a:t>lock source : </a:t>
                </a:r>
                <a:r>
                  <a:rPr lang="fr-FR" sz="800" b="1" dirty="0"/>
                  <a:t>HSI (ST) </a:t>
                </a:r>
                <a:r>
                  <a:rPr lang="fr-FR" sz="800" dirty="0"/>
                  <a:t>/ </a:t>
                </a:r>
                <a:r>
                  <a:rPr lang="fr-FR" sz="800" b="1" dirty="0"/>
                  <a:t>FIRC_48M (NXP)</a:t>
                </a:r>
              </a:p>
              <a:p>
                <a:pPr>
                  <a:defRPr/>
                </a:pPr>
                <a:r>
                  <a:rPr lang="en-US" sz="800" dirty="0"/>
                  <a:t>Clock frequency: </a:t>
                </a:r>
                <a:r>
                  <a:rPr lang="en-US" sz="800" b="1" dirty="0"/>
                  <a:t>CM33: 150 MHz (ST and </a:t>
                </a:r>
                <a:r>
                  <a:rPr lang="fr-FR" sz="800" b="1" dirty="0"/>
                  <a:t>NXP</a:t>
                </a:r>
                <a:r>
                  <a:rPr lang="en-US" sz="800" b="1" dirty="0"/>
                  <a:t>)</a:t>
                </a:r>
              </a:p>
              <a:p>
                <a:pPr>
                  <a:defRPr/>
                </a:pPr>
                <a:r>
                  <a:rPr lang="en-US" sz="800" b="1" dirty="0"/>
                  <a:t>                          </a:t>
                </a:r>
              </a:p>
            </p:txBody>
          </p:sp>
          <p:sp>
            <p:nvSpPr>
              <p:cNvPr id="228" name="TextBox 39">
                <a:extLst>
                  <a:ext uri="{FF2B5EF4-FFF2-40B4-BE49-F238E27FC236}">
                    <a16:creationId xmlns:a16="http://schemas.microsoft.com/office/drawing/2014/main" id="{7847D2BA-EF5E-F091-FD6D-4C88EBEFB1FA}"/>
                  </a:ext>
                </a:extLst>
              </p:cNvPr>
              <p:cNvSpPr txBox="1"/>
              <p:nvPr/>
            </p:nvSpPr>
            <p:spPr>
              <a:xfrm>
                <a:off x="8728558" y="2637420"/>
                <a:ext cx="2959711"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t>U5/</a:t>
                </a:r>
                <a:r>
                  <a:rPr lang="en-US" sz="800" b="1">
                    <a:solidFill>
                      <a:srgbClr val="002060"/>
                    </a:solidFill>
                  </a:rPr>
                  <a:t> MCX-N9:</a:t>
                </a:r>
                <a:r>
                  <a:rPr lang="en-US" sz="800"/>
                  <a:t> USB Full Speed, USB Device</a:t>
                </a:r>
                <a:r>
                  <a:rPr lang="en-US" sz="1000"/>
                  <a:t>, </a:t>
                </a:r>
                <a:r>
                  <a:rPr lang="en-US" sz="800"/>
                  <a:t>CDC class</a:t>
                </a:r>
              </a:p>
              <a:p>
                <a:r>
                  <a:rPr lang="en-US" sz="800" b="1"/>
                  <a:t>H7/ </a:t>
                </a:r>
                <a:r>
                  <a:rPr lang="en-US" sz="800" b="1">
                    <a:solidFill>
                      <a:srgbClr val="002060"/>
                    </a:solidFill>
                  </a:rPr>
                  <a:t>RT1170: </a:t>
                </a:r>
                <a:r>
                  <a:rPr lang="en-US" sz="800"/>
                  <a:t>USB High Speed, USB Device</a:t>
                </a:r>
                <a:r>
                  <a:rPr lang="en-US" sz="1000"/>
                  <a:t>, </a:t>
                </a:r>
                <a:r>
                  <a:rPr lang="en-US" sz="800"/>
                  <a:t>CDC class</a:t>
                </a:r>
              </a:p>
            </p:txBody>
          </p:sp>
          <p:sp>
            <p:nvSpPr>
              <p:cNvPr id="232" name="Rectangle: Folded Corner 231">
                <a:extLst>
                  <a:ext uri="{FF2B5EF4-FFF2-40B4-BE49-F238E27FC236}">
                    <a16:creationId xmlns:a16="http://schemas.microsoft.com/office/drawing/2014/main" id="{410752FB-DEE7-D803-28D4-035BCB37834E}"/>
                  </a:ext>
                </a:extLst>
              </p:cNvPr>
              <p:cNvSpPr/>
              <p:nvPr/>
            </p:nvSpPr>
            <p:spPr>
              <a:xfrm>
                <a:off x="9308985" y="3834507"/>
                <a:ext cx="1139889" cy="888392"/>
              </a:xfrm>
              <a:prstGeom prst="foldedCorner">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solidFill>
                  </a:rPr>
                  <a:t>USB host (PC) identify, assign address and configure USB device (MCU)</a:t>
                </a:r>
              </a:p>
            </p:txBody>
          </p:sp>
          <p:cxnSp>
            <p:nvCxnSpPr>
              <p:cNvPr id="233" name="Connector: Curved 232">
                <a:extLst>
                  <a:ext uri="{FF2B5EF4-FFF2-40B4-BE49-F238E27FC236}">
                    <a16:creationId xmlns:a16="http://schemas.microsoft.com/office/drawing/2014/main" id="{4B2C7A0E-5429-96BC-A0B2-51EE4FB9CC8C}"/>
                  </a:ext>
                </a:extLst>
              </p:cNvPr>
              <p:cNvCxnSpPr>
                <a:cxnSpLocks/>
                <a:stCxn id="144" idx="3"/>
                <a:endCxn id="232" idx="1"/>
              </p:cNvCxnSpPr>
              <p:nvPr/>
            </p:nvCxnSpPr>
            <p:spPr>
              <a:xfrm>
                <a:off x="8496924" y="3902375"/>
                <a:ext cx="812061" cy="376328"/>
              </a:xfrm>
              <a:prstGeom prst="curvedConnector3">
                <a:avLst/>
              </a:prstGeom>
              <a:ln w="12700">
                <a:headEnd type="none" w="lg" len="lg"/>
                <a:tailEnd type="triangle"/>
              </a:ln>
            </p:spPr>
            <p:style>
              <a:lnRef idx="1">
                <a:schemeClr val="accent4"/>
              </a:lnRef>
              <a:fillRef idx="0">
                <a:schemeClr val="accent4"/>
              </a:fillRef>
              <a:effectRef idx="0">
                <a:schemeClr val="accent4"/>
              </a:effectRef>
              <a:fontRef idx="minor">
                <a:schemeClr val="tx1"/>
              </a:fontRef>
            </p:style>
          </p:cxnSp>
        </p:grpSp>
      </p:grpSp>
      <p:sp>
        <p:nvSpPr>
          <p:cNvPr id="238" name="Rectangle 237">
            <a:extLst>
              <a:ext uri="{FF2B5EF4-FFF2-40B4-BE49-F238E27FC236}">
                <a16:creationId xmlns:a16="http://schemas.microsoft.com/office/drawing/2014/main" id="{B480F0EC-5025-D617-FDA1-2A72C0D5087F}"/>
              </a:ext>
            </a:extLst>
          </p:cNvPr>
          <p:cNvSpPr/>
          <p:nvPr/>
        </p:nvSpPr>
        <p:spPr>
          <a:xfrm>
            <a:off x="140383" y="6133600"/>
            <a:ext cx="5845932" cy="55910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a:solidFill>
                  <a:schemeClr val="accent2"/>
                </a:solidFill>
              </a:rPr>
              <a:t>USB CDC device class: </a:t>
            </a:r>
            <a:r>
              <a:rPr lang="fr-FR" sz="800">
                <a:solidFill>
                  <a:schemeClr val="tx1"/>
                </a:solidFill>
              </a:rPr>
              <a:t>USB </a:t>
            </a:r>
            <a:r>
              <a:rPr lang="en-US" sz="800" b="1">
                <a:solidFill>
                  <a:schemeClr val="tx1"/>
                </a:solidFill>
              </a:rPr>
              <a:t>communication device class</a:t>
            </a:r>
            <a:r>
              <a:rPr lang="fr-FR" sz="800" b="1">
                <a:solidFill>
                  <a:schemeClr val="tx1"/>
                </a:solidFill>
              </a:rPr>
              <a:t> </a:t>
            </a:r>
            <a:r>
              <a:rPr lang="fr-FR" sz="800" err="1">
                <a:solidFill>
                  <a:schemeClr val="tx1"/>
                </a:solidFill>
              </a:rPr>
              <a:t>allows</a:t>
            </a:r>
            <a:r>
              <a:rPr lang="fr-FR" sz="800" b="1">
                <a:solidFill>
                  <a:schemeClr val="tx1"/>
                </a:solidFill>
              </a:rPr>
              <a:t> </a:t>
            </a:r>
            <a:r>
              <a:rPr lang="en-US" sz="800">
                <a:solidFill>
                  <a:schemeClr val="tx1"/>
                </a:solidFill>
              </a:rPr>
              <a:t>devices to communicate with computers as serial ports or network interfaces.</a:t>
            </a:r>
          </a:p>
        </p:txBody>
      </p:sp>
      <p:sp>
        <p:nvSpPr>
          <p:cNvPr id="17" name="Title 2">
            <a:extLst>
              <a:ext uri="{FF2B5EF4-FFF2-40B4-BE49-F238E27FC236}">
                <a16:creationId xmlns:a16="http://schemas.microsoft.com/office/drawing/2014/main" id="{7E6EA010-4DD1-02FB-9C65-68E9040705D5}"/>
              </a:ext>
            </a:extLst>
          </p:cNvPr>
          <p:cNvSpPr>
            <a:spLocks noGrp="1"/>
          </p:cNvSpPr>
          <p:nvPr>
            <p:ph type="title"/>
          </p:nvPr>
        </p:nvSpPr>
        <p:spPr>
          <a:xfrm>
            <a:off x="300037" y="-1"/>
            <a:ext cx="11609159" cy="1304925"/>
          </a:xfrm>
        </p:spPr>
        <p:txBody>
          <a:bodyPr/>
          <a:lstStyle/>
          <a:p>
            <a:r>
              <a:rPr lang="en-US"/>
              <a:t>ST Competitors MW Benchmark: USB</a:t>
            </a:r>
            <a:br>
              <a:rPr lang="en-US" b="1"/>
            </a:br>
            <a:r>
              <a:rPr lang="en-US" sz="2400" b="1">
                <a:solidFill>
                  <a:schemeClr val="accent2"/>
                </a:solidFill>
              </a:rPr>
              <a:t>ST vs NXP Flowcharts</a:t>
            </a:r>
            <a:br>
              <a:rPr lang="en-US" sz="2400" b="1">
                <a:solidFill>
                  <a:schemeClr val="accent2"/>
                </a:solidFill>
              </a:rPr>
            </a:br>
            <a:endParaRPr lang="en-US" sz="2400" b="1">
              <a:solidFill>
                <a:schemeClr val="accent2"/>
              </a:solidFill>
            </a:endParaRPr>
          </a:p>
        </p:txBody>
      </p:sp>
      <p:sp>
        <p:nvSpPr>
          <p:cNvPr id="2" name="Slide Number Placeholder 1">
            <a:extLst>
              <a:ext uri="{FF2B5EF4-FFF2-40B4-BE49-F238E27FC236}">
                <a16:creationId xmlns:a16="http://schemas.microsoft.com/office/drawing/2014/main" id="{5DA5484F-8227-9D6A-735E-304FD00AE9D1}"/>
              </a:ext>
            </a:extLst>
          </p:cNvPr>
          <p:cNvSpPr>
            <a:spLocks noGrp="1"/>
          </p:cNvSpPr>
          <p:nvPr>
            <p:ph type="sldNum" sz="quarter" idx="12"/>
          </p:nvPr>
        </p:nvSpPr>
        <p:spPr/>
        <p:txBody>
          <a:bodyPr/>
          <a:lstStyle/>
          <a:p>
            <a:fld id="{40A7B169-58CE-4E65-B1F9-ACF9E46440C2}" type="slidenum">
              <a:rPr lang="en-US" smtClean="0"/>
              <a:t>22</a:t>
            </a:fld>
            <a:endParaRPr lang="en-US"/>
          </a:p>
        </p:txBody>
      </p:sp>
    </p:spTree>
    <p:extLst>
      <p:ext uri="{BB962C8B-B14F-4D97-AF65-F5344CB8AC3E}">
        <p14:creationId xmlns:p14="http://schemas.microsoft.com/office/powerpoint/2010/main" val="2805989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9ADC8E-292F-F8FE-F7B4-F1B7B7954ED0}"/>
              </a:ext>
            </a:extLst>
          </p:cNvPr>
          <p:cNvSpPr txBox="1"/>
          <p:nvPr/>
        </p:nvSpPr>
        <p:spPr>
          <a:xfrm>
            <a:off x="6104616" y="1465230"/>
            <a:ext cx="5598365" cy="307777"/>
          </a:xfrm>
          <a:prstGeom prst="rect">
            <a:avLst/>
          </a:prstGeom>
          <a:noFill/>
        </p:spPr>
        <p:txBody>
          <a:bodyPr wrap="square" rtlCol="0">
            <a:spAutoFit/>
          </a:bodyPr>
          <a:lstStyle/>
          <a:p>
            <a:r>
              <a:rPr lang="en-US" sz="1400" b="1" dirty="0">
                <a:solidFill>
                  <a:srgbClr val="0070C0"/>
                </a:solidFill>
              </a:rPr>
              <a:t>BareMetal mode : ST/NXP USB Library HID device class</a:t>
            </a:r>
          </a:p>
        </p:txBody>
      </p:sp>
      <p:cxnSp>
        <p:nvCxnSpPr>
          <p:cNvPr id="5" name="Straight Connector 4">
            <a:extLst>
              <a:ext uri="{FF2B5EF4-FFF2-40B4-BE49-F238E27FC236}">
                <a16:creationId xmlns:a16="http://schemas.microsoft.com/office/drawing/2014/main" id="{B5C0FFD3-BA59-69ED-9E93-E564977EE2B0}"/>
              </a:ext>
            </a:extLst>
          </p:cNvPr>
          <p:cNvCxnSpPr>
            <a:cxnSpLocks/>
          </p:cNvCxnSpPr>
          <p:nvPr/>
        </p:nvCxnSpPr>
        <p:spPr>
          <a:xfrm flipH="1" flipV="1">
            <a:off x="6083340" y="1411101"/>
            <a:ext cx="12660" cy="5356379"/>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sp>
        <p:nvSpPr>
          <p:cNvPr id="6" name="TextBox 5">
            <a:extLst>
              <a:ext uri="{FF2B5EF4-FFF2-40B4-BE49-F238E27FC236}">
                <a16:creationId xmlns:a16="http://schemas.microsoft.com/office/drawing/2014/main" id="{1FB15268-A5BB-41FA-B3A8-2B00510E18A9}"/>
              </a:ext>
            </a:extLst>
          </p:cNvPr>
          <p:cNvSpPr txBox="1"/>
          <p:nvPr/>
        </p:nvSpPr>
        <p:spPr>
          <a:xfrm>
            <a:off x="116734" y="1465230"/>
            <a:ext cx="5771774" cy="307777"/>
          </a:xfrm>
          <a:prstGeom prst="rect">
            <a:avLst/>
          </a:prstGeom>
          <a:noFill/>
        </p:spPr>
        <p:txBody>
          <a:bodyPr wrap="square" rtlCol="0">
            <a:spAutoFit/>
          </a:bodyPr>
          <a:lstStyle/>
          <a:p>
            <a:r>
              <a:rPr lang="en-US" sz="1400" b="1" dirty="0">
                <a:solidFill>
                  <a:srgbClr val="0070C0"/>
                </a:solidFill>
              </a:rPr>
              <a:t>BareMetal mode : ST/NXP USB Library CDC device class</a:t>
            </a:r>
          </a:p>
        </p:txBody>
      </p:sp>
      <p:sp>
        <p:nvSpPr>
          <p:cNvPr id="8" name="TextBox 7">
            <a:extLst>
              <a:ext uri="{FF2B5EF4-FFF2-40B4-BE49-F238E27FC236}">
                <a16:creationId xmlns:a16="http://schemas.microsoft.com/office/drawing/2014/main" id="{6B4B42D2-85A7-E8B1-F692-37BFD503524B}"/>
              </a:ext>
            </a:extLst>
          </p:cNvPr>
          <p:cNvSpPr txBox="1"/>
          <p:nvPr/>
        </p:nvSpPr>
        <p:spPr>
          <a:xfrm>
            <a:off x="116734" y="1696884"/>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a:t>
            </a:r>
            <a:r>
              <a:rPr lang="en-US" sz="1000" b="1" err="1">
                <a:solidFill>
                  <a:schemeClr val="accent2"/>
                </a:solidFill>
              </a:rPr>
              <a:t>ms</a:t>
            </a:r>
            <a:r>
              <a:rPr lang="en-US" sz="1000" b="1">
                <a:solidFill>
                  <a:schemeClr val="accent2"/>
                </a:solidFill>
              </a:rPr>
              <a:t>)</a:t>
            </a:r>
          </a:p>
        </p:txBody>
      </p:sp>
      <p:graphicFrame>
        <p:nvGraphicFramePr>
          <p:cNvPr id="9" name="Table 8">
            <a:extLst>
              <a:ext uri="{FF2B5EF4-FFF2-40B4-BE49-F238E27FC236}">
                <a16:creationId xmlns:a16="http://schemas.microsoft.com/office/drawing/2014/main" id="{9043A317-1709-B3EE-9EC4-7991D2C545CD}"/>
              </a:ext>
            </a:extLst>
          </p:cNvPr>
          <p:cNvGraphicFramePr>
            <a:graphicFrameLocks noGrp="1"/>
          </p:cNvGraphicFramePr>
          <p:nvPr>
            <p:extLst>
              <p:ext uri="{D42A27DB-BD31-4B8C-83A1-F6EECF244321}">
                <p14:modId xmlns:p14="http://schemas.microsoft.com/office/powerpoint/2010/main" val="386394144"/>
              </p:ext>
            </p:extLst>
          </p:nvPr>
        </p:nvGraphicFramePr>
        <p:xfrm>
          <a:off x="97670" y="4088217"/>
          <a:ext cx="5875131" cy="929640"/>
        </p:xfrm>
        <a:graphic>
          <a:graphicData uri="http://schemas.openxmlformats.org/drawingml/2006/table">
            <a:tbl>
              <a:tblPr firstRow="1" bandRow="1">
                <a:tableStyleId>{EB344D84-9AFB-497E-A393-DC336BA19D2E}</a:tableStyleId>
              </a:tblPr>
              <a:tblGrid>
                <a:gridCol w="988491">
                  <a:extLst>
                    <a:ext uri="{9D8B030D-6E8A-4147-A177-3AD203B41FA5}">
                      <a16:colId xmlns:a16="http://schemas.microsoft.com/office/drawing/2014/main" val="1473133747"/>
                    </a:ext>
                  </a:extLst>
                </a:gridCol>
                <a:gridCol w="1361562">
                  <a:extLst>
                    <a:ext uri="{9D8B030D-6E8A-4147-A177-3AD203B41FA5}">
                      <a16:colId xmlns:a16="http://schemas.microsoft.com/office/drawing/2014/main" val="4162598800"/>
                    </a:ext>
                  </a:extLst>
                </a:gridCol>
                <a:gridCol w="1049859">
                  <a:extLst>
                    <a:ext uri="{9D8B030D-6E8A-4147-A177-3AD203B41FA5}">
                      <a16:colId xmlns:a16="http://schemas.microsoft.com/office/drawing/2014/main" val="1196173778"/>
                    </a:ext>
                  </a:extLst>
                </a:gridCol>
                <a:gridCol w="762000">
                  <a:extLst>
                    <a:ext uri="{9D8B030D-6E8A-4147-A177-3AD203B41FA5}">
                      <a16:colId xmlns:a16="http://schemas.microsoft.com/office/drawing/2014/main" val="2713348666"/>
                    </a:ext>
                  </a:extLst>
                </a:gridCol>
                <a:gridCol w="1713219">
                  <a:extLst>
                    <a:ext uri="{9D8B030D-6E8A-4147-A177-3AD203B41FA5}">
                      <a16:colId xmlns:a16="http://schemas.microsoft.com/office/drawing/2014/main" val="4253733116"/>
                    </a:ext>
                  </a:extLst>
                </a:gridCol>
              </a:tblGrid>
              <a:tr h="196954">
                <a:tc>
                  <a:txBody>
                    <a:bodyPr/>
                    <a:lstStyle/>
                    <a:p>
                      <a:pPr algn="ctr"/>
                      <a:endParaRPr lang="en-US" sz="7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dirty="0"/>
                        <a:t>STM32U575xx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dirty="0">
                          <a:solidFill>
                            <a:schemeClr val="lt1"/>
                          </a:solidFill>
                          <a:latin typeface="+mn-lt"/>
                          <a:ea typeface="+mn-ea"/>
                          <a:cs typeface="+mn-cs"/>
                        </a:rPr>
                        <a:t>MCX-N94X</a:t>
                      </a:r>
                    </a:p>
                  </a:txBody>
                  <a:tcPr/>
                </a:tc>
                <a:tc>
                  <a:txBody>
                    <a:bodyPr/>
                    <a:lstStyle/>
                    <a:p>
                      <a:pPr algn="ctr"/>
                      <a:r>
                        <a:rPr lang="en-US" sz="700" dirty="0"/>
                        <a:t>ST vs NXP</a:t>
                      </a:r>
                    </a:p>
                  </a:txBody>
                  <a:tcPr/>
                </a:tc>
                <a:tc>
                  <a:txBody>
                    <a:bodyPr/>
                    <a:lstStyle/>
                    <a:p>
                      <a:pPr algn="ctr"/>
                      <a:r>
                        <a:rPr lang="en-US" sz="700" dirty="0"/>
                        <a:t>Comment</a:t>
                      </a:r>
                    </a:p>
                  </a:txBody>
                  <a:tcPr/>
                </a:tc>
                <a:extLst>
                  <a:ext uri="{0D108BD9-81ED-4DB2-BD59-A6C34878D82A}">
                    <a16:rowId xmlns:a16="http://schemas.microsoft.com/office/drawing/2014/main" val="797373398"/>
                  </a:ext>
                </a:extLst>
              </a:tr>
              <a:tr h="196954">
                <a:tc>
                  <a:txBody>
                    <a:bodyPr/>
                    <a:lstStyle/>
                    <a:p>
                      <a:pPr algn="l"/>
                      <a:r>
                        <a:rPr lang="en-US" sz="700" b="1" dirty="0">
                          <a:solidFill>
                            <a:schemeClr val="tx1"/>
                          </a:solidFill>
                        </a:rPr>
                        <a:t>ROM</a:t>
                      </a:r>
                    </a:p>
                  </a:txBody>
                  <a:tcPr/>
                </a:tc>
                <a:tc>
                  <a:txBody>
                    <a:bodyPr/>
                    <a:lstStyle/>
                    <a:p>
                      <a:pPr algn="ctr"/>
                      <a:r>
                        <a:rPr lang="en-US" sz="1000" dirty="0"/>
                        <a:t>17013</a:t>
                      </a:r>
                    </a:p>
                  </a:txBody>
                  <a:tcPr/>
                </a:tc>
                <a:tc>
                  <a:txBody>
                    <a:bodyPr/>
                    <a:lstStyle/>
                    <a:p>
                      <a:pPr algn="ctr" fontAlgn="ctr">
                        <a:buNone/>
                      </a:pPr>
                      <a:r>
                        <a:rPr lang="en-US" sz="1000" b="0" i="0" u="none" strike="noStrike" dirty="0">
                          <a:solidFill>
                            <a:srgbClr val="000000"/>
                          </a:solidFill>
                          <a:effectLst/>
                          <a:latin typeface="Aptos Narrow" panose="020B0004020202020204" pitchFamily="34" charset="0"/>
                        </a:rPr>
                        <a:t>13549</a:t>
                      </a:r>
                    </a:p>
                  </a:txBody>
                  <a:tcPr/>
                </a:tc>
                <a:tc>
                  <a:txBody>
                    <a:bodyPr/>
                    <a:lstStyle/>
                    <a:p>
                      <a:pPr algn="ctr"/>
                      <a:r>
                        <a:rPr lang="en-US" sz="1000" b="1" dirty="0">
                          <a:solidFill>
                            <a:srgbClr val="FF0000"/>
                          </a:solidFill>
                        </a:rPr>
                        <a:t>+25.5%</a:t>
                      </a:r>
                    </a:p>
                  </a:txBody>
                  <a:tcPr/>
                </a:tc>
                <a:tc rowSpan="3">
                  <a:txBody>
                    <a:bodyPr/>
                    <a:lstStyle/>
                    <a:p>
                      <a:pPr algn="l"/>
                      <a:r>
                        <a:rPr lang="en-US" sz="1000" dirty="0"/>
                        <a:t>* STM32 RCC Clock config 4560 bytes</a:t>
                      </a:r>
                    </a:p>
                    <a:p>
                      <a:pPr algn="l"/>
                      <a:r>
                        <a:rPr lang="en-US" sz="1000" dirty="0"/>
                        <a:t>* FSL clock config 1470 bytes</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0625977"/>
                  </a:ext>
                </a:extLst>
              </a:tr>
              <a:tr h="196954">
                <a:tc>
                  <a:txBody>
                    <a:bodyPr/>
                    <a:lstStyle/>
                    <a:p>
                      <a:pPr algn="l"/>
                      <a:r>
                        <a:rPr lang="en-US" sz="700" b="1" dirty="0">
                          <a:solidFill>
                            <a:schemeClr val="tx1"/>
                          </a:solidFill>
                        </a:rPr>
                        <a:t>RAM</a:t>
                      </a:r>
                      <a:endParaRPr lang="en-US" sz="700" dirty="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3065</a:t>
                      </a: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1 360</a:t>
                      </a: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FF0000"/>
                          </a:solidFill>
                        </a:rPr>
                        <a:t>+125%</a:t>
                      </a:r>
                    </a:p>
                  </a:txBody>
                  <a:tcPr>
                    <a:lnB w="12700" cap="flat" cmpd="sng" algn="ctr">
                      <a:solidFill>
                        <a:schemeClr val="tx1"/>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196954">
                <a:tc>
                  <a:txBody>
                    <a:bodyPr/>
                    <a:lstStyle/>
                    <a:p>
                      <a:pPr algn="l"/>
                      <a:r>
                        <a:rPr lang="en-US" sz="700" b="1">
                          <a:solidFill>
                            <a:schemeClr val="tx1"/>
                          </a:solidFill>
                        </a:rPr>
                        <a:t>Total</a:t>
                      </a:r>
                      <a:endParaRPr lang="en-US" sz="70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00" b="1"/>
                        <a:t>20078</a:t>
                      </a:r>
                      <a:endParaRPr lang="en-US" sz="1000" b="1"/>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t>14909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rgbClr val="FF0000"/>
                          </a:solidFill>
                        </a:rPr>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US" sz="7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0" name="TextBox 9">
            <a:extLst>
              <a:ext uri="{FF2B5EF4-FFF2-40B4-BE49-F238E27FC236}">
                <a16:creationId xmlns:a16="http://schemas.microsoft.com/office/drawing/2014/main" id="{2B5BD86D-0495-60F0-BCEA-4F81B2D7EFA5}"/>
              </a:ext>
            </a:extLst>
          </p:cNvPr>
          <p:cNvSpPr txBox="1"/>
          <p:nvPr/>
        </p:nvSpPr>
        <p:spPr>
          <a:xfrm>
            <a:off x="145211" y="3691447"/>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sp>
        <p:nvSpPr>
          <p:cNvPr id="12" name="TextBox 11">
            <a:extLst>
              <a:ext uri="{FF2B5EF4-FFF2-40B4-BE49-F238E27FC236}">
                <a16:creationId xmlns:a16="http://schemas.microsoft.com/office/drawing/2014/main" id="{DBC33112-2AB6-1557-035B-5EBF796674DE}"/>
              </a:ext>
            </a:extLst>
          </p:cNvPr>
          <p:cNvSpPr txBox="1"/>
          <p:nvPr/>
        </p:nvSpPr>
        <p:spPr>
          <a:xfrm>
            <a:off x="6206538" y="1696884"/>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dirty="0">
                <a:solidFill>
                  <a:schemeClr val="accent2"/>
                </a:solidFill>
              </a:rPr>
              <a:t>Execution time (</a:t>
            </a:r>
            <a:r>
              <a:rPr lang="en-US" sz="1000" b="1" dirty="0" err="1">
                <a:solidFill>
                  <a:schemeClr val="accent2"/>
                </a:solidFill>
              </a:rPr>
              <a:t>ms</a:t>
            </a:r>
            <a:r>
              <a:rPr lang="en-US" sz="1000" b="1" dirty="0">
                <a:solidFill>
                  <a:schemeClr val="accent2"/>
                </a:solidFill>
              </a:rPr>
              <a:t>)</a:t>
            </a:r>
          </a:p>
        </p:txBody>
      </p:sp>
      <p:sp>
        <p:nvSpPr>
          <p:cNvPr id="14" name="TextBox 13">
            <a:extLst>
              <a:ext uri="{FF2B5EF4-FFF2-40B4-BE49-F238E27FC236}">
                <a16:creationId xmlns:a16="http://schemas.microsoft.com/office/drawing/2014/main" id="{4BDFB877-0C51-F83B-45D9-B20EF4717856}"/>
              </a:ext>
            </a:extLst>
          </p:cNvPr>
          <p:cNvSpPr txBox="1"/>
          <p:nvPr/>
        </p:nvSpPr>
        <p:spPr>
          <a:xfrm>
            <a:off x="6165244" y="3693061"/>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dirty="0">
                <a:solidFill>
                  <a:schemeClr val="accent2"/>
                </a:solidFill>
              </a:rPr>
              <a:t>Footprint (Bytes)</a:t>
            </a:r>
          </a:p>
        </p:txBody>
      </p:sp>
      <p:graphicFrame>
        <p:nvGraphicFramePr>
          <p:cNvPr id="16" name="Table 15">
            <a:extLst>
              <a:ext uri="{FF2B5EF4-FFF2-40B4-BE49-F238E27FC236}">
                <a16:creationId xmlns:a16="http://schemas.microsoft.com/office/drawing/2014/main" id="{3DEAC7FE-1D19-0261-7875-3E03A4BE8D20}"/>
              </a:ext>
            </a:extLst>
          </p:cNvPr>
          <p:cNvGraphicFramePr>
            <a:graphicFrameLocks noGrp="1"/>
          </p:cNvGraphicFramePr>
          <p:nvPr>
            <p:extLst>
              <p:ext uri="{D42A27DB-BD31-4B8C-83A1-F6EECF244321}">
                <p14:modId xmlns:p14="http://schemas.microsoft.com/office/powerpoint/2010/main" val="1276073881"/>
              </p:ext>
            </p:extLst>
          </p:nvPr>
        </p:nvGraphicFramePr>
        <p:xfrm>
          <a:off x="6265513" y="2125056"/>
          <a:ext cx="5643683" cy="1303944"/>
        </p:xfrm>
        <a:graphic>
          <a:graphicData uri="http://schemas.openxmlformats.org/drawingml/2006/table">
            <a:tbl>
              <a:tblPr firstRow="1" bandRow="1">
                <a:tableStyleId>{EB344D84-9AFB-497E-A393-DC336BA19D2E}</a:tableStyleId>
              </a:tblPr>
              <a:tblGrid>
                <a:gridCol w="1218924">
                  <a:extLst>
                    <a:ext uri="{9D8B030D-6E8A-4147-A177-3AD203B41FA5}">
                      <a16:colId xmlns:a16="http://schemas.microsoft.com/office/drawing/2014/main" val="1473133747"/>
                    </a:ext>
                  </a:extLst>
                </a:gridCol>
                <a:gridCol w="1038551">
                  <a:extLst>
                    <a:ext uri="{9D8B030D-6E8A-4147-A177-3AD203B41FA5}">
                      <a16:colId xmlns:a16="http://schemas.microsoft.com/office/drawing/2014/main" val="4162598800"/>
                    </a:ext>
                  </a:extLst>
                </a:gridCol>
                <a:gridCol w="1128737">
                  <a:extLst>
                    <a:ext uri="{9D8B030D-6E8A-4147-A177-3AD203B41FA5}">
                      <a16:colId xmlns:a16="http://schemas.microsoft.com/office/drawing/2014/main" val="1196173778"/>
                    </a:ext>
                  </a:extLst>
                </a:gridCol>
                <a:gridCol w="751247">
                  <a:extLst>
                    <a:ext uri="{9D8B030D-6E8A-4147-A177-3AD203B41FA5}">
                      <a16:colId xmlns:a16="http://schemas.microsoft.com/office/drawing/2014/main" val="2713348666"/>
                    </a:ext>
                  </a:extLst>
                </a:gridCol>
                <a:gridCol w="1506224">
                  <a:extLst>
                    <a:ext uri="{9D8B030D-6E8A-4147-A177-3AD203B41FA5}">
                      <a16:colId xmlns:a16="http://schemas.microsoft.com/office/drawing/2014/main" val="4253733116"/>
                    </a:ext>
                  </a:extLst>
                </a:gridCol>
              </a:tblGrid>
              <a:tr h="325986">
                <a:tc>
                  <a:txBody>
                    <a:bodyPr/>
                    <a:lstStyle/>
                    <a:p>
                      <a:pPr algn="ctr"/>
                      <a:endParaRPr lang="en-US" sz="7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a:t>STM32U575xx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a:solidFill>
                            <a:schemeClr val="lt1"/>
                          </a:solidFill>
                          <a:latin typeface="+mn-lt"/>
                          <a:ea typeface="+mn-ea"/>
                          <a:cs typeface="+mn-cs"/>
                        </a:rPr>
                        <a:t>MCX-N94X</a:t>
                      </a:r>
                    </a:p>
                  </a:txBody>
                  <a:tcPr/>
                </a:tc>
                <a:tc>
                  <a:txBody>
                    <a:bodyPr/>
                    <a:lstStyle/>
                    <a:p>
                      <a:pPr algn="ctr"/>
                      <a:r>
                        <a:rPr lang="en-US" sz="700"/>
                        <a:t>ST vs NXP</a:t>
                      </a:r>
                    </a:p>
                  </a:txBody>
                  <a:tcPr/>
                </a:tc>
                <a:tc>
                  <a:txBody>
                    <a:bodyPr/>
                    <a:lstStyle/>
                    <a:p>
                      <a:pPr algn="ctr"/>
                      <a:r>
                        <a:rPr lang="en-US" sz="700"/>
                        <a:t>Comment</a:t>
                      </a:r>
                    </a:p>
                  </a:txBody>
                  <a:tcPr/>
                </a:tc>
                <a:extLst>
                  <a:ext uri="{0D108BD9-81ED-4DB2-BD59-A6C34878D82A}">
                    <a16:rowId xmlns:a16="http://schemas.microsoft.com/office/drawing/2014/main" val="797373398"/>
                  </a:ext>
                </a:extLst>
              </a:tr>
              <a:tr h="325986">
                <a:tc>
                  <a:txBody>
                    <a:bodyPr/>
                    <a:lstStyle/>
                    <a:p>
                      <a:pPr algn="l"/>
                      <a:r>
                        <a:rPr lang="en-US" sz="700" b="1">
                          <a:solidFill>
                            <a:schemeClr val="tx1"/>
                          </a:solidFill>
                        </a:rPr>
                        <a:t>Initialize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10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5</a:t>
                      </a:r>
                    </a:p>
                  </a:txBody>
                  <a:tcPr/>
                </a:tc>
                <a:tc>
                  <a:txBody>
                    <a:bodyPr/>
                    <a:lstStyle/>
                    <a:p>
                      <a:pPr algn="ctr"/>
                      <a:r>
                        <a:rPr lang="en-US" sz="1000" b="1" dirty="0">
                          <a:solidFill>
                            <a:srgbClr val="FF0000"/>
                          </a:solidFill>
                        </a:rPr>
                        <a:t>+100%</a:t>
                      </a:r>
                    </a:p>
                  </a:txBody>
                  <a:tcPr/>
                </a:tc>
                <a:tc>
                  <a:txBody>
                    <a:bodyPr/>
                    <a:lstStyle/>
                    <a:p>
                      <a:pPr algn="ctr"/>
                      <a:endParaRPr lang="en-US" sz="700" dirty="0"/>
                    </a:p>
                  </a:txBody>
                  <a:tcPr/>
                </a:tc>
                <a:extLst>
                  <a:ext uri="{0D108BD9-81ED-4DB2-BD59-A6C34878D82A}">
                    <a16:rowId xmlns:a16="http://schemas.microsoft.com/office/drawing/2014/main" val="1089852517"/>
                  </a:ext>
                </a:extLst>
              </a:tr>
              <a:tr h="325986">
                <a:tc>
                  <a:txBody>
                    <a:bodyPr/>
                    <a:lstStyle/>
                    <a:p>
                      <a:pPr algn="l"/>
                      <a:r>
                        <a:rPr lang="en-US" sz="700" b="1">
                          <a:solidFill>
                            <a:schemeClr val="tx1"/>
                          </a:solidFill>
                        </a:rPr>
                        <a:t>Enumeration</a:t>
                      </a:r>
                    </a:p>
                  </a:txBody>
                  <a:tcPr/>
                </a:tc>
                <a:tc>
                  <a:txBody>
                    <a:bodyPr/>
                    <a:lstStyle/>
                    <a:p>
                      <a:pPr algn="ctr" fontAlgn="ctr"/>
                      <a:r>
                        <a:rPr lang="en-US" sz="1000" kern="1200">
                          <a:solidFill>
                            <a:schemeClr val="dk1"/>
                          </a:solidFill>
                          <a:latin typeface="+mn-lt"/>
                          <a:ea typeface="+mn-ea"/>
                          <a:cs typeface="+mn-cs"/>
                        </a:rPr>
                        <a:t>319.1</a:t>
                      </a:r>
                    </a:p>
                  </a:txBody>
                  <a:tcPr marL="6350" marR="6350" marT="6350" marB="0" anchor="ctr"/>
                </a:tc>
                <a:tc>
                  <a:txBody>
                    <a:bodyPr/>
                    <a:lstStyle/>
                    <a:p>
                      <a:pPr algn="ctr" fontAlgn="ctr"/>
                      <a:r>
                        <a:rPr lang="en-US" sz="1000" kern="1200" dirty="0">
                          <a:solidFill>
                            <a:schemeClr val="dk1"/>
                          </a:solidFill>
                          <a:latin typeface="+mn-lt"/>
                          <a:ea typeface="+mn-ea"/>
                          <a:cs typeface="+mn-cs"/>
                        </a:rPr>
                        <a:t>321.1</a:t>
                      </a:r>
                    </a:p>
                  </a:txBody>
                  <a:tcPr marL="6350" marR="6350" marT="6350" marB="0" anchor="ctr"/>
                </a:tc>
                <a:tc>
                  <a:txBody>
                    <a:bodyPr/>
                    <a:lstStyle/>
                    <a:p>
                      <a:pPr algn="ctr"/>
                      <a:r>
                        <a:rPr lang="fr-FR" sz="1000" b="1" dirty="0">
                          <a:solidFill>
                            <a:srgbClr val="00B050"/>
                          </a:solidFill>
                        </a:rPr>
                        <a:t>-1%</a:t>
                      </a:r>
                      <a:endParaRPr lang="en-US" sz="1000" b="1" dirty="0">
                        <a:solidFill>
                          <a:srgbClr val="00B050"/>
                        </a:solidFill>
                      </a:endParaRPr>
                    </a:p>
                  </a:txBody>
                  <a:tcPr/>
                </a:tc>
                <a:tc>
                  <a:txBody>
                    <a:bodyPr/>
                    <a:lstStyle/>
                    <a:p>
                      <a:pPr algn="ctr"/>
                      <a:endParaRPr lang="en-US" sz="700" dirty="0"/>
                    </a:p>
                  </a:txBody>
                  <a:tcPr/>
                </a:tc>
                <a:extLst>
                  <a:ext uri="{0D108BD9-81ED-4DB2-BD59-A6C34878D82A}">
                    <a16:rowId xmlns:a16="http://schemas.microsoft.com/office/drawing/2014/main" val="2065877290"/>
                  </a:ext>
                </a:extLst>
              </a:tr>
              <a:tr h="325986">
                <a:tc>
                  <a:txBody>
                    <a:bodyPr/>
                    <a:lstStyle/>
                    <a:p>
                      <a:pPr algn="l"/>
                      <a:r>
                        <a:rPr lang="en-US" sz="700" b="1">
                          <a:solidFill>
                            <a:schemeClr val="tx1"/>
                          </a:solidFill>
                        </a:rPr>
                        <a:t>Data transmission</a:t>
                      </a:r>
                    </a:p>
                  </a:txBody>
                  <a:tcPr>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r>
                        <a:rPr lang="en-US" sz="1000" kern="1200">
                          <a:solidFill>
                            <a:schemeClr val="dk1"/>
                          </a:solidFill>
                          <a:latin typeface="+mn-lt"/>
                          <a:ea typeface="+mn-ea"/>
                          <a:cs typeface="+mn-cs"/>
                        </a:rPr>
                        <a:t>0.0092</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r>
                        <a:rPr lang="en-US" sz="1000" kern="1200" dirty="0">
                          <a:solidFill>
                            <a:schemeClr val="dk1"/>
                          </a:solidFill>
                          <a:latin typeface="+mn-lt"/>
                          <a:ea typeface="+mn-ea"/>
                          <a:cs typeface="+mn-cs"/>
                        </a:rPr>
                        <a:t>0.00921</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a:r>
                        <a:rPr lang="fr-FR" sz="1000" b="1" kern="1200" dirty="0">
                          <a:solidFill>
                            <a:srgbClr val="00B050"/>
                          </a:solidFill>
                          <a:latin typeface="+mn-lt"/>
                          <a:ea typeface="+mn-ea"/>
                          <a:cs typeface="+mn-cs"/>
                        </a:rPr>
                        <a:t>0%</a:t>
                      </a:r>
                      <a:endParaRPr lang="en-US" sz="1000" b="1" kern="1200" dirty="0">
                        <a:solidFill>
                          <a:srgbClr val="00B050"/>
                        </a:solidFill>
                        <a:latin typeface="+mn-lt"/>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7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bl>
          </a:graphicData>
        </a:graphic>
      </p:graphicFrame>
      <p:graphicFrame>
        <p:nvGraphicFramePr>
          <p:cNvPr id="19" name="Table 18">
            <a:extLst>
              <a:ext uri="{FF2B5EF4-FFF2-40B4-BE49-F238E27FC236}">
                <a16:creationId xmlns:a16="http://schemas.microsoft.com/office/drawing/2014/main" id="{1C8389F9-4CF4-4977-4AF9-5D71CFC7A74A}"/>
              </a:ext>
            </a:extLst>
          </p:cNvPr>
          <p:cNvGraphicFramePr>
            <a:graphicFrameLocks noGrp="1"/>
          </p:cNvGraphicFramePr>
          <p:nvPr>
            <p:extLst>
              <p:ext uri="{D42A27DB-BD31-4B8C-83A1-F6EECF244321}">
                <p14:modId xmlns:p14="http://schemas.microsoft.com/office/powerpoint/2010/main" val="66052214"/>
              </p:ext>
            </p:extLst>
          </p:nvPr>
        </p:nvGraphicFramePr>
        <p:xfrm>
          <a:off x="6224218" y="4103286"/>
          <a:ext cx="5684977" cy="1005840"/>
        </p:xfrm>
        <a:graphic>
          <a:graphicData uri="http://schemas.openxmlformats.org/drawingml/2006/table">
            <a:tbl>
              <a:tblPr firstRow="1" bandRow="1">
                <a:tableStyleId>{EB344D84-9AFB-497E-A393-DC336BA19D2E}</a:tableStyleId>
              </a:tblPr>
              <a:tblGrid>
                <a:gridCol w="956497">
                  <a:extLst>
                    <a:ext uri="{9D8B030D-6E8A-4147-A177-3AD203B41FA5}">
                      <a16:colId xmlns:a16="http://schemas.microsoft.com/office/drawing/2014/main" val="1473133747"/>
                    </a:ext>
                  </a:extLst>
                </a:gridCol>
                <a:gridCol w="1112893">
                  <a:extLst>
                    <a:ext uri="{9D8B030D-6E8A-4147-A177-3AD203B41FA5}">
                      <a16:colId xmlns:a16="http://schemas.microsoft.com/office/drawing/2014/main" val="4162598800"/>
                    </a:ext>
                  </a:extLst>
                </a:gridCol>
                <a:gridCol w="950976">
                  <a:extLst>
                    <a:ext uri="{9D8B030D-6E8A-4147-A177-3AD203B41FA5}">
                      <a16:colId xmlns:a16="http://schemas.microsoft.com/office/drawing/2014/main" val="1196173778"/>
                    </a:ext>
                  </a:extLst>
                </a:gridCol>
                <a:gridCol w="859536">
                  <a:extLst>
                    <a:ext uri="{9D8B030D-6E8A-4147-A177-3AD203B41FA5}">
                      <a16:colId xmlns:a16="http://schemas.microsoft.com/office/drawing/2014/main" val="2713348666"/>
                    </a:ext>
                  </a:extLst>
                </a:gridCol>
                <a:gridCol w="1805075">
                  <a:extLst>
                    <a:ext uri="{9D8B030D-6E8A-4147-A177-3AD203B41FA5}">
                      <a16:colId xmlns:a16="http://schemas.microsoft.com/office/drawing/2014/main" val="4253733116"/>
                    </a:ext>
                  </a:extLst>
                </a:gridCol>
              </a:tblGrid>
              <a:tr h="169331">
                <a:tc>
                  <a:txBody>
                    <a:bodyPr/>
                    <a:lstStyle/>
                    <a:p>
                      <a:pPr algn="ctr"/>
                      <a:endParaRPr lang="en-US" sz="7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dirty="0"/>
                        <a:t>STM32U575xx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a:solidFill>
                            <a:schemeClr val="lt1"/>
                          </a:solidFill>
                          <a:latin typeface="+mn-lt"/>
                          <a:ea typeface="+mn-ea"/>
                          <a:cs typeface="+mn-cs"/>
                        </a:rPr>
                        <a:t>MCX-N94X</a:t>
                      </a:r>
                    </a:p>
                  </a:txBody>
                  <a:tcPr/>
                </a:tc>
                <a:tc>
                  <a:txBody>
                    <a:bodyPr/>
                    <a:lstStyle/>
                    <a:p>
                      <a:pPr algn="ctr"/>
                      <a:r>
                        <a:rPr lang="en-US" sz="700"/>
                        <a:t>ST vs NXP</a:t>
                      </a:r>
                    </a:p>
                  </a:txBody>
                  <a:tcPr/>
                </a:tc>
                <a:tc>
                  <a:txBody>
                    <a:bodyPr/>
                    <a:lstStyle/>
                    <a:p>
                      <a:pPr algn="ctr"/>
                      <a:r>
                        <a:rPr lang="en-US" sz="700"/>
                        <a:t>Comment</a:t>
                      </a:r>
                    </a:p>
                  </a:txBody>
                  <a:tcPr/>
                </a:tc>
                <a:extLst>
                  <a:ext uri="{0D108BD9-81ED-4DB2-BD59-A6C34878D82A}">
                    <a16:rowId xmlns:a16="http://schemas.microsoft.com/office/drawing/2014/main" val="797373398"/>
                  </a:ext>
                </a:extLst>
              </a:tr>
              <a:tr h="169331">
                <a:tc>
                  <a:txBody>
                    <a:bodyPr/>
                    <a:lstStyle/>
                    <a:p>
                      <a:pPr algn="l"/>
                      <a:r>
                        <a:rPr lang="en-US" sz="700" b="1" dirty="0">
                          <a:solidFill>
                            <a:schemeClr val="tx1"/>
                          </a:solidFill>
                        </a:rPr>
                        <a:t>ROM</a:t>
                      </a:r>
                    </a:p>
                  </a:txBody>
                  <a:tcPr/>
                </a:tc>
                <a:tc>
                  <a:txBody>
                    <a:bodyPr/>
                    <a:lstStyle/>
                    <a:p>
                      <a:pPr algn="ctr" fontAlgn="ctr">
                        <a:buNone/>
                      </a:pPr>
                      <a:r>
                        <a:rPr lang="en-US" sz="1000" kern="1200" dirty="0">
                          <a:solidFill>
                            <a:schemeClr val="dk1"/>
                          </a:solidFill>
                          <a:latin typeface="+mn-lt"/>
                          <a:ea typeface="+mn-ea"/>
                          <a:cs typeface="+mn-cs"/>
                        </a:rPr>
                        <a:t>16377</a:t>
                      </a:r>
                    </a:p>
                  </a:txBody>
                  <a:tcPr marL="0" marR="0" marT="0" marB="0" anchor="ctr"/>
                </a:tc>
                <a:tc>
                  <a:txBody>
                    <a:bodyPr/>
                    <a:lstStyle/>
                    <a:p>
                      <a:pPr algn="ctr" fontAlgn="ctr">
                        <a:buNone/>
                      </a:pPr>
                      <a:r>
                        <a:rPr lang="en-US" sz="1000" kern="1200" dirty="0">
                          <a:solidFill>
                            <a:schemeClr val="dk1"/>
                          </a:solidFill>
                          <a:latin typeface="+mn-lt"/>
                          <a:ea typeface="+mn-ea"/>
                          <a:cs typeface="+mn-cs"/>
                        </a:rPr>
                        <a:t>13728</a:t>
                      </a:r>
                    </a:p>
                  </a:txBody>
                  <a:tcPr marL="0" marR="0" marT="0" marB="0" anchor="ctr"/>
                </a:tc>
                <a:tc>
                  <a:txBody>
                    <a:bodyPr/>
                    <a:lstStyle/>
                    <a:p>
                      <a:pPr algn="ctr" fontAlgn="ctr">
                        <a:buNone/>
                      </a:pPr>
                      <a:r>
                        <a:rPr lang="en-US" sz="1000" b="1" i="0" u="none" strike="noStrike" kern="1200" dirty="0">
                          <a:solidFill>
                            <a:srgbClr val="FF0000"/>
                          </a:solidFill>
                          <a:effectLst/>
                          <a:latin typeface="Aptos Narrow" panose="020B0004020202020204" pitchFamily="34" charset="0"/>
                          <a:ea typeface="+mn-ea"/>
                          <a:cs typeface="+mn-cs"/>
                        </a:rPr>
                        <a:t>+19.30%</a:t>
                      </a:r>
                    </a:p>
                  </a:txBody>
                  <a:tcPr marL="0" marR="0" marT="0" marB="0" anchor="ctr"/>
                </a:tc>
                <a:tc rowSpan="3">
                  <a:txBody>
                    <a:bodyPr/>
                    <a:lstStyle/>
                    <a:p>
                      <a:pPr algn="l"/>
                      <a:r>
                        <a:rPr lang="en-US" sz="1000" dirty="0"/>
                        <a:t>* STM32 RCC Clock config 4560 bytes</a:t>
                      </a:r>
                    </a:p>
                    <a:p>
                      <a:pPr algn="l"/>
                      <a:r>
                        <a:rPr lang="en-US" sz="1000" dirty="0"/>
                        <a:t>* FSL clock config 1558 bytes</a:t>
                      </a:r>
                    </a:p>
                    <a:p>
                      <a:pPr algn="ctr"/>
                      <a:endParaRPr lang="en-US" sz="7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5877290"/>
                  </a:ext>
                </a:extLst>
              </a:tr>
              <a:tr h="169331">
                <a:tc>
                  <a:txBody>
                    <a:bodyPr/>
                    <a:lstStyle/>
                    <a:p>
                      <a:pPr algn="l"/>
                      <a:r>
                        <a:rPr lang="en-US" sz="700" b="1" dirty="0">
                          <a:solidFill>
                            <a:schemeClr val="tx1"/>
                          </a:solidFill>
                        </a:rPr>
                        <a:t>RAM</a:t>
                      </a:r>
                      <a:endParaRPr lang="en-US" sz="700" dirty="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algn="ctr" fontAlgn="ctr">
                        <a:buNone/>
                      </a:pPr>
                      <a:r>
                        <a:rPr lang="en-US" sz="1000" kern="1200" dirty="0">
                          <a:solidFill>
                            <a:schemeClr val="dk1"/>
                          </a:solidFill>
                          <a:latin typeface="+mn-lt"/>
                          <a:ea typeface="+mn-ea"/>
                          <a:cs typeface="+mn-cs"/>
                        </a:rPr>
                        <a:t>2422</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000" kern="1200" dirty="0">
                          <a:solidFill>
                            <a:schemeClr val="dk1"/>
                          </a:solidFill>
                          <a:latin typeface="+mn-lt"/>
                          <a:ea typeface="+mn-ea"/>
                          <a:cs typeface="+mn-cs"/>
                        </a:rPr>
                        <a:t>1702</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000" b="1" i="0" u="none" strike="noStrike" kern="1200" dirty="0">
                          <a:solidFill>
                            <a:srgbClr val="FF0000"/>
                          </a:solidFill>
                          <a:effectLst/>
                          <a:latin typeface="Aptos Narrow" panose="020B0004020202020204" pitchFamily="34" charset="0"/>
                          <a:ea typeface="+mn-ea"/>
                          <a:cs typeface="+mn-cs"/>
                        </a:rPr>
                        <a:t>+42.30%</a:t>
                      </a:r>
                    </a:p>
                  </a:txBody>
                  <a:tcPr marL="0" marR="0" marT="0" marB="0" anchor="ctr">
                    <a:lnB w="12700" cap="flat" cmpd="sng" algn="ctr">
                      <a:solidFill>
                        <a:schemeClr val="tx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7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169331">
                <a:tc>
                  <a:txBody>
                    <a:bodyPr/>
                    <a:lstStyle/>
                    <a:p>
                      <a:pPr algn="l"/>
                      <a:r>
                        <a:rPr lang="en-US" sz="700" b="1" dirty="0">
                          <a:solidFill>
                            <a:schemeClr val="tx1"/>
                          </a:solidFill>
                        </a:rPr>
                        <a:t>Total</a:t>
                      </a:r>
                      <a:endParaRPr lang="en-US" sz="70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00" b="1" dirty="0"/>
                        <a:t>18 799</a:t>
                      </a:r>
                      <a:endParaRPr lang="en-US" sz="1000" b="1"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t>15430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rgbClr val="FF0000"/>
                          </a:solidFill>
                        </a:rPr>
                        <a:t>+21%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US" sz="7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24" name="TextBox 23">
            <a:extLst>
              <a:ext uri="{FF2B5EF4-FFF2-40B4-BE49-F238E27FC236}">
                <a16:creationId xmlns:a16="http://schemas.microsoft.com/office/drawing/2014/main" id="{D745ABE9-038E-1EE9-6F29-758EE2524599}"/>
              </a:ext>
            </a:extLst>
          </p:cNvPr>
          <p:cNvSpPr txBox="1"/>
          <p:nvPr/>
        </p:nvSpPr>
        <p:spPr>
          <a:xfrm>
            <a:off x="6165243" y="3857065"/>
            <a:ext cx="3490603" cy="215444"/>
          </a:xfrm>
          <a:prstGeom prst="rect">
            <a:avLst/>
          </a:prstGeom>
          <a:noFill/>
        </p:spPr>
        <p:txBody>
          <a:bodyPr wrap="square">
            <a:spAutoFit/>
          </a:bodyPr>
          <a:lstStyle/>
          <a:p>
            <a:r>
              <a:rPr lang="en-US" sz="800" b="1" dirty="0">
                <a:solidFill>
                  <a:srgbClr val="002060"/>
                </a:solidFill>
              </a:rPr>
              <a:t>STM32U575xx (CM33) vs MCX-N9 XX (CM33): : USB FS/ </a:t>
            </a:r>
            <a:r>
              <a:rPr lang="en-US" sz="800" b="1" dirty="0">
                <a:solidFill>
                  <a:srgbClr val="FF0000"/>
                </a:solidFill>
              </a:rPr>
              <a:t>With RCC </a:t>
            </a:r>
            <a:endParaRPr lang="en-US" sz="800" b="1" dirty="0">
              <a:solidFill>
                <a:srgbClr val="002060"/>
              </a:solidFill>
            </a:endParaRPr>
          </a:p>
        </p:txBody>
      </p:sp>
      <p:sp>
        <p:nvSpPr>
          <p:cNvPr id="25" name="TextBox 24">
            <a:extLst>
              <a:ext uri="{FF2B5EF4-FFF2-40B4-BE49-F238E27FC236}">
                <a16:creationId xmlns:a16="http://schemas.microsoft.com/office/drawing/2014/main" id="{6FFFB32C-F3AD-2C2C-0133-C207754F51C6}"/>
              </a:ext>
            </a:extLst>
          </p:cNvPr>
          <p:cNvSpPr txBox="1"/>
          <p:nvPr/>
        </p:nvSpPr>
        <p:spPr>
          <a:xfrm>
            <a:off x="6206539" y="1872173"/>
            <a:ext cx="3072450" cy="215444"/>
          </a:xfrm>
          <a:prstGeom prst="rect">
            <a:avLst/>
          </a:prstGeom>
          <a:noFill/>
        </p:spPr>
        <p:txBody>
          <a:bodyPr wrap="square">
            <a:spAutoFit/>
          </a:bodyPr>
          <a:lstStyle/>
          <a:p>
            <a:r>
              <a:rPr lang="en-US" sz="800" b="1">
                <a:solidFill>
                  <a:srgbClr val="002060"/>
                </a:solidFill>
              </a:rPr>
              <a:t>STM32U575xx (CM33) vs MCX-N94 XX (CM33): USB FS</a:t>
            </a:r>
          </a:p>
        </p:txBody>
      </p:sp>
      <p:sp>
        <p:nvSpPr>
          <p:cNvPr id="27" name="TextBox 26">
            <a:extLst>
              <a:ext uri="{FF2B5EF4-FFF2-40B4-BE49-F238E27FC236}">
                <a16:creationId xmlns:a16="http://schemas.microsoft.com/office/drawing/2014/main" id="{976AF1AA-6076-183E-C548-1C3EB746D3D7}"/>
              </a:ext>
            </a:extLst>
          </p:cNvPr>
          <p:cNvSpPr txBox="1"/>
          <p:nvPr/>
        </p:nvSpPr>
        <p:spPr>
          <a:xfrm>
            <a:off x="116734" y="1879184"/>
            <a:ext cx="3072450" cy="215444"/>
          </a:xfrm>
          <a:prstGeom prst="rect">
            <a:avLst/>
          </a:prstGeom>
          <a:noFill/>
        </p:spPr>
        <p:txBody>
          <a:bodyPr wrap="square">
            <a:spAutoFit/>
          </a:bodyPr>
          <a:lstStyle/>
          <a:p>
            <a:r>
              <a:rPr lang="en-US" sz="800" b="1">
                <a:solidFill>
                  <a:srgbClr val="002060"/>
                </a:solidFill>
              </a:rPr>
              <a:t>STM32U575xx (CM33) vs MCX-N94X (CM33) : USB FS </a:t>
            </a:r>
          </a:p>
        </p:txBody>
      </p:sp>
      <p:sp>
        <p:nvSpPr>
          <p:cNvPr id="31" name="TextBox 30">
            <a:extLst>
              <a:ext uri="{FF2B5EF4-FFF2-40B4-BE49-F238E27FC236}">
                <a16:creationId xmlns:a16="http://schemas.microsoft.com/office/drawing/2014/main" id="{9860DA6C-E446-08FC-7021-992D4F5DF024}"/>
              </a:ext>
            </a:extLst>
          </p:cNvPr>
          <p:cNvSpPr txBox="1"/>
          <p:nvPr/>
        </p:nvSpPr>
        <p:spPr>
          <a:xfrm>
            <a:off x="107590" y="3878413"/>
            <a:ext cx="3454762" cy="215444"/>
          </a:xfrm>
          <a:prstGeom prst="rect">
            <a:avLst/>
          </a:prstGeom>
          <a:noFill/>
        </p:spPr>
        <p:txBody>
          <a:bodyPr wrap="square">
            <a:spAutoFit/>
          </a:bodyPr>
          <a:lstStyle/>
          <a:p>
            <a:r>
              <a:rPr lang="en-US" sz="800" b="1" dirty="0">
                <a:solidFill>
                  <a:srgbClr val="002060"/>
                </a:solidFill>
              </a:rPr>
              <a:t>STM32U575xx (CM33) vs MCX-N94X (CM33): USB FS/ </a:t>
            </a:r>
            <a:r>
              <a:rPr lang="en-US" sz="800" b="1" dirty="0">
                <a:solidFill>
                  <a:srgbClr val="FF0000"/>
                </a:solidFill>
              </a:rPr>
              <a:t>With RCC </a:t>
            </a:r>
          </a:p>
        </p:txBody>
      </p:sp>
      <p:graphicFrame>
        <p:nvGraphicFramePr>
          <p:cNvPr id="36" name="Table 35">
            <a:extLst>
              <a:ext uri="{FF2B5EF4-FFF2-40B4-BE49-F238E27FC236}">
                <a16:creationId xmlns:a16="http://schemas.microsoft.com/office/drawing/2014/main" id="{4F53AA39-5608-000E-6722-FC1551C11623}"/>
              </a:ext>
            </a:extLst>
          </p:cNvPr>
          <p:cNvGraphicFramePr>
            <a:graphicFrameLocks noGrp="1"/>
          </p:cNvGraphicFramePr>
          <p:nvPr>
            <p:extLst>
              <p:ext uri="{D42A27DB-BD31-4B8C-83A1-F6EECF244321}">
                <p14:modId xmlns:p14="http://schemas.microsoft.com/office/powerpoint/2010/main" val="400286421"/>
              </p:ext>
            </p:extLst>
          </p:nvPr>
        </p:nvGraphicFramePr>
        <p:xfrm>
          <a:off x="145209" y="2086668"/>
          <a:ext cx="5768616" cy="1342330"/>
        </p:xfrm>
        <a:graphic>
          <a:graphicData uri="http://schemas.openxmlformats.org/drawingml/2006/table">
            <a:tbl>
              <a:tblPr firstRow="1" bandRow="1">
                <a:tableStyleId>{EB344D84-9AFB-497E-A393-DC336BA19D2E}</a:tableStyleId>
              </a:tblPr>
              <a:tblGrid>
                <a:gridCol w="1314348">
                  <a:extLst>
                    <a:ext uri="{9D8B030D-6E8A-4147-A177-3AD203B41FA5}">
                      <a16:colId xmlns:a16="http://schemas.microsoft.com/office/drawing/2014/main" val="1473133747"/>
                    </a:ext>
                  </a:extLst>
                </a:gridCol>
                <a:gridCol w="871546">
                  <a:extLst>
                    <a:ext uri="{9D8B030D-6E8A-4147-A177-3AD203B41FA5}">
                      <a16:colId xmlns:a16="http://schemas.microsoft.com/office/drawing/2014/main" val="4162598800"/>
                    </a:ext>
                  </a:extLst>
                </a:gridCol>
                <a:gridCol w="1148521">
                  <a:extLst>
                    <a:ext uri="{9D8B030D-6E8A-4147-A177-3AD203B41FA5}">
                      <a16:colId xmlns:a16="http://schemas.microsoft.com/office/drawing/2014/main" val="1196173778"/>
                    </a:ext>
                  </a:extLst>
                </a:gridCol>
                <a:gridCol w="810059">
                  <a:extLst>
                    <a:ext uri="{9D8B030D-6E8A-4147-A177-3AD203B41FA5}">
                      <a16:colId xmlns:a16="http://schemas.microsoft.com/office/drawing/2014/main" val="2713348666"/>
                    </a:ext>
                  </a:extLst>
                </a:gridCol>
                <a:gridCol w="1624142">
                  <a:extLst>
                    <a:ext uri="{9D8B030D-6E8A-4147-A177-3AD203B41FA5}">
                      <a16:colId xmlns:a16="http://schemas.microsoft.com/office/drawing/2014/main" val="4253733116"/>
                    </a:ext>
                  </a:extLst>
                </a:gridCol>
              </a:tblGrid>
              <a:tr h="270209">
                <a:tc>
                  <a:txBody>
                    <a:bodyPr/>
                    <a:lstStyle/>
                    <a:p>
                      <a:pPr algn="ctr"/>
                      <a:endParaRPr lang="en-US" sz="7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a:t>STM32U575xx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a:solidFill>
                            <a:schemeClr val="lt1"/>
                          </a:solidFill>
                          <a:latin typeface="+mn-lt"/>
                          <a:ea typeface="+mn-ea"/>
                          <a:cs typeface="+mn-cs"/>
                        </a:rPr>
                        <a:t>MCX-N94X</a:t>
                      </a:r>
                    </a:p>
                  </a:txBody>
                  <a:tcPr/>
                </a:tc>
                <a:tc>
                  <a:txBody>
                    <a:bodyPr/>
                    <a:lstStyle/>
                    <a:p>
                      <a:pPr algn="ctr"/>
                      <a:r>
                        <a:rPr lang="en-US" sz="700"/>
                        <a:t>ST vs NXP</a:t>
                      </a:r>
                    </a:p>
                  </a:txBody>
                  <a:tcPr/>
                </a:tc>
                <a:tc>
                  <a:txBody>
                    <a:bodyPr/>
                    <a:lstStyle/>
                    <a:p>
                      <a:pPr algn="ctr"/>
                      <a:r>
                        <a:rPr lang="en-US" sz="700" dirty="0"/>
                        <a:t>Comment</a:t>
                      </a:r>
                    </a:p>
                  </a:txBody>
                  <a:tcPr/>
                </a:tc>
                <a:extLst>
                  <a:ext uri="{0D108BD9-81ED-4DB2-BD59-A6C34878D82A}">
                    <a16:rowId xmlns:a16="http://schemas.microsoft.com/office/drawing/2014/main" val="797373398"/>
                  </a:ext>
                </a:extLst>
              </a:tr>
              <a:tr h="270209">
                <a:tc>
                  <a:txBody>
                    <a:bodyPr/>
                    <a:lstStyle/>
                    <a:p>
                      <a:pPr algn="l"/>
                      <a:r>
                        <a:rPr lang="en-US" sz="700" b="1">
                          <a:solidFill>
                            <a:schemeClr val="tx1"/>
                          </a:solidFill>
                        </a:rPr>
                        <a:t>Initialize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9,993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8,159</a:t>
                      </a:r>
                    </a:p>
                  </a:txBody>
                  <a:tcPr/>
                </a:tc>
                <a:tc>
                  <a:txBody>
                    <a:bodyPr/>
                    <a:lstStyle/>
                    <a:p>
                      <a:pPr algn="ctr"/>
                      <a:r>
                        <a:rPr lang="en-US" sz="1000" b="1">
                          <a:solidFill>
                            <a:srgbClr val="FF0000"/>
                          </a:solidFill>
                        </a:rPr>
                        <a:t>+22%</a:t>
                      </a:r>
                    </a:p>
                  </a:txBody>
                  <a:tcPr/>
                </a:tc>
                <a:tc>
                  <a:txBody>
                    <a:bodyPr/>
                    <a:lstStyle/>
                    <a:p>
                      <a:pPr algn="ctr"/>
                      <a:endParaRPr lang="en-US" sz="700"/>
                    </a:p>
                  </a:txBody>
                  <a:tcPr/>
                </a:tc>
                <a:extLst>
                  <a:ext uri="{0D108BD9-81ED-4DB2-BD59-A6C34878D82A}">
                    <a16:rowId xmlns:a16="http://schemas.microsoft.com/office/drawing/2014/main" val="1089852517"/>
                  </a:ext>
                </a:extLst>
              </a:tr>
              <a:tr h="261494">
                <a:tc>
                  <a:txBody>
                    <a:bodyPr/>
                    <a:lstStyle/>
                    <a:p>
                      <a:pPr algn="l"/>
                      <a:r>
                        <a:rPr lang="en-US" sz="700" b="1">
                          <a:solidFill>
                            <a:schemeClr val="tx1"/>
                          </a:solidFill>
                        </a:rPr>
                        <a:t>Enumeration</a:t>
                      </a:r>
                    </a:p>
                  </a:txBody>
                  <a:tcPr/>
                </a:tc>
                <a:tc>
                  <a:txBody>
                    <a:bodyPr/>
                    <a:lstStyle/>
                    <a:p>
                      <a:pPr algn="ctr"/>
                      <a:r>
                        <a:rPr lang="en-US" sz="1000"/>
                        <a:t>72</a:t>
                      </a:r>
                    </a:p>
                  </a:txBody>
                  <a:tcPr/>
                </a:tc>
                <a:tc>
                  <a:txBody>
                    <a:bodyPr/>
                    <a:lstStyle/>
                    <a:p>
                      <a:pPr algn="ctr"/>
                      <a:r>
                        <a:rPr lang="en-US" sz="1000"/>
                        <a:t>70.4</a:t>
                      </a:r>
                    </a:p>
                  </a:txBody>
                  <a:tcPr/>
                </a:tc>
                <a:tc>
                  <a:txBody>
                    <a:bodyPr/>
                    <a:lstStyle/>
                    <a:p>
                      <a:pPr algn="ctr"/>
                      <a:r>
                        <a:rPr lang="en-US" sz="1000" b="1" dirty="0">
                          <a:solidFill>
                            <a:srgbClr val="FF0000"/>
                          </a:solidFill>
                        </a:rPr>
                        <a:t>+2%</a:t>
                      </a:r>
                    </a:p>
                  </a:txBody>
                  <a:tcPr/>
                </a:tc>
                <a:tc>
                  <a:txBody>
                    <a:bodyPr/>
                    <a:lstStyle/>
                    <a:p>
                      <a:pPr algn="ctr"/>
                      <a:endParaRPr lang="en-US" sz="700"/>
                    </a:p>
                  </a:txBody>
                  <a:tcPr/>
                </a:tc>
                <a:extLst>
                  <a:ext uri="{0D108BD9-81ED-4DB2-BD59-A6C34878D82A}">
                    <a16:rowId xmlns:a16="http://schemas.microsoft.com/office/drawing/2014/main" val="2065877290"/>
                  </a:ext>
                </a:extLst>
              </a:tr>
              <a:tr h="270209">
                <a:tc>
                  <a:txBody>
                    <a:bodyPr/>
                    <a:lstStyle/>
                    <a:p>
                      <a:pPr algn="l"/>
                      <a:r>
                        <a:rPr lang="en-US" sz="700" b="1">
                          <a:solidFill>
                            <a:schemeClr val="tx1"/>
                          </a:solidFill>
                        </a:rPr>
                        <a:t>Transmit data</a:t>
                      </a:r>
                    </a:p>
                  </a:txBody>
                  <a:tcPr/>
                </a:tc>
                <a:tc>
                  <a:txBody>
                    <a:bodyPr/>
                    <a:lstStyle/>
                    <a:p>
                      <a:pPr algn="ctr" fontAlgn="ctr"/>
                      <a:r>
                        <a:rPr lang="en-US" sz="1000" kern="1200">
                          <a:solidFill>
                            <a:schemeClr val="dk1"/>
                          </a:solidFill>
                          <a:latin typeface="+mn-lt"/>
                          <a:ea typeface="+mn-ea"/>
                          <a:cs typeface="+mn-cs"/>
                        </a:rPr>
                        <a:t>0.00945</a:t>
                      </a:r>
                    </a:p>
                  </a:txBody>
                  <a:tcPr marL="0" marR="0" marT="0" marB="0" anchor="ctr"/>
                </a:tc>
                <a:tc>
                  <a:txBody>
                    <a:bodyPr/>
                    <a:lstStyle/>
                    <a:p>
                      <a:pPr algn="ctr" fontAlgn="ctr"/>
                      <a:r>
                        <a:rPr lang="en-US" sz="1000" kern="1200">
                          <a:solidFill>
                            <a:schemeClr val="dk1"/>
                          </a:solidFill>
                          <a:latin typeface="+mn-lt"/>
                          <a:ea typeface="+mn-ea"/>
                          <a:cs typeface="+mn-cs"/>
                        </a:rPr>
                        <a:t>0.0095</a:t>
                      </a:r>
                    </a:p>
                  </a:txBody>
                  <a:tcPr marL="0" marR="0" marT="0" marB="0" anchor="ctr"/>
                </a:tc>
                <a:tc>
                  <a:txBody>
                    <a:bodyPr/>
                    <a:lstStyle/>
                    <a:p>
                      <a:pPr algn="ctr" fontAlgn="ctr"/>
                      <a:r>
                        <a:rPr lang="en-US" sz="1000" b="1" kern="1200" dirty="0">
                          <a:solidFill>
                            <a:srgbClr val="00B050"/>
                          </a:solidFill>
                          <a:latin typeface="+mn-lt"/>
                          <a:ea typeface="+mn-ea"/>
                          <a:cs typeface="+mn-cs"/>
                        </a:rPr>
                        <a:t>-1%</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700"/>
                    </a:p>
                  </a:txBody>
                  <a:tcPr/>
                </a:tc>
                <a:extLst>
                  <a:ext uri="{0D108BD9-81ED-4DB2-BD59-A6C34878D82A}">
                    <a16:rowId xmlns:a16="http://schemas.microsoft.com/office/drawing/2014/main" val="3217506885"/>
                  </a:ext>
                </a:extLst>
              </a:tr>
              <a:tr h="270209">
                <a:tc>
                  <a:txBody>
                    <a:bodyPr/>
                    <a:lstStyle/>
                    <a:p>
                      <a:pPr algn="l"/>
                      <a:r>
                        <a:rPr lang="en-US" sz="700" b="1">
                          <a:solidFill>
                            <a:schemeClr val="tx1"/>
                          </a:solidFill>
                        </a:rPr>
                        <a:t>Receive data</a:t>
                      </a:r>
                    </a:p>
                  </a:txBody>
                  <a:tcPr>
                    <a:lnB w="12700" cap="flat" cmpd="sng" algn="ctr">
                      <a:solidFill>
                        <a:schemeClr val="tx1"/>
                      </a:solidFill>
                      <a:prstDash val="solid"/>
                      <a:round/>
                      <a:headEnd type="none" w="med" len="med"/>
                      <a:tailEnd type="none" w="med" len="med"/>
                    </a:lnB>
                  </a:tcPr>
                </a:tc>
                <a:tc>
                  <a:txBody>
                    <a:bodyPr/>
                    <a:lstStyle/>
                    <a:p>
                      <a:pPr algn="ctr" fontAlgn="ctr"/>
                      <a:r>
                        <a:rPr lang="en-US" sz="1000" kern="1200" dirty="0">
                          <a:solidFill>
                            <a:schemeClr val="dk1"/>
                          </a:solidFill>
                          <a:latin typeface="+mn-lt"/>
                          <a:ea typeface="+mn-ea"/>
                          <a:cs typeface="+mn-cs"/>
                        </a:rPr>
                        <a:t>0.0094</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r>
                        <a:rPr lang="en-US" sz="1000" kern="1200">
                          <a:solidFill>
                            <a:schemeClr val="dk1"/>
                          </a:solidFill>
                          <a:latin typeface="+mn-lt"/>
                          <a:ea typeface="+mn-ea"/>
                          <a:cs typeface="+mn-cs"/>
                        </a:rPr>
                        <a:t>0.0094</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r>
                        <a:rPr lang="en-US" sz="1000" b="1" kern="1200" dirty="0">
                          <a:solidFill>
                            <a:srgbClr val="00B050"/>
                          </a:solidFill>
                          <a:latin typeface="+mn-lt"/>
                          <a:ea typeface="+mn-ea"/>
                          <a:cs typeface="+mn-cs"/>
                        </a:rPr>
                        <a:t>0%</a:t>
                      </a:r>
                    </a:p>
                  </a:txBody>
                  <a:tcPr marL="0" marR="0" marT="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7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489537"/>
                  </a:ext>
                </a:extLst>
              </a:tr>
            </a:tbl>
          </a:graphicData>
        </a:graphic>
      </p:graphicFrame>
      <p:sp>
        <p:nvSpPr>
          <p:cNvPr id="17" name="Title 2">
            <a:extLst>
              <a:ext uri="{FF2B5EF4-FFF2-40B4-BE49-F238E27FC236}">
                <a16:creationId xmlns:a16="http://schemas.microsoft.com/office/drawing/2014/main" id="{DA285B39-425D-CBE2-B98E-9FE5AE907741}"/>
              </a:ext>
            </a:extLst>
          </p:cNvPr>
          <p:cNvSpPr>
            <a:spLocks noGrp="1"/>
          </p:cNvSpPr>
          <p:nvPr>
            <p:ph type="title"/>
          </p:nvPr>
        </p:nvSpPr>
        <p:spPr>
          <a:xfrm>
            <a:off x="300037" y="155447"/>
            <a:ext cx="11609159" cy="1027597"/>
          </a:xfrm>
        </p:spPr>
        <p:txBody>
          <a:bodyPr/>
          <a:lstStyle/>
          <a:p>
            <a:r>
              <a:rPr lang="en-US" dirty="0"/>
              <a:t>ST Competitors MW Benchmark: USB</a:t>
            </a:r>
            <a:br>
              <a:rPr lang="en-US" b="1" dirty="0"/>
            </a:br>
            <a:r>
              <a:rPr lang="en-US" sz="2400" b="1" dirty="0">
                <a:solidFill>
                  <a:schemeClr val="accent2"/>
                </a:solidFill>
              </a:rPr>
              <a:t>ST vs NXP Tests</a:t>
            </a:r>
            <a:br>
              <a:rPr lang="en-US" sz="2400" b="1" dirty="0">
                <a:solidFill>
                  <a:schemeClr val="accent2"/>
                </a:solidFill>
              </a:rPr>
            </a:br>
            <a:endParaRPr lang="en-US" sz="2400" b="1" dirty="0">
              <a:solidFill>
                <a:schemeClr val="accent2"/>
              </a:solidFill>
            </a:endParaRPr>
          </a:p>
        </p:txBody>
      </p:sp>
      <p:sp>
        <p:nvSpPr>
          <p:cNvPr id="3" name="Slide Number Placeholder 2">
            <a:extLst>
              <a:ext uri="{FF2B5EF4-FFF2-40B4-BE49-F238E27FC236}">
                <a16:creationId xmlns:a16="http://schemas.microsoft.com/office/drawing/2014/main" id="{4FB88E5C-09D8-69A7-B1DB-0B9672E200A6}"/>
              </a:ext>
            </a:extLst>
          </p:cNvPr>
          <p:cNvSpPr>
            <a:spLocks noGrp="1"/>
          </p:cNvSpPr>
          <p:nvPr>
            <p:ph type="sldNum" sz="quarter" idx="12"/>
          </p:nvPr>
        </p:nvSpPr>
        <p:spPr/>
        <p:txBody>
          <a:bodyPr/>
          <a:lstStyle/>
          <a:p>
            <a:fld id="{40A7B169-58CE-4E65-B1F9-ACF9E46440C2}" type="slidenum">
              <a:rPr lang="en-US" smtClean="0"/>
              <a:t>23</a:t>
            </a:fld>
            <a:endParaRPr lang="en-US"/>
          </a:p>
        </p:txBody>
      </p:sp>
      <p:graphicFrame>
        <p:nvGraphicFramePr>
          <p:cNvPr id="7" name="Table 6">
            <a:extLst>
              <a:ext uri="{FF2B5EF4-FFF2-40B4-BE49-F238E27FC236}">
                <a16:creationId xmlns:a16="http://schemas.microsoft.com/office/drawing/2014/main" id="{B734835B-5595-AB54-2379-95B695CAB16E}"/>
              </a:ext>
            </a:extLst>
          </p:cNvPr>
          <p:cNvGraphicFramePr>
            <a:graphicFrameLocks noGrp="1"/>
          </p:cNvGraphicFramePr>
          <p:nvPr>
            <p:extLst>
              <p:ext uri="{D42A27DB-BD31-4B8C-83A1-F6EECF244321}">
                <p14:modId xmlns:p14="http://schemas.microsoft.com/office/powerpoint/2010/main" val="556130592"/>
              </p:ext>
            </p:extLst>
          </p:nvPr>
        </p:nvGraphicFramePr>
        <p:xfrm>
          <a:off x="107590" y="5401065"/>
          <a:ext cx="5875131" cy="899160"/>
        </p:xfrm>
        <a:graphic>
          <a:graphicData uri="http://schemas.openxmlformats.org/drawingml/2006/table">
            <a:tbl>
              <a:tblPr firstRow="1" bandRow="1">
                <a:tableStyleId>{EB344D84-9AFB-497E-A393-DC336BA19D2E}</a:tableStyleId>
              </a:tblPr>
              <a:tblGrid>
                <a:gridCol w="988491">
                  <a:extLst>
                    <a:ext uri="{9D8B030D-6E8A-4147-A177-3AD203B41FA5}">
                      <a16:colId xmlns:a16="http://schemas.microsoft.com/office/drawing/2014/main" val="1473133747"/>
                    </a:ext>
                  </a:extLst>
                </a:gridCol>
                <a:gridCol w="1361562">
                  <a:extLst>
                    <a:ext uri="{9D8B030D-6E8A-4147-A177-3AD203B41FA5}">
                      <a16:colId xmlns:a16="http://schemas.microsoft.com/office/drawing/2014/main" val="4162598800"/>
                    </a:ext>
                  </a:extLst>
                </a:gridCol>
                <a:gridCol w="1049859">
                  <a:extLst>
                    <a:ext uri="{9D8B030D-6E8A-4147-A177-3AD203B41FA5}">
                      <a16:colId xmlns:a16="http://schemas.microsoft.com/office/drawing/2014/main" val="1196173778"/>
                    </a:ext>
                  </a:extLst>
                </a:gridCol>
                <a:gridCol w="762000">
                  <a:extLst>
                    <a:ext uri="{9D8B030D-6E8A-4147-A177-3AD203B41FA5}">
                      <a16:colId xmlns:a16="http://schemas.microsoft.com/office/drawing/2014/main" val="2713348666"/>
                    </a:ext>
                  </a:extLst>
                </a:gridCol>
                <a:gridCol w="1713219">
                  <a:extLst>
                    <a:ext uri="{9D8B030D-6E8A-4147-A177-3AD203B41FA5}">
                      <a16:colId xmlns:a16="http://schemas.microsoft.com/office/drawing/2014/main" val="4253733116"/>
                    </a:ext>
                  </a:extLst>
                </a:gridCol>
              </a:tblGrid>
              <a:tr h="196954">
                <a:tc>
                  <a:txBody>
                    <a:bodyPr/>
                    <a:lstStyle/>
                    <a:p>
                      <a:pPr algn="ctr"/>
                      <a:endParaRPr lang="en-US" sz="7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dirty="0"/>
                        <a:t>STM32U575xx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dirty="0">
                          <a:solidFill>
                            <a:schemeClr val="lt1"/>
                          </a:solidFill>
                          <a:latin typeface="+mn-lt"/>
                          <a:ea typeface="+mn-ea"/>
                          <a:cs typeface="+mn-cs"/>
                        </a:rPr>
                        <a:t>MCX-N94X</a:t>
                      </a:r>
                    </a:p>
                  </a:txBody>
                  <a:tcPr/>
                </a:tc>
                <a:tc>
                  <a:txBody>
                    <a:bodyPr/>
                    <a:lstStyle/>
                    <a:p>
                      <a:pPr algn="ctr"/>
                      <a:r>
                        <a:rPr lang="en-US" sz="700" dirty="0"/>
                        <a:t>ST vs NXP</a:t>
                      </a:r>
                    </a:p>
                  </a:txBody>
                  <a:tcPr/>
                </a:tc>
                <a:tc>
                  <a:txBody>
                    <a:bodyPr/>
                    <a:lstStyle/>
                    <a:p>
                      <a:pPr algn="ctr"/>
                      <a:r>
                        <a:rPr lang="en-US" sz="700" dirty="0"/>
                        <a:t>Comment</a:t>
                      </a:r>
                    </a:p>
                  </a:txBody>
                  <a:tcPr/>
                </a:tc>
                <a:extLst>
                  <a:ext uri="{0D108BD9-81ED-4DB2-BD59-A6C34878D82A}">
                    <a16:rowId xmlns:a16="http://schemas.microsoft.com/office/drawing/2014/main" val="797373398"/>
                  </a:ext>
                </a:extLst>
              </a:tr>
              <a:tr h="196954">
                <a:tc>
                  <a:txBody>
                    <a:bodyPr/>
                    <a:lstStyle/>
                    <a:p>
                      <a:pPr algn="l"/>
                      <a:r>
                        <a:rPr lang="en-US" sz="700" b="1" dirty="0">
                          <a:solidFill>
                            <a:schemeClr val="tx1"/>
                          </a:solidFill>
                        </a:rPr>
                        <a:t>ROM</a:t>
                      </a:r>
                    </a:p>
                  </a:txBody>
                  <a:tcPr/>
                </a:tc>
                <a:tc>
                  <a:txBody>
                    <a:bodyPr/>
                    <a:lstStyle/>
                    <a:p>
                      <a:pPr algn="ctr" fontAlgn="ctr">
                        <a:buNone/>
                      </a:pPr>
                      <a:r>
                        <a:rPr lang="en-US" sz="1000" kern="1200" dirty="0">
                          <a:solidFill>
                            <a:schemeClr val="dk1"/>
                          </a:solidFill>
                          <a:latin typeface="+mn-lt"/>
                          <a:ea typeface="+mn-ea"/>
                          <a:cs typeface="+mn-cs"/>
                        </a:rPr>
                        <a:t>12453</a:t>
                      </a:r>
                    </a:p>
                  </a:txBody>
                  <a:tcPr marL="0" marR="0" marT="0" marB="0" anchor="ctr"/>
                </a:tc>
                <a:tc>
                  <a:txBody>
                    <a:bodyPr/>
                    <a:lstStyle/>
                    <a:p>
                      <a:pPr algn="ctr" fontAlgn="ctr">
                        <a:buNone/>
                      </a:pPr>
                      <a:r>
                        <a:rPr lang="en-US" sz="1000" kern="1200" dirty="0">
                          <a:solidFill>
                            <a:schemeClr val="dk1"/>
                          </a:solidFill>
                          <a:latin typeface="+mn-lt"/>
                          <a:ea typeface="+mn-ea"/>
                          <a:cs typeface="+mn-cs"/>
                        </a:rPr>
                        <a:t>12087</a:t>
                      </a:r>
                    </a:p>
                  </a:txBody>
                  <a:tcPr marL="0" marR="0" marT="0" marB="0" anchor="ctr"/>
                </a:tc>
                <a:tc>
                  <a:txBody>
                    <a:bodyPr/>
                    <a:lstStyle/>
                    <a:p>
                      <a:pPr marL="0" algn="ctr" defTabSz="914400" rtl="0" eaLnBrk="1" fontAlgn="ctr" latinLnBrk="0" hangingPunct="1">
                        <a:buNone/>
                      </a:pPr>
                      <a:r>
                        <a:rPr lang="en-US" sz="1000" b="1" kern="1200" dirty="0">
                          <a:solidFill>
                            <a:srgbClr val="FF0000"/>
                          </a:solidFill>
                          <a:latin typeface="+mn-lt"/>
                          <a:ea typeface="+mn-ea"/>
                          <a:cs typeface="+mn-cs"/>
                        </a:rPr>
                        <a:t>+3%</a:t>
                      </a:r>
                    </a:p>
                  </a:txBody>
                  <a:tcPr marL="0" marR="0" marT="0" marB="0" anchor="ctr"/>
                </a:tc>
                <a:tc rowSpan="3">
                  <a:txBody>
                    <a:bodyPr/>
                    <a:lstStyle/>
                    <a:p>
                      <a:pPr algn="l"/>
                      <a:r>
                        <a:rPr lang="en-US" sz="1000" dirty="0"/>
                        <a:t>By removing clock configuration footprint, ST is higher by </a:t>
                      </a:r>
                      <a:r>
                        <a:rPr lang="en-US" sz="1000" dirty="0">
                          <a:solidFill>
                            <a:srgbClr val="00B050"/>
                          </a:solidFill>
                        </a:rPr>
                        <a:t>only 15% than NXP instead of 34%</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0625977"/>
                  </a:ext>
                </a:extLst>
              </a:tr>
              <a:tr h="196954">
                <a:tc>
                  <a:txBody>
                    <a:bodyPr/>
                    <a:lstStyle/>
                    <a:p>
                      <a:pPr algn="l"/>
                      <a:r>
                        <a:rPr lang="en-US" sz="700" b="1" dirty="0">
                          <a:solidFill>
                            <a:schemeClr val="tx1"/>
                          </a:solidFill>
                        </a:rPr>
                        <a:t>RAM</a:t>
                      </a:r>
                      <a:endParaRPr lang="en-US" sz="700" dirty="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algn="ctr" fontAlgn="ctr">
                        <a:buNone/>
                      </a:pPr>
                      <a:r>
                        <a:rPr lang="en-US" sz="1000" kern="1200" dirty="0">
                          <a:solidFill>
                            <a:schemeClr val="dk1"/>
                          </a:solidFill>
                          <a:latin typeface="+mn-lt"/>
                          <a:ea typeface="+mn-ea"/>
                          <a:cs typeface="+mn-cs"/>
                        </a:rPr>
                        <a:t>3065</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000" kern="1200" dirty="0">
                          <a:solidFill>
                            <a:schemeClr val="dk1"/>
                          </a:solidFill>
                          <a:latin typeface="+mn-lt"/>
                          <a:ea typeface="+mn-ea"/>
                          <a:cs typeface="+mn-cs"/>
                        </a:rPr>
                        <a:t>1352</a:t>
                      </a:r>
                    </a:p>
                  </a:txBody>
                  <a:tcPr marL="0" marR="0" marT="0" marB="0" anchor="ctr">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sz="1000" b="1" kern="1200" dirty="0">
                          <a:solidFill>
                            <a:srgbClr val="FF0000"/>
                          </a:solidFill>
                          <a:latin typeface="+mn-lt"/>
                          <a:ea typeface="+mn-ea"/>
                          <a:cs typeface="+mn-cs"/>
                        </a:rPr>
                        <a:t>+126%</a:t>
                      </a:r>
                    </a:p>
                  </a:txBody>
                  <a:tcPr marL="0" marR="0" marT="0" marB="0" anchor="ctr">
                    <a:lnB w="12700" cap="flat" cmpd="sng" algn="ctr">
                      <a:solidFill>
                        <a:schemeClr val="tx1"/>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196954">
                <a:tc>
                  <a:txBody>
                    <a:bodyPr/>
                    <a:lstStyle/>
                    <a:p>
                      <a:pPr algn="l"/>
                      <a:r>
                        <a:rPr lang="en-US" sz="700" b="1">
                          <a:solidFill>
                            <a:schemeClr val="tx1"/>
                          </a:solidFill>
                        </a:rPr>
                        <a:t>Total</a:t>
                      </a:r>
                      <a:endParaRPr lang="en-US" sz="70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00" b="1" dirty="0"/>
                        <a:t>15518</a:t>
                      </a:r>
                      <a:endParaRPr lang="en-US" sz="1000" b="1"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t>13439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rgbClr val="FF0000"/>
                          </a:solidFill>
                        </a:rPr>
                        <a:t>+15%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1" name="TextBox 10">
            <a:extLst>
              <a:ext uri="{FF2B5EF4-FFF2-40B4-BE49-F238E27FC236}">
                <a16:creationId xmlns:a16="http://schemas.microsoft.com/office/drawing/2014/main" id="{F55300D0-F31C-4B39-BCC2-79FA2B4E9110}"/>
              </a:ext>
            </a:extLst>
          </p:cNvPr>
          <p:cNvSpPr txBox="1"/>
          <p:nvPr/>
        </p:nvSpPr>
        <p:spPr>
          <a:xfrm>
            <a:off x="117510" y="5191261"/>
            <a:ext cx="3600892" cy="215444"/>
          </a:xfrm>
          <a:prstGeom prst="rect">
            <a:avLst/>
          </a:prstGeom>
          <a:noFill/>
        </p:spPr>
        <p:txBody>
          <a:bodyPr wrap="square">
            <a:spAutoFit/>
          </a:bodyPr>
          <a:lstStyle/>
          <a:p>
            <a:r>
              <a:rPr lang="en-US" sz="800" b="1" dirty="0">
                <a:solidFill>
                  <a:srgbClr val="002060"/>
                </a:solidFill>
              </a:rPr>
              <a:t>STM32U575xx (CM33) vs MCX-N94X (CM33): USB FS/ </a:t>
            </a:r>
            <a:r>
              <a:rPr lang="en-US" sz="800" b="1" dirty="0">
                <a:solidFill>
                  <a:srgbClr val="FF0000"/>
                </a:solidFill>
              </a:rPr>
              <a:t>Without RCC </a:t>
            </a:r>
          </a:p>
        </p:txBody>
      </p:sp>
      <p:graphicFrame>
        <p:nvGraphicFramePr>
          <p:cNvPr id="13" name="Table 12">
            <a:extLst>
              <a:ext uri="{FF2B5EF4-FFF2-40B4-BE49-F238E27FC236}">
                <a16:creationId xmlns:a16="http://schemas.microsoft.com/office/drawing/2014/main" id="{80751321-150F-5A06-3E48-567F286348A7}"/>
              </a:ext>
            </a:extLst>
          </p:cNvPr>
          <p:cNvGraphicFramePr>
            <a:graphicFrameLocks noGrp="1"/>
          </p:cNvGraphicFramePr>
          <p:nvPr>
            <p:extLst>
              <p:ext uri="{D42A27DB-BD31-4B8C-83A1-F6EECF244321}">
                <p14:modId xmlns:p14="http://schemas.microsoft.com/office/powerpoint/2010/main" val="1326364089"/>
              </p:ext>
            </p:extLst>
          </p:nvPr>
        </p:nvGraphicFramePr>
        <p:xfrm>
          <a:off x="6182137" y="5401065"/>
          <a:ext cx="5743952" cy="899160"/>
        </p:xfrm>
        <a:graphic>
          <a:graphicData uri="http://schemas.openxmlformats.org/drawingml/2006/table">
            <a:tbl>
              <a:tblPr firstRow="1" bandRow="1">
                <a:tableStyleId>{EB344D84-9AFB-497E-A393-DC336BA19D2E}</a:tableStyleId>
              </a:tblPr>
              <a:tblGrid>
                <a:gridCol w="966420">
                  <a:extLst>
                    <a:ext uri="{9D8B030D-6E8A-4147-A177-3AD203B41FA5}">
                      <a16:colId xmlns:a16="http://schemas.microsoft.com/office/drawing/2014/main" val="1473133747"/>
                    </a:ext>
                  </a:extLst>
                </a:gridCol>
                <a:gridCol w="1062755">
                  <a:extLst>
                    <a:ext uri="{9D8B030D-6E8A-4147-A177-3AD203B41FA5}">
                      <a16:colId xmlns:a16="http://schemas.microsoft.com/office/drawing/2014/main" val="4162598800"/>
                    </a:ext>
                  </a:extLst>
                </a:gridCol>
                <a:gridCol w="1161288">
                  <a:extLst>
                    <a:ext uri="{9D8B030D-6E8A-4147-A177-3AD203B41FA5}">
                      <a16:colId xmlns:a16="http://schemas.microsoft.com/office/drawing/2014/main" val="1196173778"/>
                    </a:ext>
                  </a:extLst>
                </a:gridCol>
                <a:gridCol w="722376">
                  <a:extLst>
                    <a:ext uri="{9D8B030D-6E8A-4147-A177-3AD203B41FA5}">
                      <a16:colId xmlns:a16="http://schemas.microsoft.com/office/drawing/2014/main" val="2713348666"/>
                    </a:ext>
                  </a:extLst>
                </a:gridCol>
                <a:gridCol w="1831113">
                  <a:extLst>
                    <a:ext uri="{9D8B030D-6E8A-4147-A177-3AD203B41FA5}">
                      <a16:colId xmlns:a16="http://schemas.microsoft.com/office/drawing/2014/main" val="4253733116"/>
                    </a:ext>
                  </a:extLst>
                </a:gridCol>
              </a:tblGrid>
              <a:tr h="184353">
                <a:tc>
                  <a:txBody>
                    <a:bodyPr/>
                    <a:lstStyle/>
                    <a:p>
                      <a:pPr algn="ctr"/>
                      <a:endParaRPr lang="en-US" sz="7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dirty="0"/>
                        <a:t>STM32U575xx</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1" kern="1200">
                          <a:solidFill>
                            <a:schemeClr val="lt1"/>
                          </a:solidFill>
                          <a:latin typeface="+mn-lt"/>
                          <a:ea typeface="+mn-ea"/>
                          <a:cs typeface="+mn-cs"/>
                        </a:rPr>
                        <a:t>MCX-N94X</a:t>
                      </a:r>
                    </a:p>
                  </a:txBody>
                  <a:tcPr/>
                </a:tc>
                <a:tc>
                  <a:txBody>
                    <a:bodyPr/>
                    <a:lstStyle/>
                    <a:p>
                      <a:pPr algn="ctr"/>
                      <a:r>
                        <a:rPr lang="en-US" sz="700"/>
                        <a:t>ST vs NXP</a:t>
                      </a:r>
                    </a:p>
                  </a:txBody>
                  <a:tcPr/>
                </a:tc>
                <a:tc>
                  <a:txBody>
                    <a:bodyPr/>
                    <a:lstStyle/>
                    <a:p>
                      <a:pPr algn="ctr"/>
                      <a:r>
                        <a:rPr lang="en-US" sz="700"/>
                        <a:t>Comment</a:t>
                      </a:r>
                    </a:p>
                  </a:txBody>
                  <a:tcPr/>
                </a:tc>
                <a:extLst>
                  <a:ext uri="{0D108BD9-81ED-4DB2-BD59-A6C34878D82A}">
                    <a16:rowId xmlns:a16="http://schemas.microsoft.com/office/drawing/2014/main" val="797373398"/>
                  </a:ext>
                </a:extLst>
              </a:tr>
              <a:tr h="169331">
                <a:tc>
                  <a:txBody>
                    <a:bodyPr/>
                    <a:lstStyle/>
                    <a:p>
                      <a:pPr algn="l"/>
                      <a:r>
                        <a:rPr lang="en-US" sz="700" b="1" dirty="0">
                          <a:solidFill>
                            <a:schemeClr val="tx1"/>
                          </a:solidFill>
                        </a:rPr>
                        <a:t>ROM</a:t>
                      </a:r>
                    </a:p>
                  </a:txBody>
                  <a:tcPr/>
                </a:tc>
                <a:tc>
                  <a:txBody>
                    <a:bodyPr/>
                    <a:lstStyle/>
                    <a:p>
                      <a:pPr algn="ctr" fontAlgn="ctr">
                        <a:buNone/>
                      </a:pPr>
                      <a:r>
                        <a:rPr lang="en-US" sz="1000" kern="1200" dirty="0">
                          <a:solidFill>
                            <a:schemeClr val="dk1"/>
                          </a:solidFill>
                          <a:latin typeface="+mn-lt"/>
                          <a:ea typeface="+mn-ea"/>
                          <a:cs typeface="+mn-cs"/>
                        </a:rPr>
                        <a:t>11817</a:t>
                      </a:r>
                    </a:p>
                  </a:txBody>
                  <a:tcPr marL="0" marR="0" marT="0" marB="0" anchor="ctr"/>
                </a:tc>
                <a:tc>
                  <a:txBody>
                    <a:bodyPr/>
                    <a:lstStyle/>
                    <a:p>
                      <a:pPr algn="ctr" fontAlgn="ctr">
                        <a:buNone/>
                      </a:pPr>
                      <a:r>
                        <a:rPr lang="en-US" sz="1000" kern="1200" dirty="0">
                          <a:solidFill>
                            <a:schemeClr val="dk1"/>
                          </a:solidFill>
                          <a:latin typeface="+mn-lt"/>
                          <a:ea typeface="+mn-ea"/>
                          <a:cs typeface="+mn-cs"/>
                        </a:rPr>
                        <a:t>12282</a:t>
                      </a:r>
                    </a:p>
                  </a:txBody>
                  <a:tcPr marL="0" marR="0" marT="0" marB="0" anchor="ctr"/>
                </a:tc>
                <a:tc>
                  <a:txBody>
                    <a:bodyPr/>
                    <a:lstStyle/>
                    <a:p>
                      <a:pPr algn="ctr" fontAlgn="ctr">
                        <a:buNone/>
                      </a:pPr>
                      <a:r>
                        <a:rPr lang="en-US" sz="1000" b="1" kern="1200" dirty="0">
                          <a:solidFill>
                            <a:srgbClr val="00B050"/>
                          </a:solidFill>
                          <a:latin typeface="+mn-lt"/>
                          <a:ea typeface="+mn-ea"/>
                          <a:cs typeface="+mn-cs"/>
                        </a:rPr>
                        <a:t>-3.79%</a:t>
                      </a:r>
                    </a:p>
                  </a:txBody>
                  <a:tcPr marL="0" marR="0" marT="0" marB="0" anchor="ct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By removing clock configuration footprint, ST is higher by </a:t>
                      </a:r>
                      <a:r>
                        <a:rPr lang="en-US" sz="1000" dirty="0">
                          <a:solidFill>
                            <a:srgbClr val="00B050"/>
                          </a:solidFill>
                        </a:rPr>
                        <a:t>only 2.6% than NXP instead of 21%</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5877290"/>
                  </a:ext>
                </a:extLst>
              </a:tr>
              <a:tr h="169331">
                <a:tc>
                  <a:txBody>
                    <a:bodyPr/>
                    <a:lstStyle/>
                    <a:p>
                      <a:pPr algn="l"/>
                      <a:r>
                        <a:rPr lang="en-US" sz="700" b="1" dirty="0">
                          <a:solidFill>
                            <a:schemeClr val="tx1"/>
                          </a:solidFill>
                        </a:rPr>
                        <a:t>RAM</a:t>
                      </a:r>
                      <a:endParaRPr lang="en-US" sz="700" dirty="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algn="ctr" fontAlgn="ctr">
                        <a:buNone/>
                      </a:pPr>
                      <a:r>
                        <a:rPr lang="en-US" sz="1000" kern="1200" dirty="0">
                          <a:solidFill>
                            <a:schemeClr val="dk1"/>
                          </a:solidFill>
                          <a:latin typeface="+mn-lt"/>
                          <a:ea typeface="+mn-ea"/>
                          <a:cs typeface="+mn-cs"/>
                        </a:rPr>
                        <a:t>2422</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000" kern="1200" dirty="0">
                          <a:solidFill>
                            <a:schemeClr val="dk1"/>
                          </a:solidFill>
                          <a:latin typeface="+mn-lt"/>
                          <a:ea typeface="+mn-ea"/>
                          <a:cs typeface="+mn-cs"/>
                        </a:rPr>
                        <a:t>1590</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000" b="1" kern="1200" dirty="0">
                          <a:solidFill>
                            <a:srgbClr val="FF0000"/>
                          </a:solidFill>
                          <a:latin typeface="+mn-lt"/>
                          <a:ea typeface="+mn-ea"/>
                          <a:cs typeface="+mn-cs"/>
                        </a:rPr>
                        <a:t>+52%</a:t>
                      </a:r>
                    </a:p>
                  </a:txBody>
                  <a:tcPr marL="0" marR="0" marT="0" marB="0" anchor="ctr">
                    <a:lnB w="12700" cap="flat" cmpd="sng" algn="ctr">
                      <a:solidFill>
                        <a:schemeClr val="tx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7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169331">
                <a:tc>
                  <a:txBody>
                    <a:bodyPr/>
                    <a:lstStyle/>
                    <a:p>
                      <a:pPr algn="l"/>
                      <a:r>
                        <a:rPr lang="en-US" sz="700" b="1" dirty="0">
                          <a:solidFill>
                            <a:schemeClr val="tx1"/>
                          </a:solidFill>
                        </a:rPr>
                        <a:t>Total</a:t>
                      </a:r>
                      <a:endParaRPr lang="en-US" sz="70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1000" b="1" dirty="0"/>
                        <a:t>14239</a:t>
                      </a:r>
                      <a:endParaRPr lang="en-US" sz="1000" b="1"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t>13872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rgbClr val="FF0000"/>
                          </a:solidFill>
                        </a:rPr>
                        <a:t>+2.6%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US" sz="7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5" name="TextBox 14">
            <a:extLst>
              <a:ext uri="{FF2B5EF4-FFF2-40B4-BE49-F238E27FC236}">
                <a16:creationId xmlns:a16="http://schemas.microsoft.com/office/drawing/2014/main" id="{6DA5FE48-8C30-E070-E919-E4334EF17179}"/>
              </a:ext>
            </a:extLst>
          </p:cNvPr>
          <p:cNvSpPr txBox="1"/>
          <p:nvPr/>
        </p:nvSpPr>
        <p:spPr>
          <a:xfrm>
            <a:off x="6123162" y="5154844"/>
            <a:ext cx="3741820" cy="215444"/>
          </a:xfrm>
          <a:prstGeom prst="rect">
            <a:avLst/>
          </a:prstGeom>
          <a:noFill/>
        </p:spPr>
        <p:txBody>
          <a:bodyPr wrap="square">
            <a:spAutoFit/>
          </a:bodyPr>
          <a:lstStyle/>
          <a:p>
            <a:r>
              <a:rPr lang="en-US" sz="800" b="1" dirty="0">
                <a:solidFill>
                  <a:srgbClr val="002060"/>
                </a:solidFill>
              </a:rPr>
              <a:t>STM32U575xx (CM33) vs MCX-N9 XX (CM33): : USB FS/ </a:t>
            </a:r>
            <a:r>
              <a:rPr lang="en-US" sz="800" b="1" dirty="0">
                <a:solidFill>
                  <a:srgbClr val="FF0000"/>
                </a:solidFill>
              </a:rPr>
              <a:t>Without RCC </a:t>
            </a:r>
            <a:endParaRPr lang="en-US" sz="800" b="1" dirty="0">
              <a:solidFill>
                <a:srgbClr val="002060"/>
              </a:solidFill>
            </a:endParaRPr>
          </a:p>
        </p:txBody>
      </p:sp>
    </p:spTree>
    <p:extLst>
      <p:ext uri="{BB962C8B-B14F-4D97-AF65-F5344CB8AC3E}">
        <p14:creationId xmlns:p14="http://schemas.microsoft.com/office/powerpoint/2010/main" val="3250166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3DABA-3CA6-0AF3-7C1B-13422C99EF03}"/>
            </a:ext>
          </a:extLst>
        </p:cNvPr>
        <p:cNvGrpSpPr/>
        <p:nvPr/>
      </p:nvGrpSpPr>
      <p:grpSpPr>
        <a:xfrm>
          <a:off x="0" y="0"/>
          <a:ext cx="0" cy="0"/>
          <a:chOff x="0" y="0"/>
          <a:chExt cx="0" cy="0"/>
        </a:xfrm>
      </p:grpSpPr>
      <p:sp>
        <p:nvSpPr>
          <p:cNvPr id="95" name="TextBox 71">
            <a:extLst>
              <a:ext uri="{FF2B5EF4-FFF2-40B4-BE49-F238E27FC236}">
                <a16:creationId xmlns:a16="http://schemas.microsoft.com/office/drawing/2014/main" id="{0BF3F915-3C79-10A3-47BA-8F95B6DFB506}"/>
              </a:ext>
            </a:extLst>
          </p:cNvPr>
          <p:cNvSpPr txBox="1"/>
          <p:nvPr/>
        </p:nvSpPr>
        <p:spPr>
          <a:xfrm>
            <a:off x="2799448" y="1896791"/>
            <a:ext cx="2460930"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rgbClr val="03234B"/>
                </a:solidFill>
                <a:latin typeface="Arial"/>
                <a:ea typeface="+mn-ea"/>
                <a:cs typeface="+mn-cs"/>
              </a:defRPr>
            </a:lvl1pPr>
            <a:lvl2pPr marL="457200" algn="l" defTabSz="914400" rtl="0" eaLnBrk="1" latinLnBrk="0" hangingPunct="1">
              <a:defRPr sz="1800" kern="1200">
                <a:solidFill>
                  <a:srgbClr val="03234B"/>
                </a:solidFill>
                <a:latin typeface="Arial"/>
                <a:ea typeface="+mn-ea"/>
                <a:cs typeface="+mn-cs"/>
              </a:defRPr>
            </a:lvl2pPr>
            <a:lvl3pPr marL="914400" algn="l" defTabSz="914400" rtl="0" eaLnBrk="1" latinLnBrk="0" hangingPunct="1">
              <a:defRPr sz="1800" kern="1200">
                <a:solidFill>
                  <a:srgbClr val="03234B"/>
                </a:solidFill>
                <a:latin typeface="Arial"/>
                <a:ea typeface="+mn-ea"/>
                <a:cs typeface="+mn-cs"/>
              </a:defRPr>
            </a:lvl3pPr>
            <a:lvl4pPr marL="1371600" algn="l" defTabSz="914400" rtl="0" eaLnBrk="1" latinLnBrk="0" hangingPunct="1">
              <a:defRPr sz="1800" kern="1200">
                <a:solidFill>
                  <a:srgbClr val="03234B"/>
                </a:solidFill>
                <a:latin typeface="Arial"/>
                <a:ea typeface="+mn-ea"/>
                <a:cs typeface="+mn-cs"/>
              </a:defRPr>
            </a:lvl4pPr>
            <a:lvl5pPr marL="1828800" algn="l" defTabSz="914400" rtl="0" eaLnBrk="1" latinLnBrk="0" hangingPunct="1">
              <a:defRPr sz="1800" kern="1200">
                <a:solidFill>
                  <a:srgbClr val="03234B"/>
                </a:solidFill>
                <a:latin typeface="Arial"/>
                <a:ea typeface="+mn-ea"/>
                <a:cs typeface="+mn-cs"/>
              </a:defRPr>
            </a:lvl5pPr>
            <a:lvl6pPr marL="2286000" algn="l" defTabSz="914400" rtl="0" eaLnBrk="1" latinLnBrk="0" hangingPunct="1">
              <a:defRPr sz="1800" kern="1200">
                <a:solidFill>
                  <a:srgbClr val="03234B"/>
                </a:solidFill>
                <a:latin typeface="Arial"/>
                <a:ea typeface="+mn-ea"/>
                <a:cs typeface="+mn-cs"/>
              </a:defRPr>
            </a:lvl6pPr>
            <a:lvl7pPr marL="2743200" algn="l" defTabSz="914400" rtl="0" eaLnBrk="1" latinLnBrk="0" hangingPunct="1">
              <a:defRPr sz="1800" kern="1200">
                <a:solidFill>
                  <a:srgbClr val="03234B"/>
                </a:solidFill>
                <a:latin typeface="Arial"/>
                <a:ea typeface="+mn-ea"/>
                <a:cs typeface="+mn-cs"/>
              </a:defRPr>
            </a:lvl7pPr>
            <a:lvl8pPr marL="3200400" algn="l" defTabSz="914400" rtl="0" eaLnBrk="1" latinLnBrk="0" hangingPunct="1">
              <a:defRPr sz="1800" kern="1200">
                <a:solidFill>
                  <a:srgbClr val="03234B"/>
                </a:solidFill>
                <a:latin typeface="Arial"/>
                <a:ea typeface="+mn-ea"/>
                <a:cs typeface="+mn-cs"/>
              </a:defRPr>
            </a:lvl8pPr>
            <a:lvl9pPr marL="3657600" algn="l" defTabSz="914400" rtl="0" eaLnBrk="1" latinLnBrk="0" hangingPunct="1">
              <a:defRPr sz="1800" kern="1200">
                <a:solidFill>
                  <a:srgbClr val="03234B"/>
                </a:solidFill>
                <a:latin typeface="Arial"/>
                <a:ea typeface="+mn-ea"/>
                <a:cs typeface="+mn-cs"/>
              </a:defRPr>
            </a:lvl9pPr>
          </a:lstStyle>
          <a:p>
            <a:pPr>
              <a:defRPr/>
            </a:pPr>
            <a:r>
              <a:rPr lang="en-US" sz="800" dirty="0">
                <a:cs typeface="Arial"/>
              </a:rPr>
              <a:t>C</a:t>
            </a:r>
            <a:r>
              <a:rPr kumimoji="0" lang="en-US" sz="800" b="0" i="0" u="none" strike="noStrike" kern="1200" cap="none" spc="0" normalizeH="0" baseline="0" noProof="0" dirty="0">
                <a:ln>
                  <a:noFill/>
                </a:ln>
                <a:solidFill>
                  <a:srgbClr val="03234B"/>
                </a:solidFill>
                <a:effectLst/>
                <a:uLnTx/>
                <a:uFillTx/>
                <a:latin typeface="Arial"/>
                <a:ea typeface="+mn-ea"/>
                <a:cs typeface="Arial"/>
              </a:rPr>
              <a:t>lock source : </a:t>
            </a:r>
            <a:r>
              <a:rPr lang="fr-FR" sz="800" b="1" dirty="0"/>
              <a:t>HSI (ST) </a:t>
            </a:r>
            <a:r>
              <a:rPr lang="fr-FR" sz="800" dirty="0"/>
              <a:t>/ </a:t>
            </a:r>
            <a:r>
              <a:rPr lang="fr-FR" sz="800" b="1" dirty="0"/>
              <a:t>FIRC_48M (NXP)</a:t>
            </a:r>
          </a:p>
          <a:p>
            <a:pPr>
              <a:defRPr/>
            </a:pPr>
            <a:r>
              <a:rPr lang="en-US" sz="800" dirty="0"/>
              <a:t>Clock frequency: </a:t>
            </a:r>
            <a:r>
              <a:rPr lang="en-US" sz="800" b="1" dirty="0"/>
              <a:t>CM33: 150 MHz (ST and </a:t>
            </a:r>
            <a:r>
              <a:rPr lang="fr-FR" sz="800" b="1" dirty="0"/>
              <a:t>NXP</a:t>
            </a:r>
            <a:r>
              <a:rPr lang="en-US" sz="800" b="1" dirty="0"/>
              <a:t>)</a:t>
            </a:r>
          </a:p>
        </p:txBody>
      </p:sp>
      <p:sp>
        <p:nvSpPr>
          <p:cNvPr id="100" name="TextBox 39">
            <a:extLst>
              <a:ext uri="{FF2B5EF4-FFF2-40B4-BE49-F238E27FC236}">
                <a16:creationId xmlns:a16="http://schemas.microsoft.com/office/drawing/2014/main" id="{49DA98EC-6436-3A86-F123-24B39B8243DB}"/>
              </a:ext>
            </a:extLst>
          </p:cNvPr>
          <p:cNvSpPr txBox="1"/>
          <p:nvPr/>
        </p:nvSpPr>
        <p:spPr>
          <a:xfrm>
            <a:off x="2789155" y="2343487"/>
            <a:ext cx="2414954"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t>U5/</a:t>
            </a:r>
            <a:r>
              <a:rPr lang="en-US" sz="800" b="1">
                <a:solidFill>
                  <a:srgbClr val="002060"/>
                </a:solidFill>
              </a:rPr>
              <a:t> MCX-N9:</a:t>
            </a:r>
            <a:r>
              <a:rPr lang="en-US" sz="800"/>
              <a:t> USB Full Speed</a:t>
            </a:r>
          </a:p>
          <a:p>
            <a:r>
              <a:rPr lang="en-US" sz="800" b="1"/>
              <a:t>H7/ </a:t>
            </a:r>
            <a:r>
              <a:rPr lang="en-US" sz="800" b="1">
                <a:solidFill>
                  <a:srgbClr val="002060"/>
                </a:solidFill>
              </a:rPr>
              <a:t>RT1170: </a:t>
            </a:r>
            <a:r>
              <a:rPr lang="en-US" sz="800"/>
              <a:t>USB High Speed</a:t>
            </a:r>
          </a:p>
          <a:p>
            <a:r>
              <a:rPr lang="en-US" sz="800"/>
              <a:t>USB Host, MSC class</a:t>
            </a:r>
          </a:p>
        </p:txBody>
      </p:sp>
      <p:grpSp>
        <p:nvGrpSpPr>
          <p:cNvPr id="111" name="Group 110">
            <a:extLst>
              <a:ext uri="{FF2B5EF4-FFF2-40B4-BE49-F238E27FC236}">
                <a16:creationId xmlns:a16="http://schemas.microsoft.com/office/drawing/2014/main" id="{7B98B753-6C40-8B44-9D15-19DF75CBB230}"/>
              </a:ext>
            </a:extLst>
          </p:cNvPr>
          <p:cNvGrpSpPr/>
          <p:nvPr/>
        </p:nvGrpSpPr>
        <p:grpSpPr>
          <a:xfrm>
            <a:off x="312434" y="1533199"/>
            <a:ext cx="4417206" cy="4612264"/>
            <a:chOff x="312433" y="1533199"/>
            <a:chExt cx="3748954" cy="4340467"/>
          </a:xfrm>
        </p:grpSpPr>
        <p:grpSp>
          <p:nvGrpSpPr>
            <p:cNvPr id="18" name="Group 17">
              <a:extLst>
                <a:ext uri="{FF2B5EF4-FFF2-40B4-BE49-F238E27FC236}">
                  <a16:creationId xmlns:a16="http://schemas.microsoft.com/office/drawing/2014/main" id="{CF1F5C40-8D1A-8D00-CFEB-663CB8E90784}"/>
                </a:ext>
              </a:extLst>
            </p:cNvPr>
            <p:cNvGrpSpPr/>
            <p:nvPr/>
          </p:nvGrpSpPr>
          <p:grpSpPr>
            <a:xfrm>
              <a:off x="312433" y="1533199"/>
              <a:ext cx="3517387" cy="4340467"/>
              <a:chOff x="789429" y="176540"/>
              <a:chExt cx="3517387" cy="4340467"/>
            </a:xfrm>
          </p:grpSpPr>
          <p:sp>
            <p:nvSpPr>
              <p:cNvPr id="87" name="Rectangle 86">
                <a:extLst>
                  <a:ext uri="{FF2B5EF4-FFF2-40B4-BE49-F238E27FC236}">
                    <a16:creationId xmlns:a16="http://schemas.microsoft.com/office/drawing/2014/main" id="{41E088DF-6BA3-0454-BA63-DE0D56902CB6}"/>
                  </a:ext>
                </a:extLst>
              </p:cNvPr>
              <p:cNvSpPr/>
              <p:nvPr/>
            </p:nvSpPr>
            <p:spPr>
              <a:xfrm>
                <a:off x="804270" y="4275256"/>
                <a:ext cx="1974815" cy="241751"/>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fr-FR" sz="800">
                    <a:solidFill>
                      <a:schemeClr val="tx1"/>
                    </a:solidFill>
                  </a:rPr>
                  <a:t>C</a:t>
                </a:r>
                <a:r>
                  <a:rPr lang="en-US" sz="800">
                    <a:solidFill>
                      <a:schemeClr val="tx1"/>
                    </a:solidFill>
                  </a:rPr>
                  <a:t>lose the file</a:t>
                </a:r>
              </a:p>
            </p:txBody>
          </p:sp>
          <p:grpSp>
            <p:nvGrpSpPr>
              <p:cNvPr id="6" name="Group 5">
                <a:extLst>
                  <a:ext uri="{FF2B5EF4-FFF2-40B4-BE49-F238E27FC236}">
                    <a16:creationId xmlns:a16="http://schemas.microsoft.com/office/drawing/2014/main" id="{A02D7A03-ACCF-22C6-5E21-3C0642E0849D}"/>
                  </a:ext>
                </a:extLst>
              </p:cNvPr>
              <p:cNvGrpSpPr/>
              <p:nvPr/>
            </p:nvGrpSpPr>
            <p:grpSpPr>
              <a:xfrm>
                <a:off x="789429" y="176540"/>
                <a:ext cx="3517387" cy="4098712"/>
                <a:chOff x="789429" y="176542"/>
                <a:chExt cx="5669294" cy="5909299"/>
              </a:xfrm>
            </p:grpSpPr>
            <p:sp>
              <p:nvSpPr>
                <p:cNvPr id="19" name="Rectangle 18">
                  <a:extLst>
                    <a:ext uri="{FF2B5EF4-FFF2-40B4-BE49-F238E27FC236}">
                      <a16:creationId xmlns:a16="http://schemas.microsoft.com/office/drawing/2014/main" id="{0044E4A4-D22D-B320-86DF-CF1BEC6F0817}"/>
                    </a:ext>
                  </a:extLst>
                </p:cNvPr>
                <p:cNvSpPr/>
                <p:nvPr/>
              </p:nvSpPr>
              <p:spPr>
                <a:xfrm>
                  <a:off x="796812" y="800744"/>
                  <a:ext cx="3182995" cy="353088"/>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Clock configuration</a:t>
                  </a:r>
                </a:p>
              </p:txBody>
            </p:sp>
            <p:sp>
              <p:nvSpPr>
                <p:cNvPr id="20" name="Rectangle 19">
                  <a:extLst>
                    <a:ext uri="{FF2B5EF4-FFF2-40B4-BE49-F238E27FC236}">
                      <a16:creationId xmlns:a16="http://schemas.microsoft.com/office/drawing/2014/main" id="{73E28DC5-3847-4B9E-8CFD-63205983CC81}"/>
                    </a:ext>
                  </a:extLst>
                </p:cNvPr>
                <p:cNvSpPr/>
                <p:nvPr/>
              </p:nvSpPr>
              <p:spPr>
                <a:xfrm>
                  <a:off x="796814" y="1412628"/>
                  <a:ext cx="3182994" cy="352977"/>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USB configuration</a:t>
                  </a:r>
                </a:p>
              </p:txBody>
            </p:sp>
            <p:sp>
              <p:nvSpPr>
                <p:cNvPr id="22" name="Rectangle 21">
                  <a:extLst>
                    <a:ext uri="{FF2B5EF4-FFF2-40B4-BE49-F238E27FC236}">
                      <a16:creationId xmlns:a16="http://schemas.microsoft.com/office/drawing/2014/main" id="{D1ACD0D8-9469-9440-06B3-59FC4B6FED27}"/>
                    </a:ext>
                  </a:extLst>
                </p:cNvPr>
                <p:cNvSpPr/>
                <p:nvPr/>
              </p:nvSpPr>
              <p:spPr>
                <a:xfrm>
                  <a:off x="801134" y="4281532"/>
                  <a:ext cx="3171291" cy="348542"/>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Format and Create a file</a:t>
                  </a:r>
                </a:p>
              </p:txBody>
            </p:sp>
            <p:cxnSp>
              <p:nvCxnSpPr>
                <p:cNvPr id="23" name="Straight Arrow Connector 22">
                  <a:extLst>
                    <a:ext uri="{FF2B5EF4-FFF2-40B4-BE49-F238E27FC236}">
                      <a16:creationId xmlns:a16="http://schemas.microsoft.com/office/drawing/2014/main" id="{5452C515-34C2-837A-27EC-407219195542}"/>
                    </a:ext>
                  </a:extLst>
                </p:cNvPr>
                <p:cNvCxnSpPr>
                  <a:cxnSpLocks/>
                  <a:stCxn id="25" idx="2"/>
                  <a:endCxn id="39" idx="0"/>
                </p:cNvCxnSpPr>
                <p:nvPr/>
              </p:nvCxnSpPr>
              <p:spPr>
                <a:xfrm flipH="1">
                  <a:off x="2375074" y="3467340"/>
                  <a:ext cx="5854" cy="20853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5" name="Diamond 24">
                  <a:extLst>
                    <a:ext uri="{FF2B5EF4-FFF2-40B4-BE49-F238E27FC236}">
                      <a16:creationId xmlns:a16="http://schemas.microsoft.com/office/drawing/2014/main" id="{408FF2A9-DE17-BE54-F336-37E7A0CB9DE2}"/>
                    </a:ext>
                  </a:extLst>
                </p:cNvPr>
                <p:cNvSpPr/>
                <p:nvPr/>
              </p:nvSpPr>
              <p:spPr>
                <a:xfrm>
                  <a:off x="1279282" y="2597922"/>
                  <a:ext cx="2203291" cy="869418"/>
                </a:xfrm>
                <a:prstGeom prst="diamond">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FFFFFF"/>
                    </a:buClr>
                  </a:pPr>
                  <a:r>
                    <a:rPr lang="fr-FR" sz="800">
                      <a:solidFill>
                        <a:schemeClr val="tx1"/>
                      </a:solidFill>
                    </a:rPr>
                    <a:t>Is flash </a:t>
                  </a:r>
                  <a:r>
                    <a:rPr lang="fr-FR" sz="800" err="1">
                      <a:solidFill>
                        <a:schemeClr val="tx1"/>
                      </a:solidFill>
                    </a:rPr>
                    <a:t>disk</a:t>
                  </a:r>
                  <a:r>
                    <a:rPr lang="fr-FR" sz="800">
                      <a:solidFill>
                        <a:schemeClr val="tx1"/>
                      </a:solidFill>
                    </a:rPr>
                    <a:t> </a:t>
                  </a:r>
                  <a:r>
                    <a:rPr lang="en-US" sz="800">
                      <a:solidFill>
                        <a:schemeClr val="tx1"/>
                      </a:solidFill>
                    </a:rPr>
                    <a:t>inserted</a:t>
                  </a:r>
                  <a:r>
                    <a:rPr lang="fr-FR" sz="800">
                      <a:solidFill>
                        <a:schemeClr val="tx1"/>
                      </a:solidFill>
                    </a:rPr>
                    <a:t> ?</a:t>
                  </a:r>
                  <a:endParaRPr lang="en-US" sz="800">
                    <a:solidFill>
                      <a:schemeClr val="tx1"/>
                    </a:solidFill>
                  </a:endParaRPr>
                </a:p>
              </p:txBody>
            </p:sp>
            <p:cxnSp>
              <p:nvCxnSpPr>
                <p:cNvPr id="11" name="Straight Arrow Connector 10">
                  <a:extLst>
                    <a:ext uri="{FF2B5EF4-FFF2-40B4-BE49-F238E27FC236}">
                      <a16:creationId xmlns:a16="http://schemas.microsoft.com/office/drawing/2014/main" id="{0A65D51F-71DC-BF02-A1A7-FD9293D17D80}"/>
                    </a:ext>
                  </a:extLst>
                </p:cNvPr>
                <p:cNvCxnSpPr>
                  <a:cxnSpLocks/>
                  <a:stCxn id="19" idx="3"/>
                  <a:endCxn id="95" idx="1"/>
                </p:cNvCxnSpPr>
                <p:nvPr/>
              </p:nvCxnSpPr>
              <p:spPr>
                <a:xfrm flipV="1">
                  <a:off x="3979807" y="899530"/>
                  <a:ext cx="211741" cy="77759"/>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EE0B8E1-43F8-F0BD-6EBA-E8A81F95ECF4}"/>
                    </a:ext>
                  </a:extLst>
                </p:cNvPr>
                <p:cNvCxnSpPr>
                  <a:cxnSpLocks/>
                  <a:stCxn id="3" idx="4"/>
                  <a:endCxn id="19" idx="0"/>
                </p:cNvCxnSpPr>
                <p:nvPr/>
              </p:nvCxnSpPr>
              <p:spPr>
                <a:xfrm>
                  <a:off x="2388310" y="564661"/>
                  <a:ext cx="0" cy="236083"/>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867B72F-5646-DCE8-0782-FA5A8D772927}"/>
                    </a:ext>
                  </a:extLst>
                </p:cNvPr>
                <p:cNvCxnSpPr>
                  <a:cxnSpLocks/>
                  <a:stCxn id="19" idx="2"/>
                  <a:endCxn id="20" idx="0"/>
                </p:cNvCxnSpPr>
                <p:nvPr/>
              </p:nvCxnSpPr>
              <p:spPr>
                <a:xfrm>
                  <a:off x="2388311" y="1153832"/>
                  <a:ext cx="2" cy="25879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D287D9C-0BD6-22E0-E60F-2C79D41E5DAB}"/>
                    </a:ext>
                  </a:extLst>
                </p:cNvPr>
                <p:cNvCxnSpPr>
                  <a:cxnSpLocks/>
                  <a:stCxn id="20" idx="3"/>
                  <a:endCxn id="100" idx="1"/>
                </p:cNvCxnSpPr>
                <p:nvPr/>
              </p:nvCxnSpPr>
              <p:spPr>
                <a:xfrm flipV="1">
                  <a:off x="3979808" y="1589116"/>
                  <a:ext cx="197664" cy="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216402C9-69BF-D8CB-ADFE-A1C50C9684A5}"/>
                    </a:ext>
                  </a:extLst>
                </p:cNvPr>
                <p:cNvSpPr/>
                <p:nvPr/>
              </p:nvSpPr>
              <p:spPr>
                <a:xfrm>
                  <a:off x="789432" y="2023922"/>
                  <a:ext cx="3182991" cy="364414"/>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FATFS initialization</a:t>
                  </a:r>
                </a:p>
              </p:txBody>
            </p:sp>
            <p:cxnSp>
              <p:nvCxnSpPr>
                <p:cNvPr id="34" name="Straight Arrow Connector 33">
                  <a:extLst>
                    <a:ext uri="{FF2B5EF4-FFF2-40B4-BE49-F238E27FC236}">
                      <a16:creationId xmlns:a16="http://schemas.microsoft.com/office/drawing/2014/main" id="{06EA19DA-0581-05A0-4798-9B9570448315}"/>
                    </a:ext>
                  </a:extLst>
                </p:cNvPr>
                <p:cNvCxnSpPr>
                  <a:cxnSpLocks/>
                  <a:stCxn id="32" idx="2"/>
                  <a:endCxn id="25" idx="0"/>
                </p:cNvCxnSpPr>
                <p:nvPr/>
              </p:nvCxnSpPr>
              <p:spPr>
                <a:xfrm>
                  <a:off x="2380929" y="2388336"/>
                  <a:ext cx="0" cy="209586"/>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DB43F48-3D0B-C366-D23C-54086FDE3580}"/>
                    </a:ext>
                  </a:extLst>
                </p:cNvPr>
                <p:cNvCxnSpPr>
                  <a:cxnSpLocks/>
                  <a:stCxn id="20" idx="2"/>
                  <a:endCxn id="32" idx="0"/>
                </p:cNvCxnSpPr>
                <p:nvPr/>
              </p:nvCxnSpPr>
              <p:spPr>
                <a:xfrm flipH="1">
                  <a:off x="2380929" y="1765604"/>
                  <a:ext cx="7384" cy="258317"/>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478DA635-0719-CD39-4CD3-7584404BBC5D}"/>
                    </a:ext>
                  </a:extLst>
                </p:cNvPr>
                <p:cNvSpPr/>
                <p:nvPr/>
              </p:nvSpPr>
              <p:spPr>
                <a:xfrm>
                  <a:off x="789429" y="4901768"/>
                  <a:ext cx="3182994" cy="348542"/>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Write in the file </a:t>
                  </a:r>
                  <a:r>
                    <a:rPr lang="en-US" sz="800" b="1">
                      <a:solidFill>
                        <a:srgbClr val="FF0000"/>
                      </a:solidFill>
                    </a:rPr>
                    <a:t>20 MB</a:t>
                  </a:r>
                </a:p>
              </p:txBody>
            </p:sp>
            <p:sp>
              <p:nvSpPr>
                <p:cNvPr id="86" name="Rectangle 85">
                  <a:extLst>
                    <a:ext uri="{FF2B5EF4-FFF2-40B4-BE49-F238E27FC236}">
                      <a16:creationId xmlns:a16="http://schemas.microsoft.com/office/drawing/2014/main" id="{32A07272-F6E6-835B-B8A8-E5330DC84263}"/>
                    </a:ext>
                  </a:extLst>
                </p:cNvPr>
                <p:cNvSpPr/>
                <p:nvPr/>
              </p:nvSpPr>
              <p:spPr>
                <a:xfrm>
                  <a:off x="801134" y="5487318"/>
                  <a:ext cx="3182994" cy="348542"/>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Read </a:t>
                  </a:r>
                  <a:r>
                    <a:rPr lang="en-US" sz="800" b="1">
                      <a:solidFill>
                        <a:srgbClr val="FF0000"/>
                      </a:solidFill>
                    </a:rPr>
                    <a:t>20 MB</a:t>
                  </a:r>
                </a:p>
              </p:txBody>
            </p:sp>
            <p:cxnSp>
              <p:nvCxnSpPr>
                <p:cNvPr id="88" name="Straight Arrow Connector 87">
                  <a:extLst>
                    <a:ext uri="{FF2B5EF4-FFF2-40B4-BE49-F238E27FC236}">
                      <a16:creationId xmlns:a16="http://schemas.microsoft.com/office/drawing/2014/main" id="{6D4257CC-D0B2-F122-9AAF-31C3A3AD4856}"/>
                    </a:ext>
                  </a:extLst>
                </p:cNvPr>
                <p:cNvCxnSpPr>
                  <a:cxnSpLocks/>
                  <a:stCxn id="22" idx="2"/>
                  <a:endCxn id="85" idx="0"/>
                </p:cNvCxnSpPr>
                <p:nvPr/>
              </p:nvCxnSpPr>
              <p:spPr>
                <a:xfrm flipH="1">
                  <a:off x="2380926" y="4630074"/>
                  <a:ext cx="5854" cy="271694"/>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A9B5F3D4-038B-F79C-EB72-BFA3927A050D}"/>
                    </a:ext>
                  </a:extLst>
                </p:cNvPr>
                <p:cNvCxnSpPr>
                  <a:cxnSpLocks/>
                  <a:stCxn id="85" idx="2"/>
                  <a:endCxn id="86" idx="0"/>
                </p:cNvCxnSpPr>
                <p:nvPr/>
              </p:nvCxnSpPr>
              <p:spPr>
                <a:xfrm>
                  <a:off x="2380926" y="5250310"/>
                  <a:ext cx="11705" cy="237008"/>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47911C95-E8B5-C804-A55A-9C4899F6B691}"/>
                    </a:ext>
                  </a:extLst>
                </p:cNvPr>
                <p:cNvCxnSpPr>
                  <a:cxnSpLocks/>
                  <a:stCxn id="86" idx="2"/>
                  <a:endCxn id="87" idx="0"/>
                </p:cNvCxnSpPr>
                <p:nvPr/>
              </p:nvCxnSpPr>
              <p:spPr>
                <a:xfrm>
                  <a:off x="2392631" y="5835860"/>
                  <a:ext cx="12217" cy="24998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140" name="Connector: Elbow 139">
                  <a:extLst>
                    <a:ext uri="{FF2B5EF4-FFF2-40B4-BE49-F238E27FC236}">
                      <a16:creationId xmlns:a16="http://schemas.microsoft.com/office/drawing/2014/main" id="{1FAE6505-23F2-4ADC-43A8-93DAB30580BD}"/>
                    </a:ext>
                  </a:extLst>
                </p:cNvPr>
                <p:cNvCxnSpPr>
                  <a:cxnSpLocks/>
                  <a:stCxn id="25" idx="3"/>
                </p:cNvCxnSpPr>
                <p:nvPr/>
              </p:nvCxnSpPr>
              <p:spPr>
                <a:xfrm flipH="1" flipV="1">
                  <a:off x="2386778" y="2520770"/>
                  <a:ext cx="1095796" cy="511861"/>
                </a:xfrm>
                <a:prstGeom prst="bentConnector3">
                  <a:avLst>
                    <a:gd name="adj1" fmla="val -33625"/>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ECEBCFE6-B54F-7254-0C9E-EBB9E56727BC}"/>
                    </a:ext>
                  </a:extLst>
                </p:cNvPr>
                <p:cNvSpPr/>
                <p:nvPr/>
              </p:nvSpPr>
              <p:spPr>
                <a:xfrm>
                  <a:off x="1688807" y="176542"/>
                  <a:ext cx="1399006" cy="388119"/>
                </a:xfrm>
                <a:prstGeom prst="ellipse">
                  <a:avLst/>
                </a:prstGeom>
                <a:ln/>
              </p:spPr>
              <p:style>
                <a:lnRef idx="3">
                  <a:schemeClr val="lt1"/>
                </a:lnRef>
                <a:fillRef idx="1">
                  <a:schemeClr val="accent3"/>
                </a:fillRef>
                <a:effectRef idx="1">
                  <a:schemeClr val="accent3"/>
                </a:effectRef>
                <a:fontRef idx="minor">
                  <a:schemeClr val="lt1"/>
                </a:fontRef>
              </p:style>
              <p:txBody>
                <a:bodyPr rtlCol="0" anchor="ctr"/>
                <a:lstStyle/>
                <a:p>
                  <a:pPr algn="ctr">
                    <a:buClr>
                      <a:schemeClr val="bg1"/>
                    </a:buClr>
                  </a:pPr>
                  <a:r>
                    <a:rPr lang="fr-FR" sz="800">
                      <a:solidFill>
                        <a:srgbClr val="000000"/>
                      </a:solidFill>
                    </a:rPr>
                    <a:t>Start</a:t>
                  </a:r>
                  <a:endParaRPr lang="en-US" sz="800" err="1">
                    <a:solidFill>
                      <a:srgbClr val="000000"/>
                    </a:solidFill>
                  </a:endParaRPr>
                </a:p>
              </p:txBody>
            </p:sp>
            <p:sp>
              <p:nvSpPr>
                <p:cNvPr id="21" name="TextBox 20">
                  <a:extLst>
                    <a:ext uri="{FF2B5EF4-FFF2-40B4-BE49-F238E27FC236}">
                      <a16:creationId xmlns:a16="http://schemas.microsoft.com/office/drawing/2014/main" id="{9236AC58-499D-3086-C5D9-BD6C31A89EBC}"/>
                    </a:ext>
                  </a:extLst>
                </p:cNvPr>
                <p:cNvSpPr txBox="1"/>
                <p:nvPr/>
              </p:nvSpPr>
              <p:spPr>
                <a:xfrm>
                  <a:off x="4208390" y="2050190"/>
                  <a:ext cx="2250333" cy="310615"/>
                </a:xfrm>
                <a:prstGeom prst="rect">
                  <a:avLst/>
                </a:prstGeom>
                <a:noFill/>
              </p:spPr>
              <p:txBody>
                <a:bodyPr wrap="square">
                  <a:spAutoFit/>
                </a:bodyPr>
                <a:lstStyle>
                  <a:defPPr>
                    <a:defRPr lang="en-US"/>
                  </a:defPPr>
                  <a:lvl1pPr>
                    <a:defRPr sz="1100"/>
                  </a:lvl1pPr>
                </a:lstStyle>
                <a:p>
                  <a:r>
                    <a:rPr lang="fr-FR" sz="800"/>
                    <a:t>M</a:t>
                  </a:r>
                  <a:r>
                    <a:rPr lang="en-US" sz="800" err="1"/>
                    <a:t>ount</a:t>
                  </a:r>
                  <a:r>
                    <a:rPr lang="en-US" sz="800"/>
                    <a:t> the flash disk </a:t>
                  </a:r>
                </a:p>
              </p:txBody>
            </p:sp>
            <p:cxnSp>
              <p:nvCxnSpPr>
                <p:cNvPr id="24" name="Straight Arrow Connector 23">
                  <a:extLst>
                    <a:ext uri="{FF2B5EF4-FFF2-40B4-BE49-F238E27FC236}">
                      <a16:creationId xmlns:a16="http://schemas.microsoft.com/office/drawing/2014/main" id="{69A1FC15-43CD-CC63-93CB-871DB1D48F9A}"/>
                    </a:ext>
                  </a:extLst>
                </p:cNvPr>
                <p:cNvCxnSpPr>
                  <a:cxnSpLocks/>
                  <a:stCxn id="32" idx="3"/>
                  <a:endCxn id="21" idx="1"/>
                </p:cNvCxnSpPr>
                <p:nvPr/>
              </p:nvCxnSpPr>
              <p:spPr>
                <a:xfrm flipV="1">
                  <a:off x="3972423" y="2205498"/>
                  <a:ext cx="235967" cy="631"/>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678694F-3F51-E394-EE38-EFAD288F61C2}"/>
                    </a:ext>
                  </a:extLst>
                </p:cNvPr>
                <p:cNvSpPr/>
                <p:nvPr/>
              </p:nvSpPr>
              <p:spPr>
                <a:xfrm>
                  <a:off x="789429" y="3675876"/>
                  <a:ext cx="3171287" cy="348542"/>
                </a:xfrm>
                <a:prstGeom prst="rect">
                  <a:avLst/>
                </a:prstGeom>
                <a:solidFill>
                  <a:srgbClr val="3CB4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r>
                    <a:rPr lang="en-US" sz="800">
                      <a:solidFill>
                        <a:schemeClr val="tx1"/>
                      </a:solidFill>
                    </a:rPr>
                    <a:t>USB enumeration</a:t>
                  </a:r>
                </a:p>
              </p:txBody>
            </p:sp>
            <p:cxnSp>
              <p:nvCxnSpPr>
                <p:cNvPr id="41" name="Straight Arrow Connector 40">
                  <a:extLst>
                    <a:ext uri="{FF2B5EF4-FFF2-40B4-BE49-F238E27FC236}">
                      <a16:creationId xmlns:a16="http://schemas.microsoft.com/office/drawing/2014/main" id="{A1F99EFC-05CB-DBF6-3BA3-6C97ABF73534}"/>
                    </a:ext>
                  </a:extLst>
                </p:cNvPr>
                <p:cNvCxnSpPr>
                  <a:cxnSpLocks/>
                  <a:stCxn id="39" idx="2"/>
                  <a:endCxn id="22" idx="0"/>
                </p:cNvCxnSpPr>
                <p:nvPr/>
              </p:nvCxnSpPr>
              <p:spPr>
                <a:xfrm>
                  <a:off x="2375074" y="4024417"/>
                  <a:ext cx="11706" cy="257115"/>
                </a:xfrm>
                <a:prstGeom prst="straightConnector1">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grpSp>
        </p:grpSp>
        <p:sp>
          <p:nvSpPr>
            <p:cNvPr id="89" name="TextBox 56">
              <a:extLst>
                <a:ext uri="{FF2B5EF4-FFF2-40B4-BE49-F238E27FC236}">
                  <a16:creationId xmlns:a16="http://schemas.microsoft.com/office/drawing/2014/main" id="{6FEAD6F6-2D0E-3C57-253C-415A6A13342B}"/>
                </a:ext>
              </a:extLst>
            </p:cNvPr>
            <p:cNvSpPr txBox="1"/>
            <p:nvPr/>
          </p:nvSpPr>
          <p:spPr>
            <a:xfrm>
              <a:off x="1314682" y="3748229"/>
              <a:ext cx="489019"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90" name="TextBox 89">
              <a:extLst>
                <a:ext uri="{FF2B5EF4-FFF2-40B4-BE49-F238E27FC236}">
                  <a16:creationId xmlns:a16="http://schemas.microsoft.com/office/drawing/2014/main" id="{9D488D2E-64E0-AF71-92C4-86FDF909F5BD}"/>
                </a:ext>
              </a:extLst>
            </p:cNvPr>
            <p:cNvSpPr txBox="1"/>
            <p:nvPr/>
          </p:nvSpPr>
          <p:spPr>
            <a:xfrm>
              <a:off x="1902153" y="3317330"/>
              <a:ext cx="388340"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sp>
          <p:nvSpPr>
            <p:cNvPr id="107" name="Rectangle: Folded Corner 106">
              <a:extLst>
                <a:ext uri="{FF2B5EF4-FFF2-40B4-BE49-F238E27FC236}">
                  <a16:creationId xmlns:a16="http://schemas.microsoft.com/office/drawing/2014/main" id="{ACE2F6A0-C388-6CF2-DD83-1319B4148FF3}"/>
                </a:ext>
              </a:extLst>
            </p:cNvPr>
            <p:cNvSpPr/>
            <p:nvPr/>
          </p:nvSpPr>
          <p:spPr>
            <a:xfrm>
              <a:off x="2921498" y="4382115"/>
              <a:ext cx="1139889" cy="888392"/>
            </a:xfrm>
            <a:prstGeom prst="foldedCorner">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solidFill>
                </a:rPr>
                <a:t>USB host (PC) identify, assign address and configure USB device (USB Flash Disk)</a:t>
              </a:r>
            </a:p>
          </p:txBody>
        </p:sp>
        <p:cxnSp>
          <p:nvCxnSpPr>
            <p:cNvPr id="108" name="Connector: Curved 107">
              <a:extLst>
                <a:ext uri="{FF2B5EF4-FFF2-40B4-BE49-F238E27FC236}">
                  <a16:creationId xmlns:a16="http://schemas.microsoft.com/office/drawing/2014/main" id="{01FB1CD1-11B2-2BE7-C938-96EB05E4233B}"/>
                </a:ext>
              </a:extLst>
            </p:cNvPr>
            <p:cNvCxnSpPr>
              <a:cxnSpLocks/>
              <a:stCxn id="39" idx="3"/>
              <a:endCxn id="107" idx="1"/>
            </p:cNvCxnSpPr>
            <p:nvPr/>
          </p:nvCxnSpPr>
          <p:spPr>
            <a:xfrm>
              <a:off x="2279984" y="4081228"/>
              <a:ext cx="641514" cy="745083"/>
            </a:xfrm>
            <a:prstGeom prst="curvedConnector3">
              <a:avLst/>
            </a:prstGeom>
            <a:ln w="12700">
              <a:headEnd type="none" w="lg" len="lg"/>
              <a:tailEnd type="triangle"/>
            </a:ln>
          </p:spPr>
          <p:style>
            <a:lnRef idx="1">
              <a:schemeClr val="accent4"/>
            </a:lnRef>
            <a:fillRef idx="0">
              <a:schemeClr val="accent4"/>
            </a:fillRef>
            <a:effectRef idx="0">
              <a:schemeClr val="accent4"/>
            </a:effectRef>
            <a:fontRef idx="minor">
              <a:schemeClr val="tx1"/>
            </a:fontRef>
          </p:style>
        </p:cxnSp>
      </p:grpSp>
      <p:sp>
        <p:nvSpPr>
          <p:cNvPr id="112" name="TextBox 111">
            <a:extLst>
              <a:ext uri="{FF2B5EF4-FFF2-40B4-BE49-F238E27FC236}">
                <a16:creationId xmlns:a16="http://schemas.microsoft.com/office/drawing/2014/main" id="{9B0159E0-0661-1407-3731-D87654CEBAB7}"/>
              </a:ext>
            </a:extLst>
          </p:cNvPr>
          <p:cNvSpPr txBox="1"/>
          <p:nvPr/>
        </p:nvSpPr>
        <p:spPr>
          <a:xfrm>
            <a:off x="57243" y="874875"/>
            <a:ext cx="5069027" cy="461665"/>
          </a:xfrm>
          <a:prstGeom prst="rect">
            <a:avLst/>
          </a:prstGeom>
          <a:noFill/>
        </p:spPr>
        <p:txBody>
          <a:bodyPr wrap="square" rtlCol="0">
            <a:spAutoFit/>
          </a:bodyPr>
          <a:lstStyle/>
          <a:p>
            <a:r>
              <a:rPr lang="en-US" sz="1400" b="1" dirty="0">
                <a:solidFill>
                  <a:srgbClr val="0070C0"/>
                </a:solidFill>
              </a:rPr>
              <a:t>BareMetal mode : ST/NXP USB Library MSC Host class</a:t>
            </a:r>
          </a:p>
          <a:p>
            <a:r>
              <a:rPr lang="en-US" sz="1000" b="1" dirty="0">
                <a:solidFill>
                  <a:srgbClr val="002060"/>
                </a:solidFill>
              </a:rPr>
              <a:t>STM32U575xx (CM33) vs MCX-N9 XX (CM33)</a:t>
            </a:r>
          </a:p>
        </p:txBody>
      </p:sp>
      <p:sp>
        <p:nvSpPr>
          <p:cNvPr id="120" name="Rectangle 119">
            <a:extLst>
              <a:ext uri="{FF2B5EF4-FFF2-40B4-BE49-F238E27FC236}">
                <a16:creationId xmlns:a16="http://schemas.microsoft.com/office/drawing/2014/main" id="{3A998085-9BEA-CC7D-B0AC-4CB182B3D6DF}"/>
              </a:ext>
            </a:extLst>
          </p:cNvPr>
          <p:cNvSpPr/>
          <p:nvPr/>
        </p:nvSpPr>
        <p:spPr>
          <a:xfrm>
            <a:off x="120023" y="6267216"/>
            <a:ext cx="4904100" cy="47288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a:solidFill>
                  <a:schemeClr val="accent2"/>
                </a:solidFill>
              </a:rPr>
              <a:t>USB MSC Host class: </a:t>
            </a:r>
            <a:r>
              <a:rPr lang="fr-FR" sz="800">
                <a:solidFill>
                  <a:schemeClr val="tx1"/>
                </a:solidFill>
              </a:rPr>
              <a:t>USB </a:t>
            </a:r>
            <a:r>
              <a:rPr lang="en-US" sz="800" b="1">
                <a:solidFill>
                  <a:schemeClr val="tx1"/>
                </a:solidFill>
              </a:rPr>
              <a:t>mass storage Host class</a:t>
            </a:r>
            <a:r>
              <a:rPr lang="fr-FR" sz="800" b="1">
                <a:solidFill>
                  <a:schemeClr val="tx1"/>
                </a:solidFill>
              </a:rPr>
              <a:t> </a:t>
            </a:r>
            <a:r>
              <a:rPr lang="fr-FR" sz="800" err="1">
                <a:solidFill>
                  <a:schemeClr val="tx1"/>
                </a:solidFill>
              </a:rPr>
              <a:t>allows</a:t>
            </a:r>
            <a:r>
              <a:rPr lang="fr-FR" sz="800" b="1">
                <a:solidFill>
                  <a:schemeClr val="tx1"/>
                </a:solidFill>
              </a:rPr>
              <a:t> </a:t>
            </a:r>
            <a:r>
              <a:rPr lang="fr-FR" sz="800">
                <a:solidFill>
                  <a:schemeClr val="tx1"/>
                </a:solidFill>
              </a:rPr>
              <a:t>to configure MCU as an USB Host MSC and enables communication </a:t>
            </a:r>
            <a:r>
              <a:rPr lang="fr-FR" sz="800" err="1">
                <a:solidFill>
                  <a:schemeClr val="tx1"/>
                </a:solidFill>
              </a:rPr>
              <a:t>between</a:t>
            </a:r>
            <a:r>
              <a:rPr lang="fr-FR" sz="800">
                <a:solidFill>
                  <a:schemeClr val="tx1"/>
                </a:solidFill>
              </a:rPr>
              <a:t> MCU (host) and USB Flash </a:t>
            </a:r>
            <a:r>
              <a:rPr lang="fr-FR" sz="800" err="1">
                <a:solidFill>
                  <a:schemeClr val="tx1"/>
                </a:solidFill>
              </a:rPr>
              <a:t>disk</a:t>
            </a:r>
            <a:r>
              <a:rPr lang="fr-FR" sz="800">
                <a:solidFill>
                  <a:schemeClr val="tx1"/>
                </a:solidFill>
              </a:rPr>
              <a:t> (</a:t>
            </a:r>
            <a:r>
              <a:rPr lang="fr-FR" sz="800" err="1">
                <a:solidFill>
                  <a:schemeClr val="tx1"/>
                </a:solidFill>
              </a:rPr>
              <a:t>device</a:t>
            </a:r>
            <a:r>
              <a:rPr lang="fr-FR" sz="800">
                <a:solidFill>
                  <a:schemeClr val="tx1"/>
                </a:solidFill>
              </a:rPr>
              <a:t>)</a:t>
            </a:r>
          </a:p>
        </p:txBody>
      </p:sp>
      <p:graphicFrame>
        <p:nvGraphicFramePr>
          <p:cNvPr id="121" name="Table 120">
            <a:extLst>
              <a:ext uri="{FF2B5EF4-FFF2-40B4-BE49-F238E27FC236}">
                <a16:creationId xmlns:a16="http://schemas.microsoft.com/office/drawing/2014/main" id="{4E00A863-0158-10A6-4644-0E6803369BF0}"/>
              </a:ext>
            </a:extLst>
          </p:cNvPr>
          <p:cNvGraphicFramePr>
            <a:graphicFrameLocks noGrp="1"/>
          </p:cNvGraphicFramePr>
          <p:nvPr>
            <p:extLst>
              <p:ext uri="{D42A27DB-BD31-4B8C-83A1-F6EECF244321}">
                <p14:modId xmlns:p14="http://schemas.microsoft.com/office/powerpoint/2010/main" val="1496122460"/>
              </p:ext>
            </p:extLst>
          </p:nvPr>
        </p:nvGraphicFramePr>
        <p:xfrm>
          <a:off x="5237640" y="1392293"/>
          <a:ext cx="6478151" cy="947137"/>
        </p:xfrm>
        <a:graphic>
          <a:graphicData uri="http://schemas.openxmlformats.org/drawingml/2006/table">
            <a:tbl>
              <a:tblPr firstRow="1" bandRow="1">
                <a:tableStyleId>{EB344D84-9AFB-497E-A393-DC336BA19D2E}</a:tableStyleId>
              </a:tblPr>
              <a:tblGrid>
                <a:gridCol w="1246576">
                  <a:extLst>
                    <a:ext uri="{9D8B030D-6E8A-4147-A177-3AD203B41FA5}">
                      <a16:colId xmlns:a16="http://schemas.microsoft.com/office/drawing/2014/main" val="1473133747"/>
                    </a:ext>
                  </a:extLst>
                </a:gridCol>
                <a:gridCol w="1102951">
                  <a:extLst>
                    <a:ext uri="{9D8B030D-6E8A-4147-A177-3AD203B41FA5}">
                      <a16:colId xmlns:a16="http://schemas.microsoft.com/office/drawing/2014/main" val="4162598800"/>
                    </a:ext>
                  </a:extLst>
                </a:gridCol>
                <a:gridCol w="1286548">
                  <a:extLst>
                    <a:ext uri="{9D8B030D-6E8A-4147-A177-3AD203B41FA5}">
                      <a16:colId xmlns:a16="http://schemas.microsoft.com/office/drawing/2014/main" val="1196173778"/>
                    </a:ext>
                  </a:extLst>
                </a:gridCol>
                <a:gridCol w="1421038">
                  <a:extLst>
                    <a:ext uri="{9D8B030D-6E8A-4147-A177-3AD203B41FA5}">
                      <a16:colId xmlns:a16="http://schemas.microsoft.com/office/drawing/2014/main" val="2713348666"/>
                    </a:ext>
                  </a:extLst>
                </a:gridCol>
                <a:gridCol w="1421038">
                  <a:extLst>
                    <a:ext uri="{9D8B030D-6E8A-4147-A177-3AD203B41FA5}">
                      <a16:colId xmlns:a16="http://schemas.microsoft.com/office/drawing/2014/main" val="3566985419"/>
                    </a:ext>
                  </a:extLst>
                </a:gridCol>
              </a:tblGrid>
              <a:tr h="359817">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STM32U575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1200">
                          <a:solidFill>
                            <a:schemeClr val="lt1"/>
                          </a:solidFill>
                          <a:latin typeface="+mn-lt"/>
                          <a:ea typeface="+mn-ea"/>
                          <a:cs typeface="+mn-cs"/>
                        </a:rPr>
                        <a:t>MCX-N94X</a:t>
                      </a:r>
                    </a:p>
                  </a:txBody>
                  <a:tcPr/>
                </a:tc>
                <a:tc>
                  <a:txBody>
                    <a:bodyPr/>
                    <a:lstStyle/>
                    <a:p>
                      <a:pPr algn="ctr"/>
                      <a:r>
                        <a:rPr lang="en-US" sz="800" dirty="0"/>
                        <a:t>ST vs NXP</a:t>
                      </a:r>
                    </a:p>
                  </a:txBody>
                  <a:tcPr/>
                </a:tc>
                <a:tc>
                  <a:txBody>
                    <a:bodyPr/>
                    <a:lstStyle/>
                    <a:p>
                      <a:pPr algn="ctr"/>
                      <a:r>
                        <a:rPr lang="en-US" sz="800" dirty="0"/>
                        <a:t>Comment</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97373398"/>
                  </a:ext>
                </a:extLst>
              </a:tr>
              <a:tr h="260214">
                <a:tc>
                  <a:txBody>
                    <a:bodyPr/>
                    <a:lstStyle/>
                    <a:p>
                      <a:pPr algn="l"/>
                      <a:r>
                        <a:rPr lang="en-US" sz="800" b="1">
                          <a:solidFill>
                            <a:schemeClr val="tx1"/>
                          </a:solidFill>
                        </a:rPr>
                        <a:t>Initialize</a:t>
                      </a:r>
                      <a:endParaRPr lang="en-US" sz="8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112</a:t>
                      </a:r>
                    </a:p>
                  </a:txBody>
                  <a:tcPr/>
                </a:tc>
                <a:tc>
                  <a:txBody>
                    <a:bodyPr/>
                    <a:lstStyle/>
                    <a:p>
                      <a:pPr algn="ctr"/>
                      <a:r>
                        <a:rPr lang="en-US" sz="1000" dirty="0"/>
                        <a:t>100.03</a:t>
                      </a:r>
                    </a:p>
                  </a:txBody>
                  <a:tcPr/>
                </a:tc>
                <a:tc>
                  <a:txBody>
                    <a:bodyPr/>
                    <a:lstStyle/>
                    <a:p>
                      <a:pPr algn="ctr"/>
                      <a:r>
                        <a:rPr lang="en-US" sz="1000" b="1" dirty="0">
                          <a:solidFill>
                            <a:srgbClr val="FF0000"/>
                          </a:solidFill>
                        </a:rPr>
                        <a:t>+12%</a:t>
                      </a:r>
                    </a:p>
                  </a:txBody>
                  <a:tcPr/>
                </a:tc>
                <a:tc>
                  <a:txBody>
                    <a:bodyPr/>
                    <a:lstStyle/>
                    <a:p>
                      <a:pPr algn="ctr"/>
                      <a:endParaRPr lang="en-US" sz="800" b="1" dirty="0">
                        <a:solidFill>
                          <a:srgbClr val="FF0000"/>
                        </a:solidFill>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89852517"/>
                  </a:ext>
                </a:extLst>
              </a:tr>
              <a:tr h="327106">
                <a:tc>
                  <a:txBody>
                    <a:bodyPr/>
                    <a:lstStyle/>
                    <a:p>
                      <a:pPr lvl="0" algn="l">
                        <a:buNone/>
                      </a:pPr>
                      <a:r>
                        <a:rPr lang="en-US" sz="700" b="1" i="0" u="none" strike="noStrike" noProof="0">
                          <a:solidFill>
                            <a:schemeClr val="tx1"/>
                          </a:solidFill>
                          <a:latin typeface="Arial"/>
                        </a:rPr>
                        <a:t>Enumeration</a:t>
                      </a:r>
                      <a:endParaRPr lang="en-US"/>
                    </a:p>
                  </a:txBody>
                  <a:tcPr/>
                </a:tc>
                <a:tc>
                  <a:txBody>
                    <a:bodyPr/>
                    <a:lstStyle/>
                    <a:p>
                      <a:pPr algn="ctr"/>
                      <a:r>
                        <a:rPr lang="en-US" sz="1000" dirty="0"/>
                        <a:t>31</a:t>
                      </a:r>
                    </a:p>
                  </a:txBody>
                  <a:tcPr/>
                </a:tc>
                <a:tc>
                  <a:txBody>
                    <a:bodyPr/>
                    <a:lstStyle/>
                    <a:p>
                      <a:pPr algn="ctr"/>
                      <a:r>
                        <a:rPr lang="en-US" sz="1000"/>
                        <a:t>38</a:t>
                      </a:r>
                    </a:p>
                  </a:txBody>
                  <a:tcPr/>
                </a:tc>
                <a:tc>
                  <a:txBody>
                    <a:bodyPr/>
                    <a:lstStyle/>
                    <a:p>
                      <a:pPr algn="ctr"/>
                      <a:r>
                        <a:rPr lang="fr-FR" sz="1000" b="1" dirty="0">
                          <a:solidFill>
                            <a:srgbClr val="00B050"/>
                          </a:solidFill>
                        </a:rPr>
                        <a:t>-18%</a:t>
                      </a:r>
                      <a:endParaRPr lang="en-US" sz="1000" b="1" dirty="0">
                        <a:solidFill>
                          <a:srgbClr val="00B050"/>
                        </a:solidFill>
                      </a:endParaRPr>
                    </a:p>
                  </a:txBody>
                  <a:tcPr/>
                </a:tc>
                <a:tc>
                  <a:txBody>
                    <a:bodyPr/>
                    <a:lstStyle/>
                    <a:p>
                      <a:pPr algn="ctr"/>
                      <a:endParaRPr lang="en-US" sz="800" b="1" dirty="0">
                        <a:solidFill>
                          <a:srgbClr val="00B050"/>
                        </a:solidFill>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65877290"/>
                  </a:ext>
                </a:extLst>
              </a:tr>
            </a:tbl>
          </a:graphicData>
        </a:graphic>
      </p:graphicFrame>
      <p:sp>
        <p:nvSpPr>
          <p:cNvPr id="122" name="TextBox 121">
            <a:extLst>
              <a:ext uri="{FF2B5EF4-FFF2-40B4-BE49-F238E27FC236}">
                <a16:creationId xmlns:a16="http://schemas.microsoft.com/office/drawing/2014/main" id="{CCFC3705-22C6-961B-5AA1-C79EF53BCAF5}"/>
              </a:ext>
            </a:extLst>
          </p:cNvPr>
          <p:cNvSpPr txBox="1"/>
          <p:nvPr/>
        </p:nvSpPr>
        <p:spPr>
          <a:xfrm>
            <a:off x="5157688" y="1003934"/>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a:t>
            </a:r>
            <a:r>
              <a:rPr lang="en-US" sz="1000" b="1" err="1">
                <a:solidFill>
                  <a:schemeClr val="accent2"/>
                </a:solidFill>
              </a:rPr>
              <a:t>ms</a:t>
            </a:r>
            <a:r>
              <a:rPr lang="en-US" sz="1000" b="1">
                <a:solidFill>
                  <a:schemeClr val="accent2"/>
                </a:solidFill>
              </a:rPr>
              <a:t>)</a:t>
            </a:r>
          </a:p>
        </p:txBody>
      </p:sp>
      <p:graphicFrame>
        <p:nvGraphicFramePr>
          <p:cNvPr id="123" name="Table 122">
            <a:extLst>
              <a:ext uri="{FF2B5EF4-FFF2-40B4-BE49-F238E27FC236}">
                <a16:creationId xmlns:a16="http://schemas.microsoft.com/office/drawing/2014/main" id="{2D80A3BE-604A-FF5A-9656-E3C6E12C3989}"/>
              </a:ext>
            </a:extLst>
          </p:cNvPr>
          <p:cNvGraphicFramePr>
            <a:graphicFrameLocks noGrp="1"/>
          </p:cNvGraphicFramePr>
          <p:nvPr>
            <p:extLst>
              <p:ext uri="{D42A27DB-BD31-4B8C-83A1-F6EECF244321}">
                <p14:modId xmlns:p14="http://schemas.microsoft.com/office/powerpoint/2010/main" val="2966205664"/>
              </p:ext>
            </p:extLst>
          </p:nvPr>
        </p:nvGraphicFramePr>
        <p:xfrm>
          <a:off x="5172953" y="3949989"/>
          <a:ext cx="6475721" cy="1053871"/>
        </p:xfrm>
        <a:graphic>
          <a:graphicData uri="http://schemas.openxmlformats.org/drawingml/2006/table">
            <a:tbl>
              <a:tblPr firstRow="1" bandRow="1">
                <a:tableStyleId>{EB344D84-9AFB-497E-A393-DC336BA19D2E}</a:tableStyleId>
              </a:tblPr>
              <a:tblGrid>
                <a:gridCol w="1104179">
                  <a:extLst>
                    <a:ext uri="{9D8B030D-6E8A-4147-A177-3AD203B41FA5}">
                      <a16:colId xmlns:a16="http://schemas.microsoft.com/office/drawing/2014/main" val="1473133747"/>
                    </a:ext>
                  </a:extLst>
                </a:gridCol>
                <a:gridCol w="1455478">
                  <a:extLst>
                    <a:ext uri="{9D8B030D-6E8A-4147-A177-3AD203B41FA5}">
                      <a16:colId xmlns:a16="http://schemas.microsoft.com/office/drawing/2014/main" val="4162598800"/>
                    </a:ext>
                  </a:extLst>
                </a:gridCol>
                <a:gridCol w="1059012">
                  <a:extLst>
                    <a:ext uri="{9D8B030D-6E8A-4147-A177-3AD203B41FA5}">
                      <a16:colId xmlns:a16="http://schemas.microsoft.com/office/drawing/2014/main" val="1196173778"/>
                    </a:ext>
                  </a:extLst>
                </a:gridCol>
                <a:gridCol w="1428526">
                  <a:extLst>
                    <a:ext uri="{9D8B030D-6E8A-4147-A177-3AD203B41FA5}">
                      <a16:colId xmlns:a16="http://schemas.microsoft.com/office/drawing/2014/main" val="2713348666"/>
                    </a:ext>
                  </a:extLst>
                </a:gridCol>
                <a:gridCol w="1428526">
                  <a:extLst>
                    <a:ext uri="{9D8B030D-6E8A-4147-A177-3AD203B41FA5}">
                      <a16:colId xmlns:a16="http://schemas.microsoft.com/office/drawing/2014/main" val="2568987372"/>
                    </a:ext>
                  </a:extLst>
                </a:gridCol>
              </a:tblGrid>
              <a:tr h="23338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STM32U575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1200">
                          <a:solidFill>
                            <a:schemeClr val="lt1"/>
                          </a:solidFill>
                          <a:latin typeface="+mn-lt"/>
                          <a:ea typeface="+mn-ea"/>
                          <a:cs typeface="+mn-cs"/>
                        </a:rPr>
                        <a:t>MCX-N94X</a:t>
                      </a:r>
                    </a:p>
                  </a:txBody>
                  <a:tcPr/>
                </a:tc>
                <a:tc>
                  <a:txBody>
                    <a:bodyPr/>
                    <a:lstStyle/>
                    <a:p>
                      <a:pPr algn="ctr"/>
                      <a:r>
                        <a:rPr lang="en-US" sz="800" dirty="0"/>
                        <a:t>ST vs NXP</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t>Comment</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97373398"/>
                  </a:ext>
                </a:extLst>
              </a:tr>
              <a:tr h="168783">
                <a:tc>
                  <a:txBody>
                    <a:bodyPr/>
                    <a:lstStyle/>
                    <a:p>
                      <a:pPr algn="l"/>
                      <a:r>
                        <a:rPr lang="en-US" sz="700" b="1" dirty="0">
                          <a:solidFill>
                            <a:schemeClr val="tx1"/>
                          </a:solidFill>
                        </a:rPr>
                        <a:t>ROM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35025</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26177</a:t>
                      </a: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dirty="0">
                          <a:solidFill>
                            <a:srgbClr val="FF0000"/>
                          </a:solidFill>
                          <a:latin typeface="+mn-lt"/>
                          <a:ea typeface="+mn-ea"/>
                          <a:cs typeface="+mn-cs"/>
                        </a:rPr>
                        <a:t>+33.80%</a:t>
                      </a:r>
                    </a:p>
                  </a:txBody>
                  <a:tcPr marL="0" marR="0" marT="0" marB="0" anchor="ctr"/>
                </a:tc>
                <a:tc rowSpan="3">
                  <a:txBody>
                    <a:bodyPr/>
                    <a:lstStyle/>
                    <a:p>
                      <a:pPr algn="l"/>
                      <a:r>
                        <a:rPr lang="en-US" sz="1000" dirty="0"/>
                        <a:t>* STM32 RCC Clock config 7184 bytes</a:t>
                      </a:r>
                    </a:p>
                    <a:p>
                      <a:pPr algn="l"/>
                      <a:r>
                        <a:rPr lang="en-US" sz="1000" dirty="0"/>
                        <a:t>* FSL clock config 1705 bytes</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5877290"/>
                  </a:ext>
                </a:extLst>
              </a:tr>
              <a:tr h="241362">
                <a:tc>
                  <a:txBody>
                    <a:bodyPr/>
                    <a:lstStyle/>
                    <a:p>
                      <a:pPr algn="l"/>
                      <a:r>
                        <a:rPr lang="en-US" sz="700" b="1" dirty="0">
                          <a:solidFill>
                            <a:schemeClr val="tx1"/>
                          </a:solidFill>
                        </a:rPr>
                        <a:t>RAM*</a:t>
                      </a:r>
                      <a:endParaRPr lang="en-US" sz="700" dirty="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13556</a:t>
                      </a:r>
                    </a:p>
                  </a:txBody>
                  <a:tcPr marL="0" marR="0" marT="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11859</a:t>
                      </a:r>
                    </a:p>
                  </a:txBody>
                  <a:tcPr marL="0" marR="0" marT="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dirty="0">
                          <a:solidFill>
                            <a:srgbClr val="FF0000"/>
                          </a:solidFill>
                          <a:latin typeface="+mn-lt"/>
                          <a:ea typeface="+mn-ea"/>
                          <a:cs typeface="+mn-cs"/>
                        </a:rPr>
                        <a:t>+14.31%</a:t>
                      </a:r>
                    </a:p>
                  </a:txBody>
                  <a:tcPr marL="0" marR="0" marT="0" marB="0" anchor="ctr">
                    <a:lnB w="12700" cap="flat" cmpd="sng" algn="ctr">
                      <a:solidFill>
                        <a:schemeClr val="tx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1" kern="1200" dirty="0">
                        <a:solidFill>
                          <a:srgbClr val="FF0000"/>
                        </a:solidFill>
                        <a:latin typeface="+mn-lt"/>
                        <a:ea typeface="+mn-ea"/>
                        <a:cs typeface="+mn-cs"/>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12171">
                <a:tc>
                  <a:txBody>
                    <a:bodyPr/>
                    <a:lstStyle/>
                    <a:p>
                      <a:pPr algn="l"/>
                      <a:r>
                        <a:rPr lang="en-US" sz="800" b="1">
                          <a:solidFill>
                            <a:schemeClr val="tx1"/>
                          </a:solidFill>
                        </a:rPr>
                        <a:t>Total</a:t>
                      </a:r>
                      <a:endParaRPr lang="en-US" sz="80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t>48,581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000" b="1" kern="1200" dirty="0">
                          <a:solidFill>
                            <a:schemeClr val="dk1"/>
                          </a:solidFill>
                          <a:latin typeface="+mn-lt"/>
                          <a:ea typeface="+mn-ea"/>
                          <a:cs typeface="+mn-cs"/>
                        </a:rPr>
                        <a:t>38,036</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kern="1200" dirty="0">
                        <a:solidFill>
                          <a:schemeClr val="dk1"/>
                        </a:solidFill>
                        <a:latin typeface="+mn-lt"/>
                        <a:ea typeface="+mn-ea"/>
                        <a:cs typeface="+mn-cs"/>
                      </a:endParaRPr>
                    </a:p>
                  </a:txBody>
                  <a:tcPr marL="0" marR="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rgbClr val="FF0000"/>
                          </a:solidFill>
                        </a:rPr>
                        <a:t>+27.72%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US" sz="800" b="1" dirty="0">
                        <a:solidFill>
                          <a:srgbClr val="FF0000"/>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24" name="TextBox 123">
            <a:extLst>
              <a:ext uri="{FF2B5EF4-FFF2-40B4-BE49-F238E27FC236}">
                <a16:creationId xmlns:a16="http://schemas.microsoft.com/office/drawing/2014/main" id="{D1E011D6-8509-C13C-7035-97BDFB6F3071}"/>
              </a:ext>
            </a:extLst>
          </p:cNvPr>
          <p:cNvSpPr txBox="1"/>
          <p:nvPr/>
        </p:nvSpPr>
        <p:spPr>
          <a:xfrm>
            <a:off x="5172954" y="3549390"/>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dirty="0">
                <a:solidFill>
                  <a:schemeClr val="accent2"/>
                </a:solidFill>
              </a:rPr>
              <a:t>Footprint (Bytes)</a:t>
            </a:r>
          </a:p>
        </p:txBody>
      </p:sp>
      <p:sp>
        <p:nvSpPr>
          <p:cNvPr id="126" name="TextBox 125">
            <a:extLst>
              <a:ext uri="{FF2B5EF4-FFF2-40B4-BE49-F238E27FC236}">
                <a16:creationId xmlns:a16="http://schemas.microsoft.com/office/drawing/2014/main" id="{F340EF2F-1041-2940-A812-DA30BD594127}"/>
              </a:ext>
            </a:extLst>
          </p:cNvPr>
          <p:cNvSpPr txBox="1"/>
          <p:nvPr/>
        </p:nvSpPr>
        <p:spPr>
          <a:xfrm>
            <a:off x="5145913" y="2322895"/>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fr-FR" sz="1000" b="1" dirty="0" err="1">
                <a:solidFill>
                  <a:schemeClr val="accent2"/>
                </a:solidFill>
              </a:rPr>
              <a:t>Throughput</a:t>
            </a:r>
            <a:r>
              <a:rPr lang="fr-FR" sz="1000" b="1" dirty="0">
                <a:solidFill>
                  <a:schemeClr val="accent2"/>
                </a:solidFill>
              </a:rPr>
              <a:t> (KB/s)</a:t>
            </a:r>
            <a:endParaRPr lang="en-US" sz="1000" b="1" dirty="0">
              <a:solidFill>
                <a:schemeClr val="accent2"/>
              </a:solidFill>
            </a:endParaRPr>
          </a:p>
        </p:txBody>
      </p:sp>
      <p:cxnSp>
        <p:nvCxnSpPr>
          <p:cNvPr id="127" name="Straight Connector 126">
            <a:extLst>
              <a:ext uri="{FF2B5EF4-FFF2-40B4-BE49-F238E27FC236}">
                <a16:creationId xmlns:a16="http://schemas.microsoft.com/office/drawing/2014/main" id="{81544274-34B3-2E04-11E3-B9938C699F31}"/>
              </a:ext>
            </a:extLst>
          </p:cNvPr>
          <p:cNvCxnSpPr>
            <a:cxnSpLocks/>
          </p:cNvCxnSpPr>
          <p:nvPr/>
        </p:nvCxnSpPr>
        <p:spPr>
          <a:xfrm flipH="1" flipV="1">
            <a:off x="5113138" y="1025134"/>
            <a:ext cx="13133" cy="5613687"/>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sp>
        <p:nvSpPr>
          <p:cNvPr id="128" name="TextBox 127">
            <a:extLst>
              <a:ext uri="{FF2B5EF4-FFF2-40B4-BE49-F238E27FC236}">
                <a16:creationId xmlns:a16="http://schemas.microsoft.com/office/drawing/2014/main" id="{4107CB97-5F30-6795-F334-A1BAA52A628E}"/>
              </a:ext>
            </a:extLst>
          </p:cNvPr>
          <p:cNvSpPr txBox="1"/>
          <p:nvPr/>
        </p:nvSpPr>
        <p:spPr>
          <a:xfrm>
            <a:off x="5155095" y="1182651"/>
            <a:ext cx="3072450" cy="215444"/>
          </a:xfrm>
          <a:prstGeom prst="rect">
            <a:avLst/>
          </a:prstGeom>
          <a:noFill/>
        </p:spPr>
        <p:txBody>
          <a:bodyPr wrap="square">
            <a:spAutoFit/>
          </a:bodyPr>
          <a:lstStyle/>
          <a:p>
            <a:r>
              <a:rPr lang="en-US" sz="800" b="1">
                <a:solidFill>
                  <a:srgbClr val="002060"/>
                </a:solidFill>
              </a:rPr>
              <a:t>STM32U575xx (CM33) vs MCX-N9 XX (CM33): USB FS </a:t>
            </a:r>
          </a:p>
        </p:txBody>
      </p:sp>
      <p:sp>
        <p:nvSpPr>
          <p:cNvPr id="132" name="TextBox 131">
            <a:extLst>
              <a:ext uri="{FF2B5EF4-FFF2-40B4-BE49-F238E27FC236}">
                <a16:creationId xmlns:a16="http://schemas.microsoft.com/office/drawing/2014/main" id="{0EC46AEB-F106-9AB7-8688-550E4CD737FF}"/>
              </a:ext>
            </a:extLst>
          </p:cNvPr>
          <p:cNvSpPr txBox="1"/>
          <p:nvPr/>
        </p:nvSpPr>
        <p:spPr>
          <a:xfrm>
            <a:off x="5123558" y="2539234"/>
            <a:ext cx="3072450" cy="215444"/>
          </a:xfrm>
          <a:prstGeom prst="rect">
            <a:avLst/>
          </a:prstGeom>
          <a:noFill/>
        </p:spPr>
        <p:txBody>
          <a:bodyPr wrap="square">
            <a:spAutoFit/>
          </a:bodyPr>
          <a:lstStyle/>
          <a:p>
            <a:r>
              <a:rPr lang="en-US" sz="800" b="1">
                <a:solidFill>
                  <a:srgbClr val="002060"/>
                </a:solidFill>
              </a:rPr>
              <a:t>STM32U575xx (CM33) vs MCX-9 XX (CM33): USB FS </a:t>
            </a:r>
          </a:p>
        </p:txBody>
      </p:sp>
      <p:graphicFrame>
        <p:nvGraphicFramePr>
          <p:cNvPr id="135" name="Table 134">
            <a:extLst>
              <a:ext uri="{FF2B5EF4-FFF2-40B4-BE49-F238E27FC236}">
                <a16:creationId xmlns:a16="http://schemas.microsoft.com/office/drawing/2014/main" id="{6D455F38-4E08-A07F-5B52-B90F2D7E06E3}"/>
              </a:ext>
            </a:extLst>
          </p:cNvPr>
          <p:cNvGraphicFramePr>
            <a:graphicFrameLocks noGrp="1"/>
          </p:cNvGraphicFramePr>
          <p:nvPr>
            <p:extLst>
              <p:ext uri="{D42A27DB-BD31-4B8C-83A1-F6EECF244321}">
                <p14:modId xmlns:p14="http://schemas.microsoft.com/office/powerpoint/2010/main" val="2880316807"/>
              </p:ext>
            </p:extLst>
          </p:nvPr>
        </p:nvGraphicFramePr>
        <p:xfrm>
          <a:off x="5237639" y="2814442"/>
          <a:ext cx="6475722" cy="707745"/>
        </p:xfrm>
        <a:graphic>
          <a:graphicData uri="http://schemas.openxmlformats.org/drawingml/2006/table">
            <a:tbl>
              <a:tblPr firstRow="1" bandRow="1">
                <a:tableStyleId>{EB344D84-9AFB-497E-A393-DC336BA19D2E}</a:tableStyleId>
              </a:tblPr>
              <a:tblGrid>
                <a:gridCol w="1123554">
                  <a:extLst>
                    <a:ext uri="{9D8B030D-6E8A-4147-A177-3AD203B41FA5}">
                      <a16:colId xmlns:a16="http://schemas.microsoft.com/office/drawing/2014/main" val="1473133747"/>
                    </a:ext>
                  </a:extLst>
                </a:gridCol>
                <a:gridCol w="1225093">
                  <a:extLst>
                    <a:ext uri="{9D8B030D-6E8A-4147-A177-3AD203B41FA5}">
                      <a16:colId xmlns:a16="http://schemas.microsoft.com/office/drawing/2014/main" val="4162598800"/>
                    </a:ext>
                  </a:extLst>
                </a:gridCol>
                <a:gridCol w="1286065">
                  <a:extLst>
                    <a:ext uri="{9D8B030D-6E8A-4147-A177-3AD203B41FA5}">
                      <a16:colId xmlns:a16="http://schemas.microsoft.com/office/drawing/2014/main" val="1196173778"/>
                    </a:ext>
                  </a:extLst>
                </a:gridCol>
                <a:gridCol w="1420505">
                  <a:extLst>
                    <a:ext uri="{9D8B030D-6E8A-4147-A177-3AD203B41FA5}">
                      <a16:colId xmlns:a16="http://schemas.microsoft.com/office/drawing/2014/main" val="2713348666"/>
                    </a:ext>
                  </a:extLst>
                </a:gridCol>
                <a:gridCol w="1420505">
                  <a:extLst>
                    <a:ext uri="{9D8B030D-6E8A-4147-A177-3AD203B41FA5}">
                      <a16:colId xmlns:a16="http://schemas.microsoft.com/office/drawing/2014/main" val="938628583"/>
                    </a:ext>
                  </a:extLst>
                </a:gridCol>
              </a:tblGrid>
              <a:tr h="220065">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STM32U575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1200">
                          <a:solidFill>
                            <a:schemeClr val="lt1"/>
                          </a:solidFill>
                          <a:latin typeface="+mn-lt"/>
                          <a:ea typeface="+mn-ea"/>
                          <a:cs typeface="+mn-cs"/>
                        </a:rPr>
                        <a:t>MCX-N94X</a:t>
                      </a:r>
                    </a:p>
                  </a:txBody>
                  <a:tcPr/>
                </a:tc>
                <a:tc>
                  <a:txBody>
                    <a:bodyPr/>
                    <a:lstStyle/>
                    <a:p>
                      <a:pPr algn="ctr"/>
                      <a:r>
                        <a:rPr lang="en-US" sz="800" dirty="0"/>
                        <a:t>ST vs NXP</a:t>
                      </a:r>
                    </a:p>
                  </a:txBody>
                  <a:tcPr/>
                </a:tc>
                <a:tc>
                  <a:txBody>
                    <a:bodyPr/>
                    <a:lstStyle/>
                    <a:p>
                      <a:pPr algn="ctr"/>
                      <a:r>
                        <a:rPr lang="en-US" sz="800" dirty="0"/>
                        <a:t>Comment</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97373398"/>
                  </a:ext>
                </a:extLst>
              </a:tr>
              <a:tr h="220065">
                <a:tc>
                  <a:txBody>
                    <a:bodyPr/>
                    <a:lstStyle/>
                    <a:p>
                      <a:pPr algn="l"/>
                      <a:r>
                        <a:rPr lang="en-US" sz="800" b="1">
                          <a:solidFill>
                            <a:schemeClr val="tx1"/>
                          </a:solidFill>
                        </a:rPr>
                        <a:t>Write</a:t>
                      </a:r>
                      <a:endParaRPr lang="en-US" sz="8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911</a:t>
                      </a:r>
                    </a:p>
                  </a:txBody>
                  <a:tcPr/>
                </a:tc>
                <a:tc>
                  <a:txBody>
                    <a:bodyPr/>
                    <a:lstStyle/>
                    <a:p>
                      <a:pPr algn="ctr"/>
                      <a:r>
                        <a:rPr lang="en-US" sz="1000" dirty="0"/>
                        <a:t>936</a:t>
                      </a:r>
                    </a:p>
                  </a:txBody>
                  <a:tcPr/>
                </a:tc>
                <a:tc>
                  <a:txBody>
                    <a:bodyPr/>
                    <a:lstStyle/>
                    <a:p>
                      <a:pPr algn="ctr"/>
                      <a:r>
                        <a:rPr lang="en-US" sz="1000" b="1" dirty="0">
                          <a:solidFill>
                            <a:srgbClr val="FF0000"/>
                          </a:solidFill>
                        </a:rPr>
                        <a:t>-2.7%</a:t>
                      </a:r>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Throughput: the higher the better</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89852517"/>
                  </a:ext>
                </a:extLst>
              </a:tr>
              <a:tr h="220065">
                <a:tc>
                  <a:txBody>
                    <a:bodyPr/>
                    <a:lstStyle/>
                    <a:p>
                      <a:pPr algn="l"/>
                      <a:r>
                        <a:rPr lang="en-US" sz="800" b="1">
                          <a:solidFill>
                            <a:schemeClr val="tx1"/>
                          </a:solidFill>
                        </a:rPr>
                        <a:t>Read</a:t>
                      </a:r>
                      <a:endParaRPr lang="en-US" sz="800">
                        <a:solidFill>
                          <a:schemeClr val="tx1"/>
                        </a:solidFill>
                      </a:endParaRPr>
                    </a:p>
                  </a:txBody>
                  <a:tcPr/>
                </a:tc>
                <a:tc>
                  <a:txBody>
                    <a:bodyPr/>
                    <a:lstStyle/>
                    <a:p>
                      <a:pPr algn="ctr"/>
                      <a:r>
                        <a:rPr lang="en-US" sz="1000" dirty="0"/>
                        <a:t>951</a:t>
                      </a:r>
                    </a:p>
                  </a:txBody>
                  <a:tcPr/>
                </a:tc>
                <a:tc>
                  <a:txBody>
                    <a:bodyPr/>
                    <a:lstStyle/>
                    <a:p>
                      <a:pPr algn="ctr"/>
                      <a:r>
                        <a:rPr lang="en-US" sz="1000" dirty="0"/>
                        <a:t>982</a:t>
                      </a:r>
                    </a:p>
                  </a:txBody>
                  <a:tcPr/>
                </a:tc>
                <a:tc>
                  <a:txBody>
                    <a:bodyPr/>
                    <a:lstStyle/>
                    <a:p>
                      <a:pPr algn="ctr"/>
                      <a:r>
                        <a:rPr lang="fr-FR" sz="1000" b="1" dirty="0">
                          <a:solidFill>
                            <a:srgbClr val="FF0000"/>
                          </a:solidFill>
                        </a:rPr>
                        <a:t>-3%</a:t>
                      </a:r>
                      <a:endParaRPr lang="en-US" sz="1000" b="1" dirty="0">
                        <a:solidFill>
                          <a:srgbClr val="FF0000"/>
                        </a:solidFill>
                      </a:endParaRPr>
                    </a:p>
                  </a:txBody>
                  <a:tcPr/>
                </a:tc>
                <a:tc vMerge="1">
                  <a:txBody>
                    <a:bodyPr/>
                    <a:lstStyle/>
                    <a:p>
                      <a:pPr algn="ctr"/>
                      <a:endParaRPr lang="en-US" sz="800" b="1" dirty="0">
                        <a:solidFill>
                          <a:srgbClr val="FF0000"/>
                        </a:solidFill>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65877290"/>
                  </a:ext>
                </a:extLst>
              </a:tr>
            </a:tbl>
          </a:graphicData>
        </a:graphic>
      </p:graphicFrame>
      <p:sp>
        <p:nvSpPr>
          <p:cNvPr id="136" name="TextBox 135">
            <a:extLst>
              <a:ext uri="{FF2B5EF4-FFF2-40B4-BE49-F238E27FC236}">
                <a16:creationId xmlns:a16="http://schemas.microsoft.com/office/drawing/2014/main" id="{0CAB419F-CA17-22E4-86CB-626018CDE2BC}"/>
              </a:ext>
            </a:extLst>
          </p:cNvPr>
          <p:cNvSpPr txBox="1"/>
          <p:nvPr/>
        </p:nvSpPr>
        <p:spPr>
          <a:xfrm>
            <a:off x="5145913" y="3727612"/>
            <a:ext cx="3600160" cy="215444"/>
          </a:xfrm>
          <a:prstGeom prst="rect">
            <a:avLst/>
          </a:prstGeom>
          <a:noFill/>
        </p:spPr>
        <p:txBody>
          <a:bodyPr wrap="square">
            <a:spAutoFit/>
          </a:bodyPr>
          <a:lstStyle/>
          <a:p>
            <a:r>
              <a:rPr lang="en-US" sz="800" b="1" dirty="0">
                <a:solidFill>
                  <a:srgbClr val="002060"/>
                </a:solidFill>
              </a:rPr>
              <a:t>STM32U575xx (CM33) vs MCX-N9 XX (CM33): USB FS/ </a:t>
            </a:r>
            <a:r>
              <a:rPr lang="en-US" sz="800" b="1" dirty="0">
                <a:solidFill>
                  <a:srgbClr val="FF0000"/>
                </a:solidFill>
              </a:rPr>
              <a:t>with RCC </a:t>
            </a:r>
          </a:p>
        </p:txBody>
      </p:sp>
      <p:sp>
        <p:nvSpPr>
          <p:cNvPr id="26" name="Title 2">
            <a:extLst>
              <a:ext uri="{FF2B5EF4-FFF2-40B4-BE49-F238E27FC236}">
                <a16:creationId xmlns:a16="http://schemas.microsoft.com/office/drawing/2014/main" id="{EDC1A3E1-8CD6-58D8-05C3-79D9591CFD40}"/>
              </a:ext>
            </a:extLst>
          </p:cNvPr>
          <p:cNvSpPr>
            <a:spLocks noGrp="1"/>
          </p:cNvSpPr>
          <p:nvPr>
            <p:ph type="title"/>
          </p:nvPr>
        </p:nvSpPr>
        <p:spPr>
          <a:xfrm>
            <a:off x="300037" y="-1"/>
            <a:ext cx="11609159" cy="1304925"/>
          </a:xfrm>
        </p:spPr>
        <p:txBody>
          <a:bodyPr/>
          <a:lstStyle/>
          <a:p>
            <a:r>
              <a:rPr lang="en-US" dirty="0"/>
              <a:t>ST Competitors MW Benchmark: USB</a:t>
            </a:r>
            <a:br>
              <a:rPr lang="en-US" b="1" dirty="0"/>
            </a:br>
            <a:r>
              <a:rPr lang="en-US" sz="2400" b="1" dirty="0">
                <a:solidFill>
                  <a:schemeClr val="accent2"/>
                </a:solidFill>
              </a:rPr>
              <a:t>ST vs NXP Flowcharts | Tests</a:t>
            </a:r>
            <a:br>
              <a:rPr lang="en-US" sz="2400" b="1" dirty="0">
                <a:solidFill>
                  <a:schemeClr val="accent2"/>
                </a:solidFill>
              </a:rPr>
            </a:br>
            <a:endParaRPr lang="en-US" sz="2400" b="1" dirty="0">
              <a:solidFill>
                <a:schemeClr val="accent2"/>
              </a:solidFill>
            </a:endParaRPr>
          </a:p>
        </p:txBody>
      </p:sp>
      <p:sp>
        <p:nvSpPr>
          <p:cNvPr id="5" name="Slide Number Placeholder 4">
            <a:extLst>
              <a:ext uri="{FF2B5EF4-FFF2-40B4-BE49-F238E27FC236}">
                <a16:creationId xmlns:a16="http://schemas.microsoft.com/office/drawing/2014/main" id="{D7819180-2851-77D4-7645-8046656F0A5E}"/>
              </a:ext>
            </a:extLst>
          </p:cNvPr>
          <p:cNvSpPr>
            <a:spLocks noGrp="1"/>
          </p:cNvSpPr>
          <p:nvPr>
            <p:ph type="sldNum" sz="quarter" idx="12"/>
          </p:nvPr>
        </p:nvSpPr>
        <p:spPr/>
        <p:txBody>
          <a:bodyPr/>
          <a:lstStyle/>
          <a:p>
            <a:fld id="{40A7B169-58CE-4E65-B1F9-ACF9E46440C2}" type="slidenum">
              <a:rPr lang="en-US" smtClean="0"/>
              <a:t>24</a:t>
            </a:fld>
            <a:endParaRPr lang="en-US"/>
          </a:p>
        </p:txBody>
      </p:sp>
      <p:graphicFrame>
        <p:nvGraphicFramePr>
          <p:cNvPr id="33" name="Table 32">
            <a:extLst>
              <a:ext uri="{FF2B5EF4-FFF2-40B4-BE49-F238E27FC236}">
                <a16:creationId xmlns:a16="http://schemas.microsoft.com/office/drawing/2014/main" id="{7AF352C2-3E4F-D650-AC0E-C026FC894245}"/>
              </a:ext>
            </a:extLst>
          </p:cNvPr>
          <p:cNvGraphicFramePr>
            <a:graphicFrameLocks noGrp="1"/>
          </p:cNvGraphicFramePr>
          <p:nvPr>
            <p:extLst>
              <p:ext uri="{D42A27DB-BD31-4B8C-83A1-F6EECF244321}">
                <p14:modId xmlns:p14="http://schemas.microsoft.com/office/powerpoint/2010/main" val="3767101922"/>
              </p:ext>
            </p:extLst>
          </p:nvPr>
        </p:nvGraphicFramePr>
        <p:xfrm>
          <a:off x="5188844" y="5321425"/>
          <a:ext cx="6475721" cy="1086829"/>
        </p:xfrm>
        <a:graphic>
          <a:graphicData uri="http://schemas.openxmlformats.org/drawingml/2006/table">
            <a:tbl>
              <a:tblPr firstRow="1" bandRow="1">
                <a:tableStyleId>{EB344D84-9AFB-497E-A393-DC336BA19D2E}</a:tableStyleId>
              </a:tblPr>
              <a:tblGrid>
                <a:gridCol w="1104179">
                  <a:extLst>
                    <a:ext uri="{9D8B030D-6E8A-4147-A177-3AD203B41FA5}">
                      <a16:colId xmlns:a16="http://schemas.microsoft.com/office/drawing/2014/main" val="1473133747"/>
                    </a:ext>
                  </a:extLst>
                </a:gridCol>
                <a:gridCol w="1455478">
                  <a:extLst>
                    <a:ext uri="{9D8B030D-6E8A-4147-A177-3AD203B41FA5}">
                      <a16:colId xmlns:a16="http://schemas.microsoft.com/office/drawing/2014/main" val="4162598800"/>
                    </a:ext>
                  </a:extLst>
                </a:gridCol>
                <a:gridCol w="1059012">
                  <a:extLst>
                    <a:ext uri="{9D8B030D-6E8A-4147-A177-3AD203B41FA5}">
                      <a16:colId xmlns:a16="http://schemas.microsoft.com/office/drawing/2014/main" val="1196173778"/>
                    </a:ext>
                  </a:extLst>
                </a:gridCol>
                <a:gridCol w="1428526">
                  <a:extLst>
                    <a:ext uri="{9D8B030D-6E8A-4147-A177-3AD203B41FA5}">
                      <a16:colId xmlns:a16="http://schemas.microsoft.com/office/drawing/2014/main" val="2713348666"/>
                    </a:ext>
                  </a:extLst>
                </a:gridCol>
                <a:gridCol w="1428526">
                  <a:extLst>
                    <a:ext uri="{9D8B030D-6E8A-4147-A177-3AD203B41FA5}">
                      <a16:colId xmlns:a16="http://schemas.microsoft.com/office/drawing/2014/main" val="2568987372"/>
                    </a:ext>
                  </a:extLst>
                </a:gridCol>
              </a:tblGrid>
              <a:tr h="23338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STM32U575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kern="1200">
                          <a:solidFill>
                            <a:schemeClr val="lt1"/>
                          </a:solidFill>
                          <a:latin typeface="+mn-lt"/>
                          <a:ea typeface="+mn-ea"/>
                          <a:cs typeface="+mn-cs"/>
                        </a:rPr>
                        <a:t>MCX-N94X</a:t>
                      </a:r>
                    </a:p>
                  </a:txBody>
                  <a:tcPr/>
                </a:tc>
                <a:tc>
                  <a:txBody>
                    <a:bodyPr/>
                    <a:lstStyle/>
                    <a:p>
                      <a:pPr algn="ctr"/>
                      <a:r>
                        <a:rPr lang="en-US" sz="800" dirty="0"/>
                        <a:t>ST vs NXP</a:t>
                      </a:r>
                    </a:p>
                  </a:txBody>
                  <a:tcPr/>
                </a:tc>
                <a:tc>
                  <a:txBody>
                    <a:bodyPr/>
                    <a:lstStyle/>
                    <a:p>
                      <a:pPr algn="ctr"/>
                      <a:r>
                        <a:rPr lang="en-US" sz="800" dirty="0"/>
                        <a:t>Comment</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97373398"/>
                  </a:ext>
                </a:extLst>
              </a:tr>
              <a:tr h="168783">
                <a:tc>
                  <a:txBody>
                    <a:bodyPr/>
                    <a:lstStyle/>
                    <a:p>
                      <a:pPr algn="l"/>
                      <a:r>
                        <a:rPr lang="en-US" sz="700" b="1" dirty="0">
                          <a:solidFill>
                            <a:schemeClr val="tx1"/>
                          </a:solidFill>
                        </a:rPr>
                        <a:t>ROM</a:t>
                      </a:r>
                    </a:p>
                  </a:txBody>
                  <a:tcPr/>
                </a:tc>
                <a:tc>
                  <a:txBody>
                    <a:bodyPr/>
                    <a:lstStyle/>
                    <a:p>
                      <a:pPr algn="ctr" fontAlgn="ctr">
                        <a:buNone/>
                      </a:pPr>
                      <a:r>
                        <a:rPr lang="en-US" sz="1000" kern="1200" dirty="0">
                          <a:solidFill>
                            <a:schemeClr val="dk1"/>
                          </a:solidFill>
                          <a:latin typeface="+mn-lt"/>
                          <a:ea typeface="+mn-ea"/>
                          <a:cs typeface="+mn-cs"/>
                        </a:rPr>
                        <a:t>27841</a:t>
                      </a:r>
                    </a:p>
                  </a:txBody>
                  <a:tcPr marL="0" marR="0" marT="0" marB="0" anchor="ctr"/>
                </a:tc>
                <a:tc>
                  <a:txBody>
                    <a:bodyPr/>
                    <a:lstStyle/>
                    <a:p>
                      <a:pPr algn="ctr" fontAlgn="ctr">
                        <a:buNone/>
                      </a:pPr>
                      <a:r>
                        <a:rPr lang="en-US" sz="1000" kern="1200" dirty="0">
                          <a:solidFill>
                            <a:schemeClr val="dk1"/>
                          </a:solidFill>
                          <a:latin typeface="+mn-lt"/>
                          <a:ea typeface="+mn-ea"/>
                          <a:cs typeface="+mn-cs"/>
                        </a:rPr>
                        <a:t>24584</a:t>
                      </a:r>
                    </a:p>
                  </a:txBody>
                  <a:tcPr marL="0" marR="0" marT="0" marB="0" anchor="ctr"/>
                </a:tc>
                <a:tc>
                  <a:txBody>
                    <a:bodyPr/>
                    <a:lstStyle/>
                    <a:p>
                      <a:pPr algn="ctr" fontAlgn="ctr">
                        <a:buNone/>
                      </a:pPr>
                      <a:r>
                        <a:rPr lang="en-US" sz="1000" b="1" kern="1200" dirty="0">
                          <a:solidFill>
                            <a:srgbClr val="FF0000"/>
                          </a:solidFill>
                          <a:latin typeface="+mn-lt"/>
                          <a:ea typeface="+mn-ea"/>
                          <a:cs typeface="+mn-cs"/>
                        </a:rPr>
                        <a:t>+13.25%</a:t>
                      </a:r>
                    </a:p>
                  </a:txBody>
                  <a:tcPr marL="0" marR="0" marT="0" marB="0" anchor="ct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By removing clock configuration footprint, ST is higher by </a:t>
                      </a:r>
                      <a:r>
                        <a:rPr lang="en-US" sz="1000" dirty="0">
                          <a:solidFill>
                            <a:srgbClr val="00B050"/>
                          </a:solidFill>
                        </a:rPr>
                        <a:t>only 14% than NXP instead of 27.7%</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5877290"/>
                  </a:ext>
                </a:extLst>
              </a:tr>
              <a:tr h="241362">
                <a:tc>
                  <a:txBody>
                    <a:bodyPr/>
                    <a:lstStyle/>
                    <a:p>
                      <a:pPr algn="l"/>
                      <a:r>
                        <a:rPr lang="en-US" sz="700" b="1" dirty="0">
                          <a:solidFill>
                            <a:schemeClr val="tx1"/>
                          </a:solidFill>
                        </a:rPr>
                        <a:t>RAM*</a:t>
                      </a:r>
                      <a:endParaRPr lang="en-US" sz="700" dirty="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algn="ctr" fontAlgn="ctr">
                        <a:buNone/>
                      </a:pPr>
                      <a:r>
                        <a:rPr lang="en-US" sz="1000" kern="1200" dirty="0">
                          <a:solidFill>
                            <a:schemeClr val="dk1"/>
                          </a:solidFill>
                          <a:latin typeface="+mn-lt"/>
                          <a:ea typeface="+mn-ea"/>
                          <a:cs typeface="+mn-cs"/>
                        </a:rPr>
                        <a:t>13556</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000" kern="1200">
                          <a:solidFill>
                            <a:schemeClr val="dk1"/>
                          </a:solidFill>
                          <a:latin typeface="+mn-lt"/>
                          <a:ea typeface="+mn-ea"/>
                          <a:cs typeface="+mn-cs"/>
                        </a:rPr>
                        <a:t>11747</a:t>
                      </a:r>
                    </a:p>
                  </a:txBody>
                  <a:tcPr marL="0" marR="0" marT="0"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000" b="1" kern="1200" dirty="0">
                          <a:solidFill>
                            <a:srgbClr val="FF0000"/>
                          </a:solidFill>
                          <a:latin typeface="+mn-lt"/>
                          <a:ea typeface="+mn-ea"/>
                          <a:cs typeface="+mn-cs"/>
                        </a:rPr>
                        <a:t>+15.40%</a:t>
                      </a:r>
                    </a:p>
                  </a:txBody>
                  <a:tcPr marL="0" marR="0" marT="0" marB="0" anchor="ctr">
                    <a:lnB w="12700" cap="flat" cmpd="sng" algn="ctr">
                      <a:solidFill>
                        <a:schemeClr val="tx1"/>
                      </a:solidFill>
                      <a:prstDash val="solid"/>
                      <a:round/>
                      <a:headEnd type="none" w="med" len="med"/>
                      <a:tailEnd type="none" w="med" len="med"/>
                    </a:lnB>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1" kern="1200" dirty="0">
                        <a:solidFill>
                          <a:srgbClr val="FF0000"/>
                        </a:solidFill>
                        <a:latin typeface="+mn-lt"/>
                        <a:ea typeface="+mn-ea"/>
                        <a:cs typeface="+mn-cs"/>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59581">
                <a:tc>
                  <a:txBody>
                    <a:bodyPr/>
                    <a:lstStyle/>
                    <a:p>
                      <a:pPr algn="l"/>
                      <a:r>
                        <a:rPr lang="en-US" sz="800" b="1">
                          <a:solidFill>
                            <a:schemeClr val="tx1"/>
                          </a:solidFill>
                        </a:rPr>
                        <a:t>Total</a:t>
                      </a:r>
                      <a:endParaRPr lang="en-US" sz="80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t>41397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000" b="1" kern="1200" dirty="0">
                          <a:solidFill>
                            <a:schemeClr val="dk1"/>
                          </a:solidFill>
                          <a:latin typeface="+mn-lt"/>
                          <a:ea typeface="+mn-ea"/>
                          <a:cs typeface="+mn-cs"/>
                        </a:rPr>
                        <a:t>36331</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kern="1200" dirty="0">
                        <a:solidFill>
                          <a:schemeClr val="dk1"/>
                        </a:solidFill>
                        <a:latin typeface="+mn-lt"/>
                        <a:ea typeface="+mn-ea"/>
                        <a:cs typeface="+mn-cs"/>
                      </a:endParaRPr>
                    </a:p>
                  </a:txBody>
                  <a:tcPr marL="0" marR="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b="1" dirty="0">
                          <a:solidFill>
                            <a:srgbClr val="FF0000"/>
                          </a:solidFill>
                        </a:rPr>
                        <a:t>+14%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US" sz="800" b="1" dirty="0">
                        <a:solidFill>
                          <a:srgbClr val="FF0000"/>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35" name="TextBox 34">
            <a:extLst>
              <a:ext uri="{FF2B5EF4-FFF2-40B4-BE49-F238E27FC236}">
                <a16:creationId xmlns:a16="http://schemas.microsoft.com/office/drawing/2014/main" id="{22E92690-294E-436F-28F4-F6B67AD0AD68}"/>
              </a:ext>
            </a:extLst>
          </p:cNvPr>
          <p:cNvSpPr txBox="1"/>
          <p:nvPr/>
        </p:nvSpPr>
        <p:spPr>
          <a:xfrm>
            <a:off x="5161803" y="5099048"/>
            <a:ext cx="3578653" cy="215444"/>
          </a:xfrm>
          <a:prstGeom prst="rect">
            <a:avLst/>
          </a:prstGeom>
          <a:noFill/>
        </p:spPr>
        <p:txBody>
          <a:bodyPr wrap="square">
            <a:spAutoFit/>
          </a:bodyPr>
          <a:lstStyle/>
          <a:p>
            <a:r>
              <a:rPr lang="en-US" sz="800" b="1" dirty="0">
                <a:solidFill>
                  <a:srgbClr val="002060"/>
                </a:solidFill>
              </a:rPr>
              <a:t>STM32U575xx (CM33) vs MCX-N9 XX (CM33): USB FS/ </a:t>
            </a:r>
            <a:r>
              <a:rPr lang="en-US" sz="800" b="1" dirty="0">
                <a:solidFill>
                  <a:srgbClr val="FF0000"/>
                </a:solidFill>
              </a:rPr>
              <a:t>without RCC </a:t>
            </a:r>
          </a:p>
        </p:txBody>
      </p:sp>
      <p:sp>
        <p:nvSpPr>
          <p:cNvPr id="38" name="TextBox 37">
            <a:extLst>
              <a:ext uri="{FF2B5EF4-FFF2-40B4-BE49-F238E27FC236}">
                <a16:creationId xmlns:a16="http://schemas.microsoft.com/office/drawing/2014/main" id="{C6E58A94-4F52-28CD-CDB6-B562D68C1D60}"/>
              </a:ext>
            </a:extLst>
          </p:cNvPr>
          <p:cNvSpPr txBox="1"/>
          <p:nvPr/>
        </p:nvSpPr>
        <p:spPr>
          <a:xfrm>
            <a:off x="5267563" y="6400628"/>
            <a:ext cx="6286500" cy="246221"/>
          </a:xfrm>
          <a:prstGeom prst="rect">
            <a:avLst/>
          </a:prstGeom>
          <a:noFill/>
        </p:spPr>
        <p:txBody>
          <a:bodyPr wrap="square">
            <a:spAutoFit/>
          </a:bodyPr>
          <a:lstStyle/>
          <a:p>
            <a:r>
              <a:rPr lang="en-US" sz="1000" dirty="0"/>
              <a:t>(*) </a:t>
            </a:r>
            <a:r>
              <a:rPr lang="en-US" sz="1000" dirty="0">
                <a:solidFill>
                  <a:schemeClr val="tx1"/>
                </a:solidFill>
              </a:rPr>
              <a:t>Heap = 0x2000, stack = 0x2000. Stack is subtracted from RAM footprint</a:t>
            </a:r>
          </a:p>
        </p:txBody>
      </p:sp>
    </p:spTree>
    <p:extLst>
      <p:ext uri="{BB962C8B-B14F-4D97-AF65-F5344CB8AC3E}">
        <p14:creationId xmlns:p14="http://schemas.microsoft.com/office/powerpoint/2010/main" val="40684510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5AA8D-23CA-95F3-AFC3-99E5A8B3675D}"/>
            </a:ext>
          </a:extLst>
        </p:cNvPr>
        <p:cNvGrpSpPr/>
        <p:nvPr/>
      </p:nvGrpSpPr>
      <p:grpSpPr>
        <a:xfrm>
          <a:off x="0" y="0"/>
          <a:ext cx="0" cy="0"/>
          <a:chOff x="0" y="0"/>
          <a:chExt cx="0" cy="0"/>
        </a:xfrm>
      </p:grpSpPr>
      <p:sp>
        <p:nvSpPr>
          <p:cNvPr id="17" name="Title 2">
            <a:extLst>
              <a:ext uri="{FF2B5EF4-FFF2-40B4-BE49-F238E27FC236}">
                <a16:creationId xmlns:a16="http://schemas.microsoft.com/office/drawing/2014/main" id="{6618614E-F06F-1AFD-9D51-615C78AA411E}"/>
              </a:ext>
            </a:extLst>
          </p:cNvPr>
          <p:cNvSpPr>
            <a:spLocks noGrp="1"/>
          </p:cNvSpPr>
          <p:nvPr>
            <p:ph type="title"/>
          </p:nvPr>
        </p:nvSpPr>
        <p:spPr>
          <a:xfrm>
            <a:off x="300037" y="155447"/>
            <a:ext cx="11609159" cy="1027597"/>
          </a:xfrm>
        </p:spPr>
        <p:txBody>
          <a:bodyPr/>
          <a:lstStyle/>
          <a:p>
            <a:r>
              <a:rPr lang="en-US" dirty="0"/>
              <a:t>ST Competitors MW Benchmark: USB</a:t>
            </a:r>
            <a:br>
              <a:rPr lang="en-US" b="1" dirty="0"/>
            </a:br>
            <a:r>
              <a:rPr lang="en-US" sz="2400" b="1" dirty="0">
                <a:solidFill>
                  <a:schemeClr val="accent2"/>
                </a:solidFill>
              </a:rPr>
              <a:t>ST vs NXP Clock configuration</a:t>
            </a:r>
            <a:br>
              <a:rPr lang="en-US" sz="2400" b="1" dirty="0">
                <a:solidFill>
                  <a:schemeClr val="accent2"/>
                </a:solidFill>
              </a:rPr>
            </a:br>
            <a:endParaRPr lang="en-US" sz="2400" b="1" dirty="0">
              <a:solidFill>
                <a:schemeClr val="accent2"/>
              </a:solidFill>
            </a:endParaRPr>
          </a:p>
        </p:txBody>
      </p:sp>
      <p:sp>
        <p:nvSpPr>
          <p:cNvPr id="43" name="Rectangle 42">
            <a:extLst>
              <a:ext uri="{FF2B5EF4-FFF2-40B4-BE49-F238E27FC236}">
                <a16:creationId xmlns:a16="http://schemas.microsoft.com/office/drawing/2014/main" id="{B448DDE3-D9C2-910A-54AF-83E2D9468CEA}"/>
              </a:ext>
            </a:extLst>
          </p:cNvPr>
          <p:cNvSpPr/>
          <p:nvPr/>
        </p:nvSpPr>
        <p:spPr>
          <a:xfrm>
            <a:off x="478195" y="5001953"/>
            <a:ext cx="11221361" cy="706033"/>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ST generally has a larger USB middleware footprint than NXP, with the biggest gap in RAM, especially for CDC.</a:t>
            </a:r>
          </a:p>
          <a:p>
            <a:r>
              <a:rPr lang="en-US" sz="1000" dirty="0">
                <a:solidFill>
                  <a:schemeClr val="tx1"/>
                </a:solidFill>
              </a:rPr>
              <a:t>When RCC code is excluded, the ROM difference becomes much smaller, showing that part of the gap comes from clock configuration layers rather than USB stack.</a:t>
            </a:r>
          </a:p>
          <a:p>
            <a:r>
              <a:rPr lang="en-US" sz="1000" dirty="0">
                <a:solidFill>
                  <a:schemeClr val="tx1"/>
                </a:solidFill>
              </a:rPr>
              <a:t>=&gt; ST is close in ROM for HID, but still heavier in RAM across most classes.</a:t>
            </a:r>
            <a:endParaRPr lang="fr-FR" sz="1000" dirty="0">
              <a:solidFill>
                <a:schemeClr val="tx1"/>
              </a:solidFill>
            </a:endParaRPr>
          </a:p>
        </p:txBody>
      </p:sp>
      <p:graphicFrame>
        <p:nvGraphicFramePr>
          <p:cNvPr id="50" name="Table 49">
            <a:extLst>
              <a:ext uri="{FF2B5EF4-FFF2-40B4-BE49-F238E27FC236}">
                <a16:creationId xmlns:a16="http://schemas.microsoft.com/office/drawing/2014/main" id="{1799B216-CA5A-967A-E9E2-F392C9833F1C}"/>
              </a:ext>
            </a:extLst>
          </p:cNvPr>
          <p:cNvGraphicFramePr>
            <a:graphicFrameLocks noGrp="1"/>
          </p:cNvGraphicFramePr>
          <p:nvPr>
            <p:extLst>
              <p:ext uri="{D42A27DB-BD31-4B8C-83A1-F6EECF244321}">
                <p14:modId xmlns:p14="http://schemas.microsoft.com/office/powerpoint/2010/main" val="3408095195"/>
              </p:ext>
            </p:extLst>
          </p:nvPr>
        </p:nvGraphicFramePr>
        <p:xfrm>
          <a:off x="478195" y="1503030"/>
          <a:ext cx="6169492" cy="3087256"/>
        </p:xfrm>
        <a:graphic>
          <a:graphicData uri="http://schemas.openxmlformats.org/drawingml/2006/table">
            <a:tbl>
              <a:tblPr firstRow="1" bandRow="1">
                <a:tableStyleId>{EB344D84-9AFB-497E-A393-DC336BA19D2E}</a:tableStyleId>
              </a:tblPr>
              <a:tblGrid>
                <a:gridCol w="1340276">
                  <a:extLst>
                    <a:ext uri="{9D8B030D-6E8A-4147-A177-3AD203B41FA5}">
                      <a16:colId xmlns:a16="http://schemas.microsoft.com/office/drawing/2014/main" val="3697993413"/>
                    </a:ext>
                  </a:extLst>
                </a:gridCol>
                <a:gridCol w="931898">
                  <a:extLst>
                    <a:ext uri="{9D8B030D-6E8A-4147-A177-3AD203B41FA5}">
                      <a16:colId xmlns:a16="http://schemas.microsoft.com/office/drawing/2014/main" val="3469973134"/>
                    </a:ext>
                  </a:extLst>
                </a:gridCol>
                <a:gridCol w="807004">
                  <a:extLst>
                    <a:ext uri="{9D8B030D-6E8A-4147-A177-3AD203B41FA5}">
                      <a16:colId xmlns:a16="http://schemas.microsoft.com/office/drawing/2014/main" val="1095202381"/>
                    </a:ext>
                  </a:extLst>
                </a:gridCol>
                <a:gridCol w="807004">
                  <a:extLst>
                    <a:ext uri="{9D8B030D-6E8A-4147-A177-3AD203B41FA5}">
                      <a16:colId xmlns:a16="http://schemas.microsoft.com/office/drawing/2014/main" val="2368620763"/>
                    </a:ext>
                  </a:extLst>
                </a:gridCol>
                <a:gridCol w="807004">
                  <a:extLst>
                    <a:ext uri="{9D8B030D-6E8A-4147-A177-3AD203B41FA5}">
                      <a16:colId xmlns:a16="http://schemas.microsoft.com/office/drawing/2014/main" val="2357360135"/>
                    </a:ext>
                  </a:extLst>
                </a:gridCol>
                <a:gridCol w="758969">
                  <a:extLst>
                    <a:ext uri="{9D8B030D-6E8A-4147-A177-3AD203B41FA5}">
                      <a16:colId xmlns:a16="http://schemas.microsoft.com/office/drawing/2014/main" val="491648143"/>
                    </a:ext>
                  </a:extLst>
                </a:gridCol>
                <a:gridCol w="717337">
                  <a:extLst>
                    <a:ext uri="{9D8B030D-6E8A-4147-A177-3AD203B41FA5}">
                      <a16:colId xmlns:a16="http://schemas.microsoft.com/office/drawing/2014/main" val="3306432230"/>
                    </a:ext>
                  </a:extLst>
                </a:gridCol>
              </a:tblGrid>
              <a:tr h="275102">
                <a:tc>
                  <a:txBody>
                    <a:bodyPr/>
                    <a:lstStyle/>
                    <a:p>
                      <a:pPr algn="ctr" fontAlgn="b">
                        <a:buNone/>
                      </a:pPr>
                      <a:r>
                        <a:rPr lang="en-US" sz="1000" b="1" i="0" u="none" strike="noStrike" dirty="0">
                          <a:solidFill>
                            <a:schemeClr val="bg1"/>
                          </a:solidFill>
                          <a:effectLst/>
                          <a:latin typeface="Aptos Narrow" panose="020B0004020202020204" pitchFamily="34" charset="0"/>
                        </a:rPr>
                        <a:t>USB Class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fontAlgn="b">
                        <a:buNone/>
                      </a:pPr>
                      <a:r>
                        <a:rPr lang="en-US" sz="1000" b="1" i="0" u="none" strike="noStrike" dirty="0">
                          <a:solidFill>
                            <a:schemeClr val="bg1"/>
                          </a:solidFill>
                          <a:effectLst/>
                          <a:latin typeface="Aptos Narrow" panose="020B0004020202020204" pitchFamily="34" charset="0"/>
                        </a:rPr>
                        <a:t>CDC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gridSpan="2">
                  <a:txBody>
                    <a:bodyPr/>
                    <a:lstStyle/>
                    <a:p>
                      <a:pPr algn="ctr" fontAlgn="b">
                        <a:buNone/>
                      </a:pPr>
                      <a:r>
                        <a:rPr lang="en-US" sz="1000" b="1" i="0" u="none" strike="noStrike" dirty="0">
                          <a:solidFill>
                            <a:schemeClr val="bg1"/>
                          </a:solidFill>
                          <a:effectLst/>
                          <a:latin typeface="Aptos Narrow" panose="020B0004020202020204" pitchFamily="34" charset="0"/>
                        </a:rPr>
                        <a:t>HID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fontAlgn="b">
                        <a:buNone/>
                      </a:pPr>
                      <a:r>
                        <a:rPr lang="en-US" sz="1000" b="1" i="0" u="none" strike="noStrike" dirty="0">
                          <a:solidFill>
                            <a:schemeClr val="bg1"/>
                          </a:solidFill>
                          <a:effectLst/>
                          <a:latin typeface="Aptos Narrow" panose="020B0004020202020204" pitchFamily="34" charset="0"/>
                        </a:rPr>
                        <a:t>MSC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4261910"/>
                  </a:ext>
                </a:extLst>
              </a:tr>
              <a:tr h="275102">
                <a:tc>
                  <a:txBody>
                    <a:bodyPr/>
                    <a:lstStyle/>
                    <a:p>
                      <a:pPr algn="ctr" fontAlgn="b">
                        <a:buNone/>
                      </a:pPr>
                      <a:r>
                        <a:rPr lang="en-US" sz="1000" b="1" i="0" u="none" strike="noStrike" dirty="0">
                          <a:solidFill>
                            <a:srgbClr val="000000"/>
                          </a:solidFill>
                          <a:effectLst/>
                          <a:latin typeface="Aptos Narrow" panose="020B0004020202020204" pitchFamily="34" charset="0"/>
                        </a:rPr>
                        <a:t>STM32U575 Clock</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ROM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RAM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ROM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RAM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ROM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RAM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812247973"/>
                  </a:ext>
                </a:extLst>
              </a:tr>
              <a:tr h="275102">
                <a:tc>
                  <a:txBody>
                    <a:bodyPr/>
                    <a:lstStyle/>
                    <a:p>
                      <a:pPr algn="ctr" fontAlgn="b">
                        <a:buNone/>
                      </a:pPr>
                      <a:r>
                        <a:rPr lang="en-US" sz="1000" b="1" i="0" u="none" strike="noStrike">
                          <a:solidFill>
                            <a:srgbClr val="000000"/>
                          </a:solidFill>
                          <a:effectLst/>
                          <a:latin typeface="Aptos Narrow" panose="020B0004020202020204" pitchFamily="34" charset="0"/>
                        </a:rPr>
                        <a:t>stm32u5xx_hal_rcc</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3008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3008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a:solidFill>
                            <a:srgbClr val="000000"/>
                          </a:solidFill>
                          <a:effectLst/>
                          <a:latin typeface="Aptos Narrow" panose="020B0004020202020204" pitchFamily="34" charset="0"/>
                        </a:rPr>
                        <a:t>3084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314759"/>
                  </a:ext>
                </a:extLst>
              </a:tr>
              <a:tr h="305669">
                <a:tc>
                  <a:txBody>
                    <a:bodyPr/>
                    <a:lstStyle/>
                    <a:p>
                      <a:pPr algn="ctr" fontAlgn="b">
                        <a:buNone/>
                      </a:pPr>
                      <a:r>
                        <a:rPr lang="en-US" sz="1000" b="1" i="0" u="none" strike="noStrike" dirty="0">
                          <a:solidFill>
                            <a:srgbClr val="000000"/>
                          </a:solidFill>
                          <a:effectLst/>
                          <a:latin typeface="Aptos Narrow" panose="020B0004020202020204" pitchFamily="34" charset="0"/>
                        </a:rPr>
                        <a:t>stm32u5xx_hal_rcc_ex</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1552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1552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a:solidFill>
                            <a:srgbClr val="000000"/>
                          </a:solidFill>
                          <a:effectLst/>
                          <a:latin typeface="Aptos Narrow" panose="020B0004020202020204" pitchFamily="34" charset="0"/>
                        </a:rPr>
                        <a:t>4100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2351823"/>
                  </a:ext>
                </a:extLst>
              </a:tr>
              <a:tr h="275102">
                <a:tc>
                  <a:txBody>
                    <a:bodyPr/>
                    <a:lstStyle/>
                    <a:p>
                      <a:pPr algn="ctr" fontAlgn="b">
                        <a:buNone/>
                      </a:pPr>
                      <a:r>
                        <a:rPr lang="en-US" sz="1000" b="1" i="0" u="none" strike="noStrike">
                          <a:solidFill>
                            <a:srgbClr val="000000"/>
                          </a:solidFill>
                          <a:effectLst/>
                          <a:latin typeface="Aptos Narrow" panose="020B0004020202020204" pitchFamily="34" charset="0"/>
                        </a:rPr>
                        <a:t>Total</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dirty="0">
                          <a:solidFill>
                            <a:srgbClr val="000000"/>
                          </a:solidFill>
                          <a:effectLst/>
                          <a:latin typeface="Aptos Narrow" panose="020B0004020202020204" pitchFamily="34" charset="0"/>
                        </a:rPr>
                        <a:t>4560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a:solidFill>
                            <a:srgbClr val="000000"/>
                          </a:solidFill>
                          <a:effectLst/>
                          <a:latin typeface="Aptos Narrow" panose="020B0004020202020204" pitchFamily="34" charset="0"/>
                        </a:rPr>
                        <a:t>4560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a:solidFill>
                            <a:srgbClr val="000000"/>
                          </a:solidFill>
                          <a:effectLst/>
                          <a:latin typeface="Aptos Narrow" panose="020B0004020202020204" pitchFamily="34" charset="0"/>
                        </a:rPr>
                        <a:t>7184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1630323"/>
                  </a:ext>
                </a:extLst>
              </a:tr>
              <a:tr h="275102">
                <a:tc>
                  <a:txBody>
                    <a:bodyPr/>
                    <a:lstStyle/>
                    <a:p>
                      <a:pPr algn="ctr" fontAlgn="b">
                        <a:buNone/>
                      </a:pPr>
                      <a:r>
                        <a:rPr lang="en-US" sz="1000" b="1" i="0" u="none" strike="noStrike" dirty="0">
                          <a:solidFill>
                            <a:srgbClr val="000000"/>
                          </a:solidFill>
                          <a:effectLst/>
                          <a:latin typeface="Aptos Narrow" panose="020B0004020202020204" pitchFamily="34" charset="0"/>
                        </a:rPr>
                        <a:t>MCX-N9 Clock</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ROM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RAM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ROM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RAM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ROM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ctr">
                        <a:buNone/>
                      </a:pPr>
                      <a:r>
                        <a:rPr lang="en-US" sz="1000" b="1" i="0" u="none" strike="noStrike" dirty="0">
                          <a:solidFill>
                            <a:srgbClr val="000000"/>
                          </a:solidFill>
                          <a:effectLst/>
                          <a:latin typeface="Aptos Narrow" panose="020B0004020202020204" pitchFamily="34" charset="0"/>
                        </a:rPr>
                        <a:t>RAM</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1648934"/>
                  </a:ext>
                </a:extLst>
              </a:tr>
              <a:tr h="275102">
                <a:tc>
                  <a:txBody>
                    <a:bodyPr/>
                    <a:lstStyle/>
                    <a:p>
                      <a:pPr algn="ctr" fontAlgn="b">
                        <a:buNone/>
                      </a:pPr>
                      <a:r>
                        <a:rPr lang="en-US" sz="1000" b="1" i="0" u="none" strike="noStrike" dirty="0" err="1">
                          <a:solidFill>
                            <a:srgbClr val="000000"/>
                          </a:solidFill>
                          <a:effectLst/>
                          <a:latin typeface="Aptos Narrow" panose="020B0004020202020204" pitchFamily="34" charset="0"/>
                        </a:rPr>
                        <a:t>fsl_clock</a:t>
                      </a:r>
                      <a:endParaRPr lang="en-US" sz="1000" b="1" i="0" u="none" strike="noStrike" dirty="0">
                        <a:solidFill>
                          <a:srgbClr val="000000"/>
                        </a:solidFill>
                        <a:effectLst/>
                        <a:latin typeface="Aptos Narrow" panose="020B00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1152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1054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112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1141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112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7738690"/>
                  </a:ext>
                </a:extLst>
              </a:tr>
              <a:tr h="275102">
                <a:tc>
                  <a:txBody>
                    <a:bodyPr/>
                    <a:lstStyle/>
                    <a:p>
                      <a:pPr algn="ctr" fontAlgn="b">
                        <a:buNone/>
                      </a:pPr>
                      <a:r>
                        <a:rPr lang="en-US" sz="1000" b="1" i="0" u="none" strike="noStrike" dirty="0" err="1">
                          <a:solidFill>
                            <a:srgbClr val="000000"/>
                          </a:solidFill>
                          <a:effectLst/>
                          <a:latin typeface="Aptos Narrow" panose="020B0004020202020204" pitchFamily="34" charset="0"/>
                        </a:rPr>
                        <a:t>clock_config</a:t>
                      </a:r>
                      <a:endParaRPr lang="en-US" sz="1000" b="1" i="0" u="none" strike="noStrike" dirty="0">
                        <a:solidFill>
                          <a:srgbClr val="000000"/>
                        </a:solidFill>
                        <a:effectLst/>
                        <a:latin typeface="Aptos Narrow" panose="020B00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a:solidFill>
                            <a:srgbClr val="000000"/>
                          </a:solidFill>
                          <a:effectLst/>
                          <a:latin typeface="Aptos Narrow" panose="020B0004020202020204" pitchFamily="34" charset="0"/>
                        </a:rPr>
                        <a:t>310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392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284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5885832"/>
                  </a:ext>
                </a:extLst>
              </a:tr>
              <a:tr h="275102">
                <a:tc>
                  <a:txBody>
                    <a:bodyPr/>
                    <a:lstStyle/>
                    <a:p>
                      <a:pPr algn="ctr" fontAlgn="b">
                        <a:buNone/>
                      </a:pPr>
                      <a:r>
                        <a:rPr lang="en-US" sz="1000" b="1" i="0" u="none" strike="noStrike" dirty="0" err="1">
                          <a:solidFill>
                            <a:srgbClr val="000000"/>
                          </a:solidFill>
                          <a:effectLst/>
                          <a:latin typeface="Aptos Narrow" panose="020B0004020202020204" pitchFamily="34" charset="0"/>
                        </a:rPr>
                        <a:t>fsl_reset</a:t>
                      </a:r>
                      <a:endParaRPr lang="en-US" sz="1000" b="1" i="0" u="none" strike="noStrike" dirty="0">
                        <a:solidFill>
                          <a:srgbClr val="000000"/>
                        </a:solidFill>
                        <a:effectLst/>
                        <a:latin typeface="Aptos Narrow" panose="020B00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a:solidFill>
                            <a:srgbClr val="000000"/>
                          </a:solidFill>
                          <a:effectLst/>
                          <a:latin typeface="Aptos Narrow" panose="020B0004020202020204" pitchFamily="34" charset="0"/>
                        </a:rPr>
                        <a:t>168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0"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02239862"/>
                  </a:ext>
                </a:extLst>
              </a:tr>
              <a:tr h="275102">
                <a:tc>
                  <a:txBody>
                    <a:bodyPr/>
                    <a:lstStyle/>
                    <a:p>
                      <a:pPr algn="ctr" fontAlgn="b">
                        <a:buNone/>
                      </a:pPr>
                      <a:r>
                        <a:rPr lang="en-US" sz="1000" b="1" i="0" u="none" strike="noStrike">
                          <a:solidFill>
                            <a:srgbClr val="000000"/>
                          </a:solidFill>
                          <a:effectLst/>
                          <a:latin typeface="Aptos Narrow" panose="020B0004020202020204" pitchFamily="34" charset="0"/>
                        </a:rPr>
                        <a:t>Total</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dirty="0">
                          <a:solidFill>
                            <a:srgbClr val="000000"/>
                          </a:solidFill>
                          <a:effectLst/>
                          <a:latin typeface="Aptos Narrow" panose="020B0004020202020204" pitchFamily="34" charset="0"/>
                        </a:rPr>
                        <a:t>1462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dirty="0">
                          <a:solidFill>
                            <a:srgbClr val="000000"/>
                          </a:solidFill>
                          <a:effectLst/>
                          <a:latin typeface="Aptos Narrow" panose="020B0004020202020204" pitchFamily="34" charset="0"/>
                        </a:rPr>
                        <a:t>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a:solidFill>
                            <a:srgbClr val="000000"/>
                          </a:solidFill>
                          <a:effectLst/>
                          <a:latin typeface="Aptos Narrow" panose="020B0004020202020204" pitchFamily="34" charset="0"/>
                        </a:rPr>
                        <a:t>1446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dirty="0">
                          <a:solidFill>
                            <a:srgbClr val="000000"/>
                          </a:solidFill>
                          <a:effectLst/>
                          <a:latin typeface="Aptos Narrow" panose="020B0004020202020204" pitchFamily="34" charset="0"/>
                        </a:rPr>
                        <a:t>112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dirty="0">
                          <a:solidFill>
                            <a:srgbClr val="000000"/>
                          </a:solidFill>
                          <a:effectLst/>
                          <a:latin typeface="Aptos Narrow" panose="020B0004020202020204" pitchFamily="34" charset="0"/>
                        </a:rPr>
                        <a:t>1593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000" b="1" i="0" u="none" strike="noStrike" dirty="0">
                          <a:solidFill>
                            <a:srgbClr val="000000"/>
                          </a:solidFill>
                          <a:effectLst/>
                          <a:latin typeface="Aptos Narrow" panose="020B0004020202020204" pitchFamily="34" charset="0"/>
                        </a:rPr>
                        <a:t>112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1712128"/>
                  </a:ext>
                </a:extLst>
              </a:tr>
              <a:tr h="305669">
                <a:tc>
                  <a:txBody>
                    <a:bodyPr/>
                    <a:lstStyle/>
                    <a:p>
                      <a:pPr algn="ctr" fontAlgn="b">
                        <a:buNone/>
                      </a:pPr>
                      <a:r>
                        <a:rPr lang="en-US" sz="1000" b="1" i="0" u="none" strike="noStrike" dirty="0" err="1">
                          <a:solidFill>
                            <a:srgbClr val="000000"/>
                          </a:solidFill>
                          <a:effectLst/>
                          <a:latin typeface="Aptos Narrow" panose="020B0004020202020204" pitchFamily="34" charset="0"/>
                        </a:rPr>
                        <a:t>clock_config</a:t>
                      </a:r>
                      <a:r>
                        <a:rPr lang="en-US" sz="1000" b="1" i="0" u="none" strike="noStrike" dirty="0">
                          <a:solidFill>
                            <a:srgbClr val="000000"/>
                          </a:solidFill>
                          <a:effectLst/>
                          <a:latin typeface="Aptos Narrow" panose="020B0004020202020204" pitchFamily="34" charset="0"/>
                        </a:rPr>
                        <a:t> gap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b">
                        <a:buNone/>
                      </a:pPr>
                      <a:r>
                        <a:rPr lang="en-US" sz="1000" b="1" i="0" u="none" strike="noStrike" dirty="0">
                          <a:solidFill>
                            <a:srgbClr val="C00000"/>
                          </a:solidFill>
                          <a:effectLst/>
                          <a:latin typeface="Aptos Narrow" panose="020B0004020202020204" pitchFamily="34" charset="0"/>
                        </a:rPr>
                        <a:t>311.90%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b">
                        <a:buNone/>
                      </a:pPr>
                      <a:r>
                        <a:rPr lang="en-US" sz="1000" b="1" i="0" u="none" strike="noStrike" dirty="0">
                          <a:solidFill>
                            <a:srgbClr val="C00000"/>
                          </a:solidFill>
                          <a:effectLst/>
                          <a:latin typeface="Aptos Narrow" panose="020B0004020202020204" pitchFamily="34" charset="0"/>
                        </a:rPr>
                        <a:t>315.35%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b">
                        <a:buNone/>
                      </a:pPr>
                      <a:r>
                        <a:rPr lang="en-US" sz="1000" b="1" i="0" u="none" strike="noStrike" dirty="0">
                          <a:solidFill>
                            <a:srgbClr val="C00000"/>
                          </a:solidFill>
                          <a:effectLst/>
                          <a:latin typeface="Aptos Narrow" panose="020B0004020202020204" pitchFamily="34" charset="0"/>
                        </a:rPr>
                        <a:t>450.97%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082845139"/>
                  </a:ext>
                </a:extLst>
              </a:tr>
            </a:tbl>
          </a:graphicData>
        </a:graphic>
      </p:graphicFrame>
      <p:sp>
        <p:nvSpPr>
          <p:cNvPr id="35" name="Slide Number Placeholder 34">
            <a:extLst>
              <a:ext uri="{FF2B5EF4-FFF2-40B4-BE49-F238E27FC236}">
                <a16:creationId xmlns:a16="http://schemas.microsoft.com/office/drawing/2014/main" id="{9D69C6E5-C810-A438-EF82-8A6B488A13D3}"/>
              </a:ext>
            </a:extLst>
          </p:cNvPr>
          <p:cNvSpPr>
            <a:spLocks noGrp="1"/>
          </p:cNvSpPr>
          <p:nvPr>
            <p:ph type="sldNum" sz="quarter" idx="12"/>
          </p:nvPr>
        </p:nvSpPr>
        <p:spPr/>
        <p:txBody>
          <a:bodyPr/>
          <a:lstStyle/>
          <a:p>
            <a:fld id="{40A7B169-58CE-4E65-B1F9-ACF9E46440C2}" type="slidenum">
              <a:rPr lang="en-US" smtClean="0"/>
              <a:t>25</a:t>
            </a:fld>
            <a:endParaRPr lang="en-US"/>
          </a:p>
        </p:txBody>
      </p:sp>
      <p:pic>
        <p:nvPicPr>
          <p:cNvPr id="41" name="Picture 40">
            <a:extLst>
              <a:ext uri="{FF2B5EF4-FFF2-40B4-BE49-F238E27FC236}">
                <a16:creationId xmlns:a16="http://schemas.microsoft.com/office/drawing/2014/main" id="{BD997AA4-08B2-91DB-3190-9C0FE0137D35}"/>
              </a:ext>
            </a:extLst>
          </p:cNvPr>
          <p:cNvPicPr>
            <a:picLocks noChangeAspect="1"/>
          </p:cNvPicPr>
          <p:nvPr/>
        </p:nvPicPr>
        <p:blipFill>
          <a:blip r:embed="rId3"/>
          <a:stretch>
            <a:fillRect/>
          </a:stretch>
        </p:blipFill>
        <p:spPr>
          <a:xfrm>
            <a:off x="7025671" y="1474960"/>
            <a:ext cx="4584589" cy="3115326"/>
          </a:xfrm>
          <a:prstGeom prst="rect">
            <a:avLst/>
          </a:prstGeom>
        </p:spPr>
      </p:pic>
    </p:spTree>
    <p:extLst>
      <p:ext uri="{BB962C8B-B14F-4D97-AF65-F5344CB8AC3E}">
        <p14:creationId xmlns:p14="http://schemas.microsoft.com/office/powerpoint/2010/main" val="109891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2B092-72AE-570E-CFC8-A419CBB7FD76}"/>
              </a:ext>
            </a:extLst>
          </p:cNvPr>
          <p:cNvSpPr>
            <a:spLocks noGrp="1"/>
          </p:cNvSpPr>
          <p:nvPr>
            <p:ph type="title"/>
          </p:nvPr>
        </p:nvSpPr>
        <p:spPr/>
        <p:txBody>
          <a:bodyPr/>
          <a:lstStyle/>
          <a:p>
            <a:r>
              <a:rPr lang="en-US" dirty="0"/>
              <a:t>Continuation Plan Proposal</a:t>
            </a:r>
          </a:p>
        </p:txBody>
      </p:sp>
      <p:sp>
        <p:nvSpPr>
          <p:cNvPr id="3" name="Picture Placeholder 2">
            <a:extLst>
              <a:ext uri="{FF2B5EF4-FFF2-40B4-BE49-F238E27FC236}">
                <a16:creationId xmlns:a16="http://schemas.microsoft.com/office/drawing/2014/main" id="{533E3926-F452-DE36-5C35-B929FD3D0948}"/>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1743379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1F842-DB0D-3C63-AF1C-E2D28C3252C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64F041-DA64-E0CB-61A1-B7170A636FDD}"/>
              </a:ext>
            </a:extLst>
          </p:cNvPr>
          <p:cNvSpPr>
            <a:spLocks noGrp="1"/>
          </p:cNvSpPr>
          <p:nvPr>
            <p:ph type="title"/>
          </p:nvPr>
        </p:nvSpPr>
        <p:spPr/>
        <p:txBody>
          <a:bodyPr/>
          <a:lstStyle/>
          <a:p>
            <a:r>
              <a:rPr lang="en-US" b="1" dirty="0"/>
              <a:t>STM32 vs Competitors</a:t>
            </a:r>
            <a:endParaRPr lang="en-US" dirty="0"/>
          </a:p>
        </p:txBody>
      </p:sp>
      <p:graphicFrame>
        <p:nvGraphicFramePr>
          <p:cNvPr id="5" name="Table 4">
            <a:extLst>
              <a:ext uri="{FF2B5EF4-FFF2-40B4-BE49-F238E27FC236}">
                <a16:creationId xmlns:a16="http://schemas.microsoft.com/office/drawing/2014/main" id="{F7B72277-F03F-864A-2A17-1C2E1939E4E2}"/>
              </a:ext>
            </a:extLst>
          </p:cNvPr>
          <p:cNvGraphicFramePr>
            <a:graphicFrameLocks noGrp="1"/>
          </p:cNvGraphicFramePr>
          <p:nvPr>
            <p:extLst>
              <p:ext uri="{D42A27DB-BD31-4B8C-83A1-F6EECF244321}">
                <p14:modId xmlns:p14="http://schemas.microsoft.com/office/powerpoint/2010/main" val="2324651969"/>
              </p:ext>
            </p:extLst>
          </p:nvPr>
        </p:nvGraphicFramePr>
        <p:xfrm>
          <a:off x="300038" y="1065603"/>
          <a:ext cx="11450003" cy="3435185"/>
        </p:xfrm>
        <a:graphic>
          <a:graphicData uri="http://schemas.openxmlformats.org/drawingml/2006/table">
            <a:tbl>
              <a:tblPr firstRow="1" bandRow="1">
                <a:tableStyleId>{EB344D84-9AFB-497E-A393-DC336BA19D2E}</a:tableStyleId>
              </a:tblPr>
              <a:tblGrid>
                <a:gridCol w="1481664">
                  <a:extLst>
                    <a:ext uri="{9D8B030D-6E8A-4147-A177-3AD203B41FA5}">
                      <a16:colId xmlns:a16="http://schemas.microsoft.com/office/drawing/2014/main" val="3559270126"/>
                    </a:ext>
                  </a:extLst>
                </a:gridCol>
                <a:gridCol w="4542641">
                  <a:extLst>
                    <a:ext uri="{9D8B030D-6E8A-4147-A177-3AD203B41FA5}">
                      <a16:colId xmlns:a16="http://schemas.microsoft.com/office/drawing/2014/main" val="1510751210"/>
                    </a:ext>
                  </a:extLst>
                </a:gridCol>
                <a:gridCol w="1808566">
                  <a:extLst>
                    <a:ext uri="{9D8B030D-6E8A-4147-A177-3AD203B41FA5}">
                      <a16:colId xmlns:a16="http://schemas.microsoft.com/office/drawing/2014/main" val="2090940622"/>
                    </a:ext>
                  </a:extLst>
                </a:gridCol>
                <a:gridCol w="1808566">
                  <a:extLst>
                    <a:ext uri="{9D8B030D-6E8A-4147-A177-3AD203B41FA5}">
                      <a16:colId xmlns:a16="http://schemas.microsoft.com/office/drawing/2014/main" val="1519855247"/>
                    </a:ext>
                  </a:extLst>
                </a:gridCol>
                <a:gridCol w="1808566">
                  <a:extLst>
                    <a:ext uri="{9D8B030D-6E8A-4147-A177-3AD203B41FA5}">
                      <a16:colId xmlns:a16="http://schemas.microsoft.com/office/drawing/2014/main" val="3198766449"/>
                    </a:ext>
                  </a:extLst>
                </a:gridCol>
              </a:tblGrid>
              <a:tr h="340960">
                <a:tc>
                  <a:txBody>
                    <a:bodyPr/>
                    <a:lstStyle/>
                    <a:p>
                      <a:pPr>
                        <a:buNone/>
                      </a:pPr>
                      <a:r>
                        <a:rPr lang="en-US" sz="1000" dirty="0">
                          <a:effectLst/>
                        </a:rPr>
                        <a:t>Middleware Stack</a:t>
                      </a:r>
                    </a:p>
                  </a:txBody>
                  <a:tcPr marL="76200" marR="76200" marT="19050" marB="19050" anchor="ctr"/>
                </a:tc>
                <a:tc>
                  <a:txBody>
                    <a:bodyPr/>
                    <a:lstStyle/>
                    <a:p>
                      <a:pPr>
                        <a:buNone/>
                      </a:pPr>
                      <a:r>
                        <a:rPr lang="en-US" sz="1000" dirty="0">
                          <a:effectLst/>
                        </a:rPr>
                        <a:t>Benchmark Scope: </a:t>
                      </a:r>
                      <a:r>
                        <a:rPr lang="en-US" sz="1000" dirty="0">
                          <a:solidFill>
                            <a:schemeClr val="accent2"/>
                          </a:solidFill>
                          <a:effectLst/>
                        </a:rPr>
                        <a:t>ST vs </a:t>
                      </a:r>
                      <a:r>
                        <a:rPr lang="en-US" sz="1000" dirty="0" err="1">
                          <a:solidFill>
                            <a:schemeClr val="accent2"/>
                          </a:solidFill>
                          <a:effectLst/>
                        </a:rPr>
                        <a:t>GigaDevice</a:t>
                      </a:r>
                      <a:endParaRPr lang="en-US" sz="1000" dirty="0">
                        <a:solidFill>
                          <a:schemeClr val="accent2"/>
                        </a:solidFill>
                        <a:effectLst/>
                      </a:endParaRPr>
                    </a:p>
                  </a:txBody>
                  <a:tcPr marL="76200" marR="76200" marT="19050" marB="19050" anchor="ctr"/>
                </a:tc>
                <a:tc>
                  <a:txBody>
                    <a:bodyPr/>
                    <a:lstStyle/>
                    <a:p>
                      <a:pPr>
                        <a:buNone/>
                      </a:pPr>
                      <a:r>
                        <a:rPr lang="en-US" sz="1000" dirty="0">
                          <a:effectLst/>
                        </a:rPr>
                        <a:t>Headline KPIs</a:t>
                      </a:r>
                    </a:p>
                  </a:txBody>
                  <a:tcPr marL="76200" marR="76200" marT="19050" marB="1905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effectLst/>
                        </a:rPr>
                        <a:t>HW Board</a:t>
                      </a:r>
                    </a:p>
                    <a:p>
                      <a:pPr>
                        <a:buNone/>
                      </a:pPr>
                      <a:endParaRPr lang="en-US" sz="1000" dirty="0">
                        <a:effectLst/>
                      </a:endParaRPr>
                    </a:p>
                  </a:txBody>
                  <a:tcPr marL="76200" marR="76200" marT="19050" marB="1905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t>Effort estimation</a:t>
                      </a:r>
                    </a:p>
                  </a:txBody>
                  <a:tcPr marL="76200" marR="76200" marT="19050" marB="19050" anchor="ctr"/>
                </a:tc>
                <a:extLst>
                  <a:ext uri="{0D108BD9-81ED-4DB2-BD59-A6C34878D82A}">
                    <a16:rowId xmlns:a16="http://schemas.microsoft.com/office/drawing/2014/main" val="2625956129"/>
                  </a:ext>
                </a:extLst>
              </a:tr>
              <a:tr h="816083">
                <a:tc>
                  <a:txBody>
                    <a:bodyPr/>
                    <a:lstStyle/>
                    <a:p>
                      <a:pPr>
                        <a:buNone/>
                      </a:pPr>
                      <a:r>
                        <a:rPr lang="en-US" sz="1000" b="1" dirty="0">
                          <a:effectLst/>
                        </a:rPr>
                        <a:t>USB Device</a:t>
                      </a:r>
                    </a:p>
                  </a:txBody>
                  <a:tcPr marL="76200" marR="76200" marT="19050" marB="19050" anchor="ctr"/>
                </a:tc>
                <a:tc>
                  <a:txBody>
                    <a:bodyPr/>
                    <a:lstStyle/>
                    <a:p>
                      <a:pPr>
                        <a:buNone/>
                      </a:pPr>
                      <a:r>
                        <a:rPr lang="en-US" sz="1000" kern="1200" dirty="0">
                          <a:solidFill>
                            <a:schemeClr val="dk1"/>
                          </a:solidFill>
                          <a:effectLst/>
                        </a:rPr>
                        <a:t>Measure USB device stack efficiency across HID, CDC, and MSC through footprint, initialization, enumeration, and transfer performance.</a:t>
                      </a:r>
                      <a:endParaRPr lang="en-US" sz="1000" kern="1200" dirty="0">
                        <a:solidFill>
                          <a:schemeClr val="dk1"/>
                        </a:solidFill>
                        <a:effectLst/>
                        <a:latin typeface="+mn-lt"/>
                        <a:ea typeface="+mn-ea"/>
                        <a:cs typeface="+mn-cs"/>
                      </a:endParaRPr>
                    </a:p>
                  </a:txBody>
                  <a:tcPr marL="76200" marR="76200" marT="19050" marB="19050" anchor="ctr"/>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dirty="0">
                          <a:effectLst/>
                        </a:rPr>
                        <a:t>Initialization time</a:t>
                      </a:r>
                    </a:p>
                    <a:p>
                      <a:pPr marL="171450" indent="-171450">
                        <a:buFont typeface="Wingdings" panose="05000000000000000000" pitchFamily="2" charset="2"/>
                        <a:buChar char="Ø"/>
                      </a:pPr>
                      <a:r>
                        <a:rPr lang="en-US" sz="1000" dirty="0">
                          <a:effectLst/>
                        </a:rPr>
                        <a:t>Enumeration time</a:t>
                      </a:r>
                    </a:p>
                    <a:p>
                      <a:pPr marL="171450" indent="-171450">
                        <a:buFont typeface="Wingdings" panose="05000000000000000000" pitchFamily="2" charset="2"/>
                        <a:buChar char="Ø"/>
                      </a:pPr>
                      <a:r>
                        <a:rPr lang="en-US" sz="1000" dirty="0">
                          <a:effectLst/>
                        </a:rPr>
                        <a:t>Transfer latency</a:t>
                      </a:r>
                    </a:p>
                  </a:txBody>
                  <a:tcPr marL="76200" marR="76200" marT="19050" marB="19050" anchor="ctr"/>
                </a:tc>
                <a:tc rowSpan="4">
                  <a:txBody>
                    <a:bodyPr/>
                    <a:lstStyle/>
                    <a:p>
                      <a:pPr>
                        <a:buNone/>
                      </a:pPr>
                      <a:r>
                        <a:rPr lang="en-US" sz="1000" b="1" dirty="0">
                          <a:effectLst/>
                        </a:rPr>
                        <a:t>GD32E507Z-EVAL vs STM32U5A9J-DK</a:t>
                      </a:r>
                    </a:p>
                    <a:p>
                      <a:pPr marL="171450" indent="-171450">
                        <a:buFont typeface="Arial" panose="020B0604020202020204" pitchFamily="34" charset="0"/>
                        <a:buChar char="•"/>
                      </a:pPr>
                      <a:r>
                        <a:rPr lang="en-US" sz="1000" b="0" dirty="0"/>
                        <a:t>Cortex: same M33</a:t>
                      </a:r>
                    </a:p>
                    <a:p>
                      <a:pPr marL="171450" indent="-171450">
                        <a:buFont typeface="Arial" panose="020B0604020202020204" pitchFamily="34" charset="0"/>
                        <a:buChar char="•"/>
                      </a:pPr>
                      <a:r>
                        <a:rPr lang="en-US" sz="1000" b="0" dirty="0"/>
                        <a:t>Frequency: 180 MHz vs 160 MHz</a:t>
                      </a:r>
                    </a:p>
                    <a:p>
                      <a:pPr marL="171450" indent="-171450">
                        <a:buFont typeface="Arial" panose="020B0604020202020204" pitchFamily="34" charset="0"/>
                        <a:buChar char="•"/>
                      </a:pPr>
                      <a:r>
                        <a:rPr lang="en-US" sz="1000" b="0" dirty="0"/>
                        <a:t>Flash: 512 KB vs 4 MB</a:t>
                      </a:r>
                    </a:p>
                    <a:p>
                      <a:pPr marL="171450" indent="-171450">
                        <a:buFont typeface="Arial" panose="020B0604020202020204" pitchFamily="34" charset="0"/>
                        <a:buChar char="•"/>
                      </a:pPr>
                      <a:r>
                        <a:rPr lang="en-US" sz="1000" b="0" dirty="0"/>
                        <a:t>SRAM: 128 KB vs 2.5 MB</a:t>
                      </a:r>
                      <a:endParaRPr lang="en-US" sz="1000" dirty="0">
                        <a:effectLst/>
                      </a:endParaRPr>
                    </a:p>
                    <a:p>
                      <a:pPr marL="0" indent="0">
                        <a:buFont typeface="Wingdings" panose="05000000000000000000" pitchFamily="2" charset="2"/>
                        <a:buNone/>
                      </a:pPr>
                      <a:endParaRPr lang="en-US" sz="1000" dirty="0">
                        <a:effectLst/>
                      </a:endParaRPr>
                    </a:p>
                  </a:txBody>
                  <a:tcPr marL="76200" marR="76200" marT="19050" marB="19050" anchor="ctr"/>
                </a:tc>
                <a:tc>
                  <a:txBody>
                    <a:bodyPr/>
                    <a:lstStyle/>
                    <a:p>
                      <a:pPr marL="171450" indent="-171450">
                        <a:buFont typeface="Arial" panose="020B0604020202020204" pitchFamily="34" charset="0"/>
                        <a:buChar char="•"/>
                      </a:pPr>
                      <a:r>
                        <a:rPr lang="en-US" sz="1000" dirty="0">
                          <a:effectLst/>
                        </a:rPr>
                        <a:t>5 MD</a:t>
                      </a:r>
                    </a:p>
                  </a:txBody>
                  <a:tcPr marL="76200" marR="76200" marT="19050" marB="19050" anchor="ctr"/>
                </a:tc>
                <a:extLst>
                  <a:ext uri="{0D108BD9-81ED-4DB2-BD59-A6C34878D82A}">
                    <a16:rowId xmlns:a16="http://schemas.microsoft.com/office/drawing/2014/main" val="3583111417"/>
                  </a:ext>
                </a:extLst>
              </a:tr>
              <a:tr h="816083">
                <a:tc>
                  <a:txBody>
                    <a:bodyPr/>
                    <a:lstStyle/>
                    <a:p>
                      <a:pPr>
                        <a:buNone/>
                      </a:pPr>
                      <a:r>
                        <a:rPr lang="en-US" sz="1000" b="1" dirty="0" err="1">
                          <a:effectLst/>
                        </a:rPr>
                        <a:t>FreeRTOS</a:t>
                      </a:r>
                      <a:endParaRPr lang="en-US" sz="1000" b="1" dirty="0">
                        <a:effectLst/>
                      </a:endParaRPr>
                    </a:p>
                  </a:txBody>
                  <a:tcPr marL="76200" marR="76200" marT="19050" marB="19050" anchor="ctr"/>
                </a:tc>
                <a:tc>
                  <a:txBody>
                    <a:bodyPr/>
                    <a:lstStyle/>
                    <a:p>
                      <a:pPr>
                        <a:buNone/>
                      </a:pPr>
                      <a:r>
                        <a:rPr lang="en-US" sz="1000" kern="1200" dirty="0">
                          <a:solidFill>
                            <a:schemeClr val="dk1"/>
                          </a:solidFill>
                          <a:effectLst/>
                        </a:rPr>
                        <a:t>Measure RTOS responsiveness and scalability through task, sync, queue, timer, ISR wakeup, and context-switch performance.</a:t>
                      </a:r>
                      <a:endParaRPr lang="en-US" sz="1000" kern="1200" dirty="0">
                        <a:solidFill>
                          <a:schemeClr val="dk1"/>
                        </a:solidFill>
                        <a:effectLst/>
                        <a:latin typeface="+mn-lt"/>
                        <a:ea typeface="+mn-ea"/>
                        <a:cs typeface="+mn-cs"/>
                      </a:endParaRPr>
                    </a:p>
                  </a:txBody>
                  <a:tcPr marL="76200" marR="76200" marT="19050" marB="19050" anchor="ctr"/>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dirty="0">
                          <a:effectLst/>
                        </a:rPr>
                        <a:t>Context-switch cost </a:t>
                      </a:r>
                    </a:p>
                    <a:p>
                      <a:pPr marL="171450" indent="-171450">
                        <a:buFont typeface="Wingdings" panose="05000000000000000000" pitchFamily="2" charset="2"/>
                        <a:buChar char="Ø"/>
                      </a:pPr>
                      <a:r>
                        <a:rPr lang="en-US" sz="1000" dirty="0">
                          <a:effectLst/>
                        </a:rPr>
                        <a:t>ISR wakeup latency</a:t>
                      </a:r>
                    </a:p>
                    <a:p>
                      <a:pPr marL="171450" indent="-171450">
                        <a:buFont typeface="Wingdings" panose="05000000000000000000" pitchFamily="2" charset="2"/>
                        <a:buChar char="Ø"/>
                      </a:pPr>
                      <a:r>
                        <a:rPr lang="en-US" sz="1000" dirty="0">
                          <a:effectLst/>
                        </a:rPr>
                        <a:t>API latency</a:t>
                      </a:r>
                    </a:p>
                  </a:txBody>
                  <a:tcPr marL="76200" marR="76200" marT="19050" marB="19050" anchor="ctr"/>
                </a:tc>
                <a:tc vMerge="1">
                  <a:txBody>
                    <a:bodyPr/>
                    <a:lstStyle/>
                    <a:p>
                      <a:pPr marL="171450" indent="-171450">
                        <a:buFont typeface="Wingdings" panose="05000000000000000000" pitchFamily="2" charset="2"/>
                        <a:buChar char="Ø"/>
                      </a:pPr>
                      <a:endParaRPr lang="en-US" sz="1000" dirty="0">
                        <a:effectLst/>
                      </a:endParaRPr>
                    </a:p>
                  </a:txBody>
                  <a:tcPr marL="76200" marR="76200" marT="19050" marB="19050" anchor="ctr"/>
                </a:tc>
                <a:tc>
                  <a:txBody>
                    <a:bodyPr/>
                    <a:lstStyle/>
                    <a:p>
                      <a:pPr marL="171450" indent="-171450">
                        <a:buFont typeface="Arial" panose="020B0604020202020204" pitchFamily="34" charset="0"/>
                        <a:buChar char="•"/>
                      </a:pPr>
                      <a:r>
                        <a:rPr lang="en-US" sz="1000" dirty="0">
                          <a:effectLst/>
                        </a:rPr>
                        <a:t>5 MD</a:t>
                      </a:r>
                    </a:p>
                  </a:txBody>
                  <a:tcPr marL="76200" marR="76200" marT="19050" marB="19050" anchor="ctr"/>
                </a:tc>
                <a:extLst>
                  <a:ext uri="{0D108BD9-81ED-4DB2-BD59-A6C34878D82A}">
                    <a16:rowId xmlns:a16="http://schemas.microsoft.com/office/drawing/2014/main" val="806029293"/>
                  </a:ext>
                </a:extLst>
              </a:tr>
              <a:tr h="816083">
                <a:tc>
                  <a:txBody>
                    <a:bodyPr/>
                    <a:lstStyle/>
                    <a:p>
                      <a:pPr>
                        <a:buNone/>
                      </a:pPr>
                      <a:r>
                        <a:rPr lang="en-US" sz="1000" b="1" dirty="0" err="1">
                          <a:effectLst/>
                        </a:rPr>
                        <a:t>FatFS</a:t>
                      </a:r>
                      <a:endParaRPr lang="en-US" sz="1000" b="1" dirty="0">
                        <a:effectLst/>
                      </a:endParaRPr>
                    </a:p>
                  </a:txBody>
                  <a:tcPr marL="76200" marR="76200" marT="19050" marB="19050" anchor="ctr"/>
                </a:tc>
                <a:tc>
                  <a:txBody>
                    <a:bodyPr/>
                    <a:lstStyle/>
                    <a:p>
                      <a:pPr>
                        <a:buNone/>
                      </a:pPr>
                      <a:r>
                        <a:rPr lang="en-US" sz="1000" kern="1200" dirty="0">
                          <a:solidFill>
                            <a:schemeClr val="dk1"/>
                          </a:solidFill>
                          <a:effectLst/>
                        </a:rPr>
                        <a:t>Measure file-system efficiency on external and removable storage through mount, format, and file operation performance.</a:t>
                      </a:r>
                      <a:endParaRPr lang="en-US" sz="1000" kern="1200" dirty="0">
                        <a:solidFill>
                          <a:schemeClr val="dk1"/>
                        </a:solidFill>
                        <a:effectLst/>
                        <a:latin typeface="+mn-lt"/>
                        <a:ea typeface="+mn-ea"/>
                        <a:cs typeface="+mn-cs"/>
                      </a:endParaRPr>
                    </a:p>
                  </a:txBody>
                  <a:tcPr marL="76200" marR="76200" marT="19050" marB="19050" anchor="ctr"/>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dirty="0">
                          <a:effectLst/>
                        </a:rPr>
                        <a:t>mount/format time</a:t>
                      </a:r>
                    </a:p>
                    <a:p>
                      <a:pPr marL="171450" indent="-171450">
                        <a:buFont typeface="Wingdings" panose="05000000000000000000" pitchFamily="2" charset="2"/>
                        <a:buChar char="Ø"/>
                      </a:pPr>
                      <a:r>
                        <a:rPr lang="en-US" sz="1000" dirty="0">
                          <a:effectLst/>
                        </a:rPr>
                        <a:t>File operations latency</a:t>
                      </a:r>
                    </a:p>
                    <a:p>
                      <a:pPr marL="171450" indent="-171450">
                        <a:buFont typeface="Wingdings" panose="05000000000000000000" pitchFamily="2" charset="2"/>
                        <a:buChar char="Ø"/>
                      </a:pPr>
                      <a:r>
                        <a:rPr lang="en-US" sz="1000" dirty="0">
                          <a:effectLst/>
                        </a:rPr>
                        <a:t>throughput</a:t>
                      </a:r>
                    </a:p>
                  </a:txBody>
                  <a:tcPr marL="76200" marR="76200" marT="19050" marB="19050" anchor="ctr"/>
                </a:tc>
                <a:tc vMerge="1">
                  <a:txBody>
                    <a:bodyPr/>
                    <a:lstStyle/>
                    <a:p>
                      <a:pPr marL="171450" indent="-171450">
                        <a:buFont typeface="Wingdings" panose="05000000000000000000" pitchFamily="2" charset="2"/>
                        <a:buChar char="Ø"/>
                      </a:pPr>
                      <a:endParaRPr lang="en-US" sz="1000" dirty="0">
                        <a:effectLst/>
                      </a:endParaRPr>
                    </a:p>
                  </a:txBody>
                  <a:tcPr marL="76200" marR="76200" marT="19050" marB="19050" anchor="ctr"/>
                </a:tc>
                <a:tc>
                  <a:txBody>
                    <a:bodyPr/>
                    <a:lstStyle/>
                    <a:p>
                      <a:pPr marL="171450" indent="-171450">
                        <a:buFont typeface="Arial" panose="020B0604020202020204" pitchFamily="34" charset="0"/>
                        <a:buChar char="•"/>
                      </a:pPr>
                      <a:r>
                        <a:rPr lang="en-US" sz="1000" dirty="0">
                          <a:effectLst/>
                        </a:rPr>
                        <a:t>5 MD</a:t>
                      </a:r>
                    </a:p>
                  </a:txBody>
                  <a:tcPr marL="76200" marR="76200" marT="19050" marB="19050" anchor="ctr"/>
                </a:tc>
                <a:extLst>
                  <a:ext uri="{0D108BD9-81ED-4DB2-BD59-A6C34878D82A}">
                    <a16:rowId xmlns:a16="http://schemas.microsoft.com/office/drawing/2014/main" val="3590818077"/>
                  </a:ext>
                </a:extLst>
              </a:tr>
              <a:tr h="644036">
                <a:tc>
                  <a:txBody>
                    <a:bodyPr/>
                    <a:lstStyle/>
                    <a:p>
                      <a:pPr>
                        <a:buNone/>
                      </a:pPr>
                      <a:r>
                        <a:rPr lang="en-US" sz="1000" b="1" dirty="0" err="1">
                          <a:effectLst/>
                        </a:rPr>
                        <a:t>LwIP</a:t>
                      </a:r>
                      <a:endParaRPr lang="en-US" sz="1000" b="1" dirty="0">
                        <a:effectLst/>
                      </a:endParaRPr>
                    </a:p>
                  </a:txBody>
                  <a:tcPr marL="76200" marR="76200" marT="19050" marB="19050" anchor="ctr"/>
                </a:tc>
                <a:tc>
                  <a:txBody>
                    <a:bodyPr/>
                    <a:lstStyle/>
                    <a:p>
                      <a:pPr>
                        <a:buNone/>
                      </a:pPr>
                      <a:r>
                        <a:rPr lang="en-US" sz="1000" kern="1200" dirty="0">
                          <a:solidFill>
                            <a:schemeClr val="dk1"/>
                          </a:solidFill>
                          <a:effectLst/>
                        </a:rPr>
                        <a:t>Measure Ethernet stack efficiency through startup, network service latency, socket performance, and TCP/UDP throughput.</a:t>
                      </a:r>
                      <a:endParaRPr lang="en-US" sz="1000" kern="1200" dirty="0">
                        <a:solidFill>
                          <a:schemeClr val="dk1"/>
                        </a:solidFill>
                        <a:effectLst/>
                        <a:latin typeface="+mn-lt"/>
                        <a:ea typeface="+mn-ea"/>
                        <a:cs typeface="+mn-cs"/>
                      </a:endParaRPr>
                    </a:p>
                  </a:txBody>
                  <a:tcPr marL="76200" marR="76200" marT="19050" marB="19050" anchor="ctr"/>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dirty="0">
                          <a:effectLst/>
                        </a:rPr>
                        <a:t>Bring-up time</a:t>
                      </a:r>
                    </a:p>
                    <a:p>
                      <a:pPr marL="171450" indent="-171450">
                        <a:buFont typeface="Wingdings" panose="05000000000000000000" pitchFamily="2" charset="2"/>
                        <a:buChar char="Ø"/>
                      </a:pPr>
                      <a:r>
                        <a:rPr lang="en-US" sz="1000" dirty="0">
                          <a:effectLst/>
                        </a:rPr>
                        <a:t>TCP/UDP throughput</a:t>
                      </a:r>
                    </a:p>
                  </a:txBody>
                  <a:tcPr marL="76200" marR="76200" marT="19050" marB="19050" anchor="ctr"/>
                </a:tc>
                <a:tc vMerge="1">
                  <a:txBody>
                    <a:bodyPr/>
                    <a:lstStyle/>
                    <a:p>
                      <a:pPr marL="171450" indent="-171450">
                        <a:buFont typeface="Wingdings" panose="05000000000000000000" pitchFamily="2" charset="2"/>
                        <a:buChar char="Ø"/>
                      </a:pPr>
                      <a:endParaRPr lang="en-US" sz="1000" dirty="0">
                        <a:effectLst/>
                      </a:endParaRPr>
                    </a:p>
                  </a:txBody>
                  <a:tcPr marL="76200" marR="76200" marT="19050" marB="19050" anchor="ctr"/>
                </a:tc>
                <a:tc>
                  <a:txBody>
                    <a:bodyPr/>
                    <a:lstStyle/>
                    <a:p>
                      <a:pPr marL="171450" indent="-171450">
                        <a:buFont typeface="Arial" panose="020B0604020202020204" pitchFamily="34" charset="0"/>
                        <a:buChar char="•"/>
                      </a:pPr>
                      <a:r>
                        <a:rPr lang="en-US" sz="1000" dirty="0">
                          <a:effectLst/>
                        </a:rPr>
                        <a:t>7 MD</a:t>
                      </a:r>
                    </a:p>
                  </a:txBody>
                  <a:tcPr marL="76200" marR="76200" marT="19050" marB="19050" anchor="ctr"/>
                </a:tc>
                <a:extLst>
                  <a:ext uri="{0D108BD9-81ED-4DB2-BD59-A6C34878D82A}">
                    <a16:rowId xmlns:a16="http://schemas.microsoft.com/office/drawing/2014/main" val="3778936991"/>
                  </a:ext>
                </a:extLst>
              </a:tr>
            </a:tbl>
          </a:graphicData>
        </a:graphic>
      </p:graphicFrame>
      <p:sp>
        <p:nvSpPr>
          <p:cNvPr id="6" name="Slide Number Placeholder 5">
            <a:extLst>
              <a:ext uri="{FF2B5EF4-FFF2-40B4-BE49-F238E27FC236}">
                <a16:creationId xmlns:a16="http://schemas.microsoft.com/office/drawing/2014/main" id="{151E28F7-B144-0423-D36D-0B3CE2E0B933}"/>
              </a:ext>
            </a:extLst>
          </p:cNvPr>
          <p:cNvSpPr>
            <a:spLocks noGrp="1"/>
          </p:cNvSpPr>
          <p:nvPr>
            <p:ph type="sldNum" sz="quarter" idx="12"/>
          </p:nvPr>
        </p:nvSpPr>
        <p:spPr/>
        <p:txBody>
          <a:bodyPr/>
          <a:lstStyle/>
          <a:p>
            <a:fld id="{40A7B169-58CE-4E65-B1F9-ACF9E46440C2}" type="slidenum">
              <a:rPr lang="en-US" smtClean="0"/>
              <a:t>27</a:t>
            </a:fld>
            <a:endParaRPr lang="en-US"/>
          </a:p>
        </p:txBody>
      </p:sp>
      <p:sp>
        <p:nvSpPr>
          <p:cNvPr id="2" name="TextBox 1">
            <a:extLst>
              <a:ext uri="{FF2B5EF4-FFF2-40B4-BE49-F238E27FC236}">
                <a16:creationId xmlns:a16="http://schemas.microsoft.com/office/drawing/2014/main" id="{588A83F0-4AD9-8FC8-D19D-2CAB5093CA94}"/>
              </a:ext>
            </a:extLst>
          </p:cNvPr>
          <p:cNvSpPr txBox="1"/>
          <p:nvPr/>
        </p:nvSpPr>
        <p:spPr>
          <a:xfrm>
            <a:off x="300037" y="4500788"/>
            <a:ext cx="8211312" cy="246221"/>
          </a:xfrm>
          <a:prstGeom prst="rect">
            <a:avLst/>
          </a:prstGeom>
          <a:noFill/>
        </p:spPr>
        <p:txBody>
          <a:bodyPr wrap="square" rtlCol="0">
            <a:spAutoFit/>
          </a:bodyPr>
          <a:lstStyle/>
          <a:p>
            <a:pPr algn="l"/>
            <a:r>
              <a:rPr lang="en-US" sz="1000" dirty="0"/>
              <a:t>(*) estimation based on tests first development will be done by Copilot + Manual configuration adjustment and validation on HW boards</a:t>
            </a:r>
          </a:p>
        </p:txBody>
      </p:sp>
      <p:graphicFrame>
        <p:nvGraphicFramePr>
          <p:cNvPr id="4" name="Table 3">
            <a:extLst>
              <a:ext uri="{FF2B5EF4-FFF2-40B4-BE49-F238E27FC236}">
                <a16:creationId xmlns:a16="http://schemas.microsoft.com/office/drawing/2014/main" id="{96E165DA-3EE8-EB14-6266-3D338BDB933E}"/>
              </a:ext>
            </a:extLst>
          </p:cNvPr>
          <p:cNvGraphicFramePr>
            <a:graphicFrameLocks noGrp="1"/>
          </p:cNvGraphicFramePr>
          <p:nvPr>
            <p:extLst>
              <p:ext uri="{D42A27DB-BD31-4B8C-83A1-F6EECF244321}">
                <p14:modId xmlns:p14="http://schemas.microsoft.com/office/powerpoint/2010/main" val="2745186060"/>
              </p:ext>
            </p:extLst>
          </p:nvPr>
        </p:nvGraphicFramePr>
        <p:xfrm>
          <a:off x="300038" y="4766292"/>
          <a:ext cx="11450003" cy="1503992"/>
        </p:xfrm>
        <a:graphic>
          <a:graphicData uri="http://schemas.openxmlformats.org/drawingml/2006/table">
            <a:tbl>
              <a:tblPr firstRow="1" bandRow="1">
                <a:tableStyleId>{EB344D84-9AFB-497E-A393-DC336BA19D2E}</a:tableStyleId>
              </a:tblPr>
              <a:tblGrid>
                <a:gridCol w="8189507">
                  <a:extLst>
                    <a:ext uri="{9D8B030D-6E8A-4147-A177-3AD203B41FA5}">
                      <a16:colId xmlns:a16="http://schemas.microsoft.com/office/drawing/2014/main" val="1510751210"/>
                    </a:ext>
                  </a:extLst>
                </a:gridCol>
                <a:gridCol w="3260496">
                  <a:extLst>
                    <a:ext uri="{9D8B030D-6E8A-4147-A177-3AD203B41FA5}">
                      <a16:colId xmlns:a16="http://schemas.microsoft.com/office/drawing/2014/main" val="1519855247"/>
                    </a:ext>
                  </a:extLst>
                </a:gridCol>
              </a:tblGrid>
              <a:tr h="316662">
                <a:tc>
                  <a:txBody>
                    <a:bodyPr/>
                    <a:lstStyle/>
                    <a:p>
                      <a:pPr>
                        <a:buNone/>
                      </a:pPr>
                      <a:r>
                        <a:rPr lang="en-US" sz="1000" dirty="0">
                          <a:effectLst/>
                        </a:rPr>
                        <a:t>Benchmark Scope: </a:t>
                      </a:r>
                      <a:r>
                        <a:rPr lang="en-US" sz="1000" dirty="0">
                          <a:solidFill>
                            <a:schemeClr val="accent2"/>
                          </a:solidFill>
                          <a:effectLst/>
                        </a:rPr>
                        <a:t>Cube2</a:t>
                      </a:r>
                      <a:r>
                        <a:rPr lang="en-US" sz="1000" dirty="0">
                          <a:effectLst/>
                        </a:rPr>
                        <a:t> </a:t>
                      </a:r>
                      <a:r>
                        <a:rPr lang="en-US" sz="1000" dirty="0">
                          <a:solidFill>
                            <a:schemeClr val="accent2"/>
                          </a:solidFill>
                          <a:effectLst/>
                        </a:rPr>
                        <a:t>STM32C5 vs TI MSPM33</a:t>
                      </a:r>
                    </a:p>
                  </a:txBody>
                  <a:tcPr marL="76200" marR="76200" marT="19050" marB="1905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effectLst/>
                        </a:rPr>
                        <a:t>HW Board</a:t>
                      </a:r>
                    </a:p>
                    <a:p>
                      <a:pPr>
                        <a:buNone/>
                      </a:pPr>
                      <a:endParaRPr lang="en-US" sz="1000" dirty="0">
                        <a:effectLst/>
                      </a:endParaRPr>
                    </a:p>
                  </a:txBody>
                  <a:tcPr marL="76200" marR="76200" marT="19050" marB="19050" anchor="ctr"/>
                </a:tc>
                <a:extLst>
                  <a:ext uri="{0D108BD9-81ED-4DB2-BD59-A6C34878D82A}">
                    <a16:rowId xmlns:a16="http://schemas.microsoft.com/office/drawing/2014/main" val="2625956129"/>
                  </a:ext>
                </a:extLst>
              </a:tr>
              <a:tr h="1161092">
                <a:tc>
                  <a:txBody>
                    <a:bodyPr/>
                    <a:lstStyle/>
                    <a:p>
                      <a:pPr marL="171450" lvl="0" indent="-171450" algn="l">
                        <a:buFont typeface="Arial" panose="020B0604020202020204" pitchFamily="34" charset="0"/>
                        <a:buChar char="•"/>
                      </a:pPr>
                      <a:r>
                        <a:rPr lang="en-US" sz="1000" kern="1200" dirty="0">
                          <a:solidFill>
                            <a:schemeClr val="dk1"/>
                          </a:solidFill>
                          <a:effectLst/>
                          <a:latin typeface="+mn-lt"/>
                          <a:ea typeface="+mn-ea"/>
                          <a:cs typeface="+mn-cs"/>
                        </a:rPr>
                        <a:t>Done before on STM32C0 vs TI MSPM0. Now, we will assess changes in M33 products.</a:t>
                      </a:r>
                    </a:p>
                    <a:p>
                      <a:pPr marL="171450" lvl="0" indent="-171450" algn="l">
                        <a:buFont typeface="Arial" panose="020B0604020202020204" pitchFamily="34" charset="0"/>
                        <a:buChar char="•"/>
                      </a:pPr>
                      <a:r>
                        <a:rPr lang="en-US" sz="1000" kern="1200" dirty="0">
                          <a:solidFill>
                            <a:schemeClr val="dk1"/>
                          </a:solidFill>
                          <a:effectLst/>
                          <a:latin typeface="+mn-lt"/>
                          <a:ea typeface="+mn-ea"/>
                          <a:cs typeface="+mn-cs"/>
                        </a:rPr>
                        <a:t>STEP 1 Static analysis: </a:t>
                      </a:r>
                      <a:r>
                        <a:rPr lang="en-US" sz="1000" kern="1200" dirty="0" err="1">
                          <a:solidFill>
                            <a:schemeClr val="dk1"/>
                          </a:solidFill>
                          <a:effectLst/>
                          <a:latin typeface="+mn-lt"/>
                          <a:ea typeface="+mn-ea"/>
                          <a:cs typeface="+mn-cs"/>
                        </a:rPr>
                        <a:t>Ecoystem</a:t>
                      </a:r>
                      <a:r>
                        <a:rPr lang="en-US" sz="1000" kern="1200" dirty="0">
                          <a:solidFill>
                            <a:schemeClr val="dk1"/>
                          </a:solidFill>
                          <a:effectLst/>
                          <a:latin typeface="+mn-lt"/>
                          <a:ea typeface="+mn-ea"/>
                          <a:cs typeface="+mn-cs"/>
                        </a:rPr>
                        <a:t>, tools, drivers' architecture, … will be studied</a:t>
                      </a:r>
                    </a:p>
                    <a:p>
                      <a:pPr marL="171450" lvl="0" indent="-171450" algn="l">
                        <a:buFont typeface="Arial" panose="020B0604020202020204" pitchFamily="34" charset="0"/>
                        <a:buChar char="•"/>
                      </a:pPr>
                      <a:r>
                        <a:rPr lang="en-US" sz="1000" kern="1200" dirty="0">
                          <a:solidFill>
                            <a:schemeClr val="dk1"/>
                          </a:solidFill>
                          <a:effectLst/>
                          <a:latin typeface="+mn-lt"/>
                          <a:ea typeface="+mn-ea"/>
                          <a:cs typeface="+mn-cs"/>
                        </a:rPr>
                        <a:t>STEP 2 Functional analysis: </a:t>
                      </a:r>
                    </a:p>
                    <a:p>
                      <a:pPr marL="628650" lvl="1" indent="-171450" algn="l">
                        <a:buFont typeface="Arial" panose="020B0604020202020204" pitchFamily="34" charset="0"/>
                        <a:buChar char="•"/>
                      </a:pPr>
                      <a:r>
                        <a:rPr lang="en-US" sz="1000" kern="1200" dirty="0">
                          <a:solidFill>
                            <a:schemeClr val="dk1"/>
                          </a:solidFill>
                          <a:effectLst/>
                          <a:latin typeface="+mn-lt"/>
                          <a:ea typeface="+mn-ea"/>
                          <a:cs typeface="+mn-cs"/>
                        </a:rPr>
                        <a:t>LL equivalent scenarios deployment on STM32C5 and MPSM33 to evaluate footprint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dk1"/>
                          </a:solidFill>
                          <a:effectLst/>
                          <a:latin typeface="+mn-lt"/>
                          <a:ea typeface="+mn-ea"/>
                          <a:cs typeface="+mn-cs"/>
                        </a:rPr>
                        <a:t>MW equivalent scenarios deployment on STM32C5 and MPSM33 to evaluate footprint and execution time (stacks to be defined)</a:t>
                      </a:r>
                    </a:p>
                    <a:p>
                      <a:pPr marL="628650" lvl="1" indent="-171450" algn="l">
                        <a:buFont typeface="Arial" panose="020B0604020202020204" pitchFamily="34" charset="0"/>
                        <a:buChar char="•"/>
                      </a:pPr>
                      <a:endParaRPr lang="en-US" sz="1000" kern="1200" dirty="0">
                        <a:solidFill>
                          <a:schemeClr val="dk1"/>
                        </a:solidFill>
                        <a:effectLst/>
                        <a:latin typeface="+mn-lt"/>
                        <a:ea typeface="+mn-ea"/>
                        <a:cs typeface="+mn-cs"/>
                      </a:endParaRPr>
                    </a:p>
                    <a:p>
                      <a:pPr lvl="0" algn="l"/>
                      <a:endParaRPr lang="en-US" sz="1000" kern="1200" dirty="0">
                        <a:solidFill>
                          <a:schemeClr val="dk1"/>
                        </a:solidFill>
                        <a:effectLst/>
                        <a:latin typeface="+mn-lt"/>
                        <a:ea typeface="+mn-ea"/>
                        <a:cs typeface="+mn-cs"/>
                      </a:endParaRPr>
                    </a:p>
                  </a:txBody>
                  <a:tcPr marL="76200" marR="76200" marT="19050" marB="19050"/>
                </a:tc>
                <a:tc>
                  <a:txBody>
                    <a:bodyPr/>
                    <a:lstStyle/>
                    <a:p>
                      <a:pPr>
                        <a:buNone/>
                      </a:pPr>
                      <a:r>
                        <a:rPr lang="en-US" sz="1000" b="1" kern="1200" dirty="0">
                          <a:solidFill>
                            <a:schemeClr val="dk1"/>
                          </a:solidFill>
                          <a:effectLst/>
                          <a:latin typeface="+mn-lt"/>
                          <a:ea typeface="+mn-ea"/>
                          <a:cs typeface="+mn-cs"/>
                          <a:hlinkClick r:id="rId3">
                            <a:extLst>
                              <a:ext uri="{A12FA001-AC4F-418D-AE19-62706E023703}">
                                <ahyp:hlinkClr xmlns:ahyp="http://schemas.microsoft.com/office/drawing/2018/hyperlinkcolor" val="tx"/>
                              </a:ext>
                            </a:extLst>
                          </a:hlinkClick>
                        </a:rPr>
                        <a:t>MSPM33C321A</a:t>
                      </a:r>
                      <a:r>
                        <a:rPr lang="en-US" sz="1000" b="1" dirty="0">
                          <a:effectLst/>
                        </a:rPr>
                        <a:t> vs </a:t>
                      </a:r>
                      <a:r>
                        <a:rPr lang="en-US" sz="1000" b="1" kern="1200" dirty="0">
                          <a:solidFill>
                            <a:schemeClr val="dk1"/>
                          </a:solidFill>
                          <a:effectLst/>
                          <a:latin typeface="+mn-lt"/>
                          <a:ea typeface="+mn-ea"/>
                          <a:cs typeface="+mn-cs"/>
                          <a:hlinkClick r:id="rId4">
                            <a:extLst>
                              <a:ext uri="{A12FA001-AC4F-418D-AE19-62706E023703}">
                                <ahyp:hlinkClr xmlns:ahyp="http://schemas.microsoft.com/office/drawing/2018/hyperlinkcolor" val="tx"/>
                              </a:ext>
                            </a:extLst>
                          </a:hlinkClick>
                        </a:rPr>
                        <a:t>STM32C5A3ZJ-NUCLEO</a:t>
                      </a:r>
                      <a:endParaRPr lang="en-US" sz="1000" b="1" kern="1200" dirty="0">
                        <a:solidFill>
                          <a:schemeClr val="dk1"/>
                        </a:solidFill>
                        <a:effectLst/>
                        <a:latin typeface="+mn-lt"/>
                        <a:ea typeface="+mn-ea"/>
                        <a:cs typeface="+mn-cs"/>
                      </a:endParaRPr>
                    </a:p>
                    <a:p>
                      <a:pPr marL="171450" indent="-171450">
                        <a:buFont typeface="Arial" panose="020B0604020202020204" pitchFamily="34" charset="0"/>
                        <a:buChar char="•"/>
                      </a:pPr>
                      <a:r>
                        <a:rPr lang="en-US" sz="1000" b="0" dirty="0"/>
                        <a:t>Cortex: same M33</a:t>
                      </a:r>
                    </a:p>
                    <a:p>
                      <a:pPr marL="171450" indent="-171450">
                        <a:buFont typeface="Arial" panose="020B0604020202020204" pitchFamily="34" charset="0"/>
                        <a:buChar char="•"/>
                      </a:pPr>
                      <a:r>
                        <a:rPr lang="en-US" sz="1000" b="0" dirty="0"/>
                        <a:t>Frequency: 160 MHz vs 144 MHz</a:t>
                      </a:r>
                    </a:p>
                    <a:p>
                      <a:pPr marL="171450" indent="-171450">
                        <a:buFont typeface="Arial" panose="020B0604020202020204" pitchFamily="34" charset="0"/>
                        <a:buChar char="•"/>
                      </a:pPr>
                      <a:r>
                        <a:rPr lang="en-US" sz="1000" b="0" dirty="0"/>
                        <a:t>Flash: same 1 MB</a:t>
                      </a:r>
                    </a:p>
                    <a:p>
                      <a:pPr marL="171450" indent="-171450">
                        <a:buFont typeface="Arial" panose="020B0604020202020204" pitchFamily="34" charset="0"/>
                        <a:buChar char="•"/>
                      </a:pPr>
                      <a:r>
                        <a:rPr lang="en-US" sz="1000" b="0" dirty="0"/>
                        <a:t>SRAM: same 256 KB</a:t>
                      </a:r>
                      <a:endParaRPr lang="en-US" sz="1000" dirty="0">
                        <a:effectLst/>
                      </a:endParaRPr>
                    </a:p>
                    <a:p>
                      <a:pPr marL="0" indent="0">
                        <a:buFont typeface="Wingdings" panose="05000000000000000000" pitchFamily="2" charset="2"/>
                        <a:buNone/>
                      </a:pPr>
                      <a:endParaRPr lang="en-US" sz="1000" dirty="0">
                        <a:effectLst/>
                      </a:endParaRPr>
                    </a:p>
                  </a:txBody>
                  <a:tcPr marL="76200" marR="76200" marT="19050" marB="19050" anchor="ctr"/>
                </a:tc>
                <a:extLst>
                  <a:ext uri="{0D108BD9-81ED-4DB2-BD59-A6C34878D82A}">
                    <a16:rowId xmlns:a16="http://schemas.microsoft.com/office/drawing/2014/main" val="3583111417"/>
                  </a:ext>
                </a:extLst>
              </a:tr>
            </a:tbl>
          </a:graphicData>
        </a:graphic>
      </p:graphicFrame>
    </p:spTree>
    <p:extLst>
      <p:ext uri="{BB962C8B-B14F-4D97-AF65-F5344CB8AC3E}">
        <p14:creationId xmlns:p14="http://schemas.microsoft.com/office/powerpoint/2010/main" val="3672939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88465-0DBF-31CC-EEAD-579D05DE95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3B7F64-352A-4673-5906-6AC644C0004F}"/>
              </a:ext>
            </a:extLst>
          </p:cNvPr>
          <p:cNvSpPr>
            <a:spLocks noGrp="1"/>
          </p:cNvSpPr>
          <p:nvPr>
            <p:ph type="title"/>
          </p:nvPr>
        </p:nvSpPr>
        <p:spPr/>
        <p:txBody>
          <a:bodyPr/>
          <a:lstStyle/>
          <a:p>
            <a:r>
              <a:rPr lang="en-US" b="1" dirty="0"/>
              <a:t>STM32 vs Renesas</a:t>
            </a:r>
          </a:p>
        </p:txBody>
      </p:sp>
      <p:graphicFrame>
        <p:nvGraphicFramePr>
          <p:cNvPr id="5" name="Table 4">
            <a:extLst>
              <a:ext uri="{FF2B5EF4-FFF2-40B4-BE49-F238E27FC236}">
                <a16:creationId xmlns:a16="http://schemas.microsoft.com/office/drawing/2014/main" id="{C6BDDAD4-A7DC-8117-A7AD-D9C4F6B9BDE7}"/>
              </a:ext>
            </a:extLst>
          </p:cNvPr>
          <p:cNvGraphicFramePr>
            <a:graphicFrameLocks noGrp="1"/>
          </p:cNvGraphicFramePr>
          <p:nvPr>
            <p:extLst>
              <p:ext uri="{D42A27DB-BD31-4B8C-83A1-F6EECF244321}">
                <p14:modId xmlns:p14="http://schemas.microsoft.com/office/powerpoint/2010/main" val="1931887537"/>
              </p:ext>
            </p:extLst>
          </p:nvPr>
        </p:nvGraphicFramePr>
        <p:xfrm>
          <a:off x="300037" y="1065603"/>
          <a:ext cx="11591926" cy="2875144"/>
        </p:xfrm>
        <a:graphic>
          <a:graphicData uri="http://schemas.openxmlformats.org/drawingml/2006/table">
            <a:tbl>
              <a:tblPr firstRow="1" bandRow="1">
                <a:tableStyleId>{EB344D84-9AFB-497E-A393-DC336BA19D2E}</a:tableStyleId>
              </a:tblPr>
              <a:tblGrid>
                <a:gridCol w="993369">
                  <a:extLst>
                    <a:ext uri="{9D8B030D-6E8A-4147-A177-3AD203B41FA5}">
                      <a16:colId xmlns:a16="http://schemas.microsoft.com/office/drawing/2014/main" val="3559270126"/>
                    </a:ext>
                  </a:extLst>
                </a:gridCol>
                <a:gridCol w="4138130">
                  <a:extLst>
                    <a:ext uri="{9D8B030D-6E8A-4147-A177-3AD203B41FA5}">
                      <a16:colId xmlns:a16="http://schemas.microsoft.com/office/drawing/2014/main" val="3238150366"/>
                    </a:ext>
                  </a:extLst>
                </a:gridCol>
                <a:gridCol w="1837944">
                  <a:extLst>
                    <a:ext uri="{9D8B030D-6E8A-4147-A177-3AD203B41FA5}">
                      <a16:colId xmlns:a16="http://schemas.microsoft.com/office/drawing/2014/main" val="2090940622"/>
                    </a:ext>
                  </a:extLst>
                </a:gridCol>
                <a:gridCol w="2615184">
                  <a:extLst>
                    <a:ext uri="{9D8B030D-6E8A-4147-A177-3AD203B41FA5}">
                      <a16:colId xmlns:a16="http://schemas.microsoft.com/office/drawing/2014/main" val="530936437"/>
                    </a:ext>
                  </a:extLst>
                </a:gridCol>
                <a:gridCol w="2007299">
                  <a:extLst>
                    <a:ext uri="{9D8B030D-6E8A-4147-A177-3AD203B41FA5}">
                      <a16:colId xmlns:a16="http://schemas.microsoft.com/office/drawing/2014/main" val="602243327"/>
                    </a:ext>
                  </a:extLst>
                </a:gridCol>
              </a:tblGrid>
              <a:tr h="301765">
                <a:tc>
                  <a:txBody>
                    <a:bodyPr/>
                    <a:lstStyle/>
                    <a:p>
                      <a:pPr algn="ctr"/>
                      <a:r>
                        <a:rPr lang="en-US" sz="1100" b="1" dirty="0"/>
                        <a:t>Middleware Stack</a:t>
                      </a:r>
                    </a:p>
                  </a:txBody>
                  <a:tcPr marL="38100" marR="38100" marT="25400" marB="25400"/>
                </a:tc>
                <a:tc>
                  <a:txBody>
                    <a:bodyPr/>
                    <a:lstStyle/>
                    <a:p>
                      <a:pPr algn="ctr"/>
                      <a:r>
                        <a:rPr lang="en-US" sz="1100" b="1" dirty="0"/>
                        <a:t>Benchmark Scope</a:t>
                      </a:r>
                    </a:p>
                  </a:txBody>
                  <a:tcPr marL="38100" marR="38100" marT="25400" marB="25400"/>
                </a:tc>
                <a:tc>
                  <a:txBody>
                    <a:bodyPr/>
                    <a:lstStyle/>
                    <a:p>
                      <a:pPr algn="ctr"/>
                      <a:r>
                        <a:rPr lang="en-US" sz="1100" b="1" dirty="0"/>
                        <a:t>Headline KPIs</a:t>
                      </a:r>
                    </a:p>
                  </a:txBody>
                  <a:tcPr marL="38100" marR="38100" marT="25400" marB="25400"/>
                </a:tc>
                <a:tc>
                  <a:txBody>
                    <a:bodyPr/>
                    <a:lstStyle/>
                    <a:p>
                      <a:pPr algn="ctr"/>
                      <a:r>
                        <a:rPr lang="en-US" sz="1100" b="1" dirty="0"/>
                        <a:t>HW Board</a:t>
                      </a:r>
                    </a:p>
                  </a:txBody>
                  <a:tcPr marL="38100" marR="38100" marT="25400" marB="25400"/>
                </a:tc>
                <a:tc>
                  <a:txBody>
                    <a:bodyPr/>
                    <a:lstStyle/>
                    <a:p>
                      <a:pPr algn="ctr"/>
                      <a:r>
                        <a:rPr lang="en-US" sz="1100" b="1" dirty="0"/>
                        <a:t>Effort estimation*</a:t>
                      </a:r>
                    </a:p>
                  </a:txBody>
                  <a:tcPr marL="38100" marR="38100" marT="25400" marB="25400"/>
                </a:tc>
                <a:extLst>
                  <a:ext uri="{0D108BD9-81ED-4DB2-BD59-A6C34878D82A}">
                    <a16:rowId xmlns:a16="http://schemas.microsoft.com/office/drawing/2014/main" val="2625956129"/>
                  </a:ext>
                </a:extLst>
              </a:tr>
              <a:tr h="668601">
                <a:tc>
                  <a:txBody>
                    <a:bodyPr/>
                    <a:lstStyle/>
                    <a:p>
                      <a:r>
                        <a:rPr lang="en-US" sz="1000" b="1" dirty="0" err="1"/>
                        <a:t>FreeRTOS</a:t>
                      </a:r>
                      <a:endParaRPr lang="en-US" sz="1000" b="1" dirty="0"/>
                    </a:p>
                  </a:txBody>
                  <a:tcPr marL="38100" marR="38100" marT="25400" marB="25400"/>
                </a:tc>
                <a:tc>
                  <a:txBody>
                    <a:bodyPr/>
                    <a:lstStyle/>
                    <a:p>
                      <a:pPr marL="0" indent="0">
                        <a:buFontTx/>
                        <a:buNone/>
                      </a:pPr>
                      <a:r>
                        <a:rPr lang="en-US" sz="1000" b="0" dirty="0"/>
                        <a:t>Assess low-footprint multitasking efficiency for entry-class MCUs by measuring task lifecycle cost, API latency, and context-switch overhead under controlled scheduling conditions.</a:t>
                      </a:r>
                    </a:p>
                  </a:txBody>
                  <a:tcPr marL="38100" marR="38100" marT="25400" marB="25400"/>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b="0" dirty="0"/>
                        <a:t>API latency</a:t>
                      </a:r>
                    </a:p>
                    <a:p>
                      <a:pPr marL="171450" indent="-171450">
                        <a:buFont typeface="Wingdings" panose="05000000000000000000" pitchFamily="2" charset="2"/>
                        <a:buChar char="Ø"/>
                      </a:pPr>
                      <a:r>
                        <a:rPr lang="en-US" sz="1000" b="0" dirty="0"/>
                        <a:t>context-switch cost</a:t>
                      </a:r>
                    </a:p>
                  </a:txBody>
                  <a:tcPr marL="38100" marR="38100" marT="25400" marB="25400"/>
                </a:tc>
                <a:tc>
                  <a:txBody>
                    <a:bodyPr/>
                    <a:lstStyle/>
                    <a:p>
                      <a:r>
                        <a:rPr lang="en-US" sz="1000" b="1" dirty="0"/>
                        <a:t>FPB-RA0E1 vs </a:t>
                      </a:r>
                      <a:r>
                        <a:rPr lang="en-US" sz="1000" b="1" dirty="0">
                          <a:effectLst/>
                        </a:rPr>
                        <a:t>NUCLEO‑</a:t>
                      </a:r>
                      <a:r>
                        <a:rPr lang="en-US" sz="1000" b="1" dirty="0"/>
                        <a:t>STM32L031</a:t>
                      </a:r>
                    </a:p>
                    <a:p>
                      <a:pPr marL="171450" indent="-171450">
                        <a:buFont typeface="Arial" panose="020B0604020202020204" pitchFamily="34" charset="0"/>
                        <a:buChar char="•"/>
                      </a:pPr>
                      <a:r>
                        <a:rPr lang="en-US" sz="1000" b="0" dirty="0"/>
                        <a:t>Cortex: M23 vs M0+</a:t>
                      </a:r>
                    </a:p>
                    <a:p>
                      <a:pPr marL="171450" indent="-171450">
                        <a:buFont typeface="Arial" panose="020B0604020202020204" pitchFamily="34" charset="0"/>
                        <a:buChar char="•"/>
                      </a:pPr>
                      <a:r>
                        <a:rPr lang="en-US" sz="1000" b="0" dirty="0"/>
                        <a:t>Frequency: same 32 MHz</a:t>
                      </a:r>
                    </a:p>
                    <a:p>
                      <a:pPr marL="171450" indent="-171450">
                        <a:buFont typeface="Arial" panose="020B0604020202020204" pitchFamily="34" charset="0"/>
                        <a:buChar char="•"/>
                      </a:pPr>
                      <a:r>
                        <a:rPr lang="en-US" sz="1000" b="0" dirty="0"/>
                        <a:t>Flash: 64 KB vs 32 KB</a:t>
                      </a:r>
                    </a:p>
                    <a:p>
                      <a:pPr marL="171450" indent="-171450">
                        <a:buFont typeface="Arial" panose="020B0604020202020204" pitchFamily="34" charset="0"/>
                        <a:buChar char="•"/>
                      </a:pPr>
                      <a:r>
                        <a:rPr lang="en-US" sz="1000" b="0" dirty="0"/>
                        <a:t>SRAM: 12 KB vs 8 KB </a:t>
                      </a:r>
                    </a:p>
                  </a:txBody>
                  <a:tcPr marL="38100" marR="38100" marT="25400" marB="25400"/>
                </a:tc>
                <a:tc>
                  <a:txBody>
                    <a:bodyPr/>
                    <a:lstStyle/>
                    <a:p>
                      <a:pPr marL="171450" indent="-171450">
                        <a:buFont typeface="Arial" panose="020B0604020202020204" pitchFamily="34" charset="0"/>
                        <a:buChar char="•"/>
                      </a:pPr>
                      <a:r>
                        <a:rPr lang="en-US" sz="1000" b="0" dirty="0"/>
                        <a:t>4 MD </a:t>
                      </a:r>
                    </a:p>
                  </a:txBody>
                  <a:tcPr marL="38100" marR="38100" marT="25400" marB="25400"/>
                </a:tc>
                <a:extLst>
                  <a:ext uri="{0D108BD9-81ED-4DB2-BD59-A6C34878D82A}">
                    <a16:rowId xmlns:a16="http://schemas.microsoft.com/office/drawing/2014/main" val="2454428184"/>
                  </a:ext>
                </a:extLst>
              </a:tr>
              <a:tr h="838132">
                <a:tc>
                  <a:txBody>
                    <a:bodyPr/>
                    <a:lstStyle/>
                    <a:p>
                      <a:r>
                        <a:rPr lang="en-US" sz="1000" b="1" dirty="0" err="1"/>
                        <a:t>LevelX</a:t>
                      </a:r>
                      <a:r>
                        <a:rPr lang="en-US" sz="1000" b="1" dirty="0"/>
                        <a:t> </a:t>
                      </a:r>
                    </a:p>
                  </a:txBody>
                  <a:tcPr marL="38100" marR="38100" marT="25400" marB="25400"/>
                </a:tc>
                <a:tc>
                  <a:txBody>
                    <a:bodyPr/>
                    <a:lstStyle/>
                    <a:p>
                      <a:r>
                        <a:rPr lang="en-US" sz="1000" b="0" kern="1200" dirty="0">
                          <a:solidFill>
                            <a:schemeClr val="dk1"/>
                          </a:solidFill>
                          <a:latin typeface="+mn-lt"/>
                          <a:ea typeface="+mn-ea"/>
                          <a:cs typeface="+mn-cs"/>
                        </a:rPr>
                        <a:t>Evaluate persistent storage efficiency and flash-management readiness through format, mount/remount, and small-file create/delete cycle performance.</a:t>
                      </a:r>
                    </a:p>
                  </a:txBody>
                  <a:tcPr marL="38100" marR="38100" marT="25400" marB="25400"/>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b="0" dirty="0"/>
                        <a:t>Mount/remount time</a:t>
                      </a:r>
                    </a:p>
                    <a:p>
                      <a:pPr marL="171450" indent="-171450">
                        <a:buFont typeface="Wingdings" panose="05000000000000000000" pitchFamily="2" charset="2"/>
                        <a:buChar char="Ø"/>
                      </a:pPr>
                      <a:r>
                        <a:rPr lang="en-US" sz="1000" b="0" dirty="0"/>
                        <a:t>read/write throughput</a:t>
                      </a:r>
                    </a:p>
                  </a:txBody>
                  <a:tcPr marL="38100" marR="38100" marT="25400" marB="254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t>EK-RA8M1 vs STM32H753</a:t>
                      </a:r>
                    </a:p>
                    <a:p>
                      <a:pPr marL="171450" indent="-171450">
                        <a:buFont typeface="Arial" panose="020B0604020202020204" pitchFamily="34" charset="0"/>
                        <a:buChar char="•"/>
                      </a:pPr>
                      <a:r>
                        <a:rPr lang="en-US" sz="1000" b="0" dirty="0"/>
                        <a:t>Cortex: M85 vs M7</a:t>
                      </a:r>
                    </a:p>
                    <a:p>
                      <a:pPr marL="171450" indent="-171450">
                        <a:buFont typeface="Arial" panose="020B0604020202020204" pitchFamily="34" charset="0"/>
                        <a:buChar char="•"/>
                      </a:pPr>
                      <a:r>
                        <a:rPr lang="en-US" sz="1000" b="0" dirty="0"/>
                        <a:t>Frequency: same 480 MHz</a:t>
                      </a:r>
                    </a:p>
                    <a:p>
                      <a:pPr marL="171450" indent="-171450">
                        <a:buFont typeface="Arial" panose="020B0604020202020204" pitchFamily="34" charset="0"/>
                        <a:buChar char="•"/>
                      </a:pPr>
                      <a:r>
                        <a:rPr lang="en-US" sz="1000" b="0" dirty="0"/>
                        <a:t>Flash: same 2MB dual bank</a:t>
                      </a:r>
                    </a:p>
                    <a:p>
                      <a:pPr marL="171450" indent="-171450">
                        <a:buFont typeface="Arial" panose="020B0604020202020204" pitchFamily="34" charset="0"/>
                        <a:buChar char="•"/>
                      </a:pPr>
                      <a:r>
                        <a:rPr lang="en-US" sz="1000" b="0" dirty="0"/>
                        <a:t>SRAM: same 1MB</a:t>
                      </a:r>
                    </a:p>
                  </a:txBody>
                  <a:tcPr marL="38100" marR="38100" marT="25400" marB="25400"/>
                </a:tc>
                <a:tc>
                  <a:txBody>
                    <a:bodyPr/>
                    <a:lstStyle/>
                    <a:p>
                      <a:pPr marL="171450" indent="-171450">
                        <a:buFont typeface="Arial" panose="020B0604020202020204" pitchFamily="34" charset="0"/>
                        <a:buChar char="•"/>
                      </a:pPr>
                      <a:r>
                        <a:rPr lang="en-US" sz="1000" b="0" dirty="0"/>
                        <a:t>10 MD</a:t>
                      </a:r>
                    </a:p>
                  </a:txBody>
                  <a:tcPr marL="38100" marR="38100" marT="25400" marB="25400"/>
                </a:tc>
                <a:extLst>
                  <a:ext uri="{0D108BD9-81ED-4DB2-BD59-A6C34878D82A}">
                    <a16:rowId xmlns:a16="http://schemas.microsoft.com/office/drawing/2014/main" val="2434392173"/>
                  </a:ext>
                </a:extLst>
              </a:tr>
              <a:tr h="838132">
                <a:tc>
                  <a:txBody>
                    <a:bodyPr/>
                    <a:lstStyle/>
                    <a:p>
                      <a:r>
                        <a:rPr lang="en-US" sz="1000" b="1" dirty="0"/>
                        <a:t>USB</a:t>
                      </a:r>
                    </a:p>
                  </a:txBody>
                  <a:tcPr marL="38100" marR="38100" marT="25400" marB="25400"/>
                </a:tc>
                <a:tc>
                  <a:txBody>
                    <a:bodyPr/>
                    <a:lstStyle/>
                    <a:p>
                      <a:r>
                        <a:rPr lang="en-US" sz="1000" b="0" dirty="0"/>
                        <a:t>Compare USB stack footprint and class initialization performance across CDC, HID, and MSC by measuring initialization, enumeration, control-transfer latency, and transfer throughput.</a:t>
                      </a:r>
                    </a:p>
                  </a:txBody>
                  <a:tcPr marL="38100" marR="38100" marT="25400" marB="25400"/>
                </a:tc>
                <a:tc>
                  <a:txBody>
                    <a:bodyPr/>
                    <a:lstStyle/>
                    <a:p>
                      <a:pPr marL="171450" indent="-171450">
                        <a:buFont typeface="Wingdings" panose="05000000000000000000" pitchFamily="2" charset="2"/>
                        <a:buChar char="Ø"/>
                      </a:pPr>
                      <a:r>
                        <a:rPr lang="en-US" sz="1000" b="0" dirty="0"/>
                        <a:t>Total footprint </a:t>
                      </a:r>
                    </a:p>
                    <a:p>
                      <a:pPr marL="171450" indent="-171450">
                        <a:buFont typeface="Wingdings" panose="05000000000000000000" pitchFamily="2" charset="2"/>
                        <a:buChar char="Ø"/>
                      </a:pPr>
                      <a:r>
                        <a:rPr lang="en-US" sz="1000" b="0" dirty="0"/>
                        <a:t>Initialization time</a:t>
                      </a:r>
                    </a:p>
                    <a:p>
                      <a:pPr marL="171450" indent="-171450">
                        <a:buFont typeface="Wingdings" panose="05000000000000000000" pitchFamily="2" charset="2"/>
                        <a:buChar char="Ø"/>
                      </a:pPr>
                      <a:r>
                        <a:rPr lang="en-US" sz="1000" b="0" dirty="0"/>
                        <a:t>enumeration time</a:t>
                      </a:r>
                    </a:p>
                    <a:p>
                      <a:pPr marL="171450" indent="-171450">
                        <a:buFont typeface="Wingdings" panose="05000000000000000000" pitchFamily="2" charset="2"/>
                        <a:buChar char="Ø"/>
                      </a:pPr>
                      <a:r>
                        <a:rPr lang="en-US" sz="1000" b="0" dirty="0"/>
                        <a:t>transfer throughput</a:t>
                      </a:r>
                    </a:p>
                  </a:txBody>
                  <a:tcPr marL="38100" marR="38100" marT="25400" marB="25400"/>
                </a:tc>
                <a:tc>
                  <a:txBody>
                    <a:bodyPr/>
                    <a:lstStyle/>
                    <a:p>
                      <a:r>
                        <a:rPr lang="en-US" sz="1000" b="1" dirty="0"/>
                        <a:t>FPB-RA8E1 vs </a:t>
                      </a:r>
                      <a:r>
                        <a:rPr lang="en-US" sz="1000" b="1" dirty="0">
                          <a:effectLst/>
                        </a:rPr>
                        <a:t>NUCLEO‑</a:t>
                      </a:r>
                      <a:r>
                        <a:rPr lang="en-US" sz="1000" b="1" dirty="0"/>
                        <a:t>STM32H743</a:t>
                      </a:r>
                    </a:p>
                    <a:p>
                      <a:pPr marL="171450" indent="-171450">
                        <a:buFont typeface="Arial" panose="020B0604020202020204" pitchFamily="34" charset="0"/>
                        <a:buChar char="•"/>
                      </a:pPr>
                      <a:r>
                        <a:rPr lang="en-US" sz="1000" b="0" dirty="0"/>
                        <a:t>Cortex: M85 vs M7</a:t>
                      </a:r>
                    </a:p>
                    <a:p>
                      <a:pPr marL="171450" indent="-171450">
                        <a:buFont typeface="Arial" panose="020B0604020202020204" pitchFamily="34" charset="0"/>
                        <a:buChar char="•"/>
                      </a:pPr>
                      <a:r>
                        <a:rPr lang="en-US" sz="1000" b="0" dirty="0"/>
                        <a:t>Frequency: 360 MHz vs 400 MHz</a:t>
                      </a:r>
                    </a:p>
                    <a:p>
                      <a:pPr marL="171450" indent="-171450">
                        <a:buFont typeface="Arial" panose="020B0604020202020204" pitchFamily="34" charset="0"/>
                        <a:buChar char="•"/>
                      </a:pPr>
                      <a:r>
                        <a:rPr lang="en-US" sz="1000" b="0" dirty="0"/>
                        <a:t>Flash: 1MB vs 2 MB</a:t>
                      </a:r>
                    </a:p>
                    <a:p>
                      <a:pPr marL="171450" indent="-171450">
                        <a:buFont typeface="Arial" panose="020B0604020202020204" pitchFamily="34" charset="0"/>
                        <a:buChar char="•"/>
                      </a:pPr>
                      <a:r>
                        <a:rPr lang="en-US" sz="1000" b="0" dirty="0"/>
                        <a:t>SRAM: 544 KB vs 1MB</a:t>
                      </a:r>
                    </a:p>
                  </a:txBody>
                  <a:tcPr marL="38100" marR="38100" marT="25400" marB="25400"/>
                </a:tc>
                <a:tc>
                  <a:txBody>
                    <a:bodyPr/>
                    <a:lstStyle/>
                    <a:p>
                      <a:pPr marL="171450" indent="-171450">
                        <a:buFont typeface="Arial" panose="020B0604020202020204" pitchFamily="34" charset="0"/>
                        <a:buChar char="•"/>
                      </a:pPr>
                      <a:r>
                        <a:rPr lang="en-US" sz="1000" b="0" dirty="0"/>
                        <a:t>4 MD</a:t>
                      </a:r>
                    </a:p>
                  </a:txBody>
                  <a:tcPr marL="38100" marR="38100" marT="25400" marB="25400"/>
                </a:tc>
                <a:extLst>
                  <a:ext uri="{0D108BD9-81ED-4DB2-BD59-A6C34878D82A}">
                    <a16:rowId xmlns:a16="http://schemas.microsoft.com/office/drawing/2014/main" val="2323800006"/>
                  </a:ext>
                </a:extLst>
              </a:tr>
            </a:tbl>
          </a:graphicData>
        </a:graphic>
      </p:graphicFrame>
      <p:sp>
        <p:nvSpPr>
          <p:cNvPr id="2" name="Slide Number Placeholder 1">
            <a:extLst>
              <a:ext uri="{FF2B5EF4-FFF2-40B4-BE49-F238E27FC236}">
                <a16:creationId xmlns:a16="http://schemas.microsoft.com/office/drawing/2014/main" id="{3DBD5AB2-3FA9-3937-3DDF-A6FC398DC2A1}"/>
              </a:ext>
            </a:extLst>
          </p:cNvPr>
          <p:cNvSpPr>
            <a:spLocks noGrp="1"/>
          </p:cNvSpPr>
          <p:nvPr>
            <p:ph type="sldNum" sz="quarter" idx="12"/>
          </p:nvPr>
        </p:nvSpPr>
        <p:spPr/>
        <p:txBody>
          <a:bodyPr/>
          <a:lstStyle/>
          <a:p>
            <a:fld id="{40A7B169-58CE-4E65-B1F9-ACF9E46440C2}" type="slidenum">
              <a:rPr lang="en-US" smtClean="0"/>
              <a:t>28</a:t>
            </a:fld>
            <a:endParaRPr lang="en-US"/>
          </a:p>
        </p:txBody>
      </p:sp>
      <p:sp>
        <p:nvSpPr>
          <p:cNvPr id="4" name="TextBox 3">
            <a:extLst>
              <a:ext uri="{FF2B5EF4-FFF2-40B4-BE49-F238E27FC236}">
                <a16:creationId xmlns:a16="http://schemas.microsoft.com/office/drawing/2014/main" id="{AC342564-E80C-548D-D32A-A9EA8E35E39E}"/>
              </a:ext>
            </a:extLst>
          </p:cNvPr>
          <p:cNvSpPr txBox="1"/>
          <p:nvPr/>
        </p:nvSpPr>
        <p:spPr>
          <a:xfrm>
            <a:off x="228600" y="3940747"/>
            <a:ext cx="8211312" cy="246221"/>
          </a:xfrm>
          <a:prstGeom prst="rect">
            <a:avLst/>
          </a:prstGeom>
          <a:noFill/>
        </p:spPr>
        <p:txBody>
          <a:bodyPr wrap="square" rtlCol="0">
            <a:spAutoFit/>
          </a:bodyPr>
          <a:lstStyle/>
          <a:p>
            <a:pPr algn="l"/>
            <a:r>
              <a:rPr lang="en-US" sz="1000" dirty="0"/>
              <a:t>(*) estimation based on tests first development will be done by Copilot + Manual configuration adjustment and validation on HW boards</a:t>
            </a:r>
          </a:p>
        </p:txBody>
      </p:sp>
      <p:sp>
        <p:nvSpPr>
          <p:cNvPr id="7" name="TextBox 6">
            <a:extLst>
              <a:ext uri="{FF2B5EF4-FFF2-40B4-BE49-F238E27FC236}">
                <a16:creationId xmlns:a16="http://schemas.microsoft.com/office/drawing/2014/main" id="{83C648DA-1692-84D5-951E-9DDF0FD6FA7B}"/>
              </a:ext>
            </a:extLst>
          </p:cNvPr>
          <p:cNvSpPr txBox="1"/>
          <p:nvPr/>
        </p:nvSpPr>
        <p:spPr>
          <a:xfrm rot="19832387">
            <a:off x="2774271" y="2037384"/>
            <a:ext cx="6643456" cy="1569660"/>
          </a:xfrm>
          <a:prstGeom prst="rect">
            <a:avLst/>
          </a:prstGeom>
          <a:noFill/>
        </p:spPr>
        <p:txBody>
          <a:bodyPr wrap="square" rtlCol="0">
            <a:spAutoFit/>
          </a:bodyPr>
          <a:lstStyle/>
          <a:p>
            <a:pPr algn="l"/>
            <a:r>
              <a:rPr lang="en-US" sz="9600" dirty="0">
                <a:solidFill>
                  <a:schemeClr val="accent4"/>
                </a:solidFill>
              </a:rPr>
              <a:t>Low priority</a:t>
            </a:r>
          </a:p>
        </p:txBody>
      </p:sp>
    </p:spTree>
    <p:extLst>
      <p:ext uri="{BB962C8B-B14F-4D97-AF65-F5344CB8AC3E}">
        <p14:creationId xmlns:p14="http://schemas.microsoft.com/office/powerpoint/2010/main" val="3933019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CB35B-96BE-FEFA-F300-DAA887FAE7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89987F-FD81-B78B-8E29-0F5F86CA57F0}"/>
              </a:ext>
            </a:extLst>
          </p:cNvPr>
          <p:cNvSpPr>
            <a:spLocks noGrp="1"/>
          </p:cNvSpPr>
          <p:nvPr>
            <p:ph type="title"/>
          </p:nvPr>
        </p:nvSpPr>
        <p:spPr/>
        <p:txBody>
          <a:bodyPr/>
          <a:lstStyle/>
          <a:p>
            <a:r>
              <a:rPr lang="en-US" b="1" dirty="0"/>
              <a:t>STM32 vs NXP</a:t>
            </a:r>
          </a:p>
        </p:txBody>
      </p:sp>
      <p:graphicFrame>
        <p:nvGraphicFramePr>
          <p:cNvPr id="5" name="Table 4">
            <a:extLst>
              <a:ext uri="{FF2B5EF4-FFF2-40B4-BE49-F238E27FC236}">
                <a16:creationId xmlns:a16="http://schemas.microsoft.com/office/drawing/2014/main" id="{3CE0E6B5-6AFD-ED02-D23A-B87A1FBA6201}"/>
              </a:ext>
            </a:extLst>
          </p:cNvPr>
          <p:cNvGraphicFramePr>
            <a:graphicFrameLocks noGrp="1"/>
          </p:cNvGraphicFramePr>
          <p:nvPr>
            <p:extLst>
              <p:ext uri="{D42A27DB-BD31-4B8C-83A1-F6EECF244321}">
                <p14:modId xmlns:p14="http://schemas.microsoft.com/office/powerpoint/2010/main" val="992678752"/>
              </p:ext>
            </p:extLst>
          </p:nvPr>
        </p:nvGraphicFramePr>
        <p:xfrm>
          <a:off x="223836" y="1065603"/>
          <a:ext cx="11591924" cy="4323817"/>
        </p:xfrm>
        <a:graphic>
          <a:graphicData uri="http://schemas.openxmlformats.org/drawingml/2006/table">
            <a:tbl>
              <a:tblPr firstRow="1" bandRow="1">
                <a:tableStyleId>{EB344D84-9AFB-497E-A393-DC336BA19D2E}</a:tableStyleId>
              </a:tblPr>
              <a:tblGrid>
                <a:gridCol w="1374795">
                  <a:extLst>
                    <a:ext uri="{9D8B030D-6E8A-4147-A177-3AD203B41FA5}">
                      <a16:colId xmlns:a16="http://schemas.microsoft.com/office/drawing/2014/main" val="3559270126"/>
                    </a:ext>
                  </a:extLst>
                </a:gridCol>
                <a:gridCol w="4082257">
                  <a:extLst>
                    <a:ext uri="{9D8B030D-6E8A-4147-A177-3AD203B41FA5}">
                      <a16:colId xmlns:a16="http://schemas.microsoft.com/office/drawing/2014/main" val="1510751210"/>
                    </a:ext>
                  </a:extLst>
                </a:gridCol>
                <a:gridCol w="1593076">
                  <a:extLst>
                    <a:ext uri="{9D8B030D-6E8A-4147-A177-3AD203B41FA5}">
                      <a16:colId xmlns:a16="http://schemas.microsoft.com/office/drawing/2014/main" val="2090940622"/>
                    </a:ext>
                  </a:extLst>
                </a:gridCol>
                <a:gridCol w="2270898">
                  <a:extLst>
                    <a:ext uri="{9D8B030D-6E8A-4147-A177-3AD203B41FA5}">
                      <a16:colId xmlns:a16="http://schemas.microsoft.com/office/drawing/2014/main" val="3429126314"/>
                    </a:ext>
                  </a:extLst>
                </a:gridCol>
                <a:gridCol w="2270898">
                  <a:extLst>
                    <a:ext uri="{9D8B030D-6E8A-4147-A177-3AD203B41FA5}">
                      <a16:colId xmlns:a16="http://schemas.microsoft.com/office/drawing/2014/main" val="1957768011"/>
                    </a:ext>
                  </a:extLst>
                </a:gridCol>
              </a:tblGrid>
              <a:tr h="361417">
                <a:tc>
                  <a:txBody>
                    <a:bodyPr/>
                    <a:lstStyle/>
                    <a:p>
                      <a:pPr algn="ctr">
                        <a:buNone/>
                      </a:pPr>
                      <a:r>
                        <a:rPr lang="en-US" sz="1000" dirty="0">
                          <a:effectLst/>
                        </a:rPr>
                        <a:t>Middleware Stack</a:t>
                      </a:r>
                    </a:p>
                  </a:txBody>
                  <a:tcPr marL="76200" marR="76200" marT="19050" marB="19050" anchor="ctr"/>
                </a:tc>
                <a:tc>
                  <a:txBody>
                    <a:bodyPr/>
                    <a:lstStyle/>
                    <a:p>
                      <a:pPr algn="ctr"/>
                      <a:r>
                        <a:rPr lang="en-US" sz="1000" b="1" dirty="0"/>
                        <a:t>Benchmark Scope</a:t>
                      </a:r>
                    </a:p>
                  </a:txBody>
                  <a:tcPr marL="76200" marR="76200" marT="19050" marB="19050" anchor="ctr"/>
                </a:tc>
                <a:tc>
                  <a:txBody>
                    <a:bodyPr/>
                    <a:lstStyle/>
                    <a:p>
                      <a:pPr algn="ctr">
                        <a:buNone/>
                      </a:pPr>
                      <a:r>
                        <a:rPr lang="en-US" sz="1000" dirty="0">
                          <a:effectLst/>
                        </a:rPr>
                        <a:t>Headline KPIs</a:t>
                      </a:r>
                    </a:p>
                  </a:txBody>
                  <a:tcPr marL="76200" marR="76200" marT="19050" marB="19050" anchor="ctr"/>
                </a:tc>
                <a:tc>
                  <a:txBody>
                    <a:bodyPr/>
                    <a:lstStyle/>
                    <a:p>
                      <a:pPr algn="ctr">
                        <a:buNone/>
                      </a:pPr>
                      <a:r>
                        <a:rPr lang="en-US" sz="1000" dirty="0">
                          <a:effectLst/>
                        </a:rPr>
                        <a:t>HW Board</a:t>
                      </a:r>
                    </a:p>
                  </a:txBody>
                  <a:tcPr marL="76200" marR="76200" marT="19050" marB="1905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t>Effort estimation*</a:t>
                      </a:r>
                    </a:p>
                    <a:p>
                      <a:pPr algn="ctr">
                        <a:buNone/>
                      </a:pPr>
                      <a:endParaRPr lang="en-US" sz="1000" dirty="0">
                        <a:effectLst/>
                      </a:endParaRPr>
                    </a:p>
                  </a:txBody>
                  <a:tcPr marL="76200" marR="76200" marT="19050" marB="19050" anchor="ctr"/>
                </a:tc>
                <a:extLst>
                  <a:ext uri="{0D108BD9-81ED-4DB2-BD59-A6C34878D82A}">
                    <a16:rowId xmlns:a16="http://schemas.microsoft.com/office/drawing/2014/main" val="2625956129"/>
                  </a:ext>
                </a:extLst>
              </a:tr>
              <a:tr h="843307">
                <a:tc>
                  <a:txBody>
                    <a:bodyPr/>
                    <a:lstStyle/>
                    <a:p>
                      <a:pPr>
                        <a:buNone/>
                      </a:pPr>
                      <a:r>
                        <a:rPr lang="en-US" sz="1000" b="1" dirty="0" err="1">
                          <a:effectLst/>
                        </a:rPr>
                        <a:t>FreeRTOS</a:t>
                      </a:r>
                      <a:endParaRPr lang="en-US" sz="1000" b="1" dirty="0">
                        <a:effectLst/>
                      </a:endParaRPr>
                    </a:p>
                  </a:txBody>
                  <a:tcPr marL="76200" marR="76200" marT="19050" marB="19050" anchor="ctr"/>
                </a:tc>
                <a:tc>
                  <a:txBody>
                    <a:bodyPr/>
                    <a:lstStyle/>
                    <a:p>
                      <a:pPr marL="0" algn="l" defTabSz="914400" rtl="0" eaLnBrk="1" latinLnBrk="0" hangingPunct="1">
                        <a:buNone/>
                      </a:pPr>
                      <a:r>
                        <a:rPr lang="en-US" sz="1000" kern="1200" dirty="0">
                          <a:solidFill>
                            <a:schemeClr val="dk1"/>
                          </a:solidFill>
                          <a:effectLst/>
                        </a:rPr>
                        <a:t>Measure low-power M33 RTOS efficiency through  task management, synchronization, message queues, timers, wakeup/sleep transitions, and context-switch latency.</a:t>
                      </a:r>
                      <a:endParaRPr lang="en-US" sz="1000" kern="1200" dirty="0">
                        <a:solidFill>
                          <a:schemeClr val="dk1"/>
                        </a:solidFill>
                        <a:effectLst/>
                        <a:latin typeface="+mn-lt"/>
                        <a:ea typeface="+mn-ea"/>
                        <a:cs typeface="+mn-cs"/>
                      </a:endParaRPr>
                    </a:p>
                  </a:txBody>
                  <a:tcPr marL="76200" marR="76200" marT="19050" marB="19050" anchor="ctr"/>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dirty="0">
                          <a:effectLst/>
                        </a:rPr>
                        <a:t>API latency</a:t>
                      </a:r>
                    </a:p>
                    <a:p>
                      <a:pPr marL="171450" indent="-171450">
                        <a:buFont typeface="Wingdings" panose="05000000000000000000" pitchFamily="2" charset="2"/>
                        <a:buChar char="Ø"/>
                      </a:pPr>
                      <a:r>
                        <a:rPr lang="en-US" sz="1000" dirty="0">
                          <a:effectLst/>
                        </a:rPr>
                        <a:t>Context-switch cost</a:t>
                      </a:r>
                    </a:p>
                    <a:p>
                      <a:pPr marL="171450" indent="-171450">
                        <a:buFont typeface="Wingdings" panose="05000000000000000000" pitchFamily="2" charset="2"/>
                        <a:buChar char="Ø"/>
                      </a:pPr>
                      <a:r>
                        <a:rPr lang="en-US" sz="1000" dirty="0">
                          <a:effectLst/>
                        </a:rPr>
                        <a:t>Wakeup latency</a:t>
                      </a:r>
                    </a:p>
                  </a:txBody>
                  <a:tcPr marL="76200" marR="76200" marT="19050" marB="19050" anchor="ctr"/>
                </a:tc>
                <a:tc>
                  <a:txBody>
                    <a:bodyPr/>
                    <a:lstStyle/>
                    <a:p>
                      <a:pPr>
                        <a:buNone/>
                      </a:pPr>
                      <a:r>
                        <a:rPr lang="en-US" sz="1000" b="1" dirty="0">
                          <a:effectLst/>
                        </a:rPr>
                        <a:t>FRDM-MCXA156 vs NUCLEO-L552ZE-Q</a:t>
                      </a:r>
                    </a:p>
                    <a:p>
                      <a:pPr marL="171450" indent="-171450">
                        <a:buFont typeface="Arial" panose="020B0604020202020204" pitchFamily="34" charset="0"/>
                        <a:buChar char="•"/>
                      </a:pPr>
                      <a:r>
                        <a:rPr lang="en-US" sz="1000" b="0" dirty="0"/>
                        <a:t>Cortex: same M33</a:t>
                      </a:r>
                    </a:p>
                    <a:p>
                      <a:pPr marL="171450" indent="-171450">
                        <a:buFont typeface="Arial" panose="020B0604020202020204" pitchFamily="34" charset="0"/>
                        <a:buChar char="•"/>
                      </a:pPr>
                      <a:r>
                        <a:rPr lang="en-US" sz="1000" b="0" dirty="0"/>
                        <a:t>Frequency: 96 MHz vs 110MHz</a:t>
                      </a:r>
                    </a:p>
                    <a:p>
                      <a:pPr marL="171450" indent="-171450">
                        <a:buFont typeface="Arial" panose="020B0604020202020204" pitchFamily="34" charset="0"/>
                        <a:buChar char="•"/>
                      </a:pPr>
                      <a:r>
                        <a:rPr lang="en-US" sz="1000" b="0" dirty="0"/>
                        <a:t>Flash: same 512 KB</a:t>
                      </a:r>
                    </a:p>
                    <a:p>
                      <a:pPr marL="171450" indent="-171450">
                        <a:buFont typeface="Arial" panose="020B0604020202020204" pitchFamily="34" charset="0"/>
                        <a:buChar char="•"/>
                      </a:pPr>
                      <a:r>
                        <a:rPr lang="en-US" sz="1000" b="0" dirty="0"/>
                        <a:t>SRAM: same 256 KB</a:t>
                      </a:r>
                      <a:endParaRPr lang="en-US" sz="1000" dirty="0">
                        <a:effectLst/>
                      </a:endParaRPr>
                    </a:p>
                    <a:p>
                      <a:pPr>
                        <a:buNone/>
                      </a:pPr>
                      <a:endParaRPr lang="en-US" sz="1000" dirty="0">
                        <a:effectLst/>
                      </a:endParaRPr>
                    </a:p>
                  </a:txBody>
                  <a:tcPr marL="76200" marR="76200" marT="19050" marB="19050" anchor="ctr"/>
                </a:tc>
                <a:tc>
                  <a:txBody>
                    <a:bodyPr/>
                    <a:lstStyle/>
                    <a:p>
                      <a:pPr marL="171450" indent="-171450">
                        <a:buFont typeface="Arial" panose="020B0604020202020204" pitchFamily="34" charset="0"/>
                        <a:buChar char="•"/>
                      </a:pPr>
                      <a:r>
                        <a:rPr lang="en-US" sz="1000" dirty="0">
                          <a:effectLst/>
                        </a:rPr>
                        <a:t>4 MD</a:t>
                      </a:r>
                    </a:p>
                  </a:txBody>
                  <a:tcPr marL="76200" marR="76200" marT="19050" marB="19050" anchor="ctr"/>
                </a:tc>
                <a:extLst>
                  <a:ext uri="{0D108BD9-81ED-4DB2-BD59-A6C34878D82A}">
                    <a16:rowId xmlns:a16="http://schemas.microsoft.com/office/drawing/2014/main" val="2434392173"/>
                  </a:ext>
                </a:extLst>
              </a:tr>
              <a:tr h="682677">
                <a:tc>
                  <a:txBody>
                    <a:bodyPr/>
                    <a:lstStyle/>
                    <a:p>
                      <a:pPr>
                        <a:buNone/>
                      </a:pPr>
                      <a:r>
                        <a:rPr lang="en-US" sz="1000" b="1" dirty="0" err="1">
                          <a:effectLst/>
                        </a:rPr>
                        <a:t>FatFS</a:t>
                      </a:r>
                      <a:endParaRPr lang="en-US" sz="1000" b="1" dirty="0">
                        <a:effectLst/>
                      </a:endParaRPr>
                    </a:p>
                  </a:txBody>
                  <a:tcPr marL="76200" marR="76200" marT="19050" marB="19050" anchor="ctr"/>
                </a:tc>
                <a:tc>
                  <a:txBody>
                    <a:bodyPr/>
                    <a:lstStyle/>
                    <a:p>
                      <a:pPr>
                        <a:buNone/>
                      </a:pPr>
                      <a:r>
                        <a:rPr lang="en-US" sz="1000" kern="1200" dirty="0">
                          <a:solidFill>
                            <a:schemeClr val="dk1"/>
                          </a:solidFill>
                          <a:effectLst/>
                        </a:rPr>
                        <a:t>Measure SD storage middleware efficiency through mount, format, file operations, and directory scan performance.</a:t>
                      </a:r>
                      <a:endParaRPr lang="en-US" sz="1000" kern="1200" dirty="0">
                        <a:solidFill>
                          <a:schemeClr val="dk1"/>
                        </a:solidFill>
                        <a:effectLst/>
                        <a:latin typeface="+mn-lt"/>
                        <a:ea typeface="+mn-ea"/>
                        <a:cs typeface="+mn-cs"/>
                      </a:endParaRPr>
                    </a:p>
                  </a:txBody>
                  <a:tcPr marL="76200" marR="76200" marT="19050" marB="19050" anchor="ctr"/>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dirty="0">
                          <a:effectLst/>
                        </a:rPr>
                        <a:t>mount/format time</a:t>
                      </a:r>
                    </a:p>
                    <a:p>
                      <a:pPr marL="171450" indent="-171450">
                        <a:buFont typeface="Wingdings" panose="05000000000000000000" pitchFamily="2" charset="2"/>
                        <a:buChar char="Ø"/>
                      </a:pPr>
                      <a:r>
                        <a:rPr lang="en-US" sz="1000" dirty="0">
                          <a:effectLst/>
                        </a:rPr>
                        <a:t>File operations latency</a:t>
                      </a:r>
                    </a:p>
                    <a:p>
                      <a:pPr marL="171450" indent="-171450">
                        <a:buFont typeface="Wingdings" panose="05000000000000000000" pitchFamily="2" charset="2"/>
                        <a:buChar char="Ø"/>
                      </a:pPr>
                      <a:r>
                        <a:rPr lang="en-US" sz="1000" dirty="0">
                          <a:effectLst/>
                        </a:rPr>
                        <a:t>throughput</a:t>
                      </a:r>
                    </a:p>
                  </a:txBody>
                  <a:tcPr marL="76200" marR="76200" marT="19050" marB="19050" anchor="ctr"/>
                </a:tc>
                <a:tc>
                  <a:txBody>
                    <a:bodyPr/>
                    <a:lstStyle/>
                    <a:p>
                      <a:pPr>
                        <a:buNone/>
                      </a:pPr>
                      <a:r>
                        <a:rPr lang="en-US" sz="1000" b="1">
                          <a:effectLst/>
                        </a:rPr>
                        <a:t>MIMXRT1060-EVKC vs STM32H735G-DK</a:t>
                      </a:r>
                    </a:p>
                    <a:p>
                      <a:pPr marL="171450" indent="-171450">
                        <a:buFont typeface="Arial" panose="020B0604020202020204" pitchFamily="34" charset="0"/>
                        <a:buChar char="•"/>
                      </a:pPr>
                      <a:r>
                        <a:rPr lang="en-US" sz="1000" b="0"/>
                        <a:t>Cortex: same M7</a:t>
                      </a:r>
                    </a:p>
                    <a:p>
                      <a:pPr marL="171450" indent="-171450">
                        <a:buFont typeface="Arial" panose="020B0604020202020204" pitchFamily="34" charset="0"/>
                        <a:buChar char="•"/>
                      </a:pPr>
                      <a:r>
                        <a:rPr lang="en-US" sz="1000" b="0"/>
                        <a:t>Frequency: 600 MHz vs 550 MHz</a:t>
                      </a:r>
                    </a:p>
                    <a:p>
                      <a:pPr marL="171450" indent="-171450">
                        <a:buFont typeface="Arial" panose="020B0604020202020204" pitchFamily="34" charset="0"/>
                        <a:buChar char="•"/>
                      </a:pPr>
                      <a:r>
                        <a:rPr lang="en-US" sz="1000" b="0"/>
                        <a:t>Flash: flashless vs 2 MB</a:t>
                      </a:r>
                    </a:p>
                    <a:p>
                      <a:pPr marL="171450" indent="-171450">
                        <a:buFont typeface="Arial" panose="020B0604020202020204" pitchFamily="34" charset="0"/>
                        <a:buChar char="•"/>
                      </a:pPr>
                      <a:r>
                        <a:rPr lang="en-US" sz="1000" b="0"/>
                        <a:t>SRAM: same 1 MB</a:t>
                      </a:r>
                      <a:endParaRPr lang="en-US" sz="1000">
                        <a:effectLst/>
                      </a:endParaRPr>
                    </a:p>
                  </a:txBody>
                  <a:tcPr marL="76200" marR="76200" marT="19050" marB="19050" anchor="ctr"/>
                </a:tc>
                <a:tc>
                  <a:txBody>
                    <a:bodyPr/>
                    <a:lstStyle/>
                    <a:p>
                      <a:pPr marL="171450" indent="-171450">
                        <a:buFont typeface="Arial" panose="020B0604020202020204" pitchFamily="34" charset="0"/>
                        <a:buChar char="•"/>
                      </a:pPr>
                      <a:r>
                        <a:rPr lang="en-US" sz="1000" dirty="0">
                          <a:effectLst/>
                        </a:rPr>
                        <a:t>4 MD</a:t>
                      </a:r>
                    </a:p>
                  </a:txBody>
                  <a:tcPr marL="76200" marR="76200" marT="19050" marB="19050" anchor="ctr"/>
                </a:tc>
                <a:extLst>
                  <a:ext uri="{0D108BD9-81ED-4DB2-BD59-A6C34878D82A}">
                    <a16:rowId xmlns:a16="http://schemas.microsoft.com/office/drawing/2014/main" val="1958294850"/>
                  </a:ext>
                </a:extLst>
              </a:tr>
              <a:tr h="682677">
                <a:tc>
                  <a:txBody>
                    <a:bodyPr/>
                    <a:lstStyle/>
                    <a:p>
                      <a:pPr>
                        <a:buNone/>
                      </a:pPr>
                      <a:r>
                        <a:rPr lang="en-US" sz="1000" b="1" dirty="0">
                          <a:effectLst/>
                        </a:rPr>
                        <a:t>USB Device</a:t>
                      </a:r>
                    </a:p>
                  </a:txBody>
                  <a:tcPr marL="76200" marR="76200" marT="19050" marB="19050" anchor="ctr"/>
                </a:tc>
                <a:tc>
                  <a:txBody>
                    <a:bodyPr/>
                    <a:lstStyle/>
                    <a:p>
                      <a:pPr>
                        <a:buNone/>
                      </a:pPr>
                      <a:r>
                        <a:rPr lang="en-US" sz="1000" kern="1200" dirty="0">
                          <a:solidFill>
                            <a:schemeClr val="dk1"/>
                          </a:solidFill>
                          <a:effectLst/>
                        </a:rPr>
                        <a:t>Measure USB FS device stack efficiency across CDC, HID, and MSC through initialization, enumeration, control-transfer, and transfer performance.</a:t>
                      </a:r>
                      <a:endParaRPr lang="en-US" sz="1000" kern="1200" dirty="0">
                        <a:solidFill>
                          <a:schemeClr val="dk1"/>
                        </a:solidFill>
                        <a:effectLst/>
                        <a:latin typeface="+mn-lt"/>
                        <a:ea typeface="+mn-ea"/>
                        <a:cs typeface="+mn-cs"/>
                      </a:endParaRPr>
                    </a:p>
                  </a:txBody>
                  <a:tcPr marL="76200" marR="76200" marT="19050" marB="19050" anchor="ctr"/>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dirty="0">
                          <a:effectLst/>
                        </a:rPr>
                        <a:t>Initialization time</a:t>
                      </a:r>
                    </a:p>
                    <a:p>
                      <a:pPr marL="171450" indent="-171450">
                        <a:buFont typeface="Wingdings" panose="05000000000000000000" pitchFamily="2" charset="2"/>
                        <a:buChar char="Ø"/>
                      </a:pPr>
                      <a:r>
                        <a:rPr lang="en-US" sz="1000" dirty="0">
                          <a:effectLst/>
                        </a:rPr>
                        <a:t>Enumeration time</a:t>
                      </a:r>
                    </a:p>
                    <a:p>
                      <a:pPr marL="171450" indent="-171450">
                        <a:buFont typeface="Wingdings" panose="05000000000000000000" pitchFamily="2" charset="2"/>
                        <a:buChar char="Ø"/>
                      </a:pPr>
                      <a:r>
                        <a:rPr lang="en-US" sz="1000" dirty="0">
                          <a:effectLst/>
                        </a:rPr>
                        <a:t>Transfer latency</a:t>
                      </a:r>
                    </a:p>
                  </a:txBody>
                  <a:tcPr marL="76200" marR="76200" marT="19050" marB="19050" anchor="ctr"/>
                </a:tc>
                <a:tc>
                  <a:txBody>
                    <a:bodyPr/>
                    <a:lstStyle/>
                    <a:p>
                      <a:pPr>
                        <a:buNone/>
                      </a:pPr>
                      <a:r>
                        <a:rPr lang="en-US" sz="1000" b="1" dirty="0">
                          <a:effectLst/>
                        </a:rPr>
                        <a:t>FRDM-MCXA156 vs NUCLEO-L552ZE-Q</a:t>
                      </a:r>
                    </a:p>
                    <a:p>
                      <a:pPr marL="171450" indent="-171450">
                        <a:buFont typeface="Arial" panose="020B0604020202020204" pitchFamily="34" charset="0"/>
                        <a:buChar char="•"/>
                      </a:pPr>
                      <a:r>
                        <a:rPr lang="en-US" sz="1000" b="0" dirty="0"/>
                        <a:t>Cortex: same M33</a:t>
                      </a:r>
                    </a:p>
                    <a:p>
                      <a:pPr marL="171450" indent="-171450">
                        <a:buFont typeface="Arial" panose="020B0604020202020204" pitchFamily="34" charset="0"/>
                        <a:buChar char="•"/>
                      </a:pPr>
                      <a:r>
                        <a:rPr lang="en-US" sz="1000" b="0" dirty="0"/>
                        <a:t>Frequency: 96 MHz vs 110MHz</a:t>
                      </a:r>
                    </a:p>
                    <a:p>
                      <a:pPr marL="171450" indent="-171450">
                        <a:buFont typeface="Arial" panose="020B0604020202020204" pitchFamily="34" charset="0"/>
                        <a:buChar char="•"/>
                      </a:pPr>
                      <a:r>
                        <a:rPr lang="en-US" sz="1000" b="0" dirty="0"/>
                        <a:t>Flash: same 512 KB</a:t>
                      </a:r>
                    </a:p>
                    <a:p>
                      <a:pPr marL="171450" indent="-171450">
                        <a:buFont typeface="Arial" panose="020B0604020202020204" pitchFamily="34" charset="0"/>
                        <a:buChar char="•"/>
                      </a:pPr>
                      <a:r>
                        <a:rPr lang="en-US" sz="1000" b="0" dirty="0"/>
                        <a:t>SRAM: same 256 KB</a:t>
                      </a:r>
                      <a:endParaRPr lang="en-US" sz="1000" dirty="0">
                        <a:effectLst/>
                      </a:endParaRPr>
                    </a:p>
                  </a:txBody>
                  <a:tcPr marL="76200" marR="76200" marT="19050" marB="19050" anchor="ctr"/>
                </a:tc>
                <a:tc>
                  <a:txBody>
                    <a:bodyPr/>
                    <a:lstStyle/>
                    <a:p>
                      <a:pPr marL="171450" indent="-171450">
                        <a:buFont typeface="Arial" panose="020B0604020202020204" pitchFamily="34" charset="0"/>
                        <a:buChar char="•"/>
                      </a:pPr>
                      <a:r>
                        <a:rPr lang="en-US" sz="1000" dirty="0">
                          <a:effectLst/>
                        </a:rPr>
                        <a:t>3 MD</a:t>
                      </a:r>
                    </a:p>
                  </a:txBody>
                  <a:tcPr marL="76200" marR="76200" marT="19050" marB="19050" anchor="ctr"/>
                </a:tc>
                <a:extLst>
                  <a:ext uri="{0D108BD9-81ED-4DB2-BD59-A6C34878D82A}">
                    <a16:rowId xmlns:a16="http://schemas.microsoft.com/office/drawing/2014/main" val="2323800006"/>
                  </a:ext>
                </a:extLst>
              </a:tr>
              <a:tr h="526743">
                <a:tc>
                  <a:txBody>
                    <a:bodyPr/>
                    <a:lstStyle/>
                    <a:p>
                      <a:pPr>
                        <a:buNone/>
                      </a:pPr>
                      <a:r>
                        <a:rPr lang="en-US" sz="1000" b="1" dirty="0" err="1">
                          <a:effectLst/>
                        </a:rPr>
                        <a:t>LwIP</a:t>
                      </a:r>
                      <a:endParaRPr lang="en-US" sz="1000" b="1" dirty="0">
                        <a:effectLst/>
                      </a:endParaRPr>
                    </a:p>
                  </a:txBody>
                  <a:tcPr marL="76200" marR="76200" marT="19050" marB="1905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effectLst/>
                        </a:rPr>
                        <a:t>Measure Ethernet stack efficiency through startup, network service latency, socket performance, and TCP/UDP throughput.</a:t>
                      </a:r>
                      <a:endParaRPr lang="en-US" sz="1000" kern="1200" dirty="0">
                        <a:solidFill>
                          <a:schemeClr val="dk1"/>
                        </a:solidFill>
                        <a:effectLst/>
                        <a:latin typeface="+mn-lt"/>
                        <a:ea typeface="+mn-ea"/>
                        <a:cs typeface="+mn-cs"/>
                      </a:endParaRPr>
                    </a:p>
                    <a:p>
                      <a:pPr>
                        <a:buNone/>
                      </a:pPr>
                      <a:endParaRPr lang="en-US" sz="1000" kern="1200" dirty="0">
                        <a:solidFill>
                          <a:schemeClr val="dk1"/>
                        </a:solidFill>
                        <a:effectLst/>
                        <a:latin typeface="+mn-lt"/>
                        <a:ea typeface="+mn-ea"/>
                        <a:cs typeface="+mn-cs"/>
                      </a:endParaRPr>
                    </a:p>
                  </a:txBody>
                  <a:tcPr marL="76200" marR="76200" marT="19050" marB="19050" anchor="ctr"/>
                </a:tc>
                <a:tc>
                  <a:txBody>
                    <a:bodyPr/>
                    <a:lstStyle/>
                    <a:p>
                      <a:pPr marL="171450" indent="-171450">
                        <a:buFont typeface="Wingdings" panose="05000000000000000000" pitchFamily="2" charset="2"/>
                        <a:buChar char="Ø"/>
                      </a:pPr>
                      <a:r>
                        <a:rPr lang="en-US" sz="1000" b="0" dirty="0"/>
                        <a:t>Total footprint</a:t>
                      </a:r>
                    </a:p>
                    <a:p>
                      <a:pPr marL="171450" indent="-171450">
                        <a:buFont typeface="Wingdings" panose="05000000000000000000" pitchFamily="2" charset="2"/>
                        <a:buChar char="Ø"/>
                      </a:pPr>
                      <a:r>
                        <a:rPr lang="en-US" sz="1000" dirty="0">
                          <a:effectLst/>
                        </a:rPr>
                        <a:t>Bring-up time</a:t>
                      </a:r>
                    </a:p>
                    <a:p>
                      <a:pPr marL="171450" indent="-171450">
                        <a:buFont typeface="Wingdings" panose="05000000000000000000" pitchFamily="2" charset="2"/>
                        <a:buChar char="Ø"/>
                      </a:pPr>
                      <a:r>
                        <a:rPr lang="en-US" sz="1000" dirty="0">
                          <a:effectLst/>
                        </a:rPr>
                        <a:t>TCP/UDP throughput</a:t>
                      </a:r>
                    </a:p>
                  </a:txBody>
                  <a:tcPr marL="76200" marR="76200" marT="19050" marB="19050" anchor="ctr"/>
                </a:tc>
                <a:tc>
                  <a:txBody>
                    <a:bodyPr/>
                    <a:lstStyle/>
                    <a:p>
                      <a:pPr>
                        <a:buNone/>
                      </a:pPr>
                      <a:r>
                        <a:rPr lang="en-US" sz="1000" b="1">
                          <a:effectLst/>
                        </a:rPr>
                        <a:t>MIMXRT1060-EVKC vs STM32H735G-DK</a:t>
                      </a:r>
                    </a:p>
                    <a:p>
                      <a:pPr marL="171450" indent="-171450">
                        <a:buFont typeface="Arial" panose="020B0604020202020204" pitchFamily="34" charset="0"/>
                        <a:buChar char="•"/>
                      </a:pPr>
                      <a:r>
                        <a:rPr lang="en-US" sz="1000" b="0"/>
                        <a:t>Cortex: same M7</a:t>
                      </a:r>
                    </a:p>
                    <a:p>
                      <a:pPr marL="171450" indent="-171450">
                        <a:buFont typeface="Arial" panose="020B0604020202020204" pitchFamily="34" charset="0"/>
                        <a:buChar char="•"/>
                      </a:pPr>
                      <a:r>
                        <a:rPr lang="en-US" sz="1000" b="0"/>
                        <a:t>Frequency: 600 MHz vs 550 MHz</a:t>
                      </a:r>
                    </a:p>
                    <a:p>
                      <a:pPr marL="171450" indent="-171450">
                        <a:buFont typeface="Arial" panose="020B0604020202020204" pitchFamily="34" charset="0"/>
                        <a:buChar char="•"/>
                      </a:pPr>
                      <a:r>
                        <a:rPr lang="en-US" sz="1000" b="0"/>
                        <a:t>Flash: flashless vs 2 MB</a:t>
                      </a:r>
                    </a:p>
                    <a:p>
                      <a:pPr marL="171450" indent="-171450">
                        <a:buFont typeface="Arial" panose="020B0604020202020204" pitchFamily="34" charset="0"/>
                        <a:buChar char="•"/>
                      </a:pPr>
                      <a:r>
                        <a:rPr lang="en-US" sz="1000" b="0"/>
                        <a:t>SRAM: same 1 MB</a:t>
                      </a:r>
                      <a:endParaRPr lang="en-US" sz="1000">
                        <a:effectLst/>
                      </a:endParaRPr>
                    </a:p>
                  </a:txBody>
                  <a:tcPr marL="76200" marR="76200" marT="19050" marB="19050" anchor="ctr"/>
                </a:tc>
                <a:tc>
                  <a:txBody>
                    <a:bodyPr/>
                    <a:lstStyle/>
                    <a:p>
                      <a:pPr marL="171450" indent="-171450">
                        <a:buFont typeface="Arial" panose="020B0604020202020204" pitchFamily="34" charset="0"/>
                        <a:buChar char="•"/>
                      </a:pPr>
                      <a:r>
                        <a:rPr lang="en-US" sz="1000" dirty="0">
                          <a:effectLst/>
                        </a:rPr>
                        <a:t>9 MD</a:t>
                      </a:r>
                    </a:p>
                  </a:txBody>
                  <a:tcPr marL="76200" marR="76200" marT="19050" marB="19050" anchor="ctr"/>
                </a:tc>
                <a:extLst>
                  <a:ext uri="{0D108BD9-81ED-4DB2-BD59-A6C34878D82A}">
                    <a16:rowId xmlns:a16="http://schemas.microsoft.com/office/drawing/2014/main" val="2538240423"/>
                  </a:ext>
                </a:extLst>
              </a:tr>
            </a:tbl>
          </a:graphicData>
        </a:graphic>
      </p:graphicFrame>
      <p:sp>
        <p:nvSpPr>
          <p:cNvPr id="6" name="Slide Number Placeholder 5">
            <a:extLst>
              <a:ext uri="{FF2B5EF4-FFF2-40B4-BE49-F238E27FC236}">
                <a16:creationId xmlns:a16="http://schemas.microsoft.com/office/drawing/2014/main" id="{C326AD5E-C3ED-18E5-D283-B888B56C3AAD}"/>
              </a:ext>
            </a:extLst>
          </p:cNvPr>
          <p:cNvSpPr>
            <a:spLocks noGrp="1"/>
          </p:cNvSpPr>
          <p:nvPr>
            <p:ph type="sldNum" sz="quarter" idx="12"/>
          </p:nvPr>
        </p:nvSpPr>
        <p:spPr/>
        <p:txBody>
          <a:bodyPr/>
          <a:lstStyle/>
          <a:p>
            <a:fld id="{40A7B169-58CE-4E65-B1F9-ACF9E46440C2}" type="slidenum">
              <a:rPr lang="en-US" smtClean="0"/>
              <a:t>29</a:t>
            </a:fld>
            <a:endParaRPr lang="en-US"/>
          </a:p>
        </p:txBody>
      </p:sp>
      <p:sp>
        <p:nvSpPr>
          <p:cNvPr id="2" name="TextBox 1">
            <a:extLst>
              <a:ext uri="{FF2B5EF4-FFF2-40B4-BE49-F238E27FC236}">
                <a16:creationId xmlns:a16="http://schemas.microsoft.com/office/drawing/2014/main" id="{AA608D89-5E7C-92A7-5DD6-1D3D05F9148B}"/>
              </a:ext>
            </a:extLst>
          </p:cNvPr>
          <p:cNvSpPr txBox="1"/>
          <p:nvPr/>
        </p:nvSpPr>
        <p:spPr>
          <a:xfrm>
            <a:off x="130400" y="5389420"/>
            <a:ext cx="8211312" cy="246221"/>
          </a:xfrm>
          <a:prstGeom prst="rect">
            <a:avLst/>
          </a:prstGeom>
          <a:noFill/>
        </p:spPr>
        <p:txBody>
          <a:bodyPr wrap="square" rtlCol="0">
            <a:spAutoFit/>
          </a:bodyPr>
          <a:lstStyle/>
          <a:p>
            <a:pPr algn="l"/>
            <a:r>
              <a:rPr lang="en-US" sz="1000" dirty="0"/>
              <a:t>(*) estimation based on tests first development will be done by Copilot + Manual configuration adjustment and validation on HW boards</a:t>
            </a:r>
          </a:p>
        </p:txBody>
      </p:sp>
      <p:sp>
        <p:nvSpPr>
          <p:cNvPr id="4" name="TextBox 3">
            <a:extLst>
              <a:ext uri="{FF2B5EF4-FFF2-40B4-BE49-F238E27FC236}">
                <a16:creationId xmlns:a16="http://schemas.microsoft.com/office/drawing/2014/main" id="{8EC03452-8417-2769-DAAD-2A6F5D1B67F4}"/>
              </a:ext>
            </a:extLst>
          </p:cNvPr>
          <p:cNvSpPr txBox="1"/>
          <p:nvPr/>
        </p:nvSpPr>
        <p:spPr>
          <a:xfrm rot="19832387">
            <a:off x="2064801" y="2184841"/>
            <a:ext cx="8062398" cy="1569660"/>
          </a:xfrm>
          <a:prstGeom prst="rect">
            <a:avLst/>
          </a:prstGeom>
          <a:noFill/>
        </p:spPr>
        <p:txBody>
          <a:bodyPr wrap="square" rtlCol="0">
            <a:spAutoFit/>
          </a:bodyPr>
          <a:lstStyle/>
          <a:p>
            <a:pPr algn="l"/>
            <a:r>
              <a:rPr lang="en-US" sz="9600" dirty="0">
                <a:solidFill>
                  <a:schemeClr val="accent4"/>
                </a:solidFill>
              </a:rPr>
              <a:t>Low priority</a:t>
            </a:r>
          </a:p>
        </p:txBody>
      </p:sp>
    </p:spTree>
    <p:extLst>
      <p:ext uri="{BB962C8B-B14F-4D97-AF65-F5344CB8AC3E}">
        <p14:creationId xmlns:p14="http://schemas.microsoft.com/office/powerpoint/2010/main" val="2427384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78A5B-1C17-9B38-90C9-3385CCB545FD}"/>
            </a:ext>
          </a:extLst>
        </p:cNvPr>
        <p:cNvGrpSpPr/>
        <p:nvPr/>
      </p:nvGrpSpPr>
      <p:grpSpPr>
        <a:xfrm>
          <a:off x="0" y="0"/>
          <a:ext cx="0" cy="0"/>
          <a:chOff x="0" y="0"/>
          <a:chExt cx="0" cy="0"/>
        </a:xfrm>
      </p:grpSpPr>
      <p:sp>
        <p:nvSpPr>
          <p:cNvPr id="17" name="Title 2">
            <a:extLst>
              <a:ext uri="{FF2B5EF4-FFF2-40B4-BE49-F238E27FC236}">
                <a16:creationId xmlns:a16="http://schemas.microsoft.com/office/drawing/2014/main" id="{8DE30A59-0E21-28B1-1F36-6D0F1156E092}"/>
              </a:ext>
            </a:extLst>
          </p:cNvPr>
          <p:cNvSpPr>
            <a:spLocks noGrp="1"/>
          </p:cNvSpPr>
          <p:nvPr>
            <p:ph type="title"/>
          </p:nvPr>
        </p:nvSpPr>
        <p:spPr>
          <a:xfrm>
            <a:off x="300037" y="-1"/>
            <a:ext cx="11609159" cy="1304925"/>
          </a:xfrm>
        </p:spPr>
        <p:txBody>
          <a:bodyPr/>
          <a:lstStyle/>
          <a:p>
            <a:r>
              <a:rPr lang="en-US"/>
              <a:t>Annex</a:t>
            </a:r>
            <a:endParaRPr lang="en-US" sz="2400" b="1">
              <a:solidFill>
                <a:schemeClr val="accent2"/>
              </a:solidFill>
            </a:endParaRPr>
          </a:p>
        </p:txBody>
      </p:sp>
      <p:graphicFrame>
        <p:nvGraphicFramePr>
          <p:cNvPr id="2" name="Table 1">
            <a:extLst>
              <a:ext uri="{FF2B5EF4-FFF2-40B4-BE49-F238E27FC236}">
                <a16:creationId xmlns:a16="http://schemas.microsoft.com/office/drawing/2014/main" id="{CF2C6774-F0B9-92D6-340B-E0D02AC54B4E}"/>
              </a:ext>
            </a:extLst>
          </p:cNvPr>
          <p:cNvGraphicFramePr>
            <a:graphicFrameLocks noGrp="1"/>
          </p:cNvGraphicFramePr>
          <p:nvPr>
            <p:extLst>
              <p:ext uri="{D42A27DB-BD31-4B8C-83A1-F6EECF244321}">
                <p14:modId xmlns:p14="http://schemas.microsoft.com/office/powerpoint/2010/main" val="3826031093"/>
              </p:ext>
            </p:extLst>
          </p:nvPr>
        </p:nvGraphicFramePr>
        <p:xfrm>
          <a:off x="644524" y="1304924"/>
          <a:ext cx="10299702" cy="4536440"/>
        </p:xfrm>
        <a:graphic>
          <a:graphicData uri="http://schemas.openxmlformats.org/drawingml/2006/table">
            <a:tbl>
              <a:tblPr firstRow="1" bandRow="1">
                <a:tableStyleId>{5C22544A-7EE6-4342-B048-85BDC9FD1C3A}</a:tableStyleId>
              </a:tblPr>
              <a:tblGrid>
                <a:gridCol w="3832226">
                  <a:extLst>
                    <a:ext uri="{9D8B030D-6E8A-4147-A177-3AD203B41FA5}">
                      <a16:colId xmlns:a16="http://schemas.microsoft.com/office/drawing/2014/main" val="1384981788"/>
                    </a:ext>
                  </a:extLst>
                </a:gridCol>
                <a:gridCol w="3034242">
                  <a:extLst>
                    <a:ext uri="{9D8B030D-6E8A-4147-A177-3AD203B41FA5}">
                      <a16:colId xmlns:a16="http://schemas.microsoft.com/office/drawing/2014/main" val="3170570871"/>
                    </a:ext>
                  </a:extLst>
                </a:gridCol>
                <a:gridCol w="3433234">
                  <a:extLst>
                    <a:ext uri="{9D8B030D-6E8A-4147-A177-3AD203B41FA5}">
                      <a16:colId xmlns:a16="http://schemas.microsoft.com/office/drawing/2014/main" val="3553302882"/>
                    </a:ext>
                  </a:extLst>
                </a:gridCol>
              </a:tblGrid>
              <a:tr h="370840">
                <a:tc>
                  <a:txBody>
                    <a:bodyPr/>
                    <a:lstStyle/>
                    <a:p>
                      <a:pPr algn="l"/>
                      <a:r>
                        <a:rPr lang="fr-FR" sz="1200"/>
                        <a:t>Document/ SW Package</a:t>
                      </a:r>
                    </a:p>
                  </a:txBody>
                  <a:tcPr/>
                </a:tc>
                <a:tc>
                  <a:txBody>
                    <a:bodyPr/>
                    <a:lstStyle/>
                    <a:p>
                      <a:pPr algn="l"/>
                      <a:r>
                        <a:rPr lang="fr-FR" sz="1200" err="1"/>
                        <a:t>Owner</a:t>
                      </a:r>
                      <a:endParaRPr lang="fr-FR" sz="1200"/>
                    </a:p>
                  </a:txBody>
                  <a:tcPr/>
                </a:tc>
                <a:tc>
                  <a:txBody>
                    <a:bodyPr/>
                    <a:lstStyle/>
                    <a:p>
                      <a:pPr algn="l"/>
                      <a:r>
                        <a:rPr lang="fr-FR" sz="1200"/>
                        <a:t> Link</a:t>
                      </a:r>
                    </a:p>
                  </a:txBody>
                  <a:tcPr/>
                </a:tc>
                <a:extLst>
                  <a:ext uri="{0D108BD9-81ED-4DB2-BD59-A6C34878D82A}">
                    <a16:rowId xmlns:a16="http://schemas.microsoft.com/office/drawing/2014/main" val="2956597527"/>
                  </a:ext>
                </a:extLst>
              </a:tr>
              <a:tr h="370840">
                <a:tc>
                  <a:txBody>
                    <a:bodyPr/>
                    <a:lstStyle/>
                    <a:p>
                      <a:r>
                        <a:rPr lang="en-US" sz="1200"/>
                        <a:t>Real-Time Operating System (RTOS)</a:t>
                      </a:r>
                    </a:p>
                    <a:p>
                      <a:r>
                        <a:rPr lang="en-US" sz="1200"/>
                        <a:t> 2024 Performance Report</a:t>
                      </a:r>
                      <a:endParaRPr lang="fr-FR" sz="1200"/>
                    </a:p>
                  </a:txBody>
                  <a:tcPr/>
                </a:tc>
                <a:tc>
                  <a:txBody>
                    <a:bodyPr/>
                    <a:lstStyle/>
                    <a:p>
                      <a:r>
                        <a:rPr lang="en-US" sz="1200"/>
                        <a:t>Jacob Beningo </a:t>
                      </a:r>
                      <a:endParaRPr lang="fr-FR" sz="1200"/>
                    </a:p>
                  </a:txBody>
                  <a:tcPr/>
                </a:tc>
                <a:tc>
                  <a:txBody>
                    <a:bodyPr/>
                    <a:lstStyle/>
                    <a:p>
                      <a:r>
                        <a:rPr lang="en-US" sz="1200">
                          <a:solidFill>
                            <a:srgbClr val="000000"/>
                          </a:solidFill>
                          <a:ea typeface="+mn-lt"/>
                          <a:cs typeface="+mn-lt"/>
                          <a:hlinkClick r:id="rId3"/>
                        </a:rPr>
                        <a:t>RTOS 2024 Performance Report</a:t>
                      </a:r>
                      <a:r>
                        <a:rPr lang="en-US" sz="1200">
                          <a:solidFill>
                            <a:srgbClr val="000000"/>
                          </a:solidFill>
                          <a:ea typeface="+mn-lt"/>
                          <a:cs typeface="+mn-lt"/>
                        </a:rPr>
                        <a:t> </a:t>
                      </a:r>
                      <a:endParaRPr lang="fr-FR" sz="1200"/>
                    </a:p>
                  </a:txBody>
                  <a:tcPr/>
                </a:tc>
                <a:extLst>
                  <a:ext uri="{0D108BD9-81ED-4DB2-BD59-A6C34878D82A}">
                    <a16:rowId xmlns:a16="http://schemas.microsoft.com/office/drawing/2014/main" val="3542696991"/>
                  </a:ext>
                </a:extLst>
              </a:tr>
              <a:tr h="370840">
                <a:tc>
                  <a:txBody>
                    <a:bodyPr/>
                    <a:lstStyle/>
                    <a:p>
                      <a:pPr marL="0" algn="l" defTabSz="914400" rtl="0" eaLnBrk="1" latinLnBrk="0" hangingPunct="1"/>
                      <a:r>
                        <a:rPr lang="en-US" sz="1200" kern="1200">
                          <a:solidFill>
                            <a:schemeClr val="dk1"/>
                          </a:solidFill>
                          <a:latin typeface="+mn-lt"/>
                          <a:ea typeface="+mn-ea"/>
                          <a:cs typeface="+mn-cs"/>
                        </a:rPr>
                        <a:t>STM32CubeU5 V1.8.0</a:t>
                      </a:r>
                    </a:p>
                  </a:txBody>
                  <a:tcPr/>
                </a:tc>
                <a:tc>
                  <a:txBody>
                    <a:bodyPr/>
                    <a:lstStyle/>
                    <a:p>
                      <a:r>
                        <a:rPr lang="en-US" sz="1200">
                          <a:hlinkClick r:id="rId4"/>
                        </a:rPr>
                        <a:t>STMicroelectronics</a:t>
                      </a:r>
                      <a:endParaRPr lang="fr-FR" sz="1200"/>
                    </a:p>
                  </a:txBody>
                  <a:tcPr/>
                </a:tc>
                <a:tc>
                  <a:txBody>
                    <a:bodyPr/>
                    <a:lstStyle/>
                    <a:p>
                      <a:r>
                        <a:rPr lang="en-US" sz="1200" kern="1200">
                          <a:solidFill>
                            <a:schemeClr val="dk1"/>
                          </a:solidFill>
                          <a:latin typeface="+mn-lt"/>
                          <a:ea typeface="+mn-ea"/>
                          <a:cs typeface="+mn-cs"/>
                          <a:hlinkClick r:id="rId5"/>
                        </a:rPr>
                        <a:t>STM32CubeU5</a:t>
                      </a:r>
                      <a:endParaRPr lang="fr-FR" sz="1200" kern="1200">
                        <a:solidFill>
                          <a:schemeClr val="dk1"/>
                        </a:solidFill>
                        <a:latin typeface="+mn-lt"/>
                        <a:ea typeface="+mn-ea"/>
                        <a:cs typeface="+mn-cs"/>
                      </a:endParaRPr>
                    </a:p>
                  </a:txBody>
                  <a:tcPr/>
                </a:tc>
                <a:extLst>
                  <a:ext uri="{0D108BD9-81ED-4DB2-BD59-A6C34878D82A}">
                    <a16:rowId xmlns:a16="http://schemas.microsoft.com/office/drawing/2014/main" val="11993681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rPr>
                        <a:t>STM32CubeH5 V1.5.0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hlinkClick r:id="rId4"/>
                        </a:rPr>
                        <a:t>STMicroelectronics</a:t>
                      </a:r>
                      <a:endParaRPr lang="fr-FR"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accent3"/>
                          </a:solidFill>
                          <a:latin typeface="+mn-lt"/>
                          <a:ea typeface="+mn-ea"/>
                          <a:cs typeface="+mn-cs"/>
                          <a:hlinkClick r:id="rId6">
                            <a:extLst>
                              <a:ext uri="{A12FA001-AC4F-418D-AE19-62706E023703}">
                                <ahyp:hlinkClr xmlns:ahyp="http://schemas.microsoft.com/office/drawing/2018/hyperlinkcolor" val="tx"/>
                              </a:ext>
                            </a:extLst>
                          </a:hlinkClick>
                        </a:rPr>
                        <a:t>STM32CubeH5</a:t>
                      </a:r>
                      <a:endParaRPr lang="fr-FR" sz="1200" kern="1200">
                        <a:solidFill>
                          <a:schemeClr val="accent3"/>
                        </a:solidFill>
                        <a:latin typeface="+mn-lt"/>
                        <a:ea typeface="+mn-ea"/>
                        <a:cs typeface="+mn-cs"/>
                      </a:endParaRPr>
                    </a:p>
                  </a:txBody>
                  <a:tcPr/>
                </a:tc>
                <a:extLst>
                  <a:ext uri="{0D108BD9-81ED-4DB2-BD59-A6C34878D82A}">
                    <a16:rowId xmlns:a16="http://schemas.microsoft.com/office/drawing/2014/main" val="16091081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rPr>
                        <a:t>STM32CubeH7 V1.12.0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hlinkClick r:id="rId4"/>
                        </a:rPr>
                        <a:t>STMicroelectronics</a:t>
                      </a:r>
                      <a:endParaRPr lang="fr-FR"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accent3"/>
                          </a:solidFill>
                          <a:latin typeface="+mn-lt"/>
                          <a:ea typeface="+mn-ea"/>
                          <a:cs typeface="+mn-cs"/>
                          <a:hlinkClick r:id="rId7"/>
                        </a:rPr>
                        <a:t>STM32CubeH7</a:t>
                      </a:r>
                      <a:endParaRPr lang="fr-FR" sz="1200" kern="1200">
                        <a:solidFill>
                          <a:schemeClr val="accent3"/>
                        </a:solidFill>
                        <a:latin typeface="+mn-lt"/>
                        <a:ea typeface="+mn-ea"/>
                        <a:cs typeface="+mn-cs"/>
                      </a:endParaRPr>
                    </a:p>
                  </a:txBody>
                  <a:tcPr/>
                </a:tc>
                <a:extLst>
                  <a:ext uri="{0D108BD9-81ED-4DB2-BD59-A6C34878D82A}">
                    <a16:rowId xmlns:a16="http://schemas.microsoft.com/office/drawing/2014/main" val="35641762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rPr>
                        <a:t>STM32CubeC0 V1.4.0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hlinkClick r:id="rId4"/>
                        </a:rPr>
                        <a:t>STMicroelectronics</a:t>
                      </a:r>
                      <a:endParaRPr lang="fr-FR"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accent3"/>
                          </a:solidFill>
                          <a:latin typeface="+mn-lt"/>
                          <a:ea typeface="+mn-ea"/>
                          <a:cs typeface="+mn-cs"/>
                          <a:hlinkClick r:id="rId8"/>
                        </a:rPr>
                        <a:t>STM32CubeC0</a:t>
                      </a:r>
                      <a:endParaRPr lang="fr-FR" sz="1200" kern="1200">
                        <a:solidFill>
                          <a:schemeClr val="accent3"/>
                        </a:solidFill>
                        <a:latin typeface="+mn-lt"/>
                        <a:ea typeface="+mn-ea"/>
                        <a:cs typeface="+mn-cs"/>
                      </a:endParaRPr>
                    </a:p>
                  </a:txBody>
                  <a:tcPr/>
                </a:tc>
                <a:extLst>
                  <a:ext uri="{0D108BD9-81ED-4DB2-BD59-A6C34878D82A}">
                    <a16:rowId xmlns:a16="http://schemas.microsoft.com/office/drawing/2014/main" val="5407042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a:solidFill>
                            <a:schemeClr val="dk1"/>
                          </a:solidFill>
                          <a:latin typeface="+mn-lt"/>
                          <a:ea typeface="+mn-ea"/>
                          <a:cs typeface="+mn-cs"/>
                        </a:rPr>
                        <a:t>stm32u5-classic-coremw-apps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hlinkClick r:id="rId4"/>
                        </a:rPr>
                        <a:t>STMicroelectronics</a:t>
                      </a:r>
                      <a:endParaRPr lang="fr-FR"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kern="1200">
                          <a:solidFill>
                            <a:schemeClr val="accent3"/>
                          </a:solidFill>
                          <a:latin typeface="+mn-lt"/>
                          <a:ea typeface="+mn-ea"/>
                          <a:cs typeface="+mn-cs"/>
                          <a:hlinkClick r:id="rId9">
                            <a:extLst>
                              <a:ext uri="{A12FA001-AC4F-418D-AE19-62706E023703}">
                                <ahyp:hlinkClr xmlns:ahyp="http://schemas.microsoft.com/office/drawing/2018/hyperlinkcolor" val="tx"/>
                              </a:ext>
                            </a:extLst>
                          </a:hlinkClick>
                        </a:rPr>
                        <a:t>stm32u5-classic-coremw-apps</a:t>
                      </a:r>
                      <a:endParaRPr lang="en-US" sz="1200" u="none" kern="1200">
                        <a:solidFill>
                          <a:schemeClr val="accent3"/>
                        </a:solidFill>
                        <a:latin typeface="+mn-lt"/>
                        <a:ea typeface="+mn-ea"/>
                        <a:cs typeface="+mn-cs"/>
                      </a:endParaRPr>
                    </a:p>
                  </a:txBody>
                  <a:tcPr/>
                </a:tc>
                <a:extLst>
                  <a:ext uri="{0D108BD9-81ED-4DB2-BD59-A6C34878D82A}">
                    <a16:rowId xmlns:a16="http://schemas.microsoft.com/office/drawing/2014/main" val="30469680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ra6m5-example 6.0.0</a:t>
                      </a:r>
                      <a:endParaRPr lang="en-US"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a:solidFill>
                            <a:schemeClr val="dk1"/>
                          </a:solidFill>
                          <a:latin typeface="+mn-lt"/>
                          <a:ea typeface="+mn-ea"/>
                          <a:cs typeface="+mn-cs"/>
                          <a:hlinkClick r:id="rId10"/>
                        </a:rPr>
                        <a:t>Renesas</a:t>
                      </a:r>
                      <a:endParaRPr lang="fr-FR"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accent3"/>
                          </a:solidFill>
                          <a:hlinkClick r:id="rId11">
                            <a:extLst>
                              <a:ext uri="{A12FA001-AC4F-418D-AE19-62706E023703}">
                                <ahyp:hlinkClr xmlns:ahyp="http://schemas.microsoft.com/office/drawing/2018/hyperlinkcolor" val="tx"/>
                              </a:ext>
                            </a:extLst>
                          </a:hlinkClick>
                        </a:rPr>
                        <a:t>ra6m5-example</a:t>
                      </a:r>
                      <a:endParaRPr lang="en-US" sz="1200" kern="1200">
                        <a:solidFill>
                          <a:schemeClr val="accent3"/>
                        </a:solidFill>
                        <a:latin typeface="+mn-lt"/>
                        <a:ea typeface="+mn-ea"/>
                        <a:cs typeface="+mn-cs"/>
                      </a:endParaRPr>
                    </a:p>
                  </a:txBody>
                  <a:tcPr/>
                </a:tc>
                <a:extLst>
                  <a:ext uri="{0D108BD9-81ED-4DB2-BD59-A6C34878D82A}">
                    <a16:rowId xmlns:a16="http://schemas.microsoft.com/office/drawing/2014/main" val="34086059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ra8m1-example 6.0.0</a:t>
                      </a:r>
                      <a:endParaRPr lang="en-US"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a:solidFill>
                            <a:schemeClr val="dk1"/>
                          </a:solidFill>
                          <a:latin typeface="+mn-lt"/>
                          <a:ea typeface="+mn-ea"/>
                          <a:cs typeface="+mn-cs"/>
                          <a:hlinkClick r:id="rId10"/>
                        </a:rPr>
                        <a:t>Renesas</a:t>
                      </a:r>
                      <a:endParaRPr lang="fr-FR"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hlinkClick r:id="rId12"/>
                        </a:rPr>
                        <a:t>ra8m1-example</a:t>
                      </a:r>
                      <a:endParaRPr lang="en-US" sz="1200" kern="1200">
                        <a:solidFill>
                          <a:schemeClr val="dk1"/>
                        </a:solidFill>
                        <a:latin typeface="+mn-lt"/>
                        <a:ea typeface="+mn-ea"/>
                        <a:cs typeface="+mn-cs"/>
                      </a:endParaRPr>
                    </a:p>
                  </a:txBody>
                  <a:tcPr/>
                </a:tc>
                <a:extLst>
                  <a:ext uri="{0D108BD9-81ED-4DB2-BD59-A6C34878D82A}">
                    <a16:rowId xmlns:a16="http://schemas.microsoft.com/office/drawing/2014/main" val="3677789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MCX-N9 XX 25_06_00</a:t>
                      </a:r>
                      <a:endParaRPr lang="en-US"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a:solidFill>
                            <a:schemeClr val="dk1"/>
                          </a:solidFill>
                          <a:latin typeface="+mn-lt"/>
                          <a:ea typeface="+mn-ea"/>
                          <a:cs typeface="+mn-cs"/>
                          <a:hlinkClick r:id="rId13"/>
                        </a:rPr>
                        <a:t>NXP</a:t>
                      </a:r>
                      <a:endParaRPr lang="fr-FR"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hlinkClick r:id="rId14"/>
                        </a:rPr>
                        <a:t>MCUXpressoSDKBuilder</a:t>
                      </a:r>
                      <a:endParaRPr lang="en-US" sz="1200" kern="1200">
                        <a:solidFill>
                          <a:schemeClr val="dk1"/>
                        </a:solidFill>
                        <a:latin typeface="+mn-lt"/>
                        <a:ea typeface="+mn-ea"/>
                        <a:cs typeface="+mn-cs"/>
                      </a:endParaRPr>
                    </a:p>
                  </a:txBody>
                  <a:tcPr/>
                </a:tc>
                <a:extLst>
                  <a:ext uri="{0D108BD9-81ED-4DB2-BD59-A6C34878D82A}">
                    <a16:rowId xmlns:a16="http://schemas.microsoft.com/office/drawing/2014/main" val="22324442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i.MX RT1170 25_06_00</a:t>
                      </a:r>
                      <a:endParaRPr lang="en-US"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a:solidFill>
                            <a:schemeClr val="dk1"/>
                          </a:solidFill>
                          <a:latin typeface="+mn-lt"/>
                          <a:ea typeface="+mn-ea"/>
                          <a:cs typeface="+mn-cs"/>
                          <a:hlinkClick r:id="rId13"/>
                        </a:rPr>
                        <a:t>NXP</a:t>
                      </a:r>
                      <a:endParaRPr lang="fr-FR"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hlinkClick r:id="rId14"/>
                        </a:rPr>
                        <a:t>MCUXpressoSDKBuilder</a:t>
                      </a:r>
                      <a:endParaRPr lang="en-US" sz="1200" kern="1200">
                        <a:solidFill>
                          <a:schemeClr val="dk1"/>
                        </a:solidFill>
                        <a:latin typeface="+mn-lt"/>
                        <a:ea typeface="+mn-ea"/>
                        <a:cs typeface="+mn-cs"/>
                      </a:endParaRPr>
                    </a:p>
                  </a:txBody>
                  <a:tcPr/>
                </a:tc>
                <a:extLst>
                  <a:ext uri="{0D108BD9-81ED-4DB2-BD59-A6C34878D82A}">
                    <a16:rowId xmlns:a16="http://schemas.microsoft.com/office/drawing/2014/main" val="32022248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rPr>
                        <a:t>MSPM0-SDK 2.06.00.05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a:solidFill>
                            <a:schemeClr val="dk1"/>
                          </a:solidFill>
                          <a:latin typeface="+mn-lt"/>
                          <a:ea typeface="+mn-ea"/>
                          <a:cs typeface="+mn-cs"/>
                          <a:hlinkClick r:id="rId15"/>
                        </a:rPr>
                        <a:t>Texas Instrument</a:t>
                      </a:r>
                      <a:endParaRPr lang="fr-FR" sz="12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dk1"/>
                          </a:solidFill>
                          <a:latin typeface="+mn-lt"/>
                          <a:ea typeface="+mn-ea"/>
                          <a:cs typeface="+mn-cs"/>
                          <a:hlinkClick r:id="rId16"/>
                        </a:rPr>
                        <a:t>MSPM0-SDK</a:t>
                      </a:r>
                      <a:endParaRPr lang="en-US" sz="1200" kern="1200">
                        <a:solidFill>
                          <a:schemeClr val="dk1"/>
                        </a:solidFill>
                        <a:latin typeface="+mn-lt"/>
                        <a:ea typeface="+mn-ea"/>
                        <a:cs typeface="+mn-cs"/>
                      </a:endParaRPr>
                    </a:p>
                  </a:txBody>
                  <a:tcPr/>
                </a:tc>
                <a:extLst>
                  <a:ext uri="{0D108BD9-81ED-4DB2-BD59-A6C34878D82A}">
                    <a16:rowId xmlns:a16="http://schemas.microsoft.com/office/drawing/2014/main" val="472124859"/>
                  </a:ext>
                </a:extLst>
              </a:tr>
            </a:tbl>
          </a:graphicData>
        </a:graphic>
      </p:graphicFrame>
      <p:sp>
        <p:nvSpPr>
          <p:cNvPr id="3" name="Slide Number Placeholder 2">
            <a:extLst>
              <a:ext uri="{FF2B5EF4-FFF2-40B4-BE49-F238E27FC236}">
                <a16:creationId xmlns:a16="http://schemas.microsoft.com/office/drawing/2014/main" id="{F3511034-EE87-8C57-67B1-2E0C3DFE5829}"/>
              </a:ext>
            </a:extLst>
          </p:cNvPr>
          <p:cNvSpPr>
            <a:spLocks noGrp="1"/>
          </p:cNvSpPr>
          <p:nvPr>
            <p:ph type="sldNum" sz="quarter" idx="12"/>
          </p:nvPr>
        </p:nvSpPr>
        <p:spPr/>
        <p:txBody>
          <a:bodyPr/>
          <a:lstStyle/>
          <a:p>
            <a:fld id="{40A7B169-58CE-4E65-B1F9-ACF9E46440C2}" type="slidenum">
              <a:rPr lang="en-US" smtClean="0"/>
              <a:t>30</a:t>
            </a:fld>
            <a:endParaRPr lang="en-US"/>
          </a:p>
        </p:txBody>
      </p:sp>
    </p:spTree>
    <p:extLst>
      <p:ext uri="{BB962C8B-B14F-4D97-AF65-F5344CB8AC3E}">
        <p14:creationId xmlns:p14="http://schemas.microsoft.com/office/powerpoint/2010/main" val="934723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EF3D03A-A9C6-23ED-D421-D8DBD91504B1}"/>
              </a:ext>
            </a:extLst>
          </p:cNvPr>
          <p:cNvGrpSpPr/>
          <p:nvPr/>
        </p:nvGrpSpPr>
        <p:grpSpPr>
          <a:xfrm>
            <a:off x="2771951" y="4347316"/>
            <a:ext cx="6420472" cy="952500"/>
            <a:chOff x="2414184" y="4286537"/>
            <a:chExt cx="6420472" cy="952500"/>
          </a:xfrm>
        </p:grpSpPr>
        <p:sp>
          <p:nvSpPr>
            <p:cNvPr id="8" name="TextBox 7">
              <a:extLst>
                <a:ext uri="{FF2B5EF4-FFF2-40B4-BE49-F238E27FC236}">
                  <a16:creationId xmlns:a16="http://schemas.microsoft.com/office/drawing/2014/main" id="{BB9E9B98-996A-C191-F84C-7450EBE0923D}"/>
                </a:ext>
              </a:extLst>
            </p:cNvPr>
            <p:cNvSpPr txBox="1"/>
            <p:nvPr/>
          </p:nvSpPr>
          <p:spPr>
            <a:xfrm>
              <a:off x="3366684" y="4470400"/>
              <a:ext cx="5467972" cy="584775"/>
            </a:xfrm>
            <a:prstGeom prst="rect">
              <a:avLst/>
            </a:prstGeom>
            <a:noFill/>
          </p:spPr>
          <p:txBody>
            <a:bodyPr wrap="none" rtlCol="0">
              <a:spAutoFit/>
            </a:bodyPr>
            <a:lstStyle/>
            <a:p>
              <a:r>
                <a:rPr lang="en-US" sz="3200">
                  <a:solidFill>
                    <a:schemeClr val="bg1"/>
                  </a:solidFill>
                </a:rPr>
                <a:t>Find out more at </a:t>
              </a:r>
              <a:r>
                <a:rPr lang="en-US" sz="3200">
                  <a:solidFill>
                    <a:schemeClr val="accent3"/>
                  </a:solidFill>
                  <a:hlinkClick r:id="rId2"/>
                </a:rPr>
                <a:t>www.st.com</a:t>
              </a:r>
              <a:endParaRPr lang="en-US" sz="3200">
                <a:solidFill>
                  <a:schemeClr val="accent3"/>
                </a:solidFill>
              </a:endParaRPr>
            </a:p>
          </p:txBody>
        </p:sp>
        <p:pic>
          <p:nvPicPr>
            <p:cNvPr id="9" name="Graphic 8">
              <a:extLst>
                <a:ext uri="{FF2B5EF4-FFF2-40B4-BE49-F238E27FC236}">
                  <a16:creationId xmlns:a16="http://schemas.microsoft.com/office/drawing/2014/main" id="{C88344D3-877E-1588-F71C-5C1F9E8B0C7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14184" y="4286537"/>
              <a:ext cx="952500" cy="952500"/>
            </a:xfrm>
            <a:prstGeom prst="rect">
              <a:avLst/>
            </a:prstGeom>
          </p:spPr>
        </p:pic>
      </p:grpSp>
    </p:spTree>
    <p:extLst>
      <p:ext uri="{BB962C8B-B14F-4D97-AF65-F5344CB8AC3E}">
        <p14:creationId xmlns:p14="http://schemas.microsoft.com/office/powerpoint/2010/main" val="1975237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BF0139B-0BEB-449C-B1F7-80D4F54F3FC1}"/>
              </a:ext>
            </a:extLst>
          </p:cNvPr>
          <p:cNvGrpSpPr/>
          <p:nvPr/>
        </p:nvGrpSpPr>
        <p:grpSpPr>
          <a:xfrm>
            <a:off x="4688541" y="0"/>
            <a:ext cx="7503459" cy="6858000"/>
            <a:chOff x="4688541" y="0"/>
            <a:chExt cx="7503459" cy="6858000"/>
          </a:xfrm>
        </p:grpSpPr>
        <p:pic>
          <p:nvPicPr>
            <p:cNvPr id="4" name="Picture 3">
              <a:extLst>
                <a:ext uri="{FF2B5EF4-FFF2-40B4-BE49-F238E27FC236}">
                  <a16:creationId xmlns:a16="http://schemas.microsoft.com/office/drawing/2014/main" id="{55975067-3004-4E25-8B69-CACB0B1963BA}"/>
                </a:ext>
              </a:extLst>
            </p:cNvPr>
            <p:cNvPicPr>
              <a:picLocks noChangeAspect="1"/>
            </p:cNvPicPr>
            <p:nvPr/>
          </p:nvPicPr>
          <p:blipFill>
            <a:blip r:embed="rId3"/>
            <a:stretch>
              <a:fillRect/>
            </a:stretch>
          </p:blipFill>
          <p:spPr>
            <a:xfrm>
              <a:off x="4688541" y="0"/>
              <a:ext cx="7503459" cy="6858000"/>
            </a:xfrm>
            <a:prstGeom prst="rect">
              <a:avLst/>
            </a:prstGeom>
          </p:spPr>
        </p:pic>
        <p:sp>
          <p:nvSpPr>
            <p:cNvPr id="11" name="Rectangle 10">
              <a:extLst>
                <a:ext uri="{FF2B5EF4-FFF2-40B4-BE49-F238E27FC236}">
                  <a16:creationId xmlns:a16="http://schemas.microsoft.com/office/drawing/2014/main" id="{1C8AF24E-0C24-4EB7-8B46-271260356B65}"/>
                </a:ext>
              </a:extLst>
            </p:cNvPr>
            <p:cNvSpPr/>
            <p:nvPr/>
          </p:nvSpPr>
          <p:spPr>
            <a:xfrm>
              <a:off x="11640457" y="0"/>
              <a:ext cx="55154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AB759B23-2AC6-4702-845A-24B397B67FAF}"/>
              </a:ext>
            </a:extLst>
          </p:cNvPr>
          <p:cNvSpPr txBox="1"/>
          <p:nvPr/>
        </p:nvSpPr>
        <p:spPr>
          <a:xfrm>
            <a:off x="188686" y="2513364"/>
            <a:ext cx="4325257" cy="1831271"/>
          </a:xfrm>
          <a:prstGeom prst="rect">
            <a:avLst/>
          </a:prstGeom>
          <a:noFill/>
        </p:spPr>
        <p:txBody>
          <a:bodyPr wrap="square" rtlCol="0">
            <a:spAutoFit/>
          </a:bodyPr>
          <a:lstStyle/>
          <a:p>
            <a:pPr algn="ctr">
              <a:spcBef>
                <a:spcPts val="300"/>
              </a:spcBef>
            </a:pPr>
            <a:r>
              <a:rPr lang="en-US"/>
              <a:t>For further support in creating a PowerPoint presentation, including graphic assets, formatting tools and additional information on the ST brand</a:t>
            </a:r>
          </a:p>
          <a:p>
            <a:pPr algn="ctr">
              <a:spcBef>
                <a:spcPts val="600"/>
              </a:spcBef>
            </a:pPr>
            <a:r>
              <a:rPr lang="en-US" b="1"/>
              <a:t>you can visit the ST Brand Portal</a:t>
            </a:r>
            <a:br>
              <a:rPr lang="en-US"/>
            </a:br>
            <a:r>
              <a:rPr lang="en-US">
                <a:hlinkClick r:id="rId4"/>
              </a:rPr>
              <a:t>https://brandportal.st.com</a:t>
            </a:r>
            <a:endParaRPr lang="en-US"/>
          </a:p>
        </p:txBody>
      </p:sp>
      <p:sp>
        <p:nvSpPr>
          <p:cNvPr id="3" name="Slide Number Placeholder 2">
            <a:extLst>
              <a:ext uri="{FF2B5EF4-FFF2-40B4-BE49-F238E27FC236}">
                <a16:creationId xmlns:a16="http://schemas.microsoft.com/office/drawing/2014/main" id="{7C0392CC-AACA-78FE-F112-F4CBD20375D1}"/>
              </a:ext>
            </a:extLst>
          </p:cNvPr>
          <p:cNvSpPr>
            <a:spLocks noGrp="1"/>
          </p:cNvSpPr>
          <p:nvPr>
            <p:ph type="sldNum" sz="quarter" idx="12"/>
          </p:nvPr>
        </p:nvSpPr>
        <p:spPr/>
        <p:txBody>
          <a:bodyPr/>
          <a:lstStyle/>
          <a:p>
            <a:fld id="{40A7B169-58CE-4E65-B1F9-ACF9E46440C2}" type="slidenum">
              <a:rPr lang="en-US" smtClean="0"/>
              <a:t>32</a:t>
            </a:fld>
            <a:endParaRPr lang="en-US"/>
          </a:p>
        </p:txBody>
      </p:sp>
    </p:spTree>
    <p:extLst>
      <p:ext uri="{BB962C8B-B14F-4D97-AF65-F5344CB8AC3E}">
        <p14:creationId xmlns:p14="http://schemas.microsoft.com/office/powerpoint/2010/main" val="3332923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AEE7-0777-68BB-0854-09FF541C8C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47D2DA-3E86-0753-8ADD-58E48CE5D476}"/>
              </a:ext>
            </a:extLst>
          </p:cNvPr>
          <p:cNvSpPr txBox="1"/>
          <p:nvPr/>
        </p:nvSpPr>
        <p:spPr>
          <a:xfrm>
            <a:off x="97668" y="1180269"/>
            <a:ext cx="4722816" cy="461665"/>
          </a:xfrm>
          <a:prstGeom prst="rect">
            <a:avLst/>
          </a:prstGeom>
          <a:noFill/>
        </p:spPr>
        <p:txBody>
          <a:bodyPr wrap="square" rtlCol="0">
            <a:spAutoFit/>
          </a:bodyPr>
          <a:lstStyle/>
          <a:p>
            <a:r>
              <a:rPr lang="en-US" sz="1400" b="1">
                <a:solidFill>
                  <a:srgbClr val="0070C0"/>
                </a:solidFill>
              </a:rPr>
              <a:t>RTOS mode : USBX CDC Device class</a:t>
            </a:r>
          </a:p>
          <a:p>
            <a:r>
              <a:rPr lang="en-US" sz="1000" b="1"/>
              <a:t>STM32H573xx</a:t>
            </a:r>
            <a:r>
              <a:rPr lang="en-US" sz="1000" b="1">
                <a:solidFill>
                  <a:srgbClr val="002060"/>
                </a:solidFill>
              </a:rPr>
              <a:t> (CM33) vs RA6M5 (CM33)</a:t>
            </a:r>
          </a:p>
        </p:txBody>
      </p:sp>
      <p:cxnSp>
        <p:nvCxnSpPr>
          <p:cNvPr id="5" name="Straight Connector 4">
            <a:extLst>
              <a:ext uri="{FF2B5EF4-FFF2-40B4-BE49-F238E27FC236}">
                <a16:creationId xmlns:a16="http://schemas.microsoft.com/office/drawing/2014/main" id="{C002772A-4369-CA5B-ACDE-C0F5C5F7366F}"/>
              </a:ext>
            </a:extLst>
          </p:cNvPr>
          <p:cNvCxnSpPr>
            <a:cxnSpLocks/>
          </p:cNvCxnSpPr>
          <p:nvPr/>
        </p:nvCxnSpPr>
        <p:spPr>
          <a:xfrm flipH="1" flipV="1">
            <a:off x="6083340" y="1411101"/>
            <a:ext cx="12660" cy="5356379"/>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sp>
        <p:nvSpPr>
          <p:cNvPr id="6" name="TextBox 5">
            <a:extLst>
              <a:ext uri="{FF2B5EF4-FFF2-40B4-BE49-F238E27FC236}">
                <a16:creationId xmlns:a16="http://schemas.microsoft.com/office/drawing/2014/main" id="{5595957F-B0E3-1AAD-8697-FE365AE41616}"/>
              </a:ext>
            </a:extLst>
          </p:cNvPr>
          <p:cNvSpPr txBox="1"/>
          <p:nvPr/>
        </p:nvSpPr>
        <p:spPr>
          <a:xfrm>
            <a:off x="6222659" y="1180268"/>
            <a:ext cx="4722816" cy="461665"/>
          </a:xfrm>
          <a:prstGeom prst="rect">
            <a:avLst/>
          </a:prstGeom>
          <a:noFill/>
        </p:spPr>
        <p:txBody>
          <a:bodyPr wrap="square" rtlCol="0">
            <a:spAutoFit/>
          </a:bodyPr>
          <a:lstStyle/>
          <a:p>
            <a:r>
              <a:rPr lang="en-US" sz="1400" b="1">
                <a:solidFill>
                  <a:srgbClr val="0070C0"/>
                </a:solidFill>
              </a:rPr>
              <a:t>RTOS mode : USBX HID host class</a:t>
            </a:r>
          </a:p>
          <a:p>
            <a:r>
              <a:rPr lang="en-US" sz="1000" b="1"/>
              <a:t>STM32H573xx</a:t>
            </a:r>
            <a:r>
              <a:rPr lang="en-US" sz="1000" b="1">
                <a:solidFill>
                  <a:srgbClr val="002060"/>
                </a:solidFill>
              </a:rPr>
              <a:t> (CM33) vs RA6M5 (CM33)</a:t>
            </a:r>
          </a:p>
        </p:txBody>
      </p:sp>
      <p:graphicFrame>
        <p:nvGraphicFramePr>
          <p:cNvPr id="7" name="Table 6">
            <a:extLst>
              <a:ext uri="{FF2B5EF4-FFF2-40B4-BE49-F238E27FC236}">
                <a16:creationId xmlns:a16="http://schemas.microsoft.com/office/drawing/2014/main" id="{10FCEF1C-76A0-F4BE-AECB-AF3A419CB134}"/>
              </a:ext>
            </a:extLst>
          </p:cNvPr>
          <p:cNvGraphicFramePr>
            <a:graphicFrameLocks noGrp="1"/>
          </p:cNvGraphicFramePr>
          <p:nvPr>
            <p:extLst>
              <p:ext uri="{D42A27DB-BD31-4B8C-83A1-F6EECF244321}">
                <p14:modId xmlns:p14="http://schemas.microsoft.com/office/powerpoint/2010/main" val="1929939636"/>
              </p:ext>
            </p:extLst>
          </p:nvPr>
        </p:nvGraphicFramePr>
        <p:xfrm>
          <a:off x="97667" y="2089251"/>
          <a:ext cx="5859014" cy="1339749"/>
        </p:xfrm>
        <a:graphic>
          <a:graphicData uri="http://schemas.openxmlformats.org/drawingml/2006/table">
            <a:tbl>
              <a:tblPr firstRow="1" bandRow="1">
                <a:tableStyleId>{EB344D84-9AFB-497E-A393-DC336BA19D2E}</a:tableStyleId>
              </a:tblPr>
              <a:tblGrid>
                <a:gridCol w="937570">
                  <a:extLst>
                    <a:ext uri="{9D8B030D-6E8A-4147-A177-3AD203B41FA5}">
                      <a16:colId xmlns:a16="http://schemas.microsoft.com/office/drawing/2014/main" val="1473133747"/>
                    </a:ext>
                  </a:extLst>
                </a:gridCol>
                <a:gridCol w="725371">
                  <a:extLst>
                    <a:ext uri="{9D8B030D-6E8A-4147-A177-3AD203B41FA5}">
                      <a16:colId xmlns:a16="http://schemas.microsoft.com/office/drawing/2014/main" val="2483104622"/>
                    </a:ext>
                  </a:extLst>
                </a:gridCol>
                <a:gridCol w="680665">
                  <a:extLst>
                    <a:ext uri="{9D8B030D-6E8A-4147-A177-3AD203B41FA5}">
                      <a16:colId xmlns:a16="http://schemas.microsoft.com/office/drawing/2014/main" val="4162598800"/>
                    </a:ext>
                  </a:extLst>
                </a:gridCol>
                <a:gridCol w="1171803">
                  <a:extLst>
                    <a:ext uri="{9D8B030D-6E8A-4147-A177-3AD203B41FA5}">
                      <a16:colId xmlns:a16="http://schemas.microsoft.com/office/drawing/2014/main" val="1196173778"/>
                    </a:ext>
                  </a:extLst>
                </a:gridCol>
                <a:gridCol w="779911">
                  <a:extLst>
                    <a:ext uri="{9D8B030D-6E8A-4147-A177-3AD203B41FA5}">
                      <a16:colId xmlns:a16="http://schemas.microsoft.com/office/drawing/2014/main" val="2713348666"/>
                    </a:ext>
                  </a:extLst>
                </a:gridCol>
                <a:gridCol w="1563694">
                  <a:extLst>
                    <a:ext uri="{9D8B030D-6E8A-4147-A177-3AD203B41FA5}">
                      <a16:colId xmlns:a16="http://schemas.microsoft.com/office/drawing/2014/main" val="4253733116"/>
                    </a:ext>
                  </a:extLst>
                </a:gridCol>
              </a:tblGrid>
              <a:tr h="242469">
                <a:tc gridSpan="2">
                  <a:txBody>
                    <a:bodyPr/>
                    <a:lstStyle/>
                    <a:p>
                      <a:pPr algn="ctr"/>
                      <a:endParaRPr lang="en-US" sz="800"/>
                    </a:p>
                  </a:txBody>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121761">
                <a:tc gridSpan="2">
                  <a:txBody>
                    <a:bodyPr/>
                    <a:lstStyle/>
                    <a:p>
                      <a:pPr algn="ctr"/>
                      <a:r>
                        <a:rPr lang="en-US" sz="800" b="1">
                          <a:solidFill>
                            <a:schemeClr val="tx1"/>
                          </a:solidFill>
                        </a:rPr>
                        <a:t>Initialize </a:t>
                      </a:r>
                    </a:p>
                  </a:txBody>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0.5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11.98</a:t>
                      </a:r>
                    </a:p>
                    <a:p>
                      <a:pPr algn="ctr"/>
                      <a:endParaRPr lang="en-US" sz="800"/>
                    </a:p>
                  </a:txBody>
                  <a:tcPr/>
                </a:tc>
                <a:tc>
                  <a:txBody>
                    <a:bodyPr/>
                    <a:lstStyle/>
                    <a:p>
                      <a:pPr algn="ctr"/>
                      <a:r>
                        <a:rPr lang="en-US" sz="800" b="1" dirty="0">
                          <a:solidFill>
                            <a:schemeClr val="accent5"/>
                          </a:solidFill>
                        </a:rPr>
                        <a:t>-95.74%</a:t>
                      </a:r>
                    </a:p>
                  </a:txBody>
                  <a:tcPr/>
                </a:tc>
                <a:tc>
                  <a:txBody>
                    <a:bodyPr/>
                    <a:lstStyle/>
                    <a:p>
                      <a:pPr algn="ctr"/>
                      <a:endParaRPr lang="en-US" sz="800"/>
                    </a:p>
                  </a:txBody>
                  <a:tcPr/>
                </a:tc>
                <a:extLst>
                  <a:ext uri="{0D108BD9-81ED-4DB2-BD59-A6C34878D82A}">
                    <a16:rowId xmlns:a16="http://schemas.microsoft.com/office/drawing/2014/main" val="1089852517"/>
                  </a:ext>
                </a:extLst>
              </a:tr>
              <a:tr h="242469">
                <a:tc gridSpan="2">
                  <a:txBody>
                    <a:bodyPr/>
                    <a:lstStyle/>
                    <a:p>
                      <a:pPr algn="ctr"/>
                      <a:r>
                        <a:rPr lang="en-US" sz="800" b="1">
                          <a:solidFill>
                            <a:schemeClr val="tx1"/>
                          </a:solidFill>
                        </a:rPr>
                        <a:t>Enumeration</a:t>
                      </a:r>
                    </a:p>
                  </a:txBody>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a:t>1</a:t>
                      </a:r>
                      <a:r>
                        <a:rPr lang="en-US" sz="800"/>
                        <a:t>35.4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137.9</a:t>
                      </a:r>
                    </a:p>
                  </a:txBody>
                  <a:tcPr/>
                </a:tc>
                <a:tc>
                  <a:txBody>
                    <a:bodyPr/>
                    <a:lstStyle/>
                    <a:p>
                      <a:pPr algn="ctr"/>
                      <a:r>
                        <a:rPr lang="fr-FR" sz="800" b="1">
                          <a:solidFill>
                            <a:srgbClr val="00B050"/>
                          </a:solidFill>
                        </a:rPr>
                        <a:t>-2%</a:t>
                      </a:r>
                      <a:endParaRPr lang="en-US" sz="800" b="1">
                        <a:solidFill>
                          <a:srgbClr val="00B05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0" dirty="0" err="1"/>
                        <a:t>almost</a:t>
                      </a:r>
                      <a:r>
                        <a:rPr lang="fr-FR" sz="800" dirty="0"/>
                        <a:t> </a:t>
                      </a:r>
                      <a:r>
                        <a:rPr lang="fr-FR" sz="800" dirty="0" err="1"/>
                        <a:t>equal</a:t>
                      </a:r>
                      <a:endParaRPr lang="en-US" sz="800" dirty="0"/>
                    </a:p>
                  </a:txBody>
                  <a:tcPr/>
                </a:tc>
                <a:extLst>
                  <a:ext uri="{0D108BD9-81ED-4DB2-BD59-A6C34878D82A}">
                    <a16:rowId xmlns:a16="http://schemas.microsoft.com/office/drawing/2014/main" val="2065877290"/>
                  </a:ext>
                </a:extLst>
              </a:tr>
              <a:tr h="121235">
                <a:tc rowSpan="2">
                  <a:txBody>
                    <a:bodyPr/>
                    <a:lstStyle/>
                    <a:p>
                      <a:pPr algn="ctr"/>
                      <a:r>
                        <a:rPr lang="fr-FR" sz="800">
                          <a:solidFill>
                            <a:schemeClr val="tx1"/>
                          </a:solidFill>
                        </a:rPr>
                        <a:t>Data transmission</a:t>
                      </a:r>
                      <a:endParaRPr lang="en-US" sz="800">
                        <a:solidFill>
                          <a:schemeClr val="tx1"/>
                        </a:solidFill>
                      </a:endParaRPr>
                    </a:p>
                  </a:txBody>
                  <a:tcPr/>
                </a:tc>
                <a:tc>
                  <a:txBody>
                    <a:bodyPr/>
                    <a:lstStyle/>
                    <a:p>
                      <a:pPr algn="ctr"/>
                      <a:r>
                        <a:rPr lang="fr-FR" sz="800">
                          <a:solidFill>
                            <a:schemeClr val="tx1"/>
                          </a:solidFill>
                        </a:rPr>
                        <a:t>Input*</a:t>
                      </a:r>
                      <a:endParaRPr lang="en-US" sz="800">
                        <a:solidFill>
                          <a:schemeClr val="tx1"/>
                        </a:solidFill>
                      </a:endParaRPr>
                    </a:p>
                  </a:txBody>
                  <a:tcPr>
                    <a:solidFill>
                      <a:schemeClr val="bg2"/>
                    </a:solidFill>
                  </a:tcPr>
                </a:tc>
                <a:tc>
                  <a:txBody>
                    <a:bodyPr/>
                    <a:lstStyle/>
                    <a:p>
                      <a:pPr algn="ctr"/>
                      <a:r>
                        <a:rPr lang="en-US" sz="800" b="0" i="0" kern="1200">
                          <a:solidFill>
                            <a:schemeClr val="dk1"/>
                          </a:solidFill>
                          <a:effectLst/>
                          <a:latin typeface="+mn-lt"/>
                          <a:ea typeface="+mn-ea"/>
                          <a:cs typeface="+mn-cs"/>
                        </a:rPr>
                        <a:t>0.00911</a:t>
                      </a:r>
                      <a:endParaRPr lang="en-US" sz="800"/>
                    </a:p>
                  </a:txBody>
                  <a:tcPr>
                    <a:solidFill>
                      <a:schemeClr val="bg2"/>
                    </a:solidFill>
                  </a:tcPr>
                </a:tc>
                <a:tc>
                  <a:txBody>
                    <a:bodyPr/>
                    <a:lstStyle/>
                    <a:p>
                      <a:pPr algn="ctr"/>
                      <a:r>
                        <a:rPr lang="en-US" sz="800" b="0" i="0" kern="1200">
                          <a:solidFill>
                            <a:schemeClr val="dk1"/>
                          </a:solidFill>
                          <a:effectLst/>
                          <a:latin typeface="+mn-lt"/>
                          <a:ea typeface="+mn-ea"/>
                          <a:cs typeface="+mn-cs"/>
                        </a:rPr>
                        <a:t>0.0092</a:t>
                      </a:r>
                      <a:endParaRPr lang="en-US" sz="800"/>
                    </a:p>
                  </a:txBody>
                  <a:tcPr>
                    <a:solidFill>
                      <a:schemeClr val="bg2"/>
                    </a:solidFill>
                  </a:tcPr>
                </a:tc>
                <a:tc>
                  <a:txBody>
                    <a:bodyPr/>
                    <a:lstStyle/>
                    <a:p>
                      <a:pPr algn="ctr"/>
                      <a:r>
                        <a:rPr lang="en-US" sz="800" b="1" i="0" kern="1200">
                          <a:solidFill>
                            <a:srgbClr val="00B050"/>
                          </a:solidFill>
                          <a:effectLst/>
                          <a:latin typeface="+mn-lt"/>
                          <a:ea typeface="+mn-ea"/>
                          <a:cs typeface="+mn-cs"/>
                        </a:rPr>
                        <a:t>-1%</a:t>
                      </a:r>
                      <a:endParaRPr lang="en-US" sz="800" b="1">
                        <a:solidFill>
                          <a:srgbClr val="00B050"/>
                        </a:solidFill>
                      </a:endParaRPr>
                    </a:p>
                  </a:txBody>
                  <a:tcPr>
                    <a:solidFill>
                      <a:schemeClr val="bg2"/>
                    </a:solidFill>
                  </a:tcPr>
                </a:tc>
                <a:tc>
                  <a:txBody>
                    <a:bodyPr/>
                    <a:lstStyle/>
                    <a:p>
                      <a:pPr algn="l"/>
                      <a:r>
                        <a:rPr lang="fr-FR" sz="800" dirty="0" err="1"/>
                        <a:t>almost</a:t>
                      </a:r>
                      <a:r>
                        <a:rPr lang="fr-FR" sz="800" dirty="0"/>
                        <a:t> </a:t>
                      </a:r>
                      <a:r>
                        <a:rPr lang="fr-FR" sz="800" dirty="0" err="1"/>
                        <a:t>equal</a:t>
                      </a:r>
                      <a:endParaRPr lang="en-US" sz="800" dirty="0"/>
                    </a:p>
                  </a:txBody>
                  <a:tcPr>
                    <a:solidFill>
                      <a:schemeClr val="bg2"/>
                    </a:solidFill>
                  </a:tcPr>
                </a:tc>
                <a:extLst>
                  <a:ext uri="{0D108BD9-81ED-4DB2-BD59-A6C34878D82A}">
                    <a16:rowId xmlns:a16="http://schemas.microsoft.com/office/drawing/2014/main" val="1293324964"/>
                  </a:ext>
                </a:extLst>
              </a:tr>
              <a:tr h="0">
                <a:tc vMerge="1">
                  <a:txBody>
                    <a:bodyPr/>
                    <a:lstStyle/>
                    <a:p>
                      <a:endParaRPr lang="en-US"/>
                    </a:p>
                  </a:txBody>
                  <a:tcPr/>
                </a:tc>
                <a:tc>
                  <a:txBody>
                    <a:bodyPr/>
                    <a:lstStyle/>
                    <a:p>
                      <a:pPr algn="ctr"/>
                      <a:r>
                        <a:rPr lang="fr-FR" sz="800">
                          <a:solidFill>
                            <a:schemeClr val="tx1"/>
                          </a:solidFill>
                        </a:rPr>
                        <a:t>Output**</a:t>
                      </a:r>
                      <a:endParaRPr lang="en-US" sz="800">
                        <a:solidFill>
                          <a:schemeClr val="tx1"/>
                        </a:solidFill>
                      </a:endParaRPr>
                    </a:p>
                  </a:txBody>
                  <a:tcPr>
                    <a:solidFill>
                      <a:schemeClr val="bg2"/>
                    </a:solidFill>
                  </a:tcPr>
                </a:tc>
                <a:tc>
                  <a:txBody>
                    <a:bodyPr/>
                    <a:lstStyle/>
                    <a:p>
                      <a:pPr algn="ctr"/>
                      <a:r>
                        <a:rPr lang="en-US" sz="800" b="0" i="0" kern="1200">
                          <a:solidFill>
                            <a:schemeClr val="dk1"/>
                          </a:solidFill>
                          <a:effectLst/>
                          <a:latin typeface="+mn-lt"/>
                          <a:ea typeface="+mn-ea"/>
                          <a:cs typeface="+mn-cs"/>
                        </a:rPr>
                        <a:t>0.0092</a:t>
                      </a:r>
                      <a:endParaRPr lang="en-US" sz="800"/>
                    </a:p>
                  </a:txBody>
                  <a:tcPr>
                    <a:solidFill>
                      <a:schemeClr val="bg2"/>
                    </a:solidFill>
                  </a:tcPr>
                </a:tc>
                <a:tc>
                  <a:txBody>
                    <a:bodyPr/>
                    <a:lstStyle/>
                    <a:p>
                      <a:pPr algn="ctr"/>
                      <a:r>
                        <a:rPr lang="en-US" sz="800" b="0" i="0" kern="1200">
                          <a:solidFill>
                            <a:schemeClr val="dk1"/>
                          </a:solidFill>
                          <a:effectLst/>
                          <a:latin typeface="+mn-lt"/>
                          <a:ea typeface="+mn-ea"/>
                          <a:cs typeface="+mn-cs"/>
                        </a:rPr>
                        <a:t>0.0092</a:t>
                      </a:r>
                      <a:endParaRPr lang="en-US" sz="800"/>
                    </a:p>
                  </a:txBody>
                  <a:tcPr>
                    <a:solidFill>
                      <a:schemeClr val="bg2"/>
                    </a:solidFill>
                  </a:tcPr>
                </a:tc>
                <a:tc>
                  <a:txBody>
                    <a:bodyPr/>
                    <a:lstStyle/>
                    <a:p>
                      <a:pPr algn="ctr"/>
                      <a:r>
                        <a:rPr lang="en-US" sz="800" b="1" i="0" kern="1200">
                          <a:solidFill>
                            <a:srgbClr val="00B050"/>
                          </a:solidFill>
                          <a:effectLst/>
                          <a:latin typeface="+mn-lt"/>
                          <a:ea typeface="+mn-ea"/>
                          <a:cs typeface="+mn-cs"/>
                        </a:rPr>
                        <a:t>0%</a:t>
                      </a:r>
                      <a:endParaRPr lang="en-US" sz="800" b="1">
                        <a:solidFill>
                          <a:srgbClr val="00B050"/>
                        </a:solidFill>
                      </a:endParaRPr>
                    </a:p>
                  </a:txBody>
                  <a:tcPr>
                    <a:solidFill>
                      <a:schemeClr val="bg2"/>
                    </a:solidFill>
                  </a:tcPr>
                </a:tc>
                <a:tc>
                  <a:txBody>
                    <a:bodyPr/>
                    <a:lstStyle/>
                    <a:p>
                      <a:pPr algn="l"/>
                      <a:r>
                        <a:rPr lang="fr-FR" sz="800" dirty="0" err="1"/>
                        <a:t>Equal</a:t>
                      </a:r>
                      <a:endParaRPr lang="en-US" sz="800" dirty="0"/>
                    </a:p>
                  </a:txBody>
                  <a:tcPr>
                    <a:solidFill>
                      <a:schemeClr val="bg2"/>
                    </a:solidFill>
                  </a:tcPr>
                </a:tc>
                <a:extLst>
                  <a:ext uri="{0D108BD9-81ED-4DB2-BD59-A6C34878D82A}">
                    <a16:rowId xmlns:a16="http://schemas.microsoft.com/office/drawing/2014/main" val="2680530077"/>
                  </a:ext>
                </a:extLst>
              </a:tr>
            </a:tbl>
          </a:graphicData>
        </a:graphic>
      </p:graphicFrame>
      <p:sp>
        <p:nvSpPr>
          <p:cNvPr id="8" name="TextBox 7">
            <a:extLst>
              <a:ext uri="{FF2B5EF4-FFF2-40B4-BE49-F238E27FC236}">
                <a16:creationId xmlns:a16="http://schemas.microsoft.com/office/drawing/2014/main" id="{1F00DEEB-12C3-A9F9-8A37-DB88365D5F08}"/>
              </a:ext>
            </a:extLst>
          </p:cNvPr>
          <p:cNvSpPr txBox="1"/>
          <p:nvPr/>
        </p:nvSpPr>
        <p:spPr>
          <a:xfrm>
            <a:off x="97668" y="1752241"/>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a:t>
            </a:r>
            <a:r>
              <a:rPr lang="en-US" sz="1000" b="1" err="1">
                <a:solidFill>
                  <a:schemeClr val="accent2"/>
                </a:solidFill>
              </a:rPr>
              <a:t>ms</a:t>
            </a:r>
            <a:r>
              <a:rPr lang="en-US" sz="1000" b="1">
                <a:solidFill>
                  <a:schemeClr val="accent2"/>
                </a:solidFill>
              </a:rPr>
              <a:t>)</a:t>
            </a:r>
          </a:p>
        </p:txBody>
      </p:sp>
      <p:graphicFrame>
        <p:nvGraphicFramePr>
          <p:cNvPr id="9" name="Table 8">
            <a:extLst>
              <a:ext uri="{FF2B5EF4-FFF2-40B4-BE49-F238E27FC236}">
                <a16:creationId xmlns:a16="http://schemas.microsoft.com/office/drawing/2014/main" id="{9C677B0E-B369-66E4-C55F-77BC75DCAF2A}"/>
              </a:ext>
            </a:extLst>
          </p:cNvPr>
          <p:cNvGraphicFramePr>
            <a:graphicFrameLocks noGrp="1"/>
          </p:cNvGraphicFramePr>
          <p:nvPr>
            <p:extLst>
              <p:ext uri="{D42A27DB-BD31-4B8C-83A1-F6EECF244321}">
                <p14:modId xmlns:p14="http://schemas.microsoft.com/office/powerpoint/2010/main" val="2270589"/>
              </p:ext>
            </p:extLst>
          </p:nvPr>
        </p:nvGraphicFramePr>
        <p:xfrm>
          <a:off x="97668" y="4360273"/>
          <a:ext cx="5859013" cy="1212345"/>
        </p:xfrm>
        <a:graphic>
          <a:graphicData uri="http://schemas.openxmlformats.org/drawingml/2006/table">
            <a:tbl>
              <a:tblPr firstRow="1" bandRow="1">
                <a:tableStyleId>{EB344D84-9AFB-497E-A393-DC336BA19D2E}</a:tableStyleId>
              </a:tblPr>
              <a:tblGrid>
                <a:gridCol w="985779">
                  <a:extLst>
                    <a:ext uri="{9D8B030D-6E8A-4147-A177-3AD203B41FA5}">
                      <a16:colId xmlns:a16="http://schemas.microsoft.com/office/drawing/2014/main" val="1473133747"/>
                    </a:ext>
                  </a:extLst>
                </a:gridCol>
                <a:gridCol w="1357826">
                  <a:extLst>
                    <a:ext uri="{9D8B030D-6E8A-4147-A177-3AD203B41FA5}">
                      <a16:colId xmlns:a16="http://schemas.microsoft.com/office/drawing/2014/main" val="4162598800"/>
                    </a:ext>
                  </a:extLst>
                </a:gridCol>
                <a:gridCol w="1171803">
                  <a:extLst>
                    <a:ext uri="{9D8B030D-6E8A-4147-A177-3AD203B41FA5}">
                      <a16:colId xmlns:a16="http://schemas.microsoft.com/office/drawing/2014/main" val="1196173778"/>
                    </a:ext>
                  </a:extLst>
                </a:gridCol>
                <a:gridCol w="779911">
                  <a:extLst>
                    <a:ext uri="{9D8B030D-6E8A-4147-A177-3AD203B41FA5}">
                      <a16:colId xmlns:a16="http://schemas.microsoft.com/office/drawing/2014/main" val="2713348666"/>
                    </a:ext>
                  </a:extLst>
                </a:gridCol>
                <a:gridCol w="1563694">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RO code</a:t>
                      </a:r>
                      <a:endParaRPr lang="en-US" sz="800">
                        <a:solidFill>
                          <a:schemeClr val="tx1"/>
                        </a:solidFill>
                      </a:endParaRPr>
                    </a:p>
                  </a:txBody>
                  <a:tcPr/>
                </a:tc>
                <a:tc>
                  <a:txBody>
                    <a:bodyPr/>
                    <a:lstStyle/>
                    <a:p>
                      <a:pPr algn="ctr" fontAlgn="b">
                        <a:buNone/>
                      </a:pPr>
                      <a:r>
                        <a:rPr lang="en-US" sz="800" b="0" i="0" u="none" strike="noStrike">
                          <a:solidFill>
                            <a:srgbClr val="000000"/>
                          </a:solidFill>
                          <a:effectLst/>
                          <a:latin typeface="Segoe UI" panose="020B0502040204020203" pitchFamily="34" charset="0"/>
                        </a:rPr>
                        <a:t>32,970</a:t>
                      </a:r>
                    </a:p>
                  </a:txBody>
                  <a:tcPr marL="0" marR="0" marT="0" marB="0" anchor="b"/>
                </a:tc>
                <a:tc>
                  <a:txBody>
                    <a:bodyPr/>
                    <a:lstStyle/>
                    <a:p>
                      <a:pPr algn="ctr"/>
                      <a:r>
                        <a:rPr lang="en-US" sz="800"/>
                        <a:t>39466</a:t>
                      </a:r>
                    </a:p>
                  </a:txBody>
                  <a:tcPr anchor="ctr"/>
                </a:tc>
                <a:tc>
                  <a:txBody>
                    <a:bodyPr/>
                    <a:lstStyle/>
                    <a:p>
                      <a:pPr algn="ctr"/>
                      <a:r>
                        <a:rPr lang="fr-FR" sz="800" b="1">
                          <a:solidFill>
                            <a:srgbClr val="00B050"/>
                          </a:solidFill>
                        </a:rPr>
                        <a:t>-16.46%</a:t>
                      </a:r>
                    </a:p>
                  </a:txBody>
                  <a:tcPr anchor="ctr"/>
                </a:tc>
                <a:tc>
                  <a:txBody>
                    <a:bodyPr/>
                    <a:lstStyle/>
                    <a:p>
                      <a:pPr algn="ctr"/>
                      <a:endParaRPr lang="en-US" sz="800"/>
                    </a:p>
                  </a:txBody>
                  <a:tcPr/>
                </a:tc>
                <a:extLst>
                  <a:ext uri="{0D108BD9-81ED-4DB2-BD59-A6C34878D82A}">
                    <a16:rowId xmlns:a16="http://schemas.microsoft.com/office/drawing/2014/main" val="1089852517"/>
                  </a:ext>
                </a:extLst>
              </a:tr>
              <a:tr h="242469">
                <a:tc>
                  <a:txBody>
                    <a:bodyPr/>
                    <a:lstStyle/>
                    <a:p>
                      <a:pPr algn="ctr"/>
                      <a:r>
                        <a:rPr lang="en-US" sz="800" b="1">
                          <a:solidFill>
                            <a:schemeClr val="tx1"/>
                          </a:solidFill>
                        </a:rPr>
                        <a:t>RO Data</a:t>
                      </a:r>
                      <a:endParaRPr lang="en-US" sz="800">
                        <a:solidFill>
                          <a:schemeClr val="tx1"/>
                        </a:solidFill>
                      </a:endParaRPr>
                    </a:p>
                  </a:txBody>
                  <a:tcPr/>
                </a:tc>
                <a:tc>
                  <a:txBody>
                    <a:bodyPr/>
                    <a:lstStyle/>
                    <a:p>
                      <a:pPr algn="ctr"/>
                      <a:r>
                        <a:rPr lang="en-US" sz="800"/>
                        <a:t>314</a:t>
                      </a:r>
                    </a:p>
                  </a:txBody>
                  <a:tcPr/>
                </a:tc>
                <a:tc>
                  <a:txBody>
                    <a:bodyPr/>
                    <a:lstStyle/>
                    <a:p>
                      <a:pPr algn="ctr" fontAlgn="b">
                        <a:buNone/>
                      </a:pPr>
                      <a:r>
                        <a:rPr lang="en-US" sz="800" b="0" i="0" u="none" strike="noStrike">
                          <a:solidFill>
                            <a:srgbClr val="000000"/>
                          </a:solidFill>
                          <a:effectLst/>
                          <a:latin typeface="Segoe UI" panose="020B0502040204020203" pitchFamily="34" charset="0"/>
                        </a:rPr>
                        <a:t>5,758</a:t>
                      </a:r>
                    </a:p>
                  </a:txBody>
                  <a:tcPr marL="0" marR="0" marT="0" marB="0" anchor="ctr"/>
                </a:tc>
                <a:tc>
                  <a:txBody>
                    <a:bodyPr/>
                    <a:lstStyle/>
                    <a:p>
                      <a:pPr algn="ctr"/>
                      <a:r>
                        <a:rPr lang="en-US" sz="800" b="1">
                          <a:solidFill>
                            <a:schemeClr val="accent5"/>
                          </a:solidFill>
                        </a:rPr>
                        <a:t>-94.55%</a:t>
                      </a:r>
                    </a:p>
                  </a:txBody>
                  <a:tcPr anchor="ctr"/>
                </a:tc>
                <a:tc>
                  <a:txBody>
                    <a:bodyPr/>
                    <a:lstStyle/>
                    <a:p>
                      <a:pPr algn="ctr"/>
                      <a:endParaRPr lang="en-US" sz="800"/>
                    </a:p>
                  </a:txBody>
                  <a:tcPr/>
                </a:tc>
                <a:extLst>
                  <a:ext uri="{0D108BD9-81ED-4DB2-BD59-A6C34878D82A}">
                    <a16:rowId xmlns:a16="http://schemas.microsoft.com/office/drawing/2014/main" val="2065877290"/>
                  </a:ext>
                </a:extLst>
              </a:tr>
              <a:tr h="242469">
                <a:tc>
                  <a:txBody>
                    <a:bodyPr/>
                    <a:lstStyle/>
                    <a:p>
                      <a:pPr algn="ctr"/>
                      <a:r>
                        <a:rPr lang="en-US" sz="800" b="1">
                          <a:solidFill>
                            <a:schemeClr val="tx1"/>
                          </a:solidFill>
                        </a:rPr>
                        <a:t>RW Data</a:t>
                      </a:r>
                      <a:endParaRPr lang="en-US" sz="80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 17422</a:t>
                      </a:r>
                    </a:p>
                  </a:txBody>
                  <a:tcPr>
                    <a:lnB w="12700" cap="flat" cmpd="sng" algn="ctr">
                      <a:solidFill>
                        <a:schemeClr val="tx1"/>
                      </a:solidFill>
                      <a:prstDash val="solid"/>
                      <a:round/>
                      <a:headEnd type="none" w="med" len="med"/>
                      <a:tailEnd type="none" w="med" len="med"/>
                    </a:lnB>
                  </a:tcPr>
                </a:tc>
                <a:tc>
                  <a:txBody>
                    <a:bodyPr/>
                    <a:lstStyle/>
                    <a:p>
                      <a:pPr algn="ctr" fontAlgn="b">
                        <a:buNone/>
                      </a:pPr>
                      <a:r>
                        <a:rPr lang="en-US" sz="800" b="0" i="0" u="none" strike="noStrike">
                          <a:solidFill>
                            <a:schemeClr val="tx1"/>
                          </a:solidFill>
                          <a:effectLst/>
                          <a:latin typeface="Segoe UI" panose="020B0502040204020203" pitchFamily="34" charset="0"/>
                        </a:rPr>
                        <a:t>53,090</a:t>
                      </a:r>
                    </a:p>
                  </a:txBody>
                  <a:tcPr marL="0" marR="0" marT="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rgbClr val="00B050"/>
                          </a:solidFill>
                        </a:rPr>
                        <a:t>-67.18%</a:t>
                      </a: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a:t>RA RAM: 36 KB of gaps</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42469">
                <a:tc>
                  <a:txBody>
                    <a:bodyPr/>
                    <a:lstStyle/>
                    <a:p>
                      <a:pPr algn="ctr"/>
                      <a:r>
                        <a:rPr lang="en-US" sz="800" b="1">
                          <a:solidFill>
                            <a:schemeClr val="tx1"/>
                          </a:solidFill>
                        </a:rPr>
                        <a:t>Total</a:t>
                      </a:r>
                      <a:endParaRPr lang="en-US" sz="80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800" b="0" i="0" u="none" strike="noStrike">
                          <a:solidFill>
                            <a:schemeClr val="tx1"/>
                          </a:solidFill>
                          <a:effectLst/>
                          <a:latin typeface="Segoe UI" panose="020B0502040204020203" pitchFamily="34" charset="0"/>
                        </a:rPr>
                        <a:t>50,706</a:t>
                      </a: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800" b="0" i="0" u="none" strike="noStrike">
                          <a:solidFill>
                            <a:schemeClr val="tx1"/>
                          </a:solidFill>
                          <a:effectLst/>
                          <a:latin typeface="Segoe UI" panose="020B0502040204020203" pitchFamily="34" charset="0"/>
                        </a:rPr>
                        <a:t>98,314</a:t>
                      </a: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800" b="1">
                          <a:solidFill>
                            <a:srgbClr val="00B050"/>
                          </a:solidFill>
                        </a:rPr>
                        <a:t>-48.42%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80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0" name="TextBox 9">
            <a:extLst>
              <a:ext uri="{FF2B5EF4-FFF2-40B4-BE49-F238E27FC236}">
                <a16:creationId xmlns:a16="http://schemas.microsoft.com/office/drawing/2014/main" id="{378075D6-4A4C-8459-F485-59BF3FA2CD92}"/>
              </a:ext>
            </a:extLst>
          </p:cNvPr>
          <p:cNvSpPr txBox="1"/>
          <p:nvPr/>
        </p:nvSpPr>
        <p:spPr>
          <a:xfrm>
            <a:off x="97667" y="4061495"/>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sp>
        <p:nvSpPr>
          <p:cNvPr id="11" name="Rectangle 10">
            <a:extLst>
              <a:ext uri="{FF2B5EF4-FFF2-40B4-BE49-F238E27FC236}">
                <a16:creationId xmlns:a16="http://schemas.microsoft.com/office/drawing/2014/main" id="{9185C052-8B5D-A010-F3B9-CF733D48EE61}"/>
              </a:ext>
            </a:extLst>
          </p:cNvPr>
          <p:cNvSpPr/>
          <p:nvPr/>
        </p:nvSpPr>
        <p:spPr>
          <a:xfrm>
            <a:off x="97668" y="3545749"/>
            <a:ext cx="5859013" cy="5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r>
              <a:rPr lang="en-US" sz="800" b="1">
                <a:solidFill>
                  <a:schemeClr val="tx1"/>
                </a:solidFill>
              </a:rPr>
              <a:t>(*):</a:t>
            </a:r>
            <a:r>
              <a:rPr lang="en-US" sz="800">
                <a:solidFill>
                  <a:schemeClr val="tx1"/>
                </a:solidFill>
              </a:rPr>
              <a:t>Data entering the host PC via the virtual COM port</a:t>
            </a:r>
          </a:p>
          <a:p>
            <a:pPr>
              <a:buClr>
                <a:schemeClr val="bg1"/>
              </a:buClr>
            </a:pPr>
            <a:r>
              <a:rPr lang="en-US" sz="800" b="1">
                <a:solidFill>
                  <a:schemeClr val="tx1"/>
                </a:solidFill>
              </a:rPr>
              <a:t>(**)</a:t>
            </a:r>
            <a:r>
              <a:rPr lang="en-US" sz="800">
                <a:solidFill>
                  <a:schemeClr val="tx1"/>
                </a:solidFill>
              </a:rPr>
              <a:t>:Data sent from the host PC via virtual COM port</a:t>
            </a:r>
            <a:endParaRPr lang="en-US" sz="800" b="1">
              <a:solidFill>
                <a:schemeClr val="tx1"/>
              </a:solidFill>
            </a:endParaRPr>
          </a:p>
          <a:p>
            <a:br>
              <a:rPr lang="en-US" sz="1000">
                <a:solidFill>
                  <a:schemeClr val="tx1"/>
                </a:solidFill>
              </a:rPr>
            </a:br>
            <a:endParaRPr lang="en-US" sz="1000">
              <a:solidFill>
                <a:schemeClr val="tx1"/>
              </a:solidFill>
            </a:endParaRPr>
          </a:p>
        </p:txBody>
      </p:sp>
      <p:sp>
        <p:nvSpPr>
          <p:cNvPr id="12" name="Rectangle 11">
            <a:extLst>
              <a:ext uri="{FF2B5EF4-FFF2-40B4-BE49-F238E27FC236}">
                <a16:creationId xmlns:a16="http://schemas.microsoft.com/office/drawing/2014/main" id="{B5A3DAEA-F6F2-BCCF-E8A6-DA45B9655602}"/>
              </a:ext>
            </a:extLst>
          </p:cNvPr>
          <p:cNvSpPr/>
          <p:nvPr/>
        </p:nvSpPr>
        <p:spPr>
          <a:xfrm>
            <a:off x="97668" y="5677731"/>
            <a:ext cx="5859013" cy="10495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endParaRPr lang="en-US" sz="800" dirty="0">
              <a:solidFill>
                <a:schemeClr val="tx1"/>
              </a:solidFill>
            </a:endParaRPr>
          </a:p>
          <a:p>
            <a:pPr>
              <a:buClr>
                <a:schemeClr val="bg1"/>
              </a:buClr>
            </a:pPr>
            <a:endParaRPr lang="en-US" sz="800" dirty="0">
              <a:solidFill>
                <a:schemeClr val="tx1"/>
              </a:solidFill>
            </a:endParaRPr>
          </a:p>
          <a:p>
            <a:pPr>
              <a:buClr>
                <a:schemeClr val="bg1"/>
              </a:buClr>
            </a:pPr>
            <a:r>
              <a:rPr lang="en-US" sz="800" dirty="0">
                <a:solidFill>
                  <a:schemeClr val="tx1"/>
                </a:solidFill>
              </a:rPr>
              <a:t>- Renesas uses more complex structures and sets more variables, which improves code readability but increases RAM usage.</a:t>
            </a:r>
          </a:p>
          <a:p>
            <a:pPr>
              <a:buClr>
                <a:schemeClr val="bg1"/>
              </a:buClr>
            </a:pPr>
            <a:r>
              <a:rPr lang="en-US" sz="800" dirty="0">
                <a:solidFill>
                  <a:schemeClr val="tx1"/>
                </a:solidFill>
              </a:rPr>
              <a:t>- ST RO Data is lower by 95% than Renesas, this is mainly due to the following layers:</a:t>
            </a:r>
          </a:p>
          <a:p>
            <a:pPr marL="171450" indent="-171450">
              <a:buFont typeface="Arial" panose="020B0604020202020204" pitchFamily="34" charset="0"/>
              <a:buChar char="•"/>
            </a:pPr>
            <a:r>
              <a:rPr lang="en-US" sz="800" dirty="0" err="1">
                <a:solidFill>
                  <a:schemeClr val="tx1"/>
                </a:solidFill>
              </a:rPr>
              <a:t>r_usb_cstd_rtos.c</a:t>
            </a:r>
            <a:r>
              <a:rPr lang="en-US" sz="800" dirty="0">
                <a:solidFill>
                  <a:schemeClr val="tx1"/>
                </a:solidFill>
              </a:rPr>
              <a:t> (RA HAL USB driver): 3824 bytes</a:t>
            </a:r>
          </a:p>
          <a:p>
            <a:pPr marL="171450" indent="-171450">
              <a:buFont typeface="Arial" panose="020B0604020202020204" pitchFamily="34" charset="0"/>
              <a:buChar char="•"/>
            </a:pPr>
            <a:r>
              <a:rPr lang="en-US" sz="800" dirty="0" err="1">
                <a:solidFill>
                  <a:schemeClr val="tx1"/>
                </a:solidFill>
              </a:rPr>
              <a:t>Rm_usbx_pcdc_descriptor.c</a:t>
            </a:r>
            <a:r>
              <a:rPr lang="en-US" sz="800" dirty="0">
                <a:solidFill>
                  <a:schemeClr val="tx1"/>
                </a:solidFill>
              </a:rPr>
              <a:t> (RA MW USBX porting layer): 310 bytes</a:t>
            </a:r>
          </a:p>
          <a:p>
            <a:pPr marL="171450" indent="-171450">
              <a:buFont typeface="Arial" panose="020B0604020202020204" pitchFamily="34" charset="0"/>
              <a:buChar char="•"/>
            </a:pPr>
            <a:r>
              <a:rPr lang="en-US" sz="800" dirty="0" err="1">
                <a:solidFill>
                  <a:schemeClr val="tx1"/>
                </a:solidFill>
              </a:rPr>
              <a:t>Pin_data.c</a:t>
            </a:r>
            <a:r>
              <a:rPr lang="en-US" sz="800" dirty="0">
                <a:solidFill>
                  <a:schemeClr val="tx1"/>
                </a:solidFill>
              </a:rPr>
              <a:t> (RA generated configurations file): 684 bytes</a:t>
            </a:r>
          </a:p>
          <a:p>
            <a:pPr>
              <a:buClr>
                <a:schemeClr val="bg1"/>
              </a:buClr>
            </a:pPr>
            <a:r>
              <a:rPr lang="en-US" sz="800" dirty="0">
                <a:solidFill>
                  <a:schemeClr val="tx1"/>
                </a:solidFill>
              </a:rPr>
              <a:t>- ST RW data is lower by 67% than Renesas, this is mainly due to </a:t>
            </a:r>
            <a:r>
              <a:rPr lang="en-US" sz="800" b="1" dirty="0">
                <a:solidFill>
                  <a:schemeClr val="tx1"/>
                </a:solidFill>
              </a:rPr>
              <a:t>the gaps in RAM </a:t>
            </a:r>
            <a:r>
              <a:rPr lang="en-US" sz="800" dirty="0">
                <a:solidFill>
                  <a:schemeClr val="tx1"/>
                </a:solidFill>
              </a:rPr>
              <a:t>that is uninitialized memory sections between the reserved memory regions (</a:t>
            </a:r>
            <a:r>
              <a:rPr lang="en-US" sz="800" i="1" dirty="0">
                <a:solidFill>
                  <a:schemeClr val="tx1"/>
                </a:solidFill>
              </a:rPr>
              <a:t>ST 0-byte vs RA 36 KB</a:t>
            </a:r>
            <a:r>
              <a:rPr lang="en-US" sz="800" dirty="0">
                <a:solidFill>
                  <a:schemeClr val="tx1"/>
                </a:solidFill>
              </a:rPr>
              <a:t>)</a:t>
            </a:r>
          </a:p>
          <a:p>
            <a:br>
              <a:rPr lang="en-US" sz="1000" dirty="0">
                <a:solidFill>
                  <a:schemeClr val="tx1"/>
                </a:solidFill>
              </a:rPr>
            </a:br>
            <a:endParaRPr lang="en-US" sz="1000" dirty="0">
              <a:solidFill>
                <a:schemeClr val="tx1"/>
              </a:solidFill>
            </a:endParaRPr>
          </a:p>
        </p:txBody>
      </p:sp>
      <p:graphicFrame>
        <p:nvGraphicFramePr>
          <p:cNvPr id="13" name="Table 12">
            <a:extLst>
              <a:ext uri="{FF2B5EF4-FFF2-40B4-BE49-F238E27FC236}">
                <a16:creationId xmlns:a16="http://schemas.microsoft.com/office/drawing/2014/main" id="{1E64E910-0D41-54D6-7122-0D38CD8142AC}"/>
              </a:ext>
            </a:extLst>
          </p:cNvPr>
          <p:cNvGraphicFramePr>
            <a:graphicFrameLocks noGrp="1"/>
          </p:cNvGraphicFramePr>
          <p:nvPr>
            <p:extLst>
              <p:ext uri="{D42A27DB-BD31-4B8C-83A1-F6EECF244321}">
                <p14:modId xmlns:p14="http://schemas.microsoft.com/office/powerpoint/2010/main" val="631659194"/>
              </p:ext>
            </p:extLst>
          </p:nvPr>
        </p:nvGraphicFramePr>
        <p:xfrm>
          <a:off x="6367739" y="2111527"/>
          <a:ext cx="5541455" cy="1156869"/>
        </p:xfrm>
        <a:graphic>
          <a:graphicData uri="http://schemas.openxmlformats.org/drawingml/2006/table">
            <a:tbl>
              <a:tblPr firstRow="1" bandRow="1">
                <a:tableStyleId>{EB344D84-9AFB-497E-A393-DC336BA19D2E}</a:tableStyleId>
              </a:tblPr>
              <a:tblGrid>
                <a:gridCol w="1252650">
                  <a:extLst>
                    <a:ext uri="{9D8B030D-6E8A-4147-A177-3AD203B41FA5}">
                      <a16:colId xmlns:a16="http://schemas.microsoft.com/office/drawing/2014/main" val="1473133747"/>
                    </a:ext>
                  </a:extLst>
                </a:gridCol>
                <a:gridCol w="963932">
                  <a:extLst>
                    <a:ext uri="{9D8B030D-6E8A-4147-A177-3AD203B41FA5}">
                      <a16:colId xmlns:a16="http://schemas.microsoft.com/office/drawing/2014/main" val="4162598800"/>
                    </a:ext>
                  </a:extLst>
                </a:gridCol>
                <a:gridCol w="1108291">
                  <a:extLst>
                    <a:ext uri="{9D8B030D-6E8A-4147-A177-3AD203B41FA5}">
                      <a16:colId xmlns:a16="http://schemas.microsoft.com/office/drawing/2014/main" val="1196173778"/>
                    </a:ext>
                  </a:extLst>
                </a:gridCol>
                <a:gridCol w="737640">
                  <a:extLst>
                    <a:ext uri="{9D8B030D-6E8A-4147-A177-3AD203B41FA5}">
                      <a16:colId xmlns:a16="http://schemas.microsoft.com/office/drawing/2014/main" val="2713348666"/>
                    </a:ext>
                  </a:extLst>
                </a:gridCol>
                <a:gridCol w="1478942">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121761">
                <a:tc>
                  <a:txBody>
                    <a:bodyPr/>
                    <a:lstStyle/>
                    <a:p>
                      <a:pPr algn="ctr"/>
                      <a:r>
                        <a:rPr lang="en-US" sz="800" b="1">
                          <a:solidFill>
                            <a:schemeClr val="tx1"/>
                          </a:solidFill>
                        </a:rPr>
                        <a:t>Initialize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0.72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2.27</a:t>
                      </a:r>
                    </a:p>
                  </a:txBody>
                  <a:tcPr/>
                </a:tc>
                <a:tc>
                  <a:txBody>
                    <a:bodyPr/>
                    <a:lstStyle/>
                    <a:p>
                      <a:pPr algn="ctr"/>
                      <a:r>
                        <a:rPr lang="en-US" sz="800" b="1" dirty="0">
                          <a:solidFill>
                            <a:srgbClr val="00B050"/>
                          </a:solidFill>
                        </a:rPr>
                        <a:t>-68.42%</a:t>
                      </a:r>
                    </a:p>
                  </a:txBody>
                  <a:tcPr/>
                </a:tc>
                <a:tc>
                  <a:txBody>
                    <a:bodyPr/>
                    <a:lstStyle/>
                    <a:p>
                      <a:pPr algn="ctr"/>
                      <a:endParaRPr lang="en-US" sz="800"/>
                    </a:p>
                  </a:txBody>
                  <a:tcPr/>
                </a:tc>
                <a:extLst>
                  <a:ext uri="{0D108BD9-81ED-4DB2-BD59-A6C34878D82A}">
                    <a16:rowId xmlns:a16="http://schemas.microsoft.com/office/drawing/2014/main" val="1089852517"/>
                  </a:ext>
                </a:extLst>
              </a:tr>
              <a:tr h="242469">
                <a:tc>
                  <a:txBody>
                    <a:bodyPr/>
                    <a:lstStyle/>
                    <a:p>
                      <a:pPr algn="ctr"/>
                      <a:r>
                        <a:rPr lang="en-US" sz="800" b="1" err="1">
                          <a:solidFill>
                            <a:schemeClr val="tx1"/>
                          </a:solidFill>
                        </a:rPr>
                        <a:t>Enumuration</a:t>
                      </a:r>
                      <a:endParaRPr lang="en-US" sz="800" b="1">
                        <a:solidFill>
                          <a:schemeClr val="tx1"/>
                        </a:solidFill>
                      </a:endParaRPr>
                    </a:p>
                  </a:txBody>
                  <a:tcPr/>
                </a:tc>
                <a:tc>
                  <a:txBody>
                    <a:bodyPr/>
                    <a:lstStyle/>
                    <a:p>
                      <a:pPr algn="ctr"/>
                      <a:r>
                        <a:rPr lang="en-US" sz="800"/>
                        <a:t>60</a:t>
                      </a:r>
                    </a:p>
                  </a:txBody>
                  <a:tcPr/>
                </a:tc>
                <a:tc>
                  <a:txBody>
                    <a:bodyPr/>
                    <a:lstStyle/>
                    <a:p>
                      <a:pPr algn="ctr"/>
                      <a:r>
                        <a:rPr lang="fr-FR" sz="800"/>
                        <a:t>8 </a:t>
                      </a:r>
                      <a:endParaRPr lang="en-US" sz="800"/>
                    </a:p>
                  </a:txBody>
                  <a:tcPr/>
                </a:tc>
                <a:tc>
                  <a:txBody>
                    <a:bodyPr/>
                    <a:lstStyle/>
                    <a:p>
                      <a:pPr algn="ctr"/>
                      <a:r>
                        <a:rPr lang="fr-FR" sz="800" b="1">
                          <a:solidFill>
                            <a:srgbClr val="FF0000"/>
                          </a:solidFill>
                        </a:rPr>
                        <a:t>+650%</a:t>
                      </a:r>
                      <a:endParaRPr lang="en-US" sz="800" b="1">
                        <a:solidFill>
                          <a:srgbClr val="FF0000"/>
                        </a:solidFill>
                      </a:endParaRPr>
                    </a:p>
                  </a:txBody>
                  <a:tcPr/>
                </a:tc>
                <a:tc>
                  <a:txBody>
                    <a:bodyPr/>
                    <a:lstStyle/>
                    <a:p>
                      <a:pPr algn="ctr"/>
                      <a:r>
                        <a:rPr lang="en-US" altLang="en-US" sz="600" b="0">
                          <a:solidFill>
                            <a:schemeClr val="accent1"/>
                          </a:solidFill>
                        </a:rPr>
                        <a:t>USBX UX_DEVICE_ADDRESS_SET_WAIT ( 50 </a:t>
                      </a:r>
                      <a:r>
                        <a:rPr lang="en-US" altLang="en-US" sz="600" b="0" err="1">
                          <a:solidFill>
                            <a:schemeClr val="accent1"/>
                          </a:solidFill>
                        </a:rPr>
                        <a:t>ms</a:t>
                      </a:r>
                      <a:r>
                        <a:rPr lang="en-US" altLang="en-US" sz="600" b="0">
                          <a:solidFill>
                            <a:schemeClr val="accent1"/>
                          </a:solidFill>
                        </a:rPr>
                        <a:t>) </a:t>
                      </a:r>
                      <a:endParaRPr lang="en-US" sz="600" b="0"/>
                    </a:p>
                  </a:txBody>
                  <a:tcPr/>
                </a:tc>
                <a:extLst>
                  <a:ext uri="{0D108BD9-81ED-4DB2-BD59-A6C34878D82A}">
                    <a16:rowId xmlns:a16="http://schemas.microsoft.com/office/drawing/2014/main" val="2065877290"/>
                  </a:ext>
                </a:extLst>
              </a:tr>
              <a:tr h="242469">
                <a:tc>
                  <a:txBody>
                    <a:bodyPr/>
                    <a:lstStyle/>
                    <a:p>
                      <a:pPr algn="ctr"/>
                      <a:r>
                        <a:rPr lang="en-US" sz="800" b="1">
                          <a:solidFill>
                            <a:schemeClr val="tx1"/>
                          </a:solidFill>
                        </a:rPr>
                        <a:t>Data transmission</a:t>
                      </a:r>
                    </a:p>
                    <a:p>
                      <a:pPr algn="ctr"/>
                      <a:r>
                        <a:rPr lang="en-US" sz="800" b="1">
                          <a:solidFill>
                            <a:schemeClr val="tx1"/>
                          </a:solidFill>
                        </a:rPr>
                        <a:t>(button presses)</a:t>
                      </a:r>
                      <a:endParaRPr lang="en-US" sz="800">
                        <a:solidFill>
                          <a:schemeClr val="tx1"/>
                        </a:solidFill>
                      </a:endParaRPr>
                    </a:p>
                  </a:txBody>
                  <a:tcPr/>
                </a:tc>
                <a:tc>
                  <a:txBody>
                    <a:bodyPr/>
                    <a:lstStyle/>
                    <a:p>
                      <a:pPr algn="ctr"/>
                      <a:r>
                        <a:rPr lang="en-US" sz="800" b="0" i="0" kern="1200">
                          <a:solidFill>
                            <a:schemeClr val="dk1"/>
                          </a:solidFill>
                          <a:effectLst/>
                          <a:latin typeface="+mn-lt"/>
                          <a:ea typeface="+mn-ea"/>
                          <a:cs typeface="+mn-cs"/>
                        </a:rPr>
                        <a:t>0.075</a:t>
                      </a:r>
                      <a:endParaRPr lang="en-US" sz="800"/>
                    </a:p>
                  </a:txBody>
                  <a:tcPr/>
                </a:tc>
                <a:tc>
                  <a:txBody>
                    <a:bodyPr/>
                    <a:lstStyle/>
                    <a:p>
                      <a:pPr algn="ctr"/>
                      <a:r>
                        <a:rPr lang="en-US" sz="800" b="0" i="0" kern="1200">
                          <a:solidFill>
                            <a:schemeClr val="dk1"/>
                          </a:solidFill>
                          <a:effectLst/>
                          <a:latin typeface="+mn-lt"/>
                          <a:ea typeface="+mn-ea"/>
                          <a:cs typeface="+mn-cs"/>
                        </a:rPr>
                        <a:t>0.071</a:t>
                      </a:r>
                      <a:endParaRPr lang="en-US" sz="800"/>
                    </a:p>
                  </a:txBody>
                  <a:tcPr/>
                </a:tc>
                <a:tc>
                  <a:txBody>
                    <a:bodyPr/>
                    <a:lstStyle/>
                    <a:p>
                      <a:pPr algn="ctr"/>
                      <a:r>
                        <a:rPr lang="fr-FR" sz="800" b="1">
                          <a:solidFill>
                            <a:srgbClr val="00B050"/>
                          </a:solidFill>
                        </a:rPr>
                        <a:t>+5.6%</a:t>
                      </a:r>
                      <a:endParaRPr lang="en-US" sz="800" b="1">
                        <a:solidFill>
                          <a:srgbClr val="00B050"/>
                        </a:solidFill>
                      </a:endParaRPr>
                    </a:p>
                  </a:txBody>
                  <a:tcPr/>
                </a:tc>
                <a:tc>
                  <a:txBody>
                    <a:bodyPr/>
                    <a:lstStyle/>
                    <a:p>
                      <a:pPr algn="ctr"/>
                      <a:endParaRPr lang="en-US" sz="800" dirty="0"/>
                    </a:p>
                  </a:txBody>
                  <a:tcPr/>
                </a:tc>
                <a:extLst>
                  <a:ext uri="{0D108BD9-81ED-4DB2-BD59-A6C34878D82A}">
                    <a16:rowId xmlns:a16="http://schemas.microsoft.com/office/drawing/2014/main" val="1293324964"/>
                  </a:ext>
                </a:extLst>
              </a:tr>
            </a:tbl>
          </a:graphicData>
        </a:graphic>
      </p:graphicFrame>
      <p:sp>
        <p:nvSpPr>
          <p:cNvPr id="14" name="TextBox 13">
            <a:extLst>
              <a:ext uri="{FF2B5EF4-FFF2-40B4-BE49-F238E27FC236}">
                <a16:creationId xmlns:a16="http://schemas.microsoft.com/office/drawing/2014/main" id="{A74C2304-9984-699B-C72D-725298DB90A3}"/>
              </a:ext>
            </a:extLst>
          </p:cNvPr>
          <p:cNvSpPr txBox="1"/>
          <p:nvPr/>
        </p:nvSpPr>
        <p:spPr>
          <a:xfrm>
            <a:off x="6367739" y="1774518"/>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a:t>
            </a:r>
            <a:r>
              <a:rPr lang="en-US" sz="1000" b="1" err="1">
                <a:solidFill>
                  <a:schemeClr val="accent2"/>
                </a:solidFill>
              </a:rPr>
              <a:t>ms</a:t>
            </a:r>
            <a:r>
              <a:rPr lang="en-US" sz="1000" b="1">
                <a:solidFill>
                  <a:schemeClr val="accent2"/>
                </a:solidFill>
              </a:rPr>
              <a:t>)</a:t>
            </a:r>
          </a:p>
        </p:txBody>
      </p:sp>
      <p:graphicFrame>
        <p:nvGraphicFramePr>
          <p:cNvPr id="15" name="Table 14">
            <a:extLst>
              <a:ext uri="{FF2B5EF4-FFF2-40B4-BE49-F238E27FC236}">
                <a16:creationId xmlns:a16="http://schemas.microsoft.com/office/drawing/2014/main" id="{7E3546D3-E97A-F2BA-E0F1-5A2CD0BE8044}"/>
              </a:ext>
            </a:extLst>
          </p:cNvPr>
          <p:cNvGraphicFramePr>
            <a:graphicFrameLocks noGrp="1"/>
          </p:cNvGraphicFramePr>
          <p:nvPr>
            <p:extLst>
              <p:ext uri="{D42A27DB-BD31-4B8C-83A1-F6EECF244321}">
                <p14:modId xmlns:p14="http://schemas.microsoft.com/office/powerpoint/2010/main" val="3719619172"/>
              </p:ext>
            </p:extLst>
          </p:nvPr>
        </p:nvGraphicFramePr>
        <p:xfrm>
          <a:off x="6367740" y="4360272"/>
          <a:ext cx="5541456" cy="1212345"/>
        </p:xfrm>
        <a:graphic>
          <a:graphicData uri="http://schemas.openxmlformats.org/drawingml/2006/table">
            <a:tbl>
              <a:tblPr firstRow="1" bandRow="1">
                <a:tableStyleId>{EB344D84-9AFB-497E-A393-DC336BA19D2E}</a:tableStyleId>
              </a:tblPr>
              <a:tblGrid>
                <a:gridCol w="822822">
                  <a:extLst>
                    <a:ext uri="{9D8B030D-6E8A-4147-A177-3AD203B41FA5}">
                      <a16:colId xmlns:a16="http://schemas.microsoft.com/office/drawing/2014/main" val="1473133747"/>
                    </a:ext>
                  </a:extLst>
                </a:gridCol>
                <a:gridCol w="1133367">
                  <a:extLst>
                    <a:ext uri="{9D8B030D-6E8A-4147-A177-3AD203B41FA5}">
                      <a16:colId xmlns:a16="http://schemas.microsoft.com/office/drawing/2014/main" val="4162598800"/>
                    </a:ext>
                  </a:extLst>
                </a:gridCol>
                <a:gridCol w="978094">
                  <a:extLst>
                    <a:ext uri="{9D8B030D-6E8A-4147-A177-3AD203B41FA5}">
                      <a16:colId xmlns:a16="http://schemas.microsoft.com/office/drawing/2014/main" val="1196173778"/>
                    </a:ext>
                  </a:extLst>
                </a:gridCol>
                <a:gridCol w="650985">
                  <a:extLst>
                    <a:ext uri="{9D8B030D-6E8A-4147-A177-3AD203B41FA5}">
                      <a16:colId xmlns:a16="http://schemas.microsoft.com/office/drawing/2014/main" val="2713348666"/>
                    </a:ext>
                  </a:extLst>
                </a:gridCol>
                <a:gridCol w="650985">
                  <a:extLst>
                    <a:ext uri="{9D8B030D-6E8A-4147-A177-3AD203B41FA5}">
                      <a16:colId xmlns:a16="http://schemas.microsoft.com/office/drawing/2014/main" val="2882647220"/>
                    </a:ext>
                  </a:extLst>
                </a:gridCol>
                <a:gridCol w="1305203">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endParaRPr lang="en-US" sz="800"/>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RO code</a:t>
                      </a:r>
                      <a:endParaRPr lang="en-US" sz="8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 53'374</a:t>
                      </a:r>
                    </a:p>
                  </a:txBody>
                  <a:tcPr/>
                </a:tc>
                <a:tc>
                  <a:txBody>
                    <a:bodyPr/>
                    <a:lstStyle/>
                    <a:p>
                      <a:pPr algn="ctr"/>
                      <a:r>
                        <a:rPr lang="en-US" sz="800"/>
                        <a:t>54'930</a:t>
                      </a:r>
                    </a:p>
                  </a:txBody>
                  <a:tcPr/>
                </a:tc>
                <a:tc>
                  <a:txBody>
                    <a:bodyPr/>
                    <a:lstStyle/>
                    <a:p>
                      <a:pPr algn="ctr"/>
                      <a:r>
                        <a:rPr lang="fr-FR" sz="800" b="1">
                          <a:solidFill>
                            <a:srgbClr val="FF0000"/>
                          </a:solidFill>
                        </a:rPr>
                        <a:t>+1.75%%</a:t>
                      </a:r>
                      <a:endParaRPr lang="en-US" sz="800" b="1">
                        <a:solidFill>
                          <a:srgbClr val="FF0000"/>
                        </a:solidFill>
                      </a:endParaRPr>
                    </a:p>
                  </a:txBody>
                  <a:tcPr anchor="ctr"/>
                </a:tc>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err="1"/>
                        <a:t>allmost</a:t>
                      </a:r>
                      <a:r>
                        <a:rPr lang="fr-FR" sz="800"/>
                        <a:t> </a:t>
                      </a:r>
                      <a:r>
                        <a:rPr lang="fr-FR" sz="800" err="1"/>
                        <a:t>equal</a:t>
                      </a:r>
                      <a:endParaRPr lang="en-US" sz="800"/>
                    </a:p>
                  </a:txBody>
                  <a:tcPr anchor="ctr"/>
                </a:tc>
                <a:extLst>
                  <a:ext uri="{0D108BD9-81ED-4DB2-BD59-A6C34878D82A}">
                    <a16:rowId xmlns:a16="http://schemas.microsoft.com/office/drawing/2014/main" val="1089852517"/>
                  </a:ext>
                </a:extLst>
              </a:tr>
              <a:tr h="242469">
                <a:tc>
                  <a:txBody>
                    <a:bodyPr/>
                    <a:lstStyle/>
                    <a:p>
                      <a:pPr algn="ctr"/>
                      <a:r>
                        <a:rPr lang="en-US" sz="800" b="1">
                          <a:solidFill>
                            <a:schemeClr val="tx1"/>
                          </a:solidFill>
                        </a:rPr>
                        <a:t>RO Data</a:t>
                      </a:r>
                      <a:endParaRPr lang="en-US" sz="800">
                        <a:solidFill>
                          <a:schemeClr val="tx1"/>
                        </a:solidFill>
                      </a:endParaRPr>
                    </a:p>
                  </a:txBody>
                  <a:tcPr/>
                </a:tc>
                <a:tc>
                  <a:txBody>
                    <a:bodyPr/>
                    <a:lstStyle/>
                    <a:p>
                      <a:pPr algn="ctr"/>
                      <a:r>
                        <a:rPr lang="en-US" sz="800"/>
                        <a:t>677</a:t>
                      </a:r>
                    </a:p>
                  </a:txBody>
                  <a:tcPr/>
                </a:tc>
                <a:tc>
                  <a:txBody>
                    <a:bodyPr/>
                    <a:lstStyle/>
                    <a:p>
                      <a:pPr algn="ctr"/>
                      <a:r>
                        <a:rPr lang="en-US" sz="800"/>
                        <a:t>10'282</a:t>
                      </a:r>
                    </a:p>
                  </a:txBody>
                  <a:tcPr/>
                </a:tc>
                <a:tc>
                  <a:txBody>
                    <a:bodyPr/>
                    <a:lstStyle/>
                    <a:p>
                      <a:pPr algn="ctr"/>
                      <a:r>
                        <a:rPr lang="en-US" sz="800" b="1">
                          <a:solidFill>
                            <a:schemeClr val="accent5"/>
                          </a:solidFill>
                        </a:rPr>
                        <a:t>-93.53%</a:t>
                      </a:r>
                    </a:p>
                  </a:txBody>
                  <a:tcPr/>
                </a:tc>
                <a:tc>
                  <a:txBody>
                    <a:bodyPr/>
                    <a:lstStyle/>
                    <a:p>
                      <a:pPr algn="ctr"/>
                      <a:endParaRPr lang="en-US" sz="800" b="1">
                        <a:solidFill>
                          <a:schemeClr val="accent5"/>
                        </a:solidFill>
                      </a:endParaRPr>
                    </a:p>
                  </a:txBody>
                  <a:tcPr/>
                </a:tc>
                <a:tc>
                  <a:txBody>
                    <a:bodyPr/>
                    <a:lstStyle/>
                    <a:p>
                      <a:pPr algn="ctr"/>
                      <a:endParaRPr lang="en-US" sz="800"/>
                    </a:p>
                  </a:txBody>
                  <a:tcPr/>
                </a:tc>
                <a:extLst>
                  <a:ext uri="{0D108BD9-81ED-4DB2-BD59-A6C34878D82A}">
                    <a16:rowId xmlns:a16="http://schemas.microsoft.com/office/drawing/2014/main" val="2065877290"/>
                  </a:ext>
                </a:extLst>
              </a:tr>
              <a:tr h="242469">
                <a:tc>
                  <a:txBody>
                    <a:bodyPr/>
                    <a:lstStyle/>
                    <a:p>
                      <a:pPr algn="ctr"/>
                      <a:r>
                        <a:rPr lang="en-US" sz="800" b="1">
                          <a:solidFill>
                            <a:schemeClr val="tx1"/>
                          </a:solidFill>
                        </a:rPr>
                        <a:t>RW Data</a:t>
                      </a:r>
                      <a:endParaRPr lang="en-US" sz="80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 43'733</a:t>
                      </a: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98'640</a:t>
                      </a: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rgbClr val="00B050"/>
                          </a:solidFill>
                        </a:rPr>
                        <a:t>-52.94%</a:t>
                      </a: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b="1">
                        <a:solidFill>
                          <a:srgbClr val="00B050"/>
                        </a:solidFill>
                      </a:endParaRPr>
                    </a:p>
                  </a:txBody>
                  <a:tcP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42469">
                <a:tc>
                  <a:txBody>
                    <a:bodyPr/>
                    <a:lstStyle/>
                    <a:p>
                      <a:pPr algn="ctr"/>
                      <a:r>
                        <a:rPr lang="en-US" sz="800" b="1">
                          <a:solidFill>
                            <a:schemeClr val="tx1"/>
                          </a:solidFill>
                        </a:rPr>
                        <a:t>Total</a:t>
                      </a:r>
                      <a:endParaRPr lang="en-US" sz="80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800" b="1"/>
                        <a:t>97'784</a:t>
                      </a:r>
                      <a:endParaRPr lang="en-US" sz="800" b="1"/>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800" b="1"/>
                        <a:t>163'852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800" b="1">
                          <a:solidFill>
                            <a:srgbClr val="00B050"/>
                          </a:solidFill>
                        </a:rPr>
                        <a:t>-35.87%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800" b="1">
                        <a:solidFill>
                          <a:srgbClr val="00B050"/>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80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6" name="TextBox 15">
            <a:extLst>
              <a:ext uri="{FF2B5EF4-FFF2-40B4-BE49-F238E27FC236}">
                <a16:creationId xmlns:a16="http://schemas.microsoft.com/office/drawing/2014/main" id="{605F350D-BD60-C3B2-108D-12006D7A71D7}"/>
              </a:ext>
            </a:extLst>
          </p:cNvPr>
          <p:cNvSpPr txBox="1"/>
          <p:nvPr/>
        </p:nvSpPr>
        <p:spPr>
          <a:xfrm>
            <a:off x="6265515" y="4061495"/>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sp>
        <p:nvSpPr>
          <p:cNvPr id="17" name="Rectangle 16">
            <a:extLst>
              <a:ext uri="{FF2B5EF4-FFF2-40B4-BE49-F238E27FC236}">
                <a16:creationId xmlns:a16="http://schemas.microsoft.com/office/drawing/2014/main" id="{3F64FEC1-792F-8653-5501-E0AD465F9D8B}"/>
              </a:ext>
            </a:extLst>
          </p:cNvPr>
          <p:cNvSpPr/>
          <p:nvPr/>
        </p:nvSpPr>
        <p:spPr>
          <a:xfrm>
            <a:off x="6367739" y="3495590"/>
            <a:ext cx="5541455" cy="5931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endParaRPr lang="en-US" sz="800">
              <a:solidFill>
                <a:schemeClr val="accent1"/>
              </a:solidFill>
            </a:endParaRPr>
          </a:p>
          <a:p>
            <a:r>
              <a:rPr lang="en-US" sz="800" b="1">
                <a:solidFill>
                  <a:schemeClr val="accent3"/>
                </a:solidFill>
              </a:rPr>
              <a:t>RA</a:t>
            </a:r>
            <a:r>
              <a:rPr lang="en-US" sz="800">
                <a:solidFill>
                  <a:schemeClr val="accent1"/>
                </a:solidFill>
              </a:rPr>
              <a:t> bypasses USBX enumeration phase by </a:t>
            </a:r>
            <a:r>
              <a:rPr lang="en-US" sz="800" err="1">
                <a:solidFill>
                  <a:schemeClr val="accent1"/>
                </a:solidFill>
              </a:rPr>
              <a:t>rm_usbx_ports</a:t>
            </a:r>
            <a:r>
              <a:rPr lang="en-US" sz="800">
                <a:solidFill>
                  <a:schemeClr val="accent1"/>
                </a:solidFill>
              </a:rPr>
              <a:t> porting layer</a:t>
            </a:r>
          </a:p>
          <a:p>
            <a:r>
              <a:rPr lang="en-US" sz="800" b="1">
                <a:solidFill>
                  <a:schemeClr val="accent3"/>
                </a:solidFill>
              </a:rPr>
              <a:t>vs</a:t>
            </a:r>
            <a:r>
              <a:rPr lang="en-US" sz="800">
                <a:solidFill>
                  <a:schemeClr val="accent3"/>
                </a:solidFill>
              </a:rPr>
              <a:t> </a:t>
            </a:r>
            <a:r>
              <a:rPr lang="en-US" sz="800" b="1">
                <a:solidFill>
                  <a:schemeClr val="accent3"/>
                </a:solidFill>
              </a:rPr>
              <a:t>ST</a:t>
            </a:r>
            <a:r>
              <a:rPr lang="en-US" sz="800">
                <a:solidFill>
                  <a:schemeClr val="accent3"/>
                </a:solidFill>
              </a:rPr>
              <a:t> </a:t>
            </a:r>
            <a:r>
              <a:rPr lang="en-US" sz="800">
                <a:solidFill>
                  <a:schemeClr val="accent1"/>
                </a:solidFill>
              </a:rPr>
              <a:t>uses USBX enumeration phase that  </a:t>
            </a:r>
            <a:r>
              <a:rPr lang="en-US" altLang="en-US" sz="800">
                <a:solidFill>
                  <a:schemeClr val="accent1"/>
                </a:solidFill>
              </a:rPr>
              <a:t>uses </a:t>
            </a:r>
            <a:r>
              <a:rPr lang="en-US" altLang="en-US" sz="800" b="1">
                <a:solidFill>
                  <a:schemeClr val="accent1"/>
                </a:solidFill>
              </a:rPr>
              <a:t>UX_DEVICE_ADDRESS_SET_WAIT ( 50 </a:t>
            </a:r>
            <a:r>
              <a:rPr lang="en-US" altLang="en-US" sz="800" b="1" err="1">
                <a:solidFill>
                  <a:schemeClr val="accent1"/>
                </a:solidFill>
              </a:rPr>
              <a:t>ms</a:t>
            </a:r>
            <a:r>
              <a:rPr lang="en-US" altLang="en-US" sz="800" b="1">
                <a:solidFill>
                  <a:schemeClr val="accent1"/>
                </a:solidFill>
              </a:rPr>
              <a:t>) </a:t>
            </a:r>
            <a:r>
              <a:rPr lang="en-US" altLang="en-US" sz="800">
                <a:solidFill>
                  <a:schemeClr val="accent1"/>
                </a:solidFill>
              </a:rPr>
              <a:t>constant to wait after setting the device address </a:t>
            </a:r>
            <a:endParaRPr lang="en-US" sz="800">
              <a:solidFill>
                <a:schemeClr val="accent1"/>
              </a:solidFill>
            </a:endParaRPr>
          </a:p>
          <a:p>
            <a:pPr>
              <a:buClr>
                <a:schemeClr val="bg1"/>
              </a:buClr>
            </a:pPr>
            <a:br>
              <a:rPr lang="en-US" sz="1000"/>
            </a:br>
            <a:endParaRPr lang="en-US" sz="1000">
              <a:solidFill>
                <a:srgbClr val="002060"/>
              </a:solidFill>
            </a:endParaRPr>
          </a:p>
        </p:txBody>
      </p:sp>
      <p:sp>
        <p:nvSpPr>
          <p:cNvPr id="18" name="Rectangle 17">
            <a:extLst>
              <a:ext uri="{FF2B5EF4-FFF2-40B4-BE49-F238E27FC236}">
                <a16:creationId xmlns:a16="http://schemas.microsoft.com/office/drawing/2014/main" id="{8CE46FEC-1F0F-88ED-53E3-D9DA8394E27D}"/>
              </a:ext>
            </a:extLst>
          </p:cNvPr>
          <p:cNvSpPr/>
          <p:nvPr/>
        </p:nvSpPr>
        <p:spPr>
          <a:xfrm>
            <a:off x="6367740" y="5677731"/>
            <a:ext cx="5446308" cy="5430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a:solidFill>
                  <a:schemeClr val="tx1"/>
                </a:solidFill>
              </a:rPr>
              <a:t>Renesas uses more complex structures and sets more variables, which improves code readability but increases RAM usage.</a:t>
            </a:r>
          </a:p>
        </p:txBody>
      </p:sp>
      <p:sp>
        <p:nvSpPr>
          <p:cNvPr id="21" name="Title 2">
            <a:extLst>
              <a:ext uri="{FF2B5EF4-FFF2-40B4-BE49-F238E27FC236}">
                <a16:creationId xmlns:a16="http://schemas.microsoft.com/office/drawing/2014/main" id="{8B67E535-5674-A03A-944C-9F966F0FE3F8}"/>
              </a:ext>
            </a:extLst>
          </p:cNvPr>
          <p:cNvSpPr>
            <a:spLocks noGrp="1"/>
          </p:cNvSpPr>
          <p:nvPr>
            <p:ph type="title"/>
          </p:nvPr>
        </p:nvSpPr>
        <p:spPr>
          <a:xfrm>
            <a:off x="300037" y="-1"/>
            <a:ext cx="11609159" cy="1304925"/>
          </a:xfrm>
        </p:spPr>
        <p:txBody>
          <a:bodyPr/>
          <a:lstStyle/>
          <a:p>
            <a:r>
              <a:rPr lang="en-US"/>
              <a:t>ST Competitors MW Benchmark: USB</a:t>
            </a:r>
            <a:br>
              <a:rPr lang="en-US" b="1"/>
            </a:br>
            <a:r>
              <a:rPr lang="en-US" sz="2400" b="1">
                <a:solidFill>
                  <a:schemeClr val="accent2"/>
                </a:solidFill>
              </a:rPr>
              <a:t>ST vs Renesas after optimization inspired from cube 2 Tests</a:t>
            </a:r>
            <a:br>
              <a:rPr lang="en-US" sz="2400" b="1">
                <a:solidFill>
                  <a:schemeClr val="accent2"/>
                </a:solidFill>
              </a:rPr>
            </a:br>
            <a:endParaRPr lang="en-US" sz="2400" b="1">
              <a:solidFill>
                <a:schemeClr val="accent2"/>
              </a:solidFill>
            </a:endParaRPr>
          </a:p>
        </p:txBody>
      </p:sp>
      <p:sp>
        <p:nvSpPr>
          <p:cNvPr id="3" name="Slide Number Placeholder 2">
            <a:extLst>
              <a:ext uri="{FF2B5EF4-FFF2-40B4-BE49-F238E27FC236}">
                <a16:creationId xmlns:a16="http://schemas.microsoft.com/office/drawing/2014/main" id="{3EE3DE95-6DE2-A1B7-486F-EEE6E9058BB8}"/>
              </a:ext>
            </a:extLst>
          </p:cNvPr>
          <p:cNvSpPr>
            <a:spLocks noGrp="1"/>
          </p:cNvSpPr>
          <p:nvPr>
            <p:ph type="sldNum" sz="quarter" idx="12"/>
          </p:nvPr>
        </p:nvSpPr>
        <p:spPr/>
        <p:txBody>
          <a:bodyPr/>
          <a:lstStyle/>
          <a:p>
            <a:fld id="{40A7B169-58CE-4E65-B1F9-ACF9E46440C2}" type="slidenum">
              <a:rPr lang="en-US" smtClean="0"/>
              <a:t>33</a:t>
            </a:fld>
            <a:endParaRPr lang="en-US"/>
          </a:p>
        </p:txBody>
      </p:sp>
    </p:spTree>
    <p:extLst>
      <p:ext uri="{BB962C8B-B14F-4D97-AF65-F5344CB8AC3E}">
        <p14:creationId xmlns:p14="http://schemas.microsoft.com/office/powerpoint/2010/main" val="10481166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6B25C-A2C3-7A30-18DD-F3DD38DD470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BCE06E09-0388-FE7C-ADC8-ECB8067453B1}"/>
              </a:ext>
            </a:extLst>
          </p:cNvPr>
          <p:cNvSpPr txBox="1"/>
          <p:nvPr/>
        </p:nvSpPr>
        <p:spPr>
          <a:xfrm>
            <a:off x="0" y="1025134"/>
            <a:ext cx="4722816" cy="461665"/>
          </a:xfrm>
          <a:prstGeom prst="rect">
            <a:avLst/>
          </a:prstGeom>
          <a:noFill/>
        </p:spPr>
        <p:txBody>
          <a:bodyPr wrap="square" rtlCol="0">
            <a:spAutoFit/>
          </a:bodyPr>
          <a:lstStyle/>
          <a:p>
            <a:r>
              <a:rPr lang="en-US" sz="1400" b="1">
                <a:solidFill>
                  <a:srgbClr val="0070C0"/>
                </a:solidFill>
              </a:rPr>
              <a:t>RTOS mode : USBX MSC host class</a:t>
            </a:r>
          </a:p>
          <a:p>
            <a:r>
              <a:rPr lang="en-US" sz="1000" b="1"/>
              <a:t>STM32H573xx</a:t>
            </a:r>
            <a:r>
              <a:rPr lang="en-US" sz="1000" b="1">
                <a:solidFill>
                  <a:srgbClr val="002060"/>
                </a:solidFill>
              </a:rPr>
              <a:t> (CM33) vs RA6M5 (CM33)</a:t>
            </a:r>
          </a:p>
        </p:txBody>
      </p:sp>
      <p:sp>
        <p:nvSpPr>
          <p:cNvPr id="125" name="Rectangle 124">
            <a:extLst>
              <a:ext uri="{FF2B5EF4-FFF2-40B4-BE49-F238E27FC236}">
                <a16:creationId xmlns:a16="http://schemas.microsoft.com/office/drawing/2014/main" id="{96135BF5-A38F-503E-32A7-48D004760D16}"/>
              </a:ext>
            </a:extLst>
          </p:cNvPr>
          <p:cNvSpPr/>
          <p:nvPr/>
        </p:nvSpPr>
        <p:spPr>
          <a:xfrm>
            <a:off x="97668" y="6191056"/>
            <a:ext cx="4904100" cy="55106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800" b="1">
                <a:solidFill>
                  <a:schemeClr val="accent2"/>
                </a:solidFill>
              </a:rPr>
              <a:t>USB MSC host class: </a:t>
            </a:r>
            <a:r>
              <a:rPr lang="fr-FR" sz="800">
                <a:solidFill>
                  <a:schemeClr val="tx1"/>
                </a:solidFill>
              </a:rPr>
              <a:t>USB </a:t>
            </a:r>
            <a:r>
              <a:rPr lang="en-US" sz="800" b="1">
                <a:solidFill>
                  <a:schemeClr val="tx1"/>
                </a:solidFill>
              </a:rPr>
              <a:t>mass storage device class</a:t>
            </a:r>
            <a:r>
              <a:rPr lang="fr-FR" sz="800" b="1">
                <a:solidFill>
                  <a:schemeClr val="tx1"/>
                </a:solidFill>
              </a:rPr>
              <a:t> </a:t>
            </a:r>
            <a:r>
              <a:rPr lang="fr-FR" sz="800" err="1">
                <a:solidFill>
                  <a:schemeClr val="tx1"/>
                </a:solidFill>
              </a:rPr>
              <a:t>allows</a:t>
            </a:r>
            <a:r>
              <a:rPr lang="fr-FR" sz="800" b="1">
                <a:solidFill>
                  <a:schemeClr val="tx1"/>
                </a:solidFill>
              </a:rPr>
              <a:t> </a:t>
            </a:r>
            <a:r>
              <a:rPr lang="en-US" sz="800">
                <a:solidFill>
                  <a:schemeClr val="tx1"/>
                </a:solidFill>
              </a:rPr>
              <a:t>an USB device to be recognized by the host (PC) and facilitates file transfers between the host and the USB device.</a:t>
            </a:r>
          </a:p>
        </p:txBody>
      </p:sp>
      <p:grpSp>
        <p:nvGrpSpPr>
          <p:cNvPr id="131" name="Group 130">
            <a:extLst>
              <a:ext uri="{FF2B5EF4-FFF2-40B4-BE49-F238E27FC236}">
                <a16:creationId xmlns:a16="http://schemas.microsoft.com/office/drawing/2014/main" id="{283046A5-8DA3-955A-0EEF-E065D0F284EA}"/>
              </a:ext>
            </a:extLst>
          </p:cNvPr>
          <p:cNvGrpSpPr/>
          <p:nvPr/>
        </p:nvGrpSpPr>
        <p:grpSpPr>
          <a:xfrm>
            <a:off x="97668" y="1514230"/>
            <a:ext cx="5301553" cy="4494951"/>
            <a:chOff x="222657" y="1714549"/>
            <a:chExt cx="4222395" cy="3963182"/>
          </a:xfrm>
        </p:grpSpPr>
        <p:grpSp>
          <p:nvGrpSpPr>
            <p:cNvPr id="124" name="Group 123">
              <a:extLst>
                <a:ext uri="{FF2B5EF4-FFF2-40B4-BE49-F238E27FC236}">
                  <a16:creationId xmlns:a16="http://schemas.microsoft.com/office/drawing/2014/main" id="{6E36C88E-13FC-3008-E930-0B8D5E964289}"/>
                </a:ext>
              </a:extLst>
            </p:cNvPr>
            <p:cNvGrpSpPr/>
            <p:nvPr/>
          </p:nvGrpSpPr>
          <p:grpSpPr>
            <a:xfrm>
              <a:off x="222657" y="1714549"/>
              <a:ext cx="4222395" cy="3963182"/>
              <a:chOff x="231801" y="1641934"/>
              <a:chExt cx="4222395" cy="3963182"/>
            </a:xfrm>
          </p:grpSpPr>
          <p:grpSp>
            <p:nvGrpSpPr>
              <p:cNvPr id="7" name="Group 6">
                <a:extLst>
                  <a:ext uri="{FF2B5EF4-FFF2-40B4-BE49-F238E27FC236}">
                    <a16:creationId xmlns:a16="http://schemas.microsoft.com/office/drawing/2014/main" id="{DF0548CB-D50B-8B6B-E1E2-04A0E1284387}"/>
                  </a:ext>
                </a:extLst>
              </p:cNvPr>
              <p:cNvGrpSpPr/>
              <p:nvPr/>
            </p:nvGrpSpPr>
            <p:grpSpPr>
              <a:xfrm>
                <a:off x="231801" y="1641934"/>
                <a:ext cx="1981391" cy="3963182"/>
                <a:chOff x="1086247" y="1909787"/>
                <a:chExt cx="1981391" cy="3963182"/>
              </a:xfrm>
            </p:grpSpPr>
            <p:sp>
              <p:nvSpPr>
                <p:cNvPr id="41" name="Rectangle 40">
                  <a:extLst>
                    <a:ext uri="{FF2B5EF4-FFF2-40B4-BE49-F238E27FC236}">
                      <a16:creationId xmlns:a16="http://schemas.microsoft.com/office/drawing/2014/main" id="{6C6FC23F-A062-2AD2-5EDC-58FFFB349BB0}"/>
                    </a:ext>
                  </a:extLst>
                </p:cNvPr>
                <p:cNvSpPr/>
                <p:nvPr/>
              </p:nvSpPr>
              <p:spPr>
                <a:xfrm>
                  <a:off x="1195765" y="5718528"/>
                  <a:ext cx="1262366" cy="15444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cs typeface="Arial"/>
                    </a:rPr>
                    <a:t>Close the file</a:t>
                  </a:r>
                </a:p>
              </p:txBody>
            </p:sp>
            <p:grpSp>
              <p:nvGrpSpPr>
                <p:cNvPr id="6" name="Group 5">
                  <a:extLst>
                    <a:ext uri="{FF2B5EF4-FFF2-40B4-BE49-F238E27FC236}">
                      <a16:creationId xmlns:a16="http://schemas.microsoft.com/office/drawing/2014/main" id="{19FDC9CF-BE59-7A2F-397C-89EDA7686F68}"/>
                    </a:ext>
                  </a:extLst>
                </p:cNvPr>
                <p:cNvGrpSpPr/>
                <p:nvPr/>
              </p:nvGrpSpPr>
              <p:grpSpPr>
                <a:xfrm>
                  <a:off x="1086247" y="1909787"/>
                  <a:ext cx="1981391" cy="3808741"/>
                  <a:chOff x="1061849" y="765559"/>
                  <a:chExt cx="2792241" cy="4780770"/>
                </a:xfrm>
              </p:grpSpPr>
              <p:sp>
                <p:nvSpPr>
                  <p:cNvPr id="2" name="Rectangle 1">
                    <a:extLst>
                      <a:ext uri="{FF2B5EF4-FFF2-40B4-BE49-F238E27FC236}">
                        <a16:creationId xmlns:a16="http://schemas.microsoft.com/office/drawing/2014/main" id="{D06D12E3-7BA5-A2E7-F2F1-BE7BE577267A}"/>
                      </a:ext>
                    </a:extLst>
                  </p:cNvPr>
                  <p:cNvSpPr/>
                  <p:nvPr/>
                </p:nvSpPr>
                <p:spPr>
                  <a:xfrm>
                    <a:off x="1255930" y="1266432"/>
                    <a:ext cx="1759061" cy="20865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800">
                      <a:solidFill>
                        <a:schemeClr val="tx1"/>
                      </a:solidFill>
                      <a:cs typeface="Arial"/>
                    </a:endParaRPr>
                  </a:p>
                  <a:p>
                    <a:pPr algn="ctr"/>
                    <a:r>
                      <a:rPr lang="fr-FR" sz="800" err="1">
                        <a:solidFill>
                          <a:schemeClr val="tx1"/>
                        </a:solidFill>
                      </a:rPr>
                      <a:t>Clock</a:t>
                    </a:r>
                    <a:r>
                      <a:rPr lang="fr-FR" sz="800">
                        <a:solidFill>
                          <a:schemeClr val="tx1"/>
                        </a:solidFill>
                      </a:rPr>
                      <a:t> configuration</a:t>
                    </a:r>
                  </a:p>
                  <a:p>
                    <a:pPr algn="ctr"/>
                    <a:endParaRPr lang="fr-FR" sz="800">
                      <a:solidFill>
                        <a:schemeClr val="tx1"/>
                      </a:solidFill>
                      <a:cs typeface="Arial"/>
                    </a:endParaRPr>
                  </a:p>
                </p:txBody>
              </p:sp>
              <p:cxnSp>
                <p:nvCxnSpPr>
                  <p:cNvPr id="18" name="Straight Arrow Connector 17">
                    <a:extLst>
                      <a:ext uri="{FF2B5EF4-FFF2-40B4-BE49-F238E27FC236}">
                        <a16:creationId xmlns:a16="http://schemas.microsoft.com/office/drawing/2014/main" id="{EA2498C0-8D19-AA8C-C470-7721BEBFB3F4}"/>
                      </a:ext>
                    </a:extLst>
                  </p:cNvPr>
                  <p:cNvCxnSpPr>
                    <a:cxnSpLocks/>
                    <a:stCxn id="87" idx="4"/>
                    <a:endCxn id="2" idx="0"/>
                  </p:cNvCxnSpPr>
                  <p:nvPr/>
                </p:nvCxnSpPr>
                <p:spPr>
                  <a:xfrm flipH="1">
                    <a:off x="2135461" y="998239"/>
                    <a:ext cx="9949" cy="268193"/>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0" name="Straight Arrow Connector 19">
                    <a:extLst>
                      <a:ext uri="{FF2B5EF4-FFF2-40B4-BE49-F238E27FC236}">
                        <a16:creationId xmlns:a16="http://schemas.microsoft.com/office/drawing/2014/main" id="{77139D92-79FC-633F-79AF-F61D2B3C95AC}"/>
                      </a:ext>
                    </a:extLst>
                  </p:cNvPr>
                  <p:cNvCxnSpPr>
                    <a:cxnSpLocks/>
                    <a:stCxn id="2" idx="2"/>
                    <a:endCxn id="24" idx="0"/>
                  </p:cNvCxnSpPr>
                  <p:nvPr/>
                </p:nvCxnSpPr>
                <p:spPr>
                  <a:xfrm flipH="1">
                    <a:off x="2125540" y="1475088"/>
                    <a:ext cx="9921" cy="22625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4" name="Rectangle 23">
                    <a:extLst>
                      <a:ext uri="{FF2B5EF4-FFF2-40B4-BE49-F238E27FC236}">
                        <a16:creationId xmlns:a16="http://schemas.microsoft.com/office/drawing/2014/main" id="{8F4F917C-EA35-2EBC-531D-8FD4B6DF9D6A}"/>
                      </a:ext>
                    </a:extLst>
                  </p:cNvPr>
                  <p:cNvSpPr/>
                  <p:nvPr/>
                </p:nvSpPr>
                <p:spPr>
                  <a:xfrm>
                    <a:off x="1246009" y="1701346"/>
                    <a:ext cx="1759061" cy="20377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rgbClr val="000000"/>
                        </a:solidFill>
                        <a:ea typeface="+mn-lt"/>
                        <a:cs typeface="+mn-lt"/>
                      </a:rPr>
                      <a:t>RTOS Kernel Start</a:t>
                    </a:r>
                    <a:endParaRPr lang="en-US" sz="800">
                      <a:cs typeface="Arial"/>
                    </a:endParaRPr>
                  </a:p>
                </p:txBody>
              </p:sp>
              <p:cxnSp>
                <p:nvCxnSpPr>
                  <p:cNvPr id="25" name="Straight Arrow Connector 24">
                    <a:extLst>
                      <a:ext uri="{FF2B5EF4-FFF2-40B4-BE49-F238E27FC236}">
                        <a16:creationId xmlns:a16="http://schemas.microsoft.com/office/drawing/2014/main" id="{7A2E6477-C07E-496D-0C0D-6C66D4A07CA9}"/>
                      </a:ext>
                    </a:extLst>
                  </p:cNvPr>
                  <p:cNvCxnSpPr>
                    <a:cxnSpLocks/>
                    <a:stCxn id="24" idx="2"/>
                    <a:endCxn id="26" idx="0"/>
                  </p:cNvCxnSpPr>
                  <p:nvPr/>
                </p:nvCxnSpPr>
                <p:spPr>
                  <a:xfrm flipH="1">
                    <a:off x="2115619" y="1905116"/>
                    <a:ext cx="9921" cy="234354"/>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26" name="Rectangle 25">
                    <a:extLst>
                      <a:ext uri="{FF2B5EF4-FFF2-40B4-BE49-F238E27FC236}">
                        <a16:creationId xmlns:a16="http://schemas.microsoft.com/office/drawing/2014/main" id="{AA8FFB1D-1EAE-48D6-7133-75062A6ACEDB}"/>
                      </a:ext>
                    </a:extLst>
                  </p:cNvPr>
                  <p:cNvSpPr/>
                  <p:nvPr/>
                </p:nvSpPr>
                <p:spPr>
                  <a:xfrm>
                    <a:off x="1246009" y="2139470"/>
                    <a:ext cx="1739221" cy="201386"/>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 </a:t>
                    </a:r>
                    <a:r>
                      <a:rPr lang="fr-FR" sz="800" err="1">
                        <a:solidFill>
                          <a:schemeClr val="tx1"/>
                        </a:solidFill>
                      </a:rPr>
                      <a:t>Filex</a:t>
                    </a:r>
                    <a:r>
                      <a:rPr lang="fr-FR" sz="800">
                        <a:solidFill>
                          <a:schemeClr val="tx1"/>
                        </a:solidFill>
                      </a:rPr>
                      <a:t> Init</a:t>
                    </a:r>
                    <a:endParaRPr lang="fr-FR" sz="800">
                      <a:solidFill>
                        <a:schemeClr val="tx1"/>
                      </a:solidFill>
                      <a:cs typeface="Arial"/>
                    </a:endParaRPr>
                  </a:p>
                </p:txBody>
              </p:sp>
              <p:sp>
                <p:nvSpPr>
                  <p:cNvPr id="27" name="Rectangle 26">
                    <a:extLst>
                      <a:ext uri="{FF2B5EF4-FFF2-40B4-BE49-F238E27FC236}">
                        <a16:creationId xmlns:a16="http://schemas.microsoft.com/office/drawing/2014/main" id="{89C9B7D7-A43C-91A0-C6AB-148719BAB3DE}"/>
                      </a:ext>
                    </a:extLst>
                  </p:cNvPr>
                  <p:cNvSpPr/>
                  <p:nvPr/>
                </p:nvSpPr>
                <p:spPr>
                  <a:xfrm>
                    <a:off x="1234736" y="2567167"/>
                    <a:ext cx="1759061" cy="209589"/>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bg1"/>
                      </a:buClr>
                    </a:pPr>
                    <a:r>
                      <a:rPr lang="fr-FR" sz="800">
                        <a:solidFill>
                          <a:schemeClr val="tx1"/>
                        </a:solidFill>
                      </a:rPr>
                      <a:t> </a:t>
                    </a:r>
                    <a:r>
                      <a:rPr lang="fr-FR" sz="800" err="1">
                        <a:solidFill>
                          <a:schemeClr val="tx1"/>
                        </a:solidFill>
                      </a:rPr>
                      <a:t>USBx</a:t>
                    </a:r>
                    <a:r>
                      <a:rPr lang="fr-FR" sz="800">
                        <a:solidFill>
                          <a:schemeClr val="tx1"/>
                        </a:solidFill>
                      </a:rPr>
                      <a:t> Init</a:t>
                    </a:r>
                  </a:p>
                </p:txBody>
              </p:sp>
              <p:cxnSp>
                <p:nvCxnSpPr>
                  <p:cNvPr id="28" name="Straight Arrow Connector 27">
                    <a:extLst>
                      <a:ext uri="{FF2B5EF4-FFF2-40B4-BE49-F238E27FC236}">
                        <a16:creationId xmlns:a16="http://schemas.microsoft.com/office/drawing/2014/main" id="{6B794050-9475-7AFF-7E33-AE354F192753}"/>
                      </a:ext>
                    </a:extLst>
                  </p:cNvPr>
                  <p:cNvCxnSpPr>
                    <a:cxnSpLocks/>
                    <a:stCxn id="26" idx="2"/>
                    <a:endCxn id="27" idx="0"/>
                  </p:cNvCxnSpPr>
                  <p:nvPr/>
                </p:nvCxnSpPr>
                <p:spPr>
                  <a:xfrm flipH="1">
                    <a:off x="2114268" y="2340856"/>
                    <a:ext cx="1351" cy="22631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29" name="Straight Arrow Connector 28">
                    <a:extLst>
                      <a:ext uri="{FF2B5EF4-FFF2-40B4-BE49-F238E27FC236}">
                        <a16:creationId xmlns:a16="http://schemas.microsoft.com/office/drawing/2014/main" id="{A948C7A1-DE29-C02F-8C11-099FC2BE2E8C}"/>
                      </a:ext>
                    </a:extLst>
                  </p:cNvPr>
                  <p:cNvCxnSpPr>
                    <a:cxnSpLocks/>
                    <a:stCxn id="2" idx="3"/>
                    <a:endCxn id="109" idx="1"/>
                  </p:cNvCxnSpPr>
                  <p:nvPr/>
                </p:nvCxnSpPr>
                <p:spPr>
                  <a:xfrm>
                    <a:off x="3014991" y="1370760"/>
                    <a:ext cx="291838" cy="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38" name="Rectangle 37">
                    <a:extLst>
                      <a:ext uri="{FF2B5EF4-FFF2-40B4-BE49-F238E27FC236}">
                        <a16:creationId xmlns:a16="http://schemas.microsoft.com/office/drawing/2014/main" id="{23B19D5A-5190-5E94-9379-E2585AE55146}"/>
                      </a:ext>
                    </a:extLst>
                  </p:cNvPr>
                  <p:cNvSpPr/>
                  <p:nvPr/>
                </p:nvSpPr>
                <p:spPr>
                  <a:xfrm>
                    <a:off x="1222210" y="4302172"/>
                    <a:ext cx="1778967" cy="21315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err="1">
                        <a:solidFill>
                          <a:schemeClr val="tx1"/>
                        </a:solidFill>
                      </a:rPr>
                      <a:t>Create</a:t>
                    </a:r>
                    <a:r>
                      <a:rPr lang="fr-FR" sz="800">
                        <a:solidFill>
                          <a:schemeClr val="tx1"/>
                        </a:solidFill>
                      </a:rPr>
                      <a:t> the file</a:t>
                    </a:r>
                    <a:endParaRPr lang="en-US" sz="800"/>
                  </a:p>
                </p:txBody>
              </p:sp>
              <p:cxnSp>
                <p:nvCxnSpPr>
                  <p:cNvPr id="39" name="Straight Arrow Connector 38">
                    <a:extLst>
                      <a:ext uri="{FF2B5EF4-FFF2-40B4-BE49-F238E27FC236}">
                        <a16:creationId xmlns:a16="http://schemas.microsoft.com/office/drawing/2014/main" id="{905C2BED-03C9-E081-C89E-12241CFEC754}"/>
                      </a:ext>
                    </a:extLst>
                  </p:cNvPr>
                  <p:cNvCxnSpPr>
                    <a:cxnSpLocks/>
                    <a:stCxn id="27" idx="2"/>
                    <a:endCxn id="43" idx="0"/>
                  </p:cNvCxnSpPr>
                  <p:nvPr/>
                </p:nvCxnSpPr>
                <p:spPr>
                  <a:xfrm flipH="1">
                    <a:off x="2111695" y="2776756"/>
                    <a:ext cx="2573" cy="271368"/>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40" name="Rectangle 39">
                    <a:extLst>
                      <a:ext uri="{FF2B5EF4-FFF2-40B4-BE49-F238E27FC236}">
                        <a16:creationId xmlns:a16="http://schemas.microsoft.com/office/drawing/2014/main" id="{CAA71B8E-D5FD-2BD7-3782-C5B6FBAA8D27}"/>
                      </a:ext>
                    </a:extLst>
                  </p:cNvPr>
                  <p:cNvSpPr/>
                  <p:nvPr/>
                </p:nvSpPr>
                <p:spPr>
                  <a:xfrm>
                    <a:off x="1222210" y="4722803"/>
                    <a:ext cx="1778965" cy="21315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rPr>
                      <a:t> Write </a:t>
                    </a:r>
                    <a:r>
                      <a:rPr lang="fr-FR" sz="800" b="1">
                        <a:solidFill>
                          <a:srgbClr val="FF0000"/>
                        </a:solidFill>
                      </a:rPr>
                      <a:t>25 KB </a:t>
                    </a:r>
                    <a:r>
                      <a:rPr lang="fr-FR" sz="800">
                        <a:solidFill>
                          <a:schemeClr val="tx1"/>
                        </a:solidFill>
                      </a:rPr>
                      <a:t>in the file</a:t>
                    </a:r>
                    <a:endParaRPr lang="en-US" sz="800">
                      <a:solidFill>
                        <a:schemeClr val="tx1"/>
                      </a:solidFill>
                    </a:endParaRPr>
                  </a:p>
                </p:txBody>
              </p:sp>
              <p:sp>
                <p:nvSpPr>
                  <p:cNvPr id="42" name="Rectangle 41">
                    <a:extLst>
                      <a:ext uri="{FF2B5EF4-FFF2-40B4-BE49-F238E27FC236}">
                        <a16:creationId xmlns:a16="http://schemas.microsoft.com/office/drawing/2014/main" id="{2504D4F4-032A-DC14-40EC-97D9E42D3B7D}"/>
                      </a:ext>
                    </a:extLst>
                  </p:cNvPr>
                  <p:cNvSpPr/>
                  <p:nvPr/>
                </p:nvSpPr>
                <p:spPr>
                  <a:xfrm>
                    <a:off x="1216185" y="5134566"/>
                    <a:ext cx="1778965" cy="213151"/>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cs typeface="Arial"/>
                      </a:rPr>
                      <a:t>Read the file</a:t>
                    </a:r>
                  </a:p>
                </p:txBody>
              </p:sp>
              <p:sp>
                <p:nvSpPr>
                  <p:cNvPr id="43" name="Diamond 42">
                    <a:extLst>
                      <a:ext uri="{FF2B5EF4-FFF2-40B4-BE49-F238E27FC236}">
                        <a16:creationId xmlns:a16="http://schemas.microsoft.com/office/drawing/2014/main" id="{E234227A-9684-C2CB-0760-049D54E97B5A}"/>
                      </a:ext>
                    </a:extLst>
                  </p:cNvPr>
                  <p:cNvSpPr/>
                  <p:nvPr/>
                </p:nvSpPr>
                <p:spPr>
                  <a:xfrm>
                    <a:off x="1061849" y="3048123"/>
                    <a:ext cx="2099691" cy="585052"/>
                  </a:xfrm>
                  <a:prstGeom prst="diamond">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buClr>
                        <a:srgbClr val="FFFFFF"/>
                      </a:buClr>
                    </a:pPr>
                    <a:r>
                      <a:rPr lang="fr-FR" sz="800">
                        <a:solidFill>
                          <a:schemeClr val="tx1"/>
                        </a:solidFill>
                      </a:rPr>
                      <a:t>Is USB flash </a:t>
                    </a:r>
                    <a:r>
                      <a:rPr lang="fr-FR" sz="800" err="1">
                        <a:solidFill>
                          <a:schemeClr val="tx1"/>
                        </a:solidFill>
                      </a:rPr>
                      <a:t>inserted</a:t>
                    </a:r>
                    <a:r>
                      <a:rPr lang="fr-FR" sz="800">
                        <a:solidFill>
                          <a:schemeClr val="tx1"/>
                        </a:solidFill>
                      </a:rPr>
                      <a:t> ?</a:t>
                    </a:r>
                    <a:endParaRPr lang="en-US" sz="800">
                      <a:solidFill>
                        <a:schemeClr val="tx1"/>
                      </a:solidFill>
                    </a:endParaRPr>
                  </a:p>
                </p:txBody>
              </p:sp>
              <p:cxnSp>
                <p:nvCxnSpPr>
                  <p:cNvPr id="52" name="Straight Arrow Connector 51">
                    <a:extLst>
                      <a:ext uri="{FF2B5EF4-FFF2-40B4-BE49-F238E27FC236}">
                        <a16:creationId xmlns:a16="http://schemas.microsoft.com/office/drawing/2014/main" id="{A015D693-5F67-8651-EEFF-FBB8166968D0}"/>
                      </a:ext>
                    </a:extLst>
                  </p:cNvPr>
                  <p:cNvCxnSpPr>
                    <a:cxnSpLocks/>
                    <a:stCxn id="71" idx="2"/>
                    <a:endCxn id="38" idx="0"/>
                  </p:cNvCxnSpPr>
                  <p:nvPr/>
                </p:nvCxnSpPr>
                <p:spPr>
                  <a:xfrm flipH="1">
                    <a:off x="2111693" y="4089021"/>
                    <a:ext cx="3891" cy="213151"/>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6" name="Straight Arrow Connector 55">
                    <a:extLst>
                      <a:ext uri="{FF2B5EF4-FFF2-40B4-BE49-F238E27FC236}">
                        <a16:creationId xmlns:a16="http://schemas.microsoft.com/office/drawing/2014/main" id="{39EBB429-5DE7-99EE-E99C-E5710DB9DD83}"/>
                      </a:ext>
                    </a:extLst>
                  </p:cNvPr>
                  <p:cNvCxnSpPr>
                    <a:cxnSpLocks/>
                    <a:stCxn id="38" idx="2"/>
                    <a:endCxn id="40" idx="0"/>
                  </p:cNvCxnSpPr>
                  <p:nvPr/>
                </p:nvCxnSpPr>
                <p:spPr>
                  <a:xfrm>
                    <a:off x="2111693" y="4515323"/>
                    <a:ext cx="0" cy="207480"/>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59" name="Straight Arrow Connector 58">
                    <a:extLst>
                      <a:ext uri="{FF2B5EF4-FFF2-40B4-BE49-F238E27FC236}">
                        <a16:creationId xmlns:a16="http://schemas.microsoft.com/office/drawing/2014/main" id="{1D480904-C005-5261-1A3A-B12F692755A5}"/>
                      </a:ext>
                    </a:extLst>
                  </p:cNvPr>
                  <p:cNvCxnSpPr>
                    <a:cxnSpLocks/>
                    <a:stCxn id="40" idx="2"/>
                    <a:endCxn id="42" idx="0"/>
                  </p:cNvCxnSpPr>
                  <p:nvPr/>
                </p:nvCxnSpPr>
                <p:spPr>
                  <a:xfrm flipH="1">
                    <a:off x="2105669" y="4935954"/>
                    <a:ext cx="6024" cy="19861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0" name="Straight Arrow Connector 59">
                    <a:extLst>
                      <a:ext uri="{FF2B5EF4-FFF2-40B4-BE49-F238E27FC236}">
                        <a16:creationId xmlns:a16="http://schemas.microsoft.com/office/drawing/2014/main" id="{CAF59B69-65D8-6A43-0180-D6BF72A88674}"/>
                      </a:ext>
                    </a:extLst>
                  </p:cNvPr>
                  <p:cNvCxnSpPr>
                    <a:cxnSpLocks/>
                    <a:stCxn id="42" idx="2"/>
                    <a:endCxn id="41" idx="0"/>
                  </p:cNvCxnSpPr>
                  <p:nvPr/>
                </p:nvCxnSpPr>
                <p:spPr>
                  <a:xfrm>
                    <a:off x="2105669" y="5347717"/>
                    <a:ext cx="0" cy="19861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66" name="Connector: Elbow 65">
                    <a:extLst>
                      <a:ext uri="{FF2B5EF4-FFF2-40B4-BE49-F238E27FC236}">
                        <a16:creationId xmlns:a16="http://schemas.microsoft.com/office/drawing/2014/main" id="{93C5D1CD-A833-844C-EBB6-B9C8C7E530DA}"/>
                      </a:ext>
                    </a:extLst>
                  </p:cNvPr>
                  <p:cNvCxnSpPr>
                    <a:cxnSpLocks/>
                    <a:stCxn id="43" idx="2"/>
                    <a:endCxn id="43" idx="3"/>
                  </p:cNvCxnSpPr>
                  <p:nvPr/>
                </p:nvCxnSpPr>
                <p:spPr>
                  <a:xfrm rot="5400000" flipH="1" flipV="1">
                    <a:off x="2490353" y="2961990"/>
                    <a:ext cx="292525" cy="1049846"/>
                  </a:xfrm>
                  <a:prstGeom prst="bentConnector4">
                    <a:avLst>
                      <a:gd name="adj1" fmla="val -26158"/>
                      <a:gd name="adj2" fmla="val 119639"/>
                    </a:avLst>
                  </a:prstGeom>
                  <a:ln w="2222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67" name="TextBox 56">
                    <a:extLst>
                      <a:ext uri="{FF2B5EF4-FFF2-40B4-BE49-F238E27FC236}">
                        <a16:creationId xmlns:a16="http://schemas.microsoft.com/office/drawing/2014/main" id="{336664F5-307F-F452-9CB4-D7D21C81E2D6}"/>
                      </a:ext>
                    </a:extLst>
                  </p:cNvPr>
                  <p:cNvSpPr txBox="1"/>
                  <p:nvPr/>
                </p:nvSpPr>
                <p:spPr>
                  <a:xfrm>
                    <a:off x="1456268" y="3619982"/>
                    <a:ext cx="689141" cy="27042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chemeClr val="accent5">
                            <a:lumMod val="75000"/>
                          </a:schemeClr>
                        </a:solidFill>
                      </a:rPr>
                      <a:t>Yes</a:t>
                    </a:r>
                  </a:p>
                </p:txBody>
              </p:sp>
              <p:sp>
                <p:nvSpPr>
                  <p:cNvPr id="70" name="TextBox 69">
                    <a:extLst>
                      <a:ext uri="{FF2B5EF4-FFF2-40B4-BE49-F238E27FC236}">
                        <a16:creationId xmlns:a16="http://schemas.microsoft.com/office/drawing/2014/main" id="{7CE64FA8-2032-EA71-5227-72FC16DD551F}"/>
                      </a:ext>
                    </a:extLst>
                  </p:cNvPr>
                  <p:cNvSpPr txBox="1"/>
                  <p:nvPr/>
                </p:nvSpPr>
                <p:spPr>
                  <a:xfrm>
                    <a:off x="3306829" y="3248638"/>
                    <a:ext cx="547261" cy="27042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1">
                        <a:solidFill>
                          <a:srgbClr val="C00000"/>
                        </a:solidFill>
                      </a:rPr>
                      <a:t>No</a:t>
                    </a:r>
                    <a:endParaRPr lang="en-US" sz="800" b="1">
                      <a:solidFill>
                        <a:srgbClr val="C00000"/>
                      </a:solidFill>
                      <a:cs typeface="Arial"/>
                    </a:endParaRPr>
                  </a:p>
                </p:txBody>
              </p:sp>
              <p:sp>
                <p:nvSpPr>
                  <p:cNvPr id="71" name="Rectangle 70">
                    <a:extLst>
                      <a:ext uri="{FF2B5EF4-FFF2-40B4-BE49-F238E27FC236}">
                        <a16:creationId xmlns:a16="http://schemas.microsoft.com/office/drawing/2014/main" id="{CE722DDA-3261-4A45-40F5-0D861E439AFE}"/>
                      </a:ext>
                    </a:extLst>
                  </p:cNvPr>
                  <p:cNvSpPr/>
                  <p:nvPr/>
                </p:nvSpPr>
                <p:spPr>
                  <a:xfrm>
                    <a:off x="1226098" y="3878797"/>
                    <a:ext cx="1778972" cy="210224"/>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800">
                        <a:solidFill>
                          <a:schemeClr val="tx1"/>
                        </a:solidFill>
                      </a:rPr>
                      <a:t>enumeration phase</a:t>
                    </a:r>
                    <a:endParaRPr lang="en-US" sz="800"/>
                  </a:p>
                </p:txBody>
              </p:sp>
              <p:cxnSp>
                <p:nvCxnSpPr>
                  <p:cNvPr id="73" name="Straight Arrow Connector 72">
                    <a:extLst>
                      <a:ext uri="{FF2B5EF4-FFF2-40B4-BE49-F238E27FC236}">
                        <a16:creationId xmlns:a16="http://schemas.microsoft.com/office/drawing/2014/main" id="{12D46E17-B1EB-4417-4045-2AE284217E63}"/>
                      </a:ext>
                    </a:extLst>
                  </p:cNvPr>
                  <p:cNvCxnSpPr>
                    <a:cxnSpLocks/>
                    <a:stCxn id="43" idx="2"/>
                    <a:endCxn id="71" idx="0"/>
                  </p:cNvCxnSpPr>
                  <p:nvPr/>
                </p:nvCxnSpPr>
                <p:spPr>
                  <a:xfrm>
                    <a:off x="2111695" y="3633175"/>
                    <a:ext cx="3889" cy="245622"/>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81" name="Straight Arrow Connector 80">
                    <a:extLst>
                      <a:ext uri="{FF2B5EF4-FFF2-40B4-BE49-F238E27FC236}">
                        <a16:creationId xmlns:a16="http://schemas.microsoft.com/office/drawing/2014/main" id="{79DBC30C-06F6-11FC-011A-37F6149C0FA6}"/>
                      </a:ext>
                    </a:extLst>
                  </p:cNvPr>
                  <p:cNvCxnSpPr>
                    <a:cxnSpLocks/>
                    <a:stCxn id="26" idx="3"/>
                    <a:endCxn id="108" idx="1"/>
                  </p:cNvCxnSpPr>
                  <p:nvPr/>
                </p:nvCxnSpPr>
                <p:spPr>
                  <a:xfrm flipV="1">
                    <a:off x="2985230" y="2233838"/>
                    <a:ext cx="267938" cy="6325"/>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cxnSp>
                <p:nvCxnSpPr>
                  <p:cNvPr id="86" name="Straight Arrow Connector 85">
                    <a:extLst>
                      <a:ext uri="{FF2B5EF4-FFF2-40B4-BE49-F238E27FC236}">
                        <a16:creationId xmlns:a16="http://schemas.microsoft.com/office/drawing/2014/main" id="{06807CE1-89BA-DEA8-2815-2F72E9D62553}"/>
                      </a:ext>
                    </a:extLst>
                  </p:cNvPr>
                  <p:cNvCxnSpPr>
                    <a:cxnSpLocks/>
                    <a:stCxn id="27" idx="3"/>
                    <a:endCxn id="106" idx="1"/>
                  </p:cNvCxnSpPr>
                  <p:nvPr/>
                </p:nvCxnSpPr>
                <p:spPr>
                  <a:xfrm>
                    <a:off x="2993798" y="2671962"/>
                    <a:ext cx="378901" cy="6149"/>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sp>
                <p:nvSpPr>
                  <p:cNvPr id="87" name="Oval 86">
                    <a:extLst>
                      <a:ext uri="{FF2B5EF4-FFF2-40B4-BE49-F238E27FC236}">
                        <a16:creationId xmlns:a16="http://schemas.microsoft.com/office/drawing/2014/main" id="{1DFE6056-AC84-ECA6-531B-11956A99BD9F}"/>
                      </a:ext>
                    </a:extLst>
                  </p:cNvPr>
                  <p:cNvSpPr/>
                  <p:nvPr/>
                </p:nvSpPr>
                <p:spPr>
                  <a:xfrm>
                    <a:off x="1706884" y="765559"/>
                    <a:ext cx="877051" cy="232680"/>
                  </a:xfrm>
                  <a:prstGeom prst="ellipse">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buClr>
                        <a:schemeClr val="bg1"/>
                      </a:buClr>
                    </a:pPr>
                    <a:r>
                      <a:rPr lang="en-US" sz="800">
                        <a:solidFill>
                          <a:schemeClr val="tx1"/>
                        </a:solidFill>
                      </a:rPr>
                      <a:t>Start</a:t>
                    </a:r>
                  </a:p>
                </p:txBody>
              </p:sp>
            </p:grpSp>
          </p:grpSp>
          <p:sp>
            <p:nvSpPr>
              <p:cNvPr id="106" name="TextBox 39">
                <a:extLst>
                  <a:ext uri="{FF2B5EF4-FFF2-40B4-BE49-F238E27FC236}">
                    <a16:creationId xmlns:a16="http://schemas.microsoft.com/office/drawing/2014/main" id="{0C937638-238C-EDE0-3604-9215D21A6A4B}"/>
                  </a:ext>
                </a:extLst>
              </p:cNvPr>
              <p:cNvSpPr txBox="1"/>
              <p:nvPr/>
            </p:nvSpPr>
            <p:spPr>
              <a:xfrm>
                <a:off x="1871593" y="2980959"/>
                <a:ext cx="186349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USB Clock (48 MHz), USB Host</a:t>
                </a:r>
                <a:r>
                  <a:rPr lang="en-US" sz="1000"/>
                  <a:t>, </a:t>
                </a:r>
                <a:r>
                  <a:rPr lang="en-US" sz="800"/>
                  <a:t>MSC class, power USB module</a:t>
                </a:r>
              </a:p>
            </p:txBody>
          </p:sp>
          <p:sp>
            <p:nvSpPr>
              <p:cNvPr id="108" name="TextBox 107">
                <a:extLst>
                  <a:ext uri="{FF2B5EF4-FFF2-40B4-BE49-F238E27FC236}">
                    <a16:creationId xmlns:a16="http://schemas.microsoft.com/office/drawing/2014/main" id="{F91E8094-EDAB-C416-39AD-AF79C34B256F}"/>
                  </a:ext>
                </a:extLst>
              </p:cNvPr>
              <p:cNvSpPr txBox="1"/>
              <p:nvPr/>
            </p:nvSpPr>
            <p:spPr>
              <a:xfrm>
                <a:off x="1786773" y="2642405"/>
                <a:ext cx="216294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a:t>date &amp; time, sector cache, Fat cache size, Filex libraries</a:t>
                </a:r>
              </a:p>
            </p:txBody>
          </p:sp>
          <p:sp>
            <p:nvSpPr>
              <p:cNvPr id="109" name="TextBox 71">
                <a:extLst>
                  <a:ext uri="{FF2B5EF4-FFF2-40B4-BE49-F238E27FC236}">
                    <a16:creationId xmlns:a16="http://schemas.microsoft.com/office/drawing/2014/main" id="{9551BBDE-B56C-B633-052C-E6F2ECA70990}"/>
                  </a:ext>
                </a:extLst>
              </p:cNvPr>
              <p:cNvSpPr txBox="1"/>
              <p:nvPr/>
            </p:nvSpPr>
            <p:spPr>
              <a:xfrm>
                <a:off x="1824852" y="1954808"/>
                <a:ext cx="2629344"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rgbClr val="03234B"/>
                    </a:solidFill>
                    <a:latin typeface="Arial"/>
                    <a:ea typeface="+mn-ea"/>
                    <a:cs typeface="+mn-cs"/>
                  </a:defRPr>
                </a:lvl1pPr>
                <a:lvl2pPr marL="457200" algn="l" defTabSz="914400" rtl="0" eaLnBrk="1" latinLnBrk="0" hangingPunct="1">
                  <a:defRPr sz="1800" kern="1200">
                    <a:solidFill>
                      <a:srgbClr val="03234B"/>
                    </a:solidFill>
                    <a:latin typeface="Arial"/>
                    <a:ea typeface="+mn-ea"/>
                    <a:cs typeface="+mn-cs"/>
                  </a:defRPr>
                </a:lvl2pPr>
                <a:lvl3pPr marL="914400" algn="l" defTabSz="914400" rtl="0" eaLnBrk="1" latinLnBrk="0" hangingPunct="1">
                  <a:defRPr sz="1800" kern="1200">
                    <a:solidFill>
                      <a:srgbClr val="03234B"/>
                    </a:solidFill>
                    <a:latin typeface="Arial"/>
                    <a:ea typeface="+mn-ea"/>
                    <a:cs typeface="+mn-cs"/>
                  </a:defRPr>
                </a:lvl3pPr>
                <a:lvl4pPr marL="1371600" algn="l" defTabSz="914400" rtl="0" eaLnBrk="1" latinLnBrk="0" hangingPunct="1">
                  <a:defRPr sz="1800" kern="1200">
                    <a:solidFill>
                      <a:srgbClr val="03234B"/>
                    </a:solidFill>
                    <a:latin typeface="Arial"/>
                    <a:ea typeface="+mn-ea"/>
                    <a:cs typeface="+mn-cs"/>
                  </a:defRPr>
                </a:lvl4pPr>
                <a:lvl5pPr marL="1828800" algn="l" defTabSz="914400" rtl="0" eaLnBrk="1" latinLnBrk="0" hangingPunct="1">
                  <a:defRPr sz="1800" kern="1200">
                    <a:solidFill>
                      <a:srgbClr val="03234B"/>
                    </a:solidFill>
                    <a:latin typeface="Arial"/>
                    <a:ea typeface="+mn-ea"/>
                    <a:cs typeface="+mn-cs"/>
                  </a:defRPr>
                </a:lvl5pPr>
                <a:lvl6pPr marL="2286000" algn="l" defTabSz="914400" rtl="0" eaLnBrk="1" latinLnBrk="0" hangingPunct="1">
                  <a:defRPr sz="1800" kern="1200">
                    <a:solidFill>
                      <a:srgbClr val="03234B"/>
                    </a:solidFill>
                    <a:latin typeface="Arial"/>
                    <a:ea typeface="+mn-ea"/>
                    <a:cs typeface="+mn-cs"/>
                  </a:defRPr>
                </a:lvl6pPr>
                <a:lvl7pPr marL="2743200" algn="l" defTabSz="914400" rtl="0" eaLnBrk="1" latinLnBrk="0" hangingPunct="1">
                  <a:defRPr sz="1800" kern="1200">
                    <a:solidFill>
                      <a:srgbClr val="03234B"/>
                    </a:solidFill>
                    <a:latin typeface="Arial"/>
                    <a:ea typeface="+mn-ea"/>
                    <a:cs typeface="+mn-cs"/>
                  </a:defRPr>
                </a:lvl7pPr>
                <a:lvl8pPr marL="3200400" algn="l" defTabSz="914400" rtl="0" eaLnBrk="1" latinLnBrk="0" hangingPunct="1">
                  <a:defRPr sz="1800" kern="1200">
                    <a:solidFill>
                      <a:srgbClr val="03234B"/>
                    </a:solidFill>
                    <a:latin typeface="Arial"/>
                    <a:ea typeface="+mn-ea"/>
                    <a:cs typeface="+mn-cs"/>
                  </a:defRPr>
                </a:lvl8pPr>
                <a:lvl9pPr marL="3657600" algn="l" defTabSz="914400" rtl="0" eaLnBrk="1" latinLnBrk="0" hangingPunct="1">
                  <a:defRPr sz="1800" kern="1200">
                    <a:solidFill>
                      <a:srgbClr val="03234B"/>
                    </a:solidFill>
                    <a:latin typeface="Arial"/>
                    <a:ea typeface="+mn-ea"/>
                    <a:cs typeface="+mn-cs"/>
                  </a:defRPr>
                </a:lvl9pPr>
              </a:lstStyle>
              <a:p>
                <a:pPr>
                  <a:defRPr/>
                </a:pPr>
                <a:r>
                  <a:rPr lang="en-US" sz="800">
                    <a:cs typeface="Arial"/>
                  </a:rPr>
                  <a:t>C</a:t>
                </a:r>
                <a:r>
                  <a:rPr kumimoji="0" lang="en-US" sz="800" b="0" i="0" u="none" strike="noStrike" kern="1200" cap="none" spc="0" normalizeH="0" baseline="0" noProof="0">
                    <a:ln>
                      <a:noFill/>
                    </a:ln>
                    <a:solidFill>
                      <a:srgbClr val="03234B"/>
                    </a:solidFill>
                    <a:effectLst/>
                    <a:uLnTx/>
                    <a:uFillTx/>
                    <a:latin typeface="Arial"/>
                    <a:ea typeface="+mn-ea"/>
                    <a:cs typeface="Arial"/>
                  </a:rPr>
                  <a:t>lock source : </a:t>
                </a:r>
                <a:r>
                  <a:rPr lang="fr-FR" sz="800" b="1"/>
                  <a:t>HSE (ST) </a:t>
                </a:r>
                <a:r>
                  <a:rPr lang="fr-FR" sz="800"/>
                  <a:t>/ </a:t>
                </a:r>
                <a:r>
                  <a:rPr lang="fr-FR" sz="800" b="1"/>
                  <a:t>PLL (Renesas)</a:t>
                </a:r>
              </a:p>
              <a:p>
                <a:pPr>
                  <a:defRPr/>
                </a:pPr>
                <a:r>
                  <a:rPr lang="en-US" sz="800"/>
                  <a:t>Clock frequency: </a:t>
                </a:r>
                <a:r>
                  <a:rPr lang="en-US" sz="800" b="1"/>
                  <a:t>200 MHz (ST and </a:t>
                </a:r>
                <a:r>
                  <a:rPr lang="fr-FR" sz="800" b="1"/>
                  <a:t>Renesas</a:t>
                </a:r>
                <a:r>
                  <a:rPr lang="en-US" sz="800" b="1"/>
                  <a:t>)</a:t>
                </a:r>
              </a:p>
            </p:txBody>
          </p:sp>
        </p:grpSp>
        <p:sp>
          <p:nvSpPr>
            <p:cNvPr id="126" name="TextBox 39">
              <a:extLst>
                <a:ext uri="{FF2B5EF4-FFF2-40B4-BE49-F238E27FC236}">
                  <a16:creationId xmlns:a16="http://schemas.microsoft.com/office/drawing/2014/main" id="{CDB44B8F-984E-FA27-7F87-73B9F7311C65}"/>
                </a:ext>
              </a:extLst>
            </p:cNvPr>
            <p:cNvSpPr txBox="1"/>
            <p:nvPr/>
          </p:nvSpPr>
          <p:spPr>
            <a:xfrm>
              <a:off x="1862449" y="2432776"/>
              <a:ext cx="1930042" cy="2154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Scheduler, tasks, priorities</a:t>
              </a:r>
            </a:p>
          </p:txBody>
        </p:sp>
        <p:cxnSp>
          <p:nvCxnSpPr>
            <p:cNvPr id="127" name="Straight Arrow Connector 126">
              <a:extLst>
                <a:ext uri="{FF2B5EF4-FFF2-40B4-BE49-F238E27FC236}">
                  <a16:creationId xmlns:a16="http://schemas.microsoft.com/office/drawing/2014/main" id="{9C0D7EF4-FBA8-06B1-B3DC-9CFE6890240E}"/>
                </a:ext>
              </a:extLst>
            </p:cNvPr>
            <p:cNvCxnSpPr>
              <a:cxnSpLocks/>
              <a:stCxn id="24" idx="3"/>
              <a:endCxn id="126" idx="1"/>
            </p:cNvCxnSpPr>
            <p:nvPr/>
          </p:nvCxnSpPr>
          <p:spPr>
            <a:xfrm flipV="1">
              <a:off x="1601578" y="2540498"/>
              <a:ext cx="260871" cy="743"/>
            </a:xfrm>
            <a:prstGeom prst="straightConnector1">
              <a:avLst/>
            </a:prstGeom>
            <a:ln>
              <a:headEnd type="none" w="lg" len="lg"/>
              <a:tailEnd type="triangle"/>
            </a:ln>
          </p:spPr>
          <p:style>
            <a:lnRef idx="2">
              <a:schemeClr val="accent3">
                <a:shade val="15000"/>
              </a:schemeClr>
            </a:lnRef>
            <a:fillRef idx="1">
              <a:schemeClr val="accent3"/>
            </a:fillRef>
            <a:effectRef idx="0">
              <a:schemeClr val="accent3"/>
            </a:effectRef>
            <a:fontRef idx="minor">
              <a:schemeClr val="lt1"/>
            </a:fontRef>
          </p:style>
        </p:cxnSp>
      </p:grpSp>
      <p:graphicFrame>
        <p:nvGraphicFramePr>
          <p:cNvPr id="132" name="Table 131">
            <a:extLst>
              <a:ext uri="{FF2B5EF4-FFF2-40B4-BE49-F238E27FC236}">
                <a16:creationId xmlns:a16="http://schemas.microsoft.com/office/drawing/2014/main" id="{A53A3ED3-3FFF-B0B8-10A7-E5528A71507C}"/>
              </a:ext>
            </a:extLst>
          </p:cNvPr>
          <p:cNvGraphicFramePr>
            <a:graphicFrameLocks noGrp="1"/>
          </p:cNvGraphicFramePr>
          <p:nvPr>
            <p:extLst>
              <p:ext uri="{D42A27DB-BD31-4B8C-83A1-F6EECF244321}">
                <p14:modId xmlns:p14="http://schemas.microsoft.com/office/powerpoint/2010/main" val="2217997276"/>
              </p:ext>
            </p:extLst>
          </p:nvPr>
        </p:nvGraphicFramePr>
        <p:xfrm>
          <a:off x="5216236" y="1254509"/>
          <a:ext cx="4787300" cy="850698"/>
        </p:xfrm>
        <a:graphic>
          <a:graphicData uri="http://schemas.openxmlformats.org/drawingml/2006/table">
            <a:tbl>
              <a:tblPr firstRow="1" bandRow="1">
                <a:tableStyleId>{EB344D84-9AFB-497E-A393-DC336BA19D2E}</a:tableStyleId>
              </a:tblPr>
              <a:tblGrid>
                <a:gridCol w="882812">
                  <a:extLst>
                    <a:ext uri="{9D8B030D-6E8A-4147-A177-3AD203B41FA5}">
                      <a16:colId xmlns:a16="http://schemas.microsoft.com/office/drawing/2014/main" val="1473133747"/>
                    </a:ext>
                  </a:extLst>
                </a:gridCol>
                <a:gridCol w="1042416">
                  <a:extLst>
                    <a:ext uri="{9D8B030D-6E8A-4147-A177-3AD203B41FA5}">
                      <a16:colId xmlns:a16="http://schemas.microsoft.com/office/drawing/2014/main" val="4162598800"/>
                    </a:ext>
                  </a:extLst>
                </a:gridCol>
                <a:gridCol w="804672">
                  <a:extLst>
                    <a:ext uri="{9D8B030D-6E8A-4147-A177-3AD203B41FA5}">
                      <a16:colId xmlns:a16="http://schemas.microsoft.com/office/drawing/2014/main" val="1196173778"/>
                    </a:ext>
                  </a:extLst>
                </a:gridCol>
                <a:gridCol w="1033272">
                  <a:extLst>
                    <a:ext uri="{9D8B030D-6E8A-4147-A177-3AD203B41FA5}">
                      <a16:colId xmlns:a16="http://schemas.microsoft.com/office/drawing/2014/main" val="2713348666"/>
                    </a:ext>
                  </a:extLst>
                </a:gridCol>
                <a:gridCol w="1024128">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Initialize</a:t>
                      </a:r>
                      <a:endParaRPr lang="en-US" sz="8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2.24</a:t>
                      </a:r>
                    </a:p>
                  </a:txBody>
                  <a:tcPr/>
                </a:tc>
                <a:tc>
                  <a:txBody>
                    <a:bodyPr/>
                    <a:lstStyle/>
                    <a:p>
                      <a:pPr algn="ctr"/>
                      <a:r>
                        <a:rPr lang="en-US" sz="800"/>
                        <a:t>4.85</a:t>
                      </a:r>
                    </a:p>
                  </a:txBody>
                  <a:tcPr/>
                </a:tc>
                <a:tc>
                  <a:txBody>
                    <a:bodyPr/>
                    <a:lstStyle/>
                    <a:p>
                      <a:pPr algn="ctr"/>
                      <a:r>
                        <a:rPr lang="en-US" sz="800" b="1">
                          <a:solidFill>
                            <a:schemeClr val="accent5"/>
                          </a:solidFill>
                        </a:rPr>
                        <a:t>-53.77%</a:t>
                      </a:r>
                    </a:p>
                  </a:txBody>
                  <a:tcPr/>
                </a:tc>
                <a:tc>
                  <a:txBody>
                    <a:bodyPr/>
                    <a:lstStyle/>
                    <a:p>
                      <a:pPr algn="ctr"/>
                      <a:endParaRPr lang="en-US" sz="800"/>
                    </a:p>
                  </a:txBody>
                  <a:tcPr/>
                </a:tc>
                <a:extLst>
                  <a:ext uri="{0D108BD9-81ED-4DB2-BD59-A6C34878D82A}">
                    <a16:rowId xmlns:a16="http://schemas.microsoft.com/office/drawing/2014/main" val="1089852517"/>
                  </a:ext>
                </a:extLst>
              </a:tr>
              <a:tr h="242469">
                <a:tc>
                  <a:txBody>
                    <a:bodyPr/>
                    <a:lstStyle/>
                    <a:p>
                      <a:pPr algn="ctr"/>
                      <a:r>
                        <a:rPr lang="en-US" sz="800" b="1">
                          <a:solidFill>
                            <a:schemeClr val="tx1"/>
                          </a:solidFill>
                        </a:rPr>
                        <a:t>Enumuration</a:t>
                      </a:r>
                      <a:endParaRPr lang="en-US" sz="800">
                        <a:solidFill>
                          <a:schemeClr val="tx1"/>
                        </a:solidFill>
                      </a:endParaRPr>
                    </a:p>
                  </a:txBody>
                  <a:tcPr/>
                </a:tc>
                <a:tc>
                  <a:txBody>
                    <a:bodyPr/>
                    <a:lstStyle/>
                    <a:p>
                      <a:pPr algn="ctr"/>
                      <a:r>
                        <a:rPr lang="en-US" sz="800"/>
                        <a:t>63.05 </a:t>
                      </a:r>
                    </a:p>
                  </a:txBody>
                  <a:tcPr/>
                </a:tc>
                <a:tc>
                  <a:txBody>
                    <a:bodyPr/>
                    <a:lstStyle/>
                    <a:p>
                      <a:pPr algn="ctr"/>
                      <a:r>
                        <a:rPr lang="fr-FR" sz="800"/>
                        <a:t>6</a:t>
                      </a:r>
                      <a:r>
                        <a:rPr lang="en-US" sz="800"/>
                        <a:t> </a:t>
                      </a:r>
                    </a:p>
                  </a:txBody>
                  <a:tcPr/>
                </a:tc>
                <a:tc>
                  <a:txBody>
                    <a:bodyPr/>
                    <a:lstStyle/>
                    <a:p>
                      <a:pPr algn="ctr"/>
                      <a:r>
                        <a:rPr lang="fr-FR" sz="800" b="1">
                          <a:solidFill>
                            <a:srgbClr val="FF0000"/>
                          </a:solidFill>
                        </a:rPr>
                        <a:t>+950%</a:t>
                      </a:r>
                      <a:endParaRPr lang="en-US" sz="800" b="1">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600" b="0">
                          <a:solidFill>
                            <a:schemeClr val="accent1"/>
                          </a:solidFill>
                        </a:rPr>
                        <a:t>USBX UX_DEVICE_ADDRESS_SET_WAIT ( 50 </a:t>
                      </a:r>
                      <a:r>
                        <a:rPr lang="en-US" altLang="en-US" sz="600" b="0" err="1">
                          <a:solidFill>
                            <a:schemeClr val="accent1"/>
                          </a:solidFill>
                        </a:rPr>
                        <a:t>ms</a:t>
                      </a:r>
                      <a:r>
                        <a:rPr lang="en-US" altLang="en-US" sz="600" b="0">
                          <a:solidFill>
                            <a:schemeClr val="accent1"/>
                          </a:solidFill>
                        </a:rPr>
                        <a:t>) </a:t>
                      </a:r>
                      <a:endParaRPr lang="en-US" sz="600" b="0"/>
                    </a:p>
                  </a:txBody>
                  <a:tcPr/>
                </a:tc>
                <a:extLst>
                  <a:ext uri="{0D108BD9-81ED-4DB2-BD59-A6C34878D82A}">
                    <a16:rowId xmlns:a16="http://schemas.microsoft.com/office/drawing/2014/main" val="2065877290"/>
                  </a:ext>
                </a:extLst>
              </a:tr>
            </a:tbl>
          </a:graphicData>
        </a:graphic>
      </p:graphicFrame>
      <p:sp>
        <p:nvSpPr>
          <p:cNvPr id="133" name="TextBox 132">
            <a:extLst>
              <a:ext uri="{FF2B5EF4-FFF2-40B4-BE49-F238E27FC236}">
                <a16:creationId xmlns:a16="http://schemas.microsoft.com/office/drawing/2014/main" id="{429C7CFD-21DB-BA5B-E365-0156EAB64BE4}"/>
              </a:ext>
            </a:extLst>
          </p:cNvPr>
          <p:cNvSpPr txBox="1"/>
          <p:nvPr/>
        </p:nvSpPr>
        <p:spPr>
          <a:xfrm>
            <a:off x="5157688" y="1003934"/>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Execution time (</a:t>
            </a:r>
            <a:r>
              <a:rPr lang="en-US" sz="1000" b="1" err="1">
                <a:solidFill>
                  <a:schemeClr val="accent2"/>
                </a:solidFill>
              </a:rPr>
              <a:t>ms</a:t>
            </a:r>
            <a:r>
              <a:rPr lang="en-US" sz="1000" b="1">
                <a:solidFill>
                  <a:schemeClr val="accent2"/>
                </a:solidFill>
              </a:rPr>
              <a:t>)</a:t>
            </a:r>
          </a:p>
        </p:txBody>
      </p:sp>
      <p:graphicFrame>
        <p:nvGraphicFramePr>
          <p:cNvPr id="134" name="Table 133">
            <a:extLst>
              <a:ext uri="{FF2B5EF4-FFF2-40B4-BE49-F238E27FC236}">
                <a16:creationId xmlns:a16="http://schemas.microsoft.com/office/drawing/2014/main" id="{59F797B1-6DA1-D753-CB10-1F11A36A59F4}"/>
              </a:ext>
            </a:extLst>
          </p:cNvPr>
          <p:cNvGraphicFramePr>
            <a:graphicFrameLocks noGrp="1"/>
          </p:cNvGraphicFramePr>
          <p:nvPr>
            <p:extLst>
              <p:ext uri="{D42A27DB-BD31-4B8C-83A1-F6EECF244321}">
                <p14:modId xmlns:p14="http://schemas.microsoft.com/office/powerpoint/2010/main" val="3438764615"/>
              </p:ext>
            </p:extLst>
          </p:nvPr>
        </p:nvGraphicFramePr>
        <p:xfrm>
          <a:off x="5210600" y="5190506"/>
          <a:ext cx="6749752" cy="1212345"/>
        </p:xfrm>
        <a:graphic>
          <a:graphicData uri="http://schemas.openxmlformats.org/drawingml/2006/table">
            <a:tbl>
              <a:tblPr firstRow="1" bandRow="1">
                <a:tableStyleId>{EB344D84-9AFB-497E-A393-DC336BA19D2E}</a:tableStyleId>
              </a:tblPr>
              <a:tblGrid>
                <a:gridCol w="810436">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3218453">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RO code</a:t>
                      </a:r>
                      <a:endParaRPr lang="en-US" sz="8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69,8</a:t>
                      </a:r>
                    </a:p>
                  </a:txBody>
                  <a:tcPr/>
                </a:tc>
                <a:tc>
                  <a:txBody>
                    <a:bodyPr/>
                    <a:lstStyle/>
                    <a:p>
                      <a:pPr algn="ctr"/>
                      <a:r>
                        <a:rPr lang="en-US" sz="800">
                          <a:highlight>
                            <a:srgbClr val="FFFF00"/>
                          </a:highlight>
                        </a:rPr>
                        <a:t>70 174</a:t>
                      </a:r>
                    </a:p>
                  </a:txBody>
                  <a:tcPr/>
                </a:tc>
                <a:tc>
                  <a:txBody>
                    <a:bodyPr/>
                    <a:lstStyle/>
                    <a:p>
                      <a:pPr algn="ctr"/>
                      <a:r>
                        <a:rPr lang="en-US" sz="800" b="1">
                          <a:solidFill>
                            <a:schemeClr val="accent5"/>
                          </a:solidFill>
                          <a:highlight>
                            <a:srgbClr val="FFFF00"/>
                          </a:highlight>
                        </a:rPr>
                        <a:t>-0.53%</a:t>
                      </a:r>
                    </a:p>
                  </a:txBody>
                  <a:tcPr/>
                </a:tc>
                <a:tc>
                  <a:txBody>
                    <a:bodyPr/>
                    <a:lstStyle/>
                    <a:p>
                      <a:pPr algn="ctr"/>
                      <a:r>
                        <a:rPr lang="fr-FR" sz="800" err="1"/>
                        <a:t>Allmost</a:t>
                      </a:r>
                      <a:r>
                        <a:rPr lang="fr-FR" sz="800"/>
                        <a:t> </a:t>
                      </a:r>
                      <a:r>
                        <a:rPr lang="fr-FR" sz="800" err="1"/>
                        <a:t>equal</a:t>
                      </a:r>
                      <a:endParaRPr lang="en-US" sz="800"/>
                    </a:p>
                  </a:txBody>
                  <a:tcPr/>
                </a:tc>
                <a:extLst>
                  <a:ext uri="{0D108BD9-81ED-4DB2-BD59-A6C34878D82A}">
                    <a16:rowId xmlns:a16="http://schemas.microsoft.com/office/drawing/2014/main" val="1089852517"/>
                  </a:ext>
                </a:extLst>
              </a:tr>
              <a:tr h="242469">
                <a:tc>
                  <a:txBody>
                    <a:bodyPr/>
                    <a:lstStyle/>
                    <a:p>
                      <a:pPr algn="ctr"/>
                      <a:r>
                        <a:rPr lang="en-US" sz="800" b="1">
                          <a:solidFill>
                            <a:schemeClr val="tx1"/>
                          </a:solidFill>
                        </a:rPr>
                        <a:t>RO Data</a:t>
                      </a:r>
                      <a:endParaRPr lang="en-US" sz="80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674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highlight>
                            <a:srgbClr val="FFFF00"/>
                          </a:highlight>
                        </a:rPr>
                        <a:t>62,54</a:t>
                      </a:r>
                    </a:p>
                  </a:txBody>
                  <a:tcPr/>
                </a:tc>
                <a:tc>
                  <a:txBody>
                    <a:bodyPr/>
                    <a:lstStyle/>
                    <a:p>
                      <a:pPr algn="ctr"/>
                      <a:r>
                        <a:rPr lang="en-US" sz="800" b="1">
                          <a:solidFill>
                            <a:schemeClr val="accent5"/>
                          </a:solidFill>
                          <a:highlight>
                            <a:srgbClr val="FFFF00"/>
                          </a:highlight>
                        </a:rPr>
                        <a:t>-98.92%</a:t>
                      </a:r>
                    </a:p>
                  </a:txBody>
                  <a:tcPr/>
                </a:tc>
                <a:tc>
                  <a:txBody>
                    <a:bodyPr/>
                    <a:lstStyle/>
                    <a:p>
                      <a:pPr algn="l"/>
                      <a:endParaRPr lang="en-US" sz="800" b="1">
                        <a:highlight>
                          <a:srgbClr val="FFFF00"/>
                        </a:highlight>
                      </a:endParaRPr>
                    </a:p>
                  </a:txBody>
                  <a:tcPr/>
                </a:tc>
                <a:extLst>
                  <a:ext uri="{0D108BD9-81ED-4DB2-BD59-A6C34878D82A}">
                    <a16:rowId xmlns:a16="http://schemas.microsoft.com/office/drawing/2014/main" val="2065877290"/>
                  </a:ext>
                </a:extLst>
              </a:tr>
              <a:tr h="242469">
                <a:tc>
                  <a:txBody>
                    <a:bodyPr/>
                    <a:lstStyle/>
                    <a:p>
                      <a:pPr algn="ctr"/>
                      <a:r>
                        <a:rPr lang="en-US" sz="800" b="1">
                          <a:solidFill>
                            <a:schemeClr val="tx1"/>
                          </a:solidFill>
                        </a:rPr>
                        <a:t>RW Data</a:t>
                      </a:r>
                      <a:endParaRPr lang="en-US" sz="80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algn="ctr"/>
                      <a:r>
                        <a:rPr lang="en-US" sz="800"/>
                        <a:t>69,2</a:t>
                      </a:r>
                    </a:p>
                  </a:txBody>
                  <a:tcPr>
                    <a:lnB w="12700" cap="flat" cmpd="sng" algn="ctr">
                      <a:solidFill>
                        <a:schemeClr val="tx1"/>
                      </a:solidFill>
                      <a:prstDash val="solid"/>
                      <a:round/>
                      <a:headEnd type="none" w="med" len="med"/>
                      <a:tailEnd type="none" w="med" len="med"/>
                    </a:lnB>
                  </a:tcPr>
                </a:tc>
                <a:tc>
                  <a:txBody>
                    <a:bodyPr/>
                    <a:lstStyle/>
                    <a:p>
                      <a:pPr algn="ctr"/>
                      <a:r>
                        <a:rPr lang="en-US" sz="800">
                          <a:highlight>
                            <a:srgbClr val="FFFF00"/>
                          </a:highlight>
                        </a:rPr>
                        <a:t>121,25</a:t>
                      </a:r>
                    </a:p>
                  </a:txBody>
                  <a:tcPr>
                    <a:lnB w="12700" cap="flat" cmpd="sng" algn="ctr">
                      <a:solidFill>
                        <a:schemeClr val="tx1"/>
                      </a:solidFill>
                      <a:prstDash val="solid"/>
                      <a:round/>
                      <a:headEnd type="none" w="med" len="med"/>
                      <a:tailEnd type="none" w="med" len="med"/>
                    </a:lnB>
                  </a:tcPr>
                </a:tc>
                <a:tc>
                  <a:txBody>
                    <a:bodyPr/>
                    <a:lstStyle/>
                    <a:p>
                      <a:pPr algn="ctr"/>
                      <a:r>
                        <a:rPr lang="en-US" sz="800" b="1">
                          <a:solidFill>
                            <a:schemeClr val="accent5"/>
                          </a:solidFill>
                          <a:highlight>
                            <a:srgbClr val="FFFF00"/>
                          </a:highlight>
                        </a:rPr>
                        <a:t>-42.93%</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highlight>
                          <a:srgbClr val="FFFF00"/>
                        </a:highlight>
                      </a:endParaRP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506885"/>
                  </a:ext>
                </a:extLst>
              </a:tr>
              <a:tr h="242469">
                <a:tc>
                  <a:txBody>
                    <a:bodyPr/>
                    <a:lstStyle/>
                    <a:p>
                      <a:pPr algn="ctr"/>
                      <a:r>
                        <a:rPr lang="en-US" sz="800" b="1">
                          <a:solidFill>
                            <a:schemeClr val="tx1"/>
                          </a:solidFill>
                        </a:rPr>
                        <a:t>Total</a:t>
                      </a:r>
                      <a:endParaRPr lang="en-US" sz="80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b="1"/>
                        <a:t>139,67</a:t>
                      </a:r>
                      <a:endParaRPr lang="en-US" sz="800" b="1"/>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fr-FR" sz="800" b="1">
                          <a:highlight>
                            <a:srgbClr val="FFFF00"/>
                          </a:highlight>
                        </a:rPr>
                        <a:t>253,964</a:t>
                      </a:r>
                      <a:endParaRPr lang="en-US" sz="800" b="1">
                        <a:highlight>
                          <a:srgbClr val="FFFF00"/>
                        </a:highlight>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800" b="1">
                          <a:solidFill>
                            <a:srgbClr val="00B050"/>
                          </a:solidFill>
                          <a:highlight>
                            <a:srgbClr val="FFFF00"/>
                          </a:highlight>
                        </a:rPr>
                        <a:t>-45%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80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1594885"/>
                  </a:ext>
                </a:extLst>
              </a:tr>
            </a:tbl>
          </a:graphicData>
        </a:graphic>
      </p:graphicFrame>
      <p:sp>
        <p:nvSpPr>
          <p:cNvPr id="135" name="TextBox 134">
            <a:extLst>
              <a:ext uri="{FF2B5EF4-FFF2-40B4-BE49-F238E27FC236}">
                <a16:creationId xmlns:a16="http://schemas.microsoft.com/office/drawing/2014/main" id="{544FC9B7-1B84-BFA8-0092-EFB0AC16AF62}"/>
              </a:ext>
            </a:extLst>
          </p:cNvPr>
          <p:cNvSpPr txBox="1"/>
          <p:nvPr/>
        </p:nvSpPr>
        <p:spPr>
          <a:xfrm>
            <a:off x="5210600" y="4890492"/>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b="1">
                <a:solidFill>
                  <a:schemeClr val="accent2"/>
                </a:solidFill>
              </a:rPr>
              <a:t>Footprint (Bytes)</a:t>
            </a:r>
          </a:p>
        </p:txBody>
      </p:sp>
      <p:graphicFrame>
        <p:nvGraphicFramePr>
          <p:cNvPr id="137" name="Table 136">
            <a:extLst>
              <a:ext uri="{FF2B5EF4-FFF2-40B4-BE49-F238E27FC236}">
                <a16:creationId xmlns:a16="http://schemas.microsoft.com/office/drawing/2014/main" id="{C15C630C-D88F-2FF4-CBE7-F9D568493B8C}"/>
              </a:ext>
            </a:extLst>
          </p:cNvPr>
          <p:cNvGraphicFramePr>
            <a:graphicFrameLocks noGrp="1"/>
          </p:cNvGraphicFramePr>
          <p:nvPr>
            <p:extLst>
              <p:ext uri="{D42A27DB-BD31-4B8C-83A1-F6EECF244321}">
                <p14:modId xmlns:p14="http://schemas.microsoft.com/office/powerpoint/2010/main" val="1798039232"/>
              </p:ext>
            </p:extLst>
          </p:nvPr>
        </p:nvGraphicFramePr>
        <p:xfrm>
          <a:off x="5216236" y="2481312"/>
          <a:ext cx="4816855" cy="727407"/>
        </p:xfrm>
        <a:graphic>
          <a:graphicData uri="http://schemas.openxmlformats.org/drawingml/2006/table">
            <a:tbl>
              <a:tblPr firstRow="1" bandRow="1">
                <a:tableStyleId>{EB344D84-9AFB-497E-A393-DC336BA19D2E}</a:tableStyleId>
              </a:tblPr>
              <a:tblGrid>
                <a:gridCol w="810436">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1285556">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Write</a:t>
                      </a:r>
                      <a:endParaRPr lang="en-US" sz="800">
                        <a:solidFill>
                          <a:schemeClr val="tx1"/>
                        </a:solidFill>
                      </a:endParaRPr>
                    </a:p>
                  </a:txBody>
                  <a:tcPr/>
                </a:tc>
                <a:tc>
                  <a:txBody>
                    <a:bodyPr/>
                    <a:lstStyle/>
                    <a:p>
                      <a:pPr algn="ctr"/>
                      <a:r>
                        <a:rPr lang="fr-FR" sz="800"/>
                        <a:t>0.2</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0.3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800" b="1">
                          <a:solidFill>
                            <a:srgbClr val="FF0000"/>
                          </a:solidFill>
                        </a:rPr>
                        <a:t>-33% *</a:t>
                      </a:r>
                      <a:endParaRPr lang="en-US" sz="800" b="1">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tc>
                <a:extLst>
                  <a:ext uri="{0D108BD9-81ED-4DB2-BD59-A6C34878D82A}">
                    <a16:rowId xmlns:a16="http://schemas.microsoft.com/office/drawing/2014/main" val="3217506885"/>
                  </a:ext>
                </a:extLst>
              </a:tr>
              <a:tr h="242469">
                <a:tc>
                  <a:txBody>
                    <a:bodyPr/>
                    <a:lstStyle/>
                    <a:p>
                      <a:pPr algn="ctr"/>
                      <a:r>
                        <a:rPr lang="en-US" sz="800" b="1">
                          <a:solidFill>
                            <a:schemeClr val="tx1"/>
                          </a:solidFill>
                        </a:rPr>
                        <a:t>Read</a:t>
                      </a:r>
                      <a:endParaRPr lang="en-US" sz="800">
                        <a:solidFill>
                          <a:schemeClr val="tx1"/>
                        </a:solidFill>
                      </a:endParaRPr>
                    </a:p>
                  </a:txBody>
                  <a:tcPr/>
                </a:tc>
                <a:tc>
                  <a:txBody>
                    <a:bodyPr/>
                    <a:lstStyle/>
                    <a:p>
                      <a:pPr algn="ctr"/>
                      <a:r>
                        <a:rPr lang="en-US" sz="800"/>
                        <a:t>0.25 </a:t>
                      </a:r>
                    </a:p>
                  </a:txBody>
                  <a:tcPr/>
                </a:tc>
                <a:tc>
                  <a:txBody>
                    <a:bodyPr/>
                    <a:lstStyle/>
                    <a:p>
                      <a:pPr algn="ctr"/>
                      <a:r>
                        <a:rPr lang="fr-FR" sz="800"/>
                        <a:t>0.55</a:t>
                      </a:r>
                      <a:endParaRPr lang="en-US" sz="800"/>
                    </a:p>
                  </a:txBody>
                  <a:tcPr/>
                </a:tc>
                <a:tc>
                  <a:txBody>
                    <a:bodyPr/>
                    <a:lstStyle/>
                    <a:p>
                      <a:pPr algn="ctr"/>
                      <a:r>
                        <a:rPr lang="fr-FR" sz="800" b="1">
                          <a:solidFill>
                            <a:srgbClr val="FF0000"/>
                          </a:solidFill>
                        </a:rPr>
                        <a:t>-63.63% *</a:t>
                      </a:r>
                      <a:endParaRPr lang="en-US" sz="800" b="1">
                        <a:solidFill>
                          <a:srgbClr val="FF0000"/>
                        </a:solidFill>
                      </a:endParaRPr>
                    </a:p>
                  </a:txBody>
                  <a:tcPr/>
                </a:tc>
                <a:tc>
                  <a:txBody>
                    <a:bodyPr/>
                    <a:lstStyle/>
                    <a:p>
                      <a:pPr algn="l"/>
                      <a:endParaRPr lang="en-US" sz="800"/>
                    </a:p>
                  </a:txBody>
                  <a:tcPr/>
                </a:tc>
                <a:extLst>
                  <a:ext uri="{0D108BD9-81ED-4DB2-BD59-A6C34878D82A}">
                    <a16:rowId xmlns:a16="http://schemas.microsoft.com/office/drawing/2014/main" val="3731594885"/>
                  </a:ext>
                </a:extLst>
              </a:tr>
            </a:tbl>
          </a:graphicData>
        </a:graphic>
      </p:graphicFrame>
      <p:sp>
        <p:nvSpPr>
          <p:cNvPr id="138" name="TextBox 137">
            <a:extLst>
              <a:ext uri="{FF2B5EF4-FFF2-40B4-BE49-F238E27FC236}">
                <a16:creationId xmlns:a16="http://schemas.microsoft.com/office/drawing/2014/main" id="{50B973B0-9BD3-559C-56CC-3F13EFF75A97}"/>
              </a:ext>
            </a:extLst>
          </p:cNvPr>
          <p:cNvSpPr txBox="1"/>
          <p:nvPr/>
        </p:nvSpPr>
        <p:spPr>
          <a:xfrm>
            <a:off x="5157687" y="2197550"/>
            <a:ext cx="190804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fr-FR" sz="1000" b="1" err="1">
                <a:solidFill>
                  <a:schemeClr val="accent2"/>
                </a:solidFill>
              </a:rPr>
              <a:t>Throughput</a:t>
            </a:r>
            <a:r>
              <a:rPr lang="fr-FR" sz="1000" b="1">
                <a:solidFill>
                  <a:schemeClr val="accent2"/>
                </a:solidFill>
              </a:rPr>
              <a:t> (MB/s)</a:t>
            </a:r>
            <a:endParaRPr lang="en-US" sz="1000" b="1">
              <a:solidFill>
                <a:schemeClr val="accent2"/>
              </a:solidFill>
            </a:endParaRPr>
          </a:p>
        </p:txBody>
      </p:sp>
      <p:cxnSp>
        <p:nvCxnSpPr>
          <p:cNvPr id="142" name="Straight Connector 141">
            <a:extLst>
              <a:ext uri="{FF2B5EF4-FFF2-40B4-BE49-F238E27FC236}">
                <a16:creationId xmlns:a16="http://schemas.microsoft.com/office/drawing/2014/main" id="{9F05EAA2-5464-9344-318E-72A30B2B6FF5}"/>
              </a:ext>
            </a:extLst>
          </p:cNvPr>
          <p:cNvCxnSpPr>
            <a:cxnSpLocks/>
          </p:cNvCxnSpPr>
          <p:nvPr/>
        </p:nvCxnSpPr>
        <p:spPr>
          <a:xfrm flipH="1" flipV="1">
            <a:off x="5113138" y="1025134"/>
            <a:ext cx="13133" cy="5613687"/>
          </a:xfrm>
          <a:prstGeom prst="line">
            <a:avLst/>
          </a:prstGeom>
          <a:ln w="28575">
            <a:solidFill>
              <a:schemeClr val="accent1">
                <a:lumMod val="50000"/>
                <a:lumOff val="50000"/>
              </a:schemeClr>
            </a:solidFill>
            <a:headEnd type="none" w="lg" len="lg"/>
            <a:tailEnd type="none" w="lg" len="lg"/>
          </a:ln>
        </p:spPr>
        <p:style>
          <a:lnRef idx="1">
            <a:schemeClr val="accent3"/>
          </a:lnRef>
          <a:fillRef idx="0">
            <a:schemeClr val="accent3"/>
          </a:fillRef>
          <a:effectRef idx="0">
            <a:schemeClr val="accent3"/>
          </a:effectRef>
          <a:fontRef idx="minor">
            <a:schemeClr val="tx1"/>
          </a:fontRef>
        </p:style>
      </p:cxnSp>
      <p:graphicFrame>
        <p:nvGraphicFramePr>
          <p:cNvPr id="144" name="Table 143">
            <a:extLst>
              <a:ext uri="{FF2B5EF4-FFF2-40B4-BE49-F238E27FC236}">
                <a16:creationId xmlns:a16="http://schemas.microsoft.com/office/drawing/2014/main" id="{0290179D-B1AF-BC2E-812C-E1A168C66064}"/>
              </a:ext>
            </a:extLst>
          </p:cNvPr>
          <p:cNvGraphicFramePr>
            <a:graphicFrameLocks noGrp="1"/>
          </p:cNvGraphicFramePr>
          <p:nvPr>
            <p:extLst>
              <p:ext uri="{D42A27DB-BD31-4B8C-83A1-F6EECF244321}">
                <p14:modId xmlns:p14="http://schemas.microsoft.com/office/powerpoint/2010/main" val="4021304808"/>
              </p:ext>
            </p:extLst>
          </p:nvPr>
        </p:nvGraphicFramePr>
        <p:xfrm>
          <a:off x="5210600" y="3623453"/>
          <a:ext cx="4816855" cy="727407"/>
        </p:xfrm>
        <a:graphic>
          <a:graphicData uri="http://schemas.openxmlformats.org/drawingml/2006/table">
            <a:tbl>
              <a:tblPr firstRow="1" bandRow="1">
                <a:tableStyleId>{EB344D84-9AFB-497E-A393-DC336BA19D2E}</a:tableStyleId>
              </a:tblPr>
              <a:tblGrid>
                <a:gridCol w="810436">
                  <a:extLst>
                    <a:ext uri="{9D8B030D-6E8A-4147-A177-3AD203B41FA5}">
                      <a16:colId xmlns:a16="http://schemas.microsoft.com/office/drawing/2014/main" val="1473133747"/>
                    </a:ext>
                  </a:extLst>
                </a:gridCol>
                <a:gridCol w="1116306">
                  <a:extLst>
                    <a:ext uri="{9D8B030D-6E8A-4147-A177-3AD203B41FA5}">
                      <a16:colId xmlns:a16="http://schemas.microsoft.com/office/drawing/2014/main" val="4162598800"/>
                    </a:ext>
                  </a:extLst>
                </a:gridCol>
                <a:gridCol w="963371">
                  <a:extLst>
                    <a:ext uri="{9D8B030D-6E8A-4147-A177-3AD203B41FA5}">
                      <a16:colId xmlns:a16="http://schemas.microsoft.com/office/drawing/2014/main" val="1196173778"/>
                    </a:ext>
                  </a:extLst>
                </a:gridCol>
                <a:gridCol w="641186">
                  <a:extLst>
                    <a:ext uri="{9D8B030D-6E8A-4147-A177-3AD203B41FA5}">
                      <a16:colId xmlns:a16="http://schemas.microsoft.com/office/drawing/2014/main" val="2713348666"/>
                    </a:ext>
                  </a:extLst>
                </a:gridCol>
                <a:gridCol w="1285556">
                  <a:extLst>
                    <a:ext uri="{9D8B030D-6E8A-4147-A177-3AD203B41FA5}">
                      <a16:colId xmlns:a16="http://schemas.microsoft.com/office/drawing/2014/main" val="4253733116"/>
                    </a:ext>
                  </a:extLst>
                </a:gridCol>
              </a:tblGrid>
              <a:tr h="242469">
                <a:tc>
                  <a:txBody>
                    <a:bodyPr/>
                    <a:lstStyle/>
                    <a:p>
                      <a:pPr algn="ct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t>STM32H573xx</a:t>
                      </a:r>
                    </a:p>
                  </a:txBody>
                  <a:tcPr/>
                </a:tc>
                <a:tc>
                  <a:txBody>
                    <a:bodyPr/>
                    <a:lstStyle/>
                    <a:p>
                      <a:pPr algn="ctr"/>
                      <a:r>
                        <a:rPr lang="en-US" sz="800"/>
                        <a:t>RA6M5</a:t>
                      </a:r>
                    </a:p>
                  </a:txBody>
                  <a:tcPr/>
                </a:tc>
                <a:tc>
                  <a:txBody>
                    <a:bodyPr/>
                    <a:lstStyle/>
                    <a:p>
                      <a:pPr algn="ctr"/>
                      <a:r>
                        <a:rPr lang="en-US" sz="800"/>
                        <a:t>ST vs RA</a:t>
                      </a:r>
                    </a:p>
                  </a:txBody>
                  <a:tcPr/>
                </a:tc>
                <a:tc>
                  <a:txBody>
                    <a:bodyPr/>
                    <a:lstStyle/>
                    <a:p>
                      <a:pPr algn="ctr"/>
                      <a:r>
                        <a:rPr lang="en-US" sz="800"/>
                        <a:t>Comment</a:t>
                      </a:r>
                    </a:p>
                  </a:txBody>
                  <a:tcPr/>
                </a:tc>
                <a:extLst>
                  <a:ext uri="{0D108BD9-81ED-4DB2-BD59-A6C34878D82A}">
                    <a16:rowId xmlns:a16="http://schemas.microsoft.com/office/drawing/2014/main" val="797373398"/>
                  </a:ext>
                </a:extLst>
              </a:tr>
              <a:tr h="242469">
                <a:tc>
                  <a:txBody>
                    <a:bodyPr/>
                    <a:lstStyle/>
                    <a:p>
                      <a:pPr algn="ctr"/>
                      <a:r>
                        <a:rPr lang="en-US" sz="800" b="1">
                          <a:solidFill>
                            <a:schemeClr val="tx1"/>
                          </a:solidFill>
                        </a:rPr>
                        <a:t>Write</a:t>
                      </a:r>
                      <a:endParaRPr lang="en-US" sz="800">
                        <a:solidFill>
                          <a:schemeClr val="tx1"/>
                        </a:solidFill>
                      </a:endParaRPr>
                    </a:p>
                  </a:txBody>
                  <a:tcPr/>
                </a:tc>
                <a:tc>
                  <a:txBody>
                    <a:bodyPr/>
                    <a:lstStyle/>
                    <a:p>
                      <a:pPr algn="ctr"/>
                      <a:r>
                        <a:rPr lang="fr-FR" sz="800"/>
                        <a:t>0.3 </a:t>
                      </a:r>
                      <a:endParaRPr lang="en-US" sz="8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0.3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solidFill>
                            <a:srgbClr val="00B050"/>
                          </a:solidFill>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p>
                  </a:txBody>
                  <a:tcPr/>
                </a:tc>
                <a:extLst>
                  <a:ext uri="{0D108BD9-81ED-4DB2-BD59-A6C34878D82A}">
                    <a16:rowId xmlns:a16="http://schemas.microsoft.com/office/drawing/2014/main" val="3217506885"/>
                  </a:ext>
                </a:extLst>
              </a:tr>
              <a:tr h="242469">
                <a:tc>
                  <a:txBody>
                    <a:bodyPr/>
                    <a:lstStyle/>
                    <a:p>
                      <a:pPr algn="ctr"/>
                      <a:r>
                        <a:rPr lang="en-US" sz="800" b="1">
                          <a:solidFill>
                            <a:schemeClr val="tx1"/>
                          </a:solidFill>
                        </a:rPr>
                        <a:t>Read</a:t>
                      </a:r>
                      <a:endParaRPr lang="en-US" sz="800">
                        <a:solidFill>
                          <a:schemeClr val="tx1"/>
                        </a:solidFill>
                      </a:endParaRPr>
                    </a:p>
                  </a:txBody>
                  <a:tcPr/>
                </a:tc>
                <a:tc>
                  <a:txBody>
                    <a:bodyPr/>
                    <a:lstStyle/>
                    <a:p>
                      <a:pPr algn="ctr"/>
                      <a:r>
                        <a:rPr lang="en-US" sz="800"/>
                        <a:t>0.63 </a:t>
                      </a:r>
                    </a:p>
                  </a:txBody>
                  <a:tcPr/>
                </a:tc>
                <a:tc>
                  <a:txBody>
                    <a:bodyPr/>
                    <a:lstStyle/>
                    <a:p>
                      <a:pPr algn="ctr"/>
                      <a:r>
                        <a:rPr lang="fr-FR" sz="800"/>
                        <a:t>0.55</a:t>
                      </a:r>
                      <a:endParaRPr lang="en-US" sz="800"/>
                    </a:p>
                  </a:txBody>
                  <a:tcPr/>
                </a:tc>
                <a:tc>
                  <a:txBody>
                    <a:bodyPr/>
                    <a:lstStyle/>
                    <a:p>
                      <a:pPr algn="ctr"/>
                      <a:r>
                        <a:rPr lang="fr-FR" sz="800" b="1">
                          <a:solidFill>
                            <a:srgbClr val="00B050"/>
                          </a:solidFill>
                        </a:rPr>
                        <a:t>+14.5% *</a:t>
                      </a:r>
                      <a:endParaRPr lang="en-US" sz="800" b="1">
                        <a:solidFill>
                          <a:srgbClr val="00B050"/>
                        </a:solidFill>
                      </a:endParaRPr>
                    </a:p>
                  </a:txBody>
                  <a:tcPr/>
                </a:tc>
                <a:tc>
                  <a:txBody>
                    <a:bodyPr/>
                    <a:lstStyle/>
                    <a:p>
                      <a:pPr algn="l"/>
                      <a:endParaRPr lang="en-US" sz="800"/>
                    </a:p>
                  </a:txBody>
                  <a:tcPr/>
                </a:tc>
                <a:extLst>
                  <a:ext uri="{0D108BD9-81ED-4DB2-BD59-A6C34878D82A}">
                    <a16:rowId xmlns:a16="http://schemas.microsoft.com/office/drawing/2014/main" val="3731594885"/>
                  </a:ext>
                </a:extLst>
              </a:tr>
            </a:tbl>
          </a:graphicData>
        </a:graphic>
      </p:graphicFrame>
      <p:pic>
        <p:nvPicPr>
          <p:cNvPr id="139" name="Picture 2">
            <a:extLst>
              <a:ext uri="{FF2B5EF4-FFF2-40B4-BE49-F238E27FC236}">
                <a16:creationId xmlns:a16="http://schemas.microsoft.com/office/drawing/2014/main" id="{A773532A-8390-3BBF-BD35-FB484C4ED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3835" y="3426094"/>
            <a:ext cx="3168165" cy="1568015"/>
          </a:xfrm>
          <a:prstGeom prst="rect">
            <a:avLst/>
          </a:prstGeom>
          <a:noFill/>
          <a:extLst>
            <a:ext uri="{909E8E84-426E-40DD-AFC4-6F175D3DCCD1}">
              <a14:hiddenFill xmlns:a14="http://schemas.microsoft.com/office/drawing/2010/main">
                <a:solidFill>
                  <a:srgbClr val="FFFFFF"/>
                </a:solidFill>
              </a14:hiddenFill>
            </a:ext>
          </a:extLst>
        </p:spPr>
      </p:pic>
      <p:sp>
        <p:nvSpPr>
          <p:cNvPr id="145" name="TextBox 144">
            <a:extLst>
              <a:ext uri="{FF2B5EF4-FFF2-40B4-BE49-F238E27FC236}">
                <a16:creationId xmlns:a16="http://schemas.microsoft.com/office/drawing/2014/main" id="{D57047BB-72B7-5C20-1882-481B1D620DDE}"/>
              </a:ext>
            </a:extLst>
          </p:cNvPr>
          <p:cNvSpPr txBox="1"/>
          <p:nvPr/>
        </p:nvSpPr>
        <p:spPr>
          <a:xfrm>
            <a:off x="5119238" y="3208719"/>
            <a:ext cx="6975093" cy="369332"/>
          </a:xfrm>
          <a:prstGeom prst="rect">
            <a:avLst/>
          </a:prstGeom>
          <a:noFill/>
        </p:spPr>
        <p:txBody>
          <a:bodyPr wrap="square">
            <a:spAutoFit/>
          </a:bodyPr>
          <a:lstStyle/>
          <a:p>
            <a:r>
              <a:rPr lang="fr-FR" sz="900" b="1" err="1">
                <a:solidFill>
                  <a:srgbClr val="00B050"/>
                </a:solidFill>
              </a:rPr>
              <a:t>Throughput</a:t>
            </a:r>
            <a:r>
              <a:rPr lang="fr-FR" sz="900" b="1">
                <a:solidFill>
                  <a:srgbClr val="00B050"/>
                </a:solidFill>
              </a:rPr>
              <a:t> (MB/s) w/ </a:t>
            </a:r>
            <a:r>
              <a:rPr lang="en-US" sz="900" b="1">
                <a:solidFill>
                  <a:srgbClr val="00B050"/>
                </a:solidFill>
              </a:rPr>
              <a:t>stm32h5xx_hal_hcd.c / </a:t>
            </a:r>
            <a:r>
              <a:rPr lang="en-US" sz="900" b="1" err="1">
                <a:solidFill>
                  <a:srgbClr val="00B050"/>
                </a:solidFill>
              </a:rPr>
              <a:t>HCD_HC_IN_IRQHandler</a:t>
            </a:r>
            <a:r>
              <a:rPr lang="en-US" sz="900" b="1">
                <a:solidFill>
                  <a:srgbClr val="00B050"/>
                </a:solidFill>
              </a:rPr>
              <a:t>() static function enhancement request submitted </a:t>
            </a:r>
          </a:p>
          <a:p>
            <a:r>
              <a:rPr lang="en-US" sz="900" b="1">
                <a:solidFill>
                  <a:srgbClr val="00B0F0"/>
                </a:solidFill>
                <a:hlinkClick r:id="rId4">
                  <a:extLst>
                    <a:ext uri="{A12FA001-AC4F-418D-AE19-62706E023703}">
                      <ahyp:hlinkClr xmlns:ahyp="http://schemas.microsoft.com/office/drawing/2018/hyperlinkcolor" val="tx"/>
                    </a:ext>
                  </a:extLst>
                </a:hlinkClick>
              </a:rPr>
              <a:t>Bugzilla Ticket 217913</a:t>
            </a:r>
            <a:endParaRPr lang="en-US" sz="900" b="1">
              <a:solidFill>
                <a:srgbClr val="00B0F0"/>
              </a:solidFill>
            </a:endParaRPr>
          </a:p>
        </p:txBody>
      </p:sp>
      <p:cxnSp>
        <p:nvCxnSpPr>
          <p:cNvPr id="147" name="Connector: Curved 146">
            <a:extLst>
              <a:ext uri="{FF2B5EF4-FFF2-40B4-BE49-F238E27FC236}">
                <a16:creationId xmlns:a16="http://schemas.microsoft.com/office/drawing/2014/main" id="{52577EB1-9DED-E956-968D-17F578F518BA}"/>
              </a:ext>
            </a:extLst>
          </p:cNvPr>
          <p:cNvCxnSpPr>
            <a:cxnSpLocks/>
            <a:stCxn id="145" idx="2"/>
          </p:cNvCxnSpPr>
          <p:nvPr/>
        </p:nvCxnSpPr>
        <p:spPr>
          <a:xfrm rot="16200000" flipH="1">
            <a:off x="8585033" y="3599803"/>
            <a:ext cx="837758" cy="794254"/>
          </a:xfrm>
          <a:prstGeom prst="curvedConnector3">
            <a:avLst>
              <a:gd name="adj1" fmla="val 50000"/>
            </a:avLst>
          </a:prstGeom>
          <a:ln w="22225">
            <a:solidFill>
              <a:srgbClr val="FF0000"/>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BFF88A13-79EA-8EB9-F552-E292A25A3B23}"/>
              </a:ext>
            </a:extLst>
          </p:cNvPr>
          <p:cNvSpPr/>
          <p:nvPr/>
        </p:nvSpPr>
        <p:spPr>
          <a:xfrm>
            <a:off x="5157687" y="4415809"/>
            <a:ext cx="3866148" cy="4396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800">
                <a:solidFill>
                  <a:schemeClr val="tx1"/>
                </a:solidFill>
              </a:rPr>
              <a:t>By setting the channel status to </a:t>
            </a:r>
            <a:r>
              <a:rPr lang="en-US" altLang="en-US" sz="800" b="1">
                <a:solidFill>
                  <a:schemeClr val="tx1"/>
                </a:solidFill>
                <a:cs typeface="Courier New" panose="02070309020205020404" pitchFamily="49" charset="0"/>
              </a:rPr>
              <a:t>USB_CH_RX_VALID</a:t>
            </a:r>
            <a:r>
              <a:rPr lang="en-US" altLang="en-US" sz="800">
                <a:solidFill>
                  <a:schemeClr val="tx1"/>
                </a:solidFill>
              </a:rPr>
              <a:t>, it becomes immediately ready to receive data again without delays.</a:t>
            </a:r>
          </a:p>
          <a:p>
            <a:r>
              <a:rPr lang="en-US" altLang="en-US" sz="800">
                <a:solidFill>
                  <a:schemeClr val="tx1"/>
                </a:solidFill>
              </a:rPr>
              <a:t>(*) Throughput (MB/s): The higher the better</a:t>
            </a:r>
          </a:p>
        </p:txBody>
      </p:sp>
      <p:sp>
        <p:nvSpPr>
          <p:cNvPr id="9" name="Title 2">
            <a:extLst>
              <a:ext uri="{FF2B5EF4-FFF2-40B4-BE49-F238E27FC236}">
                <a16:creationId xmlns:a16="http://schemas.microsoft.com/office/drawing/2014/main" id="{821A3A04-430B-4074-E30E-FE42B6D01CD0}"/>
              </a:ext>
            </a:extLst>
          </p:cNvPr>
          <p:cNvSpPr>
            <a:spLocks noGrp="1"/>
          </p:cNvSpPr>
          <p:nvPr>
            <p:ph type="title"/>
          </p:nvPr>
        </p:nvSpPr>
        <p:spPr>
          <a:xfrm>
            <a:off x="300037" y="-1"/>
            <a:ext cx="11609159" cy="1304925"/>
          </a:xfrm>
        </p:spPr>
        <p:txBody>
          <a:bodyPr/>
          <a:lstStyle/>
          <a:p>
            <a:r>
              <a:rPr lang="en-US"/>
              <a:t>ST Competitors MW Benchmark: USB</a:t>
            </a:r>
            <a:br>
              <a:rPr lang="en-US" b="1"/>
            </a:br>
            <a:r>
              <a:rPr lang="en-US" sz="2400" b="1">
                <a:solidFill>
                  <a:schemeClr val="accent2"/>
                </a:solidFill>
              </a:rPr>
              <a:t>ST vs Renesas Flowcharts | Tests</a:t>
            </a:r>
            <a:br>
              <a:rPr lang="en-US" sz="2400" b="1">
                <a:solidFill>
                  <a:schemeClr val="accent2"/>
                </a:solidFill>
              </a:rPr>
            </a:br>
            <a:endParaRPr lang="en-US" sz="2400" b="1">
              <a:solidFill>
                <a:schemeClr val="accent2"/>
              </a:solidFill>
            </a:endParaRPr>
          </a:p>
        </p:txBody>
      </p:sp>
      <p:sp>
        <p:nvSpPr>
          <p:cNvPr id="16" name="TextBox 15">
            <a:extLst>
              <a:ext uri="{FF2B5EF4-FFF2-40B4-BE49-F238E27FC236}">
                <a16:creationId xmlns:a16="http://schemas.microsoft.com/office/drawing/2014/main" id="{CAC436B1-A0AF-2105-7E94-140D3C7CA6EF}"/>
              </a:ext>
            </a:extLst>
          </p:cNvPr>
          <p:cNvSpPr txBox="1"/>
          <p:nvPr/>
        </p:nvSpPr>
        <p:spPr>
          <a:xfrm>
            <a:off x="10137629" y="1156182"/>
            <a:ext cx="1908042" cy="954107"/>
          </a:xfrm>
          <a:prstGeom prst="rect">
            <a:avLst/>
          </a:prstGeom>
          <a:noFill/>
        </p:spPr>
        <p:txBody>
          <a:bodyPr wrap="square">
            <a:spAutoFit/>
          </a:bodyPr>
          <a:lstStyle/>
          <a:p>
            <a:r>
              <a:rPr lang="en-US" sz="800" b="1">
                <a:solidFill>
                  <a:schemeClr val="accent3"/>
                </a:solidFill>
              </a:rPr>
              <a:t>RA</a:t>
            </a:r>
            <a:r>
              <a:rPr lang="en-US" sz="800"/>
              <a:t> bypasses USBX enumeration phase by </a:t>
            </a:r>
            <a:r>
              <a:rPr lang="en-US" sz="800" err="1"/>
              <a:t>rm_usbx_ports</a:t>
            </a:r>
            <a:r>
              <a:rPr lang="en-US" sz="800"/>
              <a:t> porting layer</a:t>
            </a:r>
          </a:p>
          <a:p>
            <a:r>
              <a:rPr lang="en-US" sz="800" b="1">
                <a:solidFill>
                  <a:schemeClr val="accent3"/>
                </a:solidFill>
              </a:rPr>
              <a:t>vs</a:t>
            </a:r>
            <a:r>
              <a:rPr lang="en-US" sz="800"/>
              <a:t> </a:t>
            </a:r>
            <a:r>
              <a:rPr lang="en-US" sz="800" b="1">
                <a:solidFill>
                  <a:schemeClr val="accent3"/>
                </a:solidFill>
              </a:rPr>
              <a:t>ST</a:t>
            </a:r>
            <a:r>
              <a:rPr lang="en-US" sz="800"/>
              <a:t> uses USBX enumeration phase that  </a:t>
            </a:r>
            <a:r>
              <a:rPr lang="en-US" altLang="en-US" sz="800"/>
              <a:t>uses UX_DEVICE_ADDRESS_SET_WAIT ( 50 </a:t>
            </a:r>
            <a:r>
              <a:rPr lang="en-US" altLang="en-US" sz="800" err="1"/>
              <a:t>ms</a:t>
            </a:r>
            <a:r>
              <a:rPr lang="en-US" altLang="en-US" sz="800"/>
              <a:t>) constant to wait after setting the device address </a:t>
            </a:r>
            <a:endParaRPr lang="en-US" sz="800"/>
          </a:p>
        </p:txBody>
      </p:sp>
      <p:cxnSp>
        <p:nvCxnSpPr>
          <p:cNvPr id="21" name="Connector: Curved 20">
            <a:extLst>
              <a:ext uri="{FF2B5EF4-FFF2-40B4-BE49-F238E27FC236}">
                <a16:creationId xmlns:a16="http://schemas.microsoft.com/office/drawing/2014/main" id="{38BEE861-DF6E-34F6-DEB7-4FDDD53C7686}"/>
              </a:ext>
            </a:extLst>
          </p:cNvPr>
          <p:cNvCxnSpPr>
            <a:endCxn id="16" idx="1"/>
          </p:cNvCxnSpPr>
          <p:nvPr/>
        </p:nvCxnSpPr>
        <p:spPr>
          <a:xfrm flipV="1">
            <a:off x="8670792" y="1633236"/>
            <a:ext cx="1466837" cy="212404"/>
          </a:xfrm>
          <a:prstGeom prst="curvedConnector3">
            <a:avLst/>
          </a:prstGeom>
          <a:ln w="22225">
            <a:solidFill>
              <a:srgbClr val="FF0000"/>
            </a:solidFill>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F75B5AF2-E5AA-B091-C008-E872A15E2803}"/>
              </a:ext>
            </a:extLst>
          </p:cNvPr>
          <p:cNvSpPr>
            <a:spLocks noGrp="1"/>
          </p:cNvSpPr>
          <p:nvPr>
            <p:ph type="sldNum" sz="quarter" idx="12"/>
          </p:nvPr>
        </p:nvSpPr>
        <p:spPr/>
        <p:txBody>
          <a:bodyPr/>
          <a:lstStyle/>
          <a:p>
            <a:fld id="{40A7B169-58CE-4E65-B1F9-ACF9E46440C2}" type="slidenum">
              <a:rPr lang="en-US" smtClean="0"/>
              <a:t>34</a:t>
            </a:fld>
            <a:endParaRPr lang="en-US"/>
          </a:p>
        </p:txBody>
      </p:sp>
    </p:spTree>
    <p:extLst>
      <p:ext uri="{BB962C8B-B14F-4D97-AF65-F5344CB8AC3E}">
        <p14:creationId xmlns:p14="http://schemas.microsoft.com/office/powerpoint/2010/main" val="4115237082"/>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ST PowerPoint Template 16x9">
  <a:themeElements>
    <a:clrScheme name="ST2024">
      <a:dk1>
        <a:srgbClr val="03234B"/>
      </a:dk1>
      <a:lt1>
        <a:srgbClr val="FFFFFF"/>
      </a:lt1>
      <a:dk2>
        <a:srgbClr val="525A63"/>
      </a:dk2>
      <a:lt2>
        <a:srgbClr val="EEEFF1"/>
      </a:lt2>
      <a:accent1>
        <a:srgbClr val="03234B"/>
      </a:accent1>
      <a:accent2>
        <a:srgbClr val="E6007E"/>
      </a:accent2>
      <a:accent3>
        <a:srgbClr val="3CB4E6"/>
      </a:accent3>
      <a:accent4>
        <a:srgbClr val="FFD200"/>
      </a:accent4>
      <a:accent5>
        <a:srgbClr val="49B170"/>
      </a:accent5>
      <a:accent6>
        <a:srgbClr val="04572F"/>
      </a:accent6>
      <a:hlink>
        <a:srgbClr val="3CB4E6"/>
      </a:hlink>
      <a:folHlink>
        <a:srgbClr val="8191A5"/>
      </a:folHlink>
    </a:clrScheme>
    <a:fontScheme name="ST BRAND 201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buClr>
            <a:schemeClr val="bg1"/>
          </a:buCl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2225">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defPPr>
      </a:lstStyle>
    </a:txDef>
  </a:objectDefaults>
  <a:extraClrSchemeLst/>
  <a:extLst>
    <a:ext uri="{05A4C25C-085E-4340-85A3-A5531E510DB2}">
      <thm15:themeFamily xmlns:thm15="http://schemas.microsoft.com/office/thememl/2012/main" name="ST_Template [16-9].potx" id="{1D6C4797-0390-488F-934B-6361D727849A}" vid="{E0CC9EDB-CDC5-4C80-AA9A-B10AD2A9AA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11237C2C5B8640A42F53CA30EEE2CA" ma:contentTypeVersion="12" ma:contentTypeDescription="Create a new document." ma:contentTypeScope="" ma:versionID="999b613e3b459868e36c787b0985a0e8">
  <xsd:schema xmlns:xsd="http://www.w3.org/2001/XMLSchema" xmlns:xs="http://www.w3.org/2001/XMLSchema" xmlns:p="http://schemas.microsoft.com/office/2006/metadata/properties" xmlns:ns2="f154976c-1da9-4955-b19d-1007338f1673" xmlns:ns3="e4848b3d-1136-4288-8eee-9f2e7b5cd1ec" targetNamespace="http://schemas.microsoft.com/office/2006/metadata/properties" ma:root="true" ma:fieldsID="e17e1cda62fe06805cf6433187e10bfe" ns2:_="" ns3:_="">
    <xsd:import namespace="f154976c-1da9-4955-b19d-1007338f1673"/>
    <xsd:import namespace="e4848b3d-1136-4288-8eee-9f2e7b5cd1e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54976c-1da9-4955-b19d-1007338f16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15f0e51-4dc2-4521-a620-e03b1e9ce12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848b3d-1136-4288-8eee-9f2e7b5cd1e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5596463-52d3-4600-9ae7-ec9ad4e45d51}" ma:internalName="TaxCatchAll" ma:showField="CatchAllData" ma:web="e4848b3d-1136-4288-8eee-9f2e7b5cd1e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154976c-1da9-4955-b19d-1007338f1673">
      <Terms xmlns="http://schemas.microsoft.com/office/infopath/2007/PartnerControls"/>
    </lcf76f155ced4ddcb4097134ff3c332f>
    <TaxCatchAll xmlns="e4848b3d-1136-4288-8eee-9f2e7b5cd1e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52BCA9-EFC4-420D-A53A-3CD6B37B32CA}">
  <ds:schemaRefs>
    <ds:schemaRef ds:uri="e4848b3d-1136-4288-8eee-9f2e7b5cd1ec"/>
    <ds:schemaRef ds:uri="f154976c-1da9-4955-b19d-1007338f167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C136962-7FA2-40A6-B49B-919A5B776173}">
  <ds:schemaRefs>
    <ds:schemaRef ds:uri="http://purl.org/dc/terms/"/>
    <ds:schemaRef ds:uri="http://schemas.microsoft.com/office/infopath/2007/PartnerControls"/>
    <ds:schemaRef ds:uri="e4848b3d-1136-4288-8eee-9f2e7b5cd1ec"/>
    <ds:schemaRef ds:uri="http://schemas.microsoft.com/office/2006/metadata/properties"/>
    <ds:schemaRef ds:uri="http://www.w3.org/XML/1998/namespace"/>
    <ds:schemaRef ds:uri="http://purl.org/dc/dcmitype/"/>
    <ds:schemaRef ds:uri="http://schemas.microsoft.com/office/2006/documentManagement/types"/>
    <ds:schemaRef ds:uri="http://purl.org/dc/elements/1.1/"/>
    <ds:schemaRef ds:uri="http://schemas.openxmlformats.org/package/2006/metadata/core-properties"/>
    <ds:schemaRef ds:uri="f154976c-1da9-4955-b19d-1007338f1673"/>
  </ds:schemaRefs>
</ds:datastoreItem>
</file>

<file path=customXml/itemProps3.xml><?xml version="1.0" encoding="utf-8"?>
<ds:datastoreItem xmlns:ds="http://schemas.openxmlformats.org/officeDocument/2006/customXml" ds:itemID="{135E468E-593E-4244-AE1C-F7192B9681BC}">
  <ds:schemaRefs>
    <ds:schemaRef ds:uri="http://schemas.microsoft.com/sharepoint/v3/contenttype/forms"/>
  </ds:schemaRefs>
</ds:datastoreItem>
</file>

<file path=docMetadata/LabelInfo.xml><?xml version="1.0" encoding="utf-8"?>
<clbl:labelList xmlns:clbl="http://schemas.microsoft.com/office/2020/mipLabelMetadata">
  <clbl:label id="{23add6c0-cfdb-4bb9-b90f-bf23b83aa6c0}" enabled="1" method="Privileged" siteId="{75e027c9-20d5-47d5-b82f-77d7cd041e8f}" removed="0"/>
</clbl:labelList>
</file>

<file path=docProps/app.xml><?xml version="1.0" encoding="utf-8"?>
<Properties xmlns="http://schemas.openxmlformats.org/officeDocument/2006/extended-properties" xmlns:vt="http://schemas.openxmlformats.org/officeDocument/2006/docPropsVTypes">
  <Template>blank</Template>
  <TotalTime>7923</TotalTime>
  <Words>9331</Words>
  <Application>Microsoft Office PowerPoint</Application>
  <PresentationFormat>Widescreen</PresentationFormat>
  <Paragraphs>2125</Paragraphs>
  <Slides>34</Slides>
  <Notes>13</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Aptos Narrow</vt:lpstr>
      <vt:lpstr>Arial</vt:lpstr>
      <vt:lpstr>Calibri</vt:lpstr>
      <vt:lpstr>Courier New</vt:lpstr>
      <vt:lpstr>Open_Sans</vt:lpstr>
      <vt:lpstr>Segoe UI</vt:lpstr>
      <vt:lpstr>Wingdings</vt:lpstr>
      <vt:lpstr>ST PowerPoint Template 16x9</vt:lpstr>
      <vt:lpstr>ST Competitors Benchmark STEP2 MW stacks performance</vt:lpstr>
      <vt:lpstr>Agenda</vt:lpstr>
      <vt:lpstr>ST vs Competitors MW Benchmark: Tests Plan</vt:lpstr>
      <vt:lpstr>ST vs Competitors MW Benchmark: Tests Plan</vt:lpstr>
      <vt:lpstr>Summary &amp; Next steps</vt:lpstr>
      <vt:lpstr>ST Competitors MW Benchmark: Footprint summary</vt:lpstr>
      <vt:lpstr>ST Competitors MW Benchmark: Execution Time summary</vt:lpstr>
      <vt:lpstr>Continuation Plan Proposal</vt:lpstr>
      <vt:lpstr>ST Competitors MW Benchmark: RTOS Objective Performance comparison</vt:lpstr>
      <vt:lpstr>ST Competitors MW Benchmark: RTOS Flowcharts</vt:lpstr>
      <vt:lpstr>ST Competitors MW Benchmark: RTOS ST vs TI, NXP &amp; Renesas Tests</vt:lpstr>
      <vt:lpstr>ST Competitors MW Benchmark: File System Objective Performance comparison</vt:lpstr>
      <vt:lpstr>ST Competitors MW Benchmark: File System ST vs Renesas Flowcharts</vt:lpstr>
      <vt:lpstr>ST Competitors MW Benchmark: File System ST vs Renesas Tests</vt:lpstr>
      <vt:lpstr>PowerPoint Presentation</vt:lpstr>
      <vt:lpstr>ST Competitors MW Benchmark: File System  ST vs NXP Tests</vt:lpstr>
      <vt:lpstr>ST Competitors MW Benchmark: USB Objective Performance comparison</vt:lpstr>
      <vt:lpstr>ST Competitors MW Benchmark: USB ST vs Renesas Flowcharts </vt:lpstr>
      <vt:lpstr>ST Competitors MW Benchmark: USB ST vs Renesas Tests </vt:lpstr>
      <vt:lpstr>ST Competitors MW Benchmark: USB ST vs Renesas Flowcharts | Tests </vt:lpstr>
      <vt:lpstr>ST Competitors MW Benchmark: USB ST vs Renesas: Cube2 low footprint profiles optimization</vt:lpstr>
      <vt:lpstr>ST Competitors MW Benchmark: USB ST vs NXP Flowcharts </vt:lpstr>
      <vt:lpstr>ST Competitors MW Benchmark: USB ST vs NXP Tests </vt:lpstr>
      <vt:lpstr>ST Competitors MW Benchmark: USB ST vs NXP Flowcharts | Tests </vt:lpstr>
      <vt:lpstr>ST Competitors MW Benchmark: USB ST vs NXP Clock configuration </vt:lpstr>
      <vt:lpstr>Continuation Plan Proposal</vt:lpstr>
      <vt:lpstr>STM32 vs Competitors</vt:lpstr>
      <vt:lpstr>STM32 vs Renesas</vt:lpstr>
      <vt:lpstr>STM32 vs NXP</vt:lpstr>
      <vt:lpstr>Annex</vt:lpstr>
      <vt:lpstr>PowerPoint Presentation</vt:lpstr>
      <vt:lpstr>PowerPoint Presentation</vt:lpstr>
      <vt:lpstr>ST Competitors MW Benchmark: USB ST vs Renesas after optimization inspired from cube 2 Tests </vt:lpstr>
      <vt:lpstr>ST Competitors MW Benchmark: USB ST vs Renesas Flowcharts | Tests </vt:lpstr>
    </vt:vector>
  </TitlesOfParts>
  <Manager/>
  <Company>STMicroelectronics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Sirine EL JAZI</dc:creator>
  <cp:keywords/>
  <cp:lastModifiedBy>Sirine EL JAZI</cp:lastModifiedBy>
  <cp:revision>3</cp:revision>
  <dcterms:created xsi:type="dcterms:W3CDTF">2025-07-08T13:06:45Z</dcterms:created>
  <dcterms:modified xsi:type="dcterms:W3CDTF">2026-04-27T10:47:43Z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ST PowerPoint Template 16x9:10</vt:lpwstr>
  </property>
  <property fmtid="{D5CDD505-2E9C-101B-9397-08002B2CF9AE}" pid="3" name="ClassificationContentMarkingFooterText">
    <vt:lpwstr>ST Restricted</vt:lpwstr>
  </property>
  <property fmtid="{D5CDD505-2E9C-101B-9397-08002B2CF9AE}" pid="4" name="ContentTypeId">
    <vt:lpwstr>0x0101002811237C2C5B8640A42F53CA30EEE2CA</vt:lpwstr>
  </property>
  <property fmtid="{D5CDD505-2E9C-101B-9397-08002B2CF9AE}" pid="5" name="MediaServiceImageTags">
    <vt:lpwstr/>
  </property>
</Properties>
</file>